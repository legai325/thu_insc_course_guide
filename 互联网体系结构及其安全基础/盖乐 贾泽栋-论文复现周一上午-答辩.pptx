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3"/>
    <p:sldId id="258" r:id="rId4"/>
    <p:sldId id="276" r:id="rId5"/>
    <p:sldId id="277" r:id="rId7"/>
    <p:sldId id="272" r:id="rId8"/>
    <p:sldId id="279" r:id="rId9"/>
    <p:sldId id="284" r:id="rId10"/>
    <p:sldId id="286" r:id="rId11"/>
    <p:sldId id="281" r:id="rId12"/>
    <p:sldId id="288" r:id="rId13"/>
    <p:sldId id="287" r:id="rId14"/>
    <p:sldId id="280" r:id="rId15"/>
    <p:sldId id="283" r:id="rId16"/>
    <p:sldId id="285" r:id="rId17"/>
    <p:sldId id="289" r:id="rId18"/>
    <p:sldId id="278"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4C3C"/>
    <a:srgbClr val="FEFDFF"/>
    <a:srgbClr val="E1DFE2"/>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32" y="15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en-US" altLang="zh-CN"/>
              <a:t>2025</a:t>
            </a:r>
            <a:r>
              <a:rPr lang="zh-CN" altLang="en-US"/>
              <a:t>年隧道协议数量折线图</a:t>
            </a:r>
            <a:endParaRPr lang="zh-CN" altLang="en-US"/>
          </a:p>
        </c:rich>
      </c:tx>
      <c:layout/>
      <c:overlay val="0"/>
      <c:spPr>
        <a:noFill/>
        <a:ln>
          <a:noFill/>
        </a:ln>
        <a:effectLst/>
      </c:spPr>
    </c:title>
    <c:autoTitleDeleted val="0"/>
    <c:plotArea>
      <c:layout/>
      <c:lineChart>
        <c:grouping val="standard"/>
        <c:varyColors val="0"/>
        <c:ser>
          <c:idx val="0"/>
          <c:order val="0"/>
          <c:tx>
            <c:strRef>
              <c:f>[工作簿1]Sheet1!$A$2</c:f>
              <c:strCache>
                <c:ptCount val="1"/>
                <c:pt idx="0">
                  <c:v>ipip</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[工作簿1]Sheet1!$B$2:$G$2</c:f>
              <c:numCache>
                <c:formatCode>General</c:formatCode>
                <c:ptCount val="6"/>
                <c:pt idx="0">
                  <c:v>500414</c:v>
                </c:pt>
                <c:pt idx="1">
                  <c:v>489791</c:v>
                </c:pt>
                <c:pt idx="2">
                  <c:v>513775</c:v>
                </c:pt>
                <c:pt idx="3">
                  <c:v>521524</c:v>
                </c:pt>
                <c:pt idx="4">
                  <c:v>503942</c:v>
                </c:pt>
                <c:pt idx="5">
                  <c:v>505977</c:v>
                </c:pt>
              </c:numCache>
            </c:numRef>
          </c:val>
          <c:smooth val="0"/>
        </c:ser>
        <c:ser>
          <c:idx val="1"/>
          <c:order val="1"/>
          <c:tx>
            <c:strRef>
              <c:f>[工作簿1]Sheet1!$A$3</c:f>
              <c:strCache>
                <c:ptCount val="1"/>
                <c:pt idx="0">
                  <c:v>gre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[工作簿1]Sheet1!$B$3:$G$3</c:f>
              <c:numCache>
                <c:formatCode>General</c:formatCode>
                <c:ptCount val="6"/>
                <c:pt idx="0">
                  <c:v>539237</c:v>
                </c:pt>
                <c:pt idx="1">
                  <c:v>528277</c:v>
                </c:pt>
                <c:pt idx="2">
                  <c:v>515151</c:v>
                </c:pt>
                <c:pt idx="3">
                  <c:v>522411</c:v>
                </c:pt>
                <c:pt idx="4">
                  <c:v>521530</c:v>
                </c:pt>
                <c:pt idx="5">
                  <c:v>505739</c:v>
                </c:pt>
              </c:numCache>
            </c:numRef>
          </c:val>
          <c:smooth val="0"/>
        </c:ser>
        <c:ser>
          <c:idx val="2"/>
          <c:order val="2"/>
          <c:tx>
            <c:strRef>
              <c:f>[工作簿1]Sheet1!$A$4</c:f>
              <c:strCache>
                <c:ptCount val="1"/>
                <c:pt idx="0">
                  <c:v>ip6ip6</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[工作簿1]Sheet1!$B$4:$G$4</c:f>
              <c:numCache>
                <c:formatCode>General</c:formatCode>
                <c:ptCount val="6"/>
                <c:pt idx="0">
                  <c:v>194358</c:v>
                </c:pt>
                <c:pt idx="1">
                  <c:v>197809</c:v>
                </c:pt>
                <c:pt idx="2">
                  <c:v>206131</c:v>
                </c:pt>
                <c:pt idx="3">
                  <c:v>199723</c:v>
                </c:pt>
                <c:pt idx="4">
                  <c:v>200421</c:v>
                </c:pt>
                <c:pt idx="5">
                  <c:v>203128</c:v>
                </c:pt>
              </c:numCache>
            </c:numRef>
          </c:val>
          <c:smooth val="0"/>
        </c:ser>
        <c:ser>
          <c:idx val="3"/>
          <c:order val="3"/>
          <c:tx>
            <c:strRef>
              <c:f>[工作簿1]Sheet1!$A$5</c:f>
              <c:strCache>
                <c:ptCount val="1"/>
                <c:pt idx="0">
                  <c:v>gre6</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[工作簿1]Sheet1!$B$5:$G$5</c:f>
              <c:numCache>
                <c:formatCode>General</c:formatCode>
                <c:ptCount val="6"/>
                <c:pt idx="0">
                  <c:v>4279</c:v>
                </c:pt>
                <c:pt idx="1">
                  <c:v>4404</c:v>
                </c:pt>
                <c:pt idx="2">
                  <c:v>4681</c:v>
                </c:pt>
                <c:pt idx="3">
                  <c:v>4338</c:v>
                </c:pt>
                <c:pt idx="4">
                  <c:v>4357</c:v>
                </c:pt>
                <c:pt idx="5">
                  <c:v>4286</c:v>
                </c:pt>
              </c:numCache>
            </c:numRef>
          </c:val>
          <c:smooth val="0"/>
        </c:ser>
        <c:ser>
          <c:idx val="4"/>
          <c:order val="4"/>
          <c:tx>
            <c:strRef>
              <c:f>[工作簿1]Sheet1!$A$6</c:f>
              <c:strCache>
                <c:ptCount val="1"/>
                <c:pt idx="0">
                  <c:v>6to4</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[工作簿1]Sheet1!$B$6:$G$6</c:f>
              <c:numCache>
                <c:formatCode>General</c:formatCode>
                <c:ptCount val="6"/>
                <c:pt idx="0">
                  <c:v>693294</c:v>
                </c:pt>
                <c:pt idx="1">
                  <c:v>576892</c:v>
                </c:pt>
                <c:pt idx="2">
                  <c:v>568308</c:v>
                </c:pt>
                <c:pt idx="3">
                  <c:v>514226</c:v>
                </c:pt>
                <c:pt idx="4">
                  <c:v>502486</c:v>
                </c:pt>
                <c:pt idx="5">
                  <c:v>472710</c:v>
                </c:pt>
              </c:numCache>
            </c:numRef>
          </c:val>
          <c:smooth val="0"/>
        </c:ser>
        <c:ser>
          <c:idx val="5"/>
          <c:order val="5"/>
          <c:tx>
            <c:strRef>
              <c:f>[工作簿1]Sheet1!$A$7</c:f>
              <c:strCache>
                <c:ptCount val="1"/>
                <c:pt idx="0">
                  <c:v>4in6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dLbls>
            <c:delete val="1"/>
          </c:dLbls>
          <c:cat>
            <c:numRef>
              <c:f>[工作簿1]Sheet1!$B$1:$G$1</c:f>
              <c:numCache>
                <c:formatCode>yyyy/m/d</c:formatCode>
                <c:ptCount val="6"/>
                <c:pt idx="0" c:formatCode="yyyy/m/d">
                  <c:v>45809</c:v>
                </c:pt>
                <c:pt idx="1" c:formatCode="yyyy/m/d">
                  <c:v>45839</c:v>
                </c:pt>
                <c:pt idx="2" c:formatCode="yyyy/m/d">
                  <c:v>45870</c:v>
                </c:pt>
                <c:pt idx="3" c:formatCode="yyyy/m/d">
                  <c:v>45901</c:v>
                </c:pt>
                <c:pt idx="4" c:formatCode="yyyy/m/d">
                  <c:v>45931</c:v>
                </c:pt>
                <c:pt idx="5" c:formatCode="yyyy/m/d">
                  <c:v>45962</c:v>
                </c:pt>
              </c:numCache>
            </c:numRef>
          </c:cat>
          <c:val>
            <c:numRef>
              <c:f>[工作簿1]Sheet1!$B$7:$G$7</c:f>
              <c:numCache>
                <c:formatCode>General</c:formatCode>
                <c:ptCount val="6"/>
                <c:pt idx="0">
                  <c:v>79985</c:v>
                </c:pt>
                <c:pt idx="1">
                  <c:v>79692</c:v>
                </c:pt>
                <c:pt idx="2">
                  <c:v>79469</c:v>
                </c:pt>
                <c:pt idx="3">
                  <c:v>79931</c:v>
                </c:pt>
                <c:pt idx="4">
                  <c:v>80052</c:v>
                </c:pt>
                <c:pt idx="5">
                  <c:v>79402</c:v>
                </c:pt>
              </c:numCache>
            </c:numRef>
          </c:val>
          <c:smooth val="0"/>
        </c:ser>
        <c:dLbls>
          <c:showLegendKey val="0"/>
          <c:showVal val="0"/>
          <c:showCatName val="0"/>
          <c:showSerName val="0"/>
          <c:showPercent val="0"/>
          <c:showBubbleSize val="0"/>
        </c:dLbls>
        <c:marker val="1"/>
        <c:smooth val="0"/>
        <c:axId val="791973841"/>
        <c:axId val="698262901"/>
      </c:lineChart>
      <c:dateAx>
        <c:axId val="791973841"/>
        <c:scaling>
          <c:orientation val="minMax"/>
        </c:scaling>
        <c:delete val="0"/>
        <c:axPos val="b"/>
        <c:numFmt formatCode="m/d/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98262901"/>
        <c:crosses val="autoZero"/>
        <c:auto val="1"/>
        <c:lblOffset val="100"/>
        <c:baseTimeUnit val="months"/>
      </c:dateAx>
      <c:valAx>
        <c:axId val="698262901"/>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91973841"/>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f1cff08-2e73-420e-b578-48c0ee801477}"/>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5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当前互联网面临着</a:t>
            </a:r>
            <a:r>
              <a:rPr lang="en-US" altLang="zh-CN"/>
              <a:t>IPIP</a:t>
            </a:r>
            <a:r>
              <a:rPr lang="zh-CN" altLang="en-US"/>
              <a:t>地址欺骗攻击和隧道流量注入攻击的威胁，这源于隧道协议的普遍采用及其固有的安全隐患。隧道协议作为连接隔离网络、构建</a:t>
            </a:r>
            <a:r>
              <a:rPr lang="en-US" altLang="zh-CN"/>
              <a:t>VPN</a:t>
            </a:r>
            <a:r>
              <a:rPr lang="zh-CN" altLang="en-US"/>
              <a:t>的基础，自身无认证无加密，再加上错误配置，使得其可接受任意来源的流量。</a:t>
            </a:r>
            <a:endParaRPr lang="zh-CN" altLang="en-US"/>
          </a:p>
          <a:p>
            <a:r>
              <a:rPr lang="zh-CN" altLang="en-US"/>
              <a:t>这种情况导致了现实威胁的严重性和广泛的攻击利用面，攻击者能通过</a:t>
            </a:r>
            <a:r>
              <a:rPr lang="en-US" altLang="zh-CN"/>
              <a:t>IP</a:t>
            </a:r>
            <a:r>
              <a:rPr lang="zh-CN" altLang="en-US"/>
              <a:t>地址欺骗绕过源地址过滤，利用单向代理隐藏身份，进而访问内网资源或发动</a:t>
            </a:r>
            <a:r>
              <a:rPr lang="en-US" altLang="zh-CN"/>
              <a:t>DoS</a:t>
            </a:r>
            <a:r>
              <a:rPr lang="zh-CN" altLang="en-US"/>
              <a:t>攻击。</a:t>
            </a:r>
            <a:endParaRPr lang="zh-CN" altLang="en-US"/>
          </a:p>
          <a:p>
            <a:r>
              <a:rPr lang="zh-CN" altLang="en-US"/>
              <a:t>然而，前人研究存在局限，既未系统研究</a:t>
            </a:r>
            <a:r>
              <a:rPr lang="en-US" altLang="zh-CN"/>
              <a:t>GRE</a:t>
            </a:r>
            <a:r>
              <a:rPr lang="zh-CN" altLang="en-US"/>
              <a:t>、</a:t>
            </a:r>
            <a:r>
              <a:rPr lang="en-US" altLang="zh-CN"/>
              <a:t>6in4</a:t>
            </a:r>
            <a:r>
              <a:rPr lang="zh-CN" altLang="en-US"/>
              <a:t>等其他隧道协议，也未深入探讨存在漏洞的隧道主机的安全隐患，同时也未提出有效的防御措施。因此，我们的研究具有重要的现实意义。</a:t>
            </a:r>
            <a:endParaRPr lang="zh-CN" altLang="en-US"/>
          </a:p>
        </p:txBody>
      </p:sp>
      <p:sp>
        <p:nvSpPr>
          <p:cNvPr id="4" name="灯片编号占位符 3"/>
          <p:cNvSpPr>
            <a:spLocks noGrp="1"/>
          </p:cNvSpPr>
          <p:nvPr>
            <p:ph type="sldNum" sz="quarter" idx="5"/>
          </p:nvPr>
        </p:nvSpPr>
        <p:spPr/>
        <p:txBody>
          <a:bodyPr/>
          <a:lstStyle/>
          <a:p>
            <a:fld id="{F636AE7A-D922-477B-8232-91EA786C19E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a:t>本次研究内容主要聚焦于三个关键方面。其一，实现从静态发现到动态演化分析的跨越，不仅要验证论文对</a:t>
            </a:r>
            <a:r>
              <a:rPr lang="en-US" altLang="zh-CN"/>
              <a:t>IP6IP6</a:t>
            </a:r>
            <a:r>
              <a:rPr lang="zh-CN" altLang="en-US"/>
              <a:t>、</a:t>
            </a:r>
            <a:r>
              <a:rPr lang="en-US" altLang="zh-CN"/>
              <a:t>GRE</a:t>
            </a:r>
            <a:r>
              <a:rPr lang="zh-CN" altLang="en-US"/>
              <a:t>和</a:t>
            </a:r>
            <a:r>
              <a:rPr lang="en-US" altLang="zh-CN"/>
              <a:t>6in4</a:t>
            </a:r>
            <a:r>
              <a:rPr lang="zh-CN" altLang="en-US"/>
              <a:t>等协议的大规模测量结果，还要持续监控隧道节点，深入分析其存活状态的变化趋势。</a:t>
            </a:r>
            <a:endParaRPr lang="en-US" altLang="zh-CN"/>
          </a:p>
          <a:p>
            <a:pPr marL="0" indent="0">
              <a:buFont typeface="Arial" panose="020B0604020202020204" pitchFamily="34" charset="0"/>
              <a:buNone/>
            </a:pPr>
            <a:r>
              <a:rPr lang="zh-CN" altLang="en-US"/>
              <a:t>其二，从理解攻击机理迈向构建防御体系，验证并理解基于隧道节点的新型</a:t>
            </a:r>
            <a:r>
              <a:rPr lang="en-US" altLang="zh-CN"/>
              <a:t>DoS</a:t>
            </a:r>
            <a:r>
              <a:rPr lang="zh-CN" altLang="en-US"/>
              <a:t>攻击，在此基础上探索有效的防御策略，以保障网络安全。</a:t>
            </a:r>
            <a:endParaRPr lang="en-US" altLang="zh-CN"/>
          </a:p>
          <a:p>
            <a:pPr marL="0" indent="0">
              <a:buFont typeface="Arial" panose="020B0604020202020204" pitchFamily="34" charset="0"/>
              <a:buNone/>
            </a:pPr>
            <a:r>
              <a:rPr lang="zh-CN" altLang="en-US"/>
              <a:t>其三，量化源地址验证（</a:t>
            </a:r>
            <a:r>
              <a:rPr lang="en-US" altLang="zh-CN"/>
              <a:t>SAV</a:t>
            </a:r>
            <a:r>
              <a:rPr lang="zh-CN" altLang="en-US"/>
              <a:t>）的部署情况，鉴于论文未对隧道节点上的</a:t>
            </a:r>
            <a:r>
              <a:rPr lang="en-US" altLang="zh-CN"/>
              <a:t>SAV</a:t>
            </a:r>
            <a:r>
              <a:rPr lang="zh-CN" altLang="en-US"/>
              <a:t>部署情况进行测量，我们需设计具体测量方法，对其部署情况进行量化评估。</a:t>
            </a:r>
            <a:endParaRPr lang="zh-CN" altLang="en-US"/>
          </a:p>
        </p:txBody>
      </p:sp>
      <p:sp>
        <p:nvSpPr>
          <p:cNvPr id="4" name="灯片编号占位符 3"/>
          <p:cNvSpPr>
            <a:spLocks noGrp="1"/>
          </p:cNvSpPr>
          <p:nvPr>
            <p:ph type="sldNum" sz="quarter" idx="5"/>
          </p:nvPr>
        </p:nvSpPr>
        <p:spPr/>
        <p:txBody>
          <a:bodyPr/>
          <a:lstStyle/>
          <a:p>
            <a:fld id="{F636AE7A-D922-477B-8232-91EA786C19E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研究的复现计划主要有三步。第一步是进行全网隧道节点扫描，这是全面了解隧道节点分布和特征的基础工作。第二步开展脆弱主机数据分析，通过对扫描得到的数据深入剖析，找出潜在的安全隐患。第三步进行攻击验证与演示，直观地展示攻击的过程和效果。</a:t>
            </a:r>
            <a:endParaRPr lang="zh-CN" altLang="en-US"/>
          </a:p>
          <a:p>
            <a:r>
              <a:rPr lang="zh-CN" altLang="en-US"/>
              <a:t>在具体场景方面，分为</a:t>
            </a:r>
            <a:r>
              <a:rPr lang="en-US" altLang="zh-CN"/>
              <a:t>ISAV</a:t>
            </a:r>
            <a:r>
              <a:rPr lang="zh-CN" altLang="en-US"/>
              <a:t>和</a:t>
            </a:r>
            <a:r>
              <a:rPr lang="en-US" altLang="zh-CN"/>
              <a:t>OSAV</a:t>
            </a:r>
            <a:r>
              <a:rPr lang="zh-CN" altLang="en-US"/>
              <a:t>。</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实际上，复现成果</a:t>
            </a:r>
            <a:r>
              <a:rPr lang="zh-CN" altLang="en-US"/>
              <a:t>有两点，我们成功验证论文对</a:t>
            </a:r>
            <a:r>
              <a:rPr lang="en-US" altLang="zh-CN"/>
              <a:t>IP6IP6</a:t>
            </a:r>
            <a:r>
              <a:rPr lang="zh-CN" altLang="en-US"/>
              <a:t>、</a:t>
            </a:r>
            <a:r>
              <a:rPr lang="en-US" altLang="zh-CN"/>
              <a:t>GRE</a:t>
            </a:r>
            <a:r>
              <a:rPr lang="zh-CN" altLang="en-US"/>
              <a:t>和</a:t>
            </a:r>
            <a:r>
              <a:rPr lang="en-US" altLang="zh-CN"/>
              <a:t>6in4</a:t>
            </a:r>
            <a:r>
              <a:rPr lang="zh-CN" altLang="en-US"/>
              <a:t>等隧道协议的大规模测量结果；同时也验证基于隧道节点的新型</a:t>
            </a:r>
            <a:r>
              <a:rPr lang="en-US" altLang="zh-CN"/>
              <a:t>DoS</a:t>
            </a:r>
            <a:r>
              <a:rPr lang="zh-CN" altLang="en-US"/>
              <a:t>攻击，证明了攻击的可行性。</a:t>
            </a:r>
            <a:endParaRPr lang="en-US" altLang="zh-CN"/>
          </a:p>
          <a:p>
            <a:r>
              <a:rPr lang="zh-CN" altLang="en-US"/>
              <a:t>扩展成果方面，我们监测隧道节点的存活变化趋势，有助于掌握网络的动态安全状况；评估隧道节点中</a:t>
            </a:r>
            <a:r>
              <a:rPr lang="en-US" altLang="zh-CN"/>
              <a:t>ISAV</a:t>
            </a:r>
            <a:r>
              <a:rPr lang="zh-CN" altLang="en-US"/>
              <a:t>和</a:t>
            </a:r>
            <a:r>
              <a:rPr lang="en-US" altLang="zh-CN"/>
              <a:t>OSAV</a:t>
            </a:r>
            <a:r>
              <a:rPr lang="zh-CN" altLang="en-US"/>
              <a:t>部署的情况，能了解</a:t>
            </a:r>
            <a:r>
              <a:rPr lang="en-US" altLang="zh-CN"/>
              <a:t>SAV</a:t>
            </a:r>
            <a:r>
              <a:rPr lang="zh-CN" altLang="en-US"/>
              <a:t>部署的现状。</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在研究结果的复现成果部分，我们聚焦于验证论文对</a:t>
            </a:r>
            <a:r>
              <a:rPr lang="en-US" altLang="zh-CN" dirty="0"/>
              <a:t>IP6IP6</a:t>
            </a:r>
            <a:r>
              <a:rPr lang="zh-CN" altLang="en-US" dirty="0"/>
              <a:t>、</a:t>
            </a:r>
            <a:r>
              <a:rPr lang="en-US" altLang="zh-CN" dirty="0"/>
              <a:t>GRE</a:t>
            </a:r>
            <a:r>
              <a:rPr lang="zh-CN" altLang="en-US" dirty="0"/>
              <a:t>和</a:t>
            </a:r>
            <a:r>
              <a:rPr lang="en-US" altLang="zh-CN" dirty="0"/>
              <a:t>6in4</a:t>
            </a:r>
            <a:r>
              <a:rPr lang="zh-CN" altLang="en-US" dirty="0"/>
              <a:t>等隧道协议的大规模测量结果。</a:t>
            </a:r>
            <a:endParaRPr lang="zh-CN" altLang="en-US" dirty="0"/>
          </a:p>
          <a:p>
            <a:r>
              <a:rPr lang="zh-CN" altLang="en-US" dirty="0"/>
              <a:t>首先是本文中作者给出的各类隧道节点的</a:t>
            </a:r>
            <a:r>
              <a:rPr lang="zh-CN" altLang="en-US" dirty="0"/>
              <a:t>数量。</a:t>
            </a:r>
            <a:endParaRPr lang="zh-CN" altLang="en-US" dirty="0"/>
          </a:p>
          <a:p>
            <a:r>
              <a:rPr lang="zh-CN" altLang="en-US" dirty="0"/>
              <a:t>为了</a:t>
            </a:r>
            <a:r>
              <a:rPr lang="zh-CN" altLang="en-US" dirty="0"/>
              <a:t>复现这一部分，首先要做的收集隧道节点，这些节点主要分为三类。</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a:sym typeface="+mn-ea"/>
              </a:rPr>
              <a:t>第一种扫描方式能够检测到既能接收隧道报文、又被配置为转发内部数据包的主机。这类主机在剥离外层报头后，会正常转发内部报文。</a:t>
            </a:r>
            <a:br>
              <a:rPr lang="en-US" altLang="zh-CN" b="1">
                <a:sym typeface="+mn-ea"/>
              </a:rPr>
            </a:br>
            <a:r>
              <a:rPr lang="zh-CN" altLang="en-US">
                <a:sym typeface="+mn-ea"/>
              </a:rPr>
              <a:t>并非所有主机都允许转发内部流量。为识别这类主机，扫描器将内部数据包构造为指向主机自身的 </a:t>
            </a:r>
            <a:r>
              <a:rPr lang="en-US" altLang="zh-CN">
                <a:sym typeface="+mn-ea"/>
              </a:rPr>
              <a:t>ICMP Echo </a:t>
            </a:r>
            <a:r>
              <a:rPr lang="zh-CN" altLang="en-US">
                <a:sym typeface="+mn-ea"/>
              </a:rPr>
              <a:t>请求（内部源地址为扫描器，目的地址为主机）。易受攻击的主机在剥离外部报头后，会将该 </a:t>
            </a:r>
            <a:r>
              <a:rPr lang="en-US" altLang="zh-CN">
                <a:sym typeface="+mn-ea"/>
              </a:rPr>
              <a:t>Echo </a:t>
            </a:r>
            <a:r>
              <a:rPr lang="zh-CN" altLang="en-US">
                <a:sym typeface="+mn-ea"/>
              </a:rPr>
              <a:t>请求“发给自己”，并最终向扫描器返回 </a:t>
            </a:r>
            <a:r>
              <a:rPr lang="en-US" altLang="zh-CN">
                <a:sym typeface="+mn-ea"/>
              </a:rPr>
              <a:t>ICMP Echo Reply</a:t>
            </a:r>
            <a:r>
              <a:rPr lang="zh-CN" altLang="en-US">
                <a:sym typeface="+mn-ea"/>
              </a:rPr>
              <a:t>，从而被识别。</a:t>
            </a:r>
            <a:endParaRPr lang="en-US" altLang="zh-CN" b="1"/>
          </a:p>
          <a:p>
            <a:pPr marL="0" marR="0" lvl="0" indent="0" algn="l" defTabSz="914400" rtl="0" eaLnBrk="1" fontAlgn="auto" latinLnBrk="0" hangingPunct="1">
              <a:lnSpc>
                <a:spcPct val="100000"/>
              </a:lnSpc>
              <a:spcBef>
                <a:spcPts val="0"/>
              </a:spcBef>
              <a:spcAft>
                <a:spcPts val="0"/>
              </a:spcAft>
              <a:buClrTx/>
              <a:buSzTx/>
              <a:buFontTx/>
              <a:buNone/>
              <a:defRPr/>
            </a:pPr>
            <a:r>
              <a:rPr lang="zh-CN" altLang="en-US">
                <a:sym typeface="+mn-ea"/>
              </a:rPr>
              <a:t>一部分主机未配置为响应 </a:t>
            </a:r>
            <a:r>
              <a:rPr lang="en-US" altLang="zh-CN">
                <a:sym typeface="+mn-ea"/>
              </a:rPr>
              <a:t>ICMP Echo </a:t>
            </a:r>
            <a:r>
              <a:rPr lang="zh-CN" altLang="en-US">
                <a:sym typeface="+mn-ea"/>
              </a:rPr>
              <a:t>请求，因而无法通过前述方法探测到；此外，还有一些主机位于私有网络之后，其网络位置本身也使其无法被扫描器直接发现。</a:t>
            </a:r>
            <a:endParaRPr lang="zh-CN" altLang="en-US" dirty="0"/>
          </a:p>
          <a:p>
            <a:r>
              <a:rPr lang="zh-CN" altLang="en-US" dirty="0"/>
              <a:t>我们收集这些不同类型的隧道节点，是为了全面了解网络中隧道协议的实际部署情况。而统计这些隧道节点的数量，能为我们评估网络安全风险提供重要依据。因为不同类型隧道节点的数量分布，反映了各种隧道协议的使用普及程度，数量越多的协议，可能面临的安全隐患也更多。</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采用的方法是使用</a:t>
            </a:r>
            <a:r>
              <a:rPr lang="en-US" altLang="zh-CN"/>
              <a:t>ZMap</a:t>
            </a:r>
            <a:r>
              <a:rPr lang="zh-CN" altLang="en-US"/>
              <a:t>，依据不同隧道节点特性设计不同扫描模块，对全球</a:t>
            </a:r>
            <a:r>
              <a:rPr lang="en-US" altLang="zh-CN"/>
              <a:t>IPv4</a:t>
            </a:r>
            <a:r>
              <a:rPr lang="zh-CN" altLang="en-US"/>
              <a:t>和</a:t>
            </a:r>
            <a:r>
              <a:rPr lang="en-US" altLang="zh-CN"/>
              <a:t>IPv6 Hitlist</a:t>
            </a:r>
            <a:r>
              <a:rPr lang="zh-CN" altLang="en-US"/>
              <a:t>进行扫描。</a:t>
            </a:r>
            <a:endParaRPr lang="zh-CN" altLang="en-US"/>
          </a:p>
          <a:p>
            <a:r>
              <a:rPr lang="zh-CN" altLang="en-US"/>
              <a:t>测量得到的隧道节点类型及数量显示，</a:t>
            </a:r>
            <a:r>
              <a:rPr lang="en-US" altLang="zh-CN"/>
              <a:t>6to4</a:t>
            </a:r>
            <a:r>
              <a:rPr lang="zh-CN" altLang="en-US"/>
              <a:t>是最常见的</a:t>
            </a:r>
            <a:r>
              <a:rPr lang="zh-CN" altLang="en-US"/>
              <a:t>隧道协议，这是由于其作为</a:t>
            </a:r>
            <a:r>
              <a:rPr lang="en-US" altLang="zh-CN"/>
              <a:t>IPv6</a:t>
            </a:r>
            <a:r>
              <a:rPr lang="zh-CN" altLang="en-US"/>
              <a:t>过渡机制被广泛部署。其余隧道节点数量也与文章给出的规模相符。这表明我们的测量方法科学有效，能够准确反映隧道协议的实际情况，为后续研究提供了可靠的数据支撑。</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在复现基于隧道节点的新型</a:t>
            </a:r>
            <a:r>
              <a:rPr lang="en-US" altLang="zh-CN"/>
              <a:t>DoS</a:t>
            </a:r>
            <a:r>
              <a:rPr lang="zh-CN" altLang="en-US"/>
              <a:t>攻击研究中，</a:t>
            </a:r>
            <a:r>
              <a:rPr lang="zh-CN" altLang="en-US" dirty="0">
                <a:sym typeface="+mn-ea"/>
              </a:rPr>
              <a:t>在单跳的情况下，我们设计并规划不同路径的延迟，使所有数据包同时到达受害者。可以看这个接收流量和时间分布的折线图。</a:t>
            </a:r>
            <a:endParaRPr lang="zh-CN" altLang="en-US" dirty="0">
              <a:sym typeface="+mn-ea"/>
            </a:endParaRPr>
          </a:p>
          <a:p>
            <a:r>
              <a:rPr lang="zh-CN" altLang="en-US"/>
              <a:t>使用</a:t>
            </a:r>
            <a:r>
              <a:rPr lang="en-US" altLang="zh-CN"/>
              <a:t>1</a:t>
            </a:r>
            <a:r>
              <a:rPr lang="zh-CN" altLang="en-US"/>
              <a:t>台主机实验时，</a:t>
            </a:r>
            <a:r>
              <a:rPr lang="zh-CN" altLang="en-US" dirty="0">
                <a:sym typeface="+mn-ea"/>
              </a:rPr>
              <a:t>某一点之后，红色曲线</a:t>
            </a:r>
            <a:r>
              <a:rPr lang="zh-CN" altLang="en-US"/>
              <a:t>曲线急剧攀升，流量峰值高达</a:t>
            </a:r>
            <a:r>
              <a:rPr lang="en-US" altLang="zh-CN"/>
              <a:t>800 Packets/50ms</a:t>
            </a:r>
            <a:r>
              <a:rPr lang="zh-CN" altLang="en-US"/>
              <a:t>，放大倍数近</a:t>
            </a:r>
            <a:r>
              <a:rPr lang="en-US" altLang="zh-CN"/>
              <a:t>15</a:t>
            </a:r>
            <a:r>
              <a:rPr lang="zh-CN" altLang="en-US"/>
              <a:t>倍。</a:t>
            </a:r>
            <a:endParaRPr lang="en-US" altLang="zh-CN"/>
          </a:p>
          <a:p>
            <a:r>
              <a:rPr lang="zh-CN" altLang="en-US"/>
              <a:t>这一显著实验效果证明，通过隧道构造的攻击路径能在接收者处形成显著脉冲攻击效果，且与原文效果一致。此成果不仅验证论文结论，更为后续研究和防御策略制定提供有力支撑。</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在验证基于隧道节点的新型</a:t>
            </a:r>
            <a:r>
              <a:rPr lang="en-US" altLang="zh-CN"/>
              <a:t>DoS</a:t>
            </a:r>
            <a:r>
              <a:rPr lang="zh-CN" altLang="en-US"/>
              <a:t>攻击的多跳情况时，经现网测量实验，发现论文设计的多跳转发不可行。实际情况是，隧道主机会直接转发最内层的数据包。</a:t>
            </a:r>
            <a:endParaRPr lang="en-US" altLang="zh-CN"/>
          </a:p>
          <a:p>
            <a:r>
              <a:rPr lang="zh-CN" altLang="en-US"/>
              <a:t>为验证这一现象，我们采用</a:t>
            </a:r>
            <a:r>
              <a:rPr lang="en-US" altLang="zh-CN"/>
              <a:t>IP6IP6</a:t>
            </a:r>
            <a:r>
              <a:rPr lang="zh-CN" altLang="en-US"/>
              <a:t>隧道协议，用</a:t>
            </a:r>
            <a:r>
              <a:rPr lang="en-US" altLang="zh-CN"/>
              <a:t>20</a:t>
            </a:r>
            <a:r>
              <a:rPr lang="zh-CN" altLang="en-US"/>
              <a:t>余万数据包进行测试，将内层地址设为</a:t>
            </a:r>
            <a:r>
              <a:rPr lang="en-US" altLang="zh-CN"/>
              <a:t>::1</a:t>
            </a:r>
            <a:r>
              <a:rPr lang="zh-CN" altLang="en-US"/>
              <a:t>。结果显示，我们均收到了转发回的最内层数据包。这一结果表明，在实际应用中，多跳情况下的数据包转发机制与论文设计存在差异</a:t>
            </a:r>
            <a:r>
              <a:rPr lang="zh-CN"/>
              <a:t>。</a:t>
            </a:r>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此次研究的扩展成果之一聚焦于监测隧道节点存活变化趋势。我们对</a:t>
            </a:r>
            <a:r>
              <a:rPr lang="en-US" altLang="zh-CN"/>
              <a:t>2025</a:t>
            </a:r>
            <a:r>
              <a:rPr lang="zh-CN" altLang="en-US"/>
              <a:t>年</a:t>
            </a:r>
            <a:r>
              <a:rPr lang="en-US" altLang="zh-CN"/>
              <a:t>6</a:t>
            </a:r>
            <a:r>
              <a:rPr lang="zh-CN" altLang="en-US"/>
              <a:t>月至</a:t>
            </a:r>
            <a:r>
              <a:rPr lang="en-US" altLang="zh-CN"/>
              <a:t>11</a:t>
            </a:r>
            <a:r>
              <a:rPr lang="zh-CN" altLang="en-US"/>
              <a:t>月期间的六种隧道协议进行了探测，包括</a:t>
            </a:r>
            <a:r>
              <a:rPr lang="en-US" altLang="zh-CN"/>
              <a:t>ipip</a:t>
            </a:r>
            <a:r>
              <a:rPr lang="zh-CN" altLang="en-US"/>
              <a:t>、</a:t>
            </a:r>
            <a:r>
              <a:rPr lang="en-US" altLang="zh-CN"/>
              <a:t>gre</a:t>
            </a:r>
            <a:r>
              <a:rPr lang="zh-CN" altLang="en-US"/>
              <a:t>、</a:t>
            </a:r>
            <a:r>
              <a:rPr lang="en-US" altLang="zh-CN"/>
              <a:t>ip6ip6</a:t>
            </a:r>
            <a:r>
              <a:rPr lang="zh-CN" altLang="en-US"/>
              <a:t>、</a:t>
            </a:r>
            <a:r>
              <a:rPr lang="en-US" altLang="zh-CN"/>
              <a:t>gre6</a:t>
            </a:r>
            <a:r>
              <a:rPr lang="zh-CN" altLang="en-US"/>
              <a:t>、</a:t>
            </a:r>
            <a:r>
              <a:rPr lang="en-US" altLang="zh-CN"/>
              <a:t>6to4</a:t>
            </a:r>
            <a:r>
              <a:rPr lang="zh-CN" altLang="en-US"/>
              <a:t>和</a:t>
            </a:r>
            <a:r>
              <a:rPr lang="en-US" altLang="zh-CN"/>
              <a:t>4in6</a:t>
            </a:r>
            <a:r>
              <a:rPr lang="zh-CN" altLang="en-US"/>
              <a:t>。研究发现大部分协议数量相对平稳，然而</a:t>
            </a:r>
            <a:r>
              <a:rPr lang="en-US" altLang="zh-CN"/>
              <a:t>6to4</a:t>
            </a:r>
            <a:r>
              <a:rPr lang="zh-CN" altLang="en-US"/>
              <a:t>协议表现例外，其数量在前几个月显著下降。</a:t>
            </a:r>
            <a:endParaRPr lang="en-US" altLang="zh-CN"/>
          </a:p>
          <a:p>
            <a:r>
              <a:rPr lang="en-US" altLang="zh-CN"/>
              <a:t>6to4</a:t>
            </a:r>
            <a:r>
              <a:rPr lang="zh-CN" altLang="en-US"/>
              <a:t>协议数量的减少有迹可循，它作为</a:t>
            </a:r>
            <a:r>
              <a:rPr lang="en-US" altLang="zh-CN"/>
              <a:t>IPv6</a:t>
            </a:r>
            <a:r>
              <a:rPr lang="zh-CN" altLang="en-US"/>
              <a:t>过渡机制而广泛存在，但随着网络技术发展，全球原生</a:t>
            </a:r>
            <a:r>
              <a:rPr lang="en-US" altLang="zh-CN"/>
              <a:t>IPv6</a:t>
            </a:r>
            <a:r>
              <a:rPr lang="zh-CN" altLang="en-US"/>
              <a:t>普及率提升，对</a:t>
            </a:r>
            <a:r>
              <a:rPr lang="en-US" altLang="zh-CN"/>
              <a:t>6to4</a:t>
            </a:r>
            <a:r>
              <a:rPr lang="zh-CN" altLang="en-US"/>
              <a:t>协议的需求降低，其数量下降趋势可能会延续。这种变化趋势揭示了网络协议的演变趋势。</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在监测隧道节点存活变化趋势时，</a:t>
            </a:r>
            <a:r>
              <a:rPr lang="en-US" altLang="zh-CN"/>
              <a:t>6to4</a:t>
            </a:r>
            <a:r>
              <a:rPr lang="zh-CN" altLang="en-US"/>
              <a:t>隧道数量变化显著。随着</a:t>
            </a:r>
            <a:r>
              <a:rPr lang="en-US" altLang="zh-CN"/>
              <a:t>2025</a:t>
            </a:r>
            <a:r>
              <a:rPr lang="zh-CN" altLang="en-US"/>
              <a:t>年全球原生</a:t>
            </a:r>
            <a:r>
              <a:rPr lang="en-US" altLang="zh-CN"/>
              <a:t>IPv6</a:t>
            </a:r>
            <a:r>
              <a:rPr lang="zh-CN" altLang="en-US"/>
              <a:t>普及率超</a:t>
            </a:r>
            <a:r>
              <a:rPr lang="en-US" altLang="zh-CN"/>
              <a:t>45%</a:t>
            </a:r>
            <a:r>
              <a:rPr lang="zh-CN" altLang="en-US"/>
              <a:t>，</a:t>
            </a:r>
            <a:r>
              <a:rPr lang="en-US" altLang="zh-CN"/>
              <a:t>6to4</a:t>
            </a:r>
            <a:r>
              <a:rPr lang="zh-CN" altLang="en-US"/>
              <a:t>作为过渡机制的需求逐年降低，呈长期下降趋势。为深入了解</a:t>
            </a:r>
            <a:r>
              <a:rPr lang="en-US" altLang="zh-CN"/>
              <a:t>6to4</a:t>
            </a:r>
            <a:r>
              <a:rPr lang="zh-CN" altLang="en-US"/>
              <a:t>隧道数量变化背后的原因，我们进一步分析其数量、自治系统（</a:t>
            </a:r>
            <a:r>
              <a:rPr lang="en-US" altLang="zh-CN"/>
              <a:t>AS</a:t>
            </a:r>
            <a:r>
              <a:rPr lang="zh-CN" altLang="en-US"/>
              <a:t>）、组织和国家的归属情况。通过对这些因素的解析，能清晰掌握</a:t>
            </a:r>
            <a:r>
              <a:rPr lang="en-US" altLang="zh-CN"/>
              <a:t>6to4</a:t>
            </a:r>
            <a:r>
              <a:rPr lang="zh-CN" altLang="en-US"/>
              <a:t>隧道在不同层面的分布和变化。</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接下来介绍扩展成果</a:t>
            </a:r>
            <a:r>
              <a:rPr lang="en-US" altLang="zh-CN"/>
              <a:t>2</a:t>
            </a:r>
            <a:r>
              <a:rPr lang="zh-CN" altLang="en-US"/>
              <a:t>，即评估隧道节点中</a:t>
            </a:r>
            <a:r>
              <a:rPr lang="en-US" altLang="zh-CN"/>
              <a:t>ISAV</a:t>
            </a:r>
            <a:r>
              <a:rPr lang="zh-CN" altLang="en-US"/>
              <a:t>部署的情况，采用的是反射探测原理。具体操作是向目标隧道发送一个伪造了源地址的封装包，这个伪造的源地址会伪装成目标内网</a:t>
            </a:r>
            <a:r>
              <a:rPr lang="en-US" altLang="zh-CN"/>
              <a:t>IP</a:t>
            </a:r>
            <a:r>
              <a:rPr lang="zh-CN" altLang="en-US"/>
              <a:t>。</a:t>
            </a:r>
            <a:endParaRPr lang="en-US" altLang="zh-CN"/>
          </a:p>
          <a:p>
            <a:r>
              <a:rPr lang="zh-CN" altLang="en-US"/>
              <a:t>若隧道节点解封装并回复或反射了数据包，就表明该网络未部署</a:t>
            </a:r>
            <a:r>
              <a:rPr lang="en-US" altLang="zh-CN"/>
              <a:t>Inbound SAV</a:t>
            </a:r>
            <a:r>
              <a:rPr lang="zh-CN" altLang="en-US"/>
              <a:t>，意味着允许伪造的内网包进入该网络。如此一来，便能据此评估隧道主机所在的网络是否会拦截进入的伪造包。</a:t>
            </a:r>
            <a:endParaRPr lang="zh-CN" altLang="en-US"/>
          </a:p>
          <a:p>
            <a:r>
              <a:rPr lang="zh-CN" altLang="en-US"/>
              <a:t>根据这一方案，我们对不同隧道协议的</a:t>
            </a:r>
            <a:r>
              <a:rPr lang="en-US" altLang="zh-CN"/>
              <a:t>ISAV</a:t>
            </a:r>
            <a:r>
              <a:rPr lang="zh-CN" altLang="en-US"/>
              <a:t>部署情况进行统计，结果如左边表格</a:t>
            </a:r>
            <a:r>
              <a:rPr lang="zh-CN" altLang="en-US"/>
              <a:t>所示。</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此外，我们对隧道节点中</a:t>
            </a:r>
            <a:r>
              <a:rPr lang="en-US" altLang="zh-CN"/>
              <a:t> OSAV </a:t>
            </a:r>
            <a:r>
              <a:rPr lang="zh-CN" altLang="en-US"/>
              <a:t>部署情况进行评估，采用的是转发探测原理，即评估隧道主机解封后发送出的伪造包是否被其网络拦截。</a:t>
            </a:r>
            <a:endParaRPr lang="zh-CN" altLang="en-US"/>
          </a:p>
          <a:p>
            <a:r>
              <a:rPr lang="zh-CN" altLang="en-US">
                <a:sym typeface="+mn-ea"/>
              </a:rPr>
              <a:t>根据这一方案，我们对不同隧道协议的</a:t>
            </a:r>
            <a:r>
              <a:rPr lang="en-US" altLang="zh-CN">
                <a:sym typeface="+mn-ea"/>
              </a:rPr>
              <a:t>OSAV</a:t>
            </a:r>
            <a:r>
              <a:rPr lang="zh-CN" altLang="en-US">
                <a:sym typeface="+mn-ea"/>
              </a:rPr>
              <a:t>部署情况进行统计，结果如左边表格所示。</a:t>
            </a:r>
            <a:endParaRPr lang="en-US" altLang="zh-CN"/>
          </a:p>
          <a:p>
            <a:r>
              <a:rPr lang="zh-CN" altLang="en-US"/>
              <a:t>通过对被测隧道节点聚合分析，我们有了重要发现。多达</a:t>
            </a:r>
            <a:r>
              <a:rPr lang="en-US" altLang="zh-CN"/>
              <a:t> 2,014 </a:t>
            </a:r>
            <a:r>
              <a:rPr lang="zh-CN" altLang="en-US"/>
              <a:t>个</a:t>
            </a:r>
            <a:r>
              <a:rPr lang="en-US" altLang="zh-CN"/>
              <a:t> AS </a:t>
            </a:r>
            <a:r>
              <a:rPr lang="zh-CN" altLang="en-US"/>
              <a:t>一致缺少</a:t>
            </a:r>
            <a:r>
              <a:rPr lang="en-US" altLang="zh-CN"/>
              <a:t> OSAV</a:t>
            </a:r>
            <a:r>
              <a:rPr lang="zh-CN" altLang="en-US"/>
              <a:t>，</a:t>
            </a:r>
            <a:r>
              <a:rPr lang="en-US" altLang="zh-CN"/>
              <a:t>49 </a:t>
            </a:r>
            <a:r>
              <a:rPr lang="zh-CN" altLang="en-US"/>
              <a:t>个</a:t>
            </a:r>
            <a:r>
              <a:rPr lang="en-US" altLang="zh-CN"/>
              <a:t> AS </a:t>
            </a:r>
            <a:r>
              <a:rPr lang="zh-CN" altLang="en-US"/>
              <a:t>部分部署</a:t>
            </a:r>
            <a:r>
              <a:rPr lang="en-US" altLang="zh-CN"/>
              <a:t> OSAV</a:t>
            </a:r>
            <a:r>
              <a:rPr lang="zh-CN" altLang="en-US"/>
              <a:t>，仅有</a:t>
            </a:r>
            <a:r>
              <a:rPr lang="en-US" altLang="zh-CN"/>
              <a:t> 41 </a:t>
            </a:r>
            <a:r>
              <a:rPr lang="zh-CN" altLang="en-US"/>
              <a:t>个</a:t>
            </a:r>
            <a:r>
              <a:rPr lang="en-US" altLang="zh-CN"/>
              <a:t> AS </a:t>
            </a:r>
            <a:r>
              <a:rPr lang="zh-CN" altLang="en-US"/>
              <a:t>一致部署</a:t>
            </a:r>
            <a:r>
              <a:rPr lang="en-US" altLang="zh-CN"/>
              <a:t> OSAV</a:t>
            </a:r>
            <a:r>
              <a:rPr lang="zh-CN" altLang="en-US"/>
              <a:t>，这一结果为我们后续加强网络安全提供了关键依据。</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网络空间大小是影响</a:t>
            </a:r>
            <a:r>
              <a:rPr lang="en-US" altLang="zh-CN" dirty="0">
                <a:sym typeface="+mn-ea"/>
              </a:rPr>
              <a:t>SAV</a:t>
            </a:r>
            <a:r>
              <a:rPr lang="zh-CN" altLang="en-US" dirty="0">
                <a:sym typeface="+mn-ea"/>
              </a:rPr>
              <a:t>部署的关键因素，</a:t>
            </a:r>
            <a:r>
              <a:rPr lang="en-US" altLang="zh-CN" dirty="0">
                <a:sym typeface="+mn-ea"/>
              </a:rPr>
              <a:t>BGP</a:t>
            </a:r>
            <a:r>
              <a:rPr lang="zh-CN" altLang="en-US" dirty="0">
                <a:sym typeface="+mn-ea"/>
              </a:rPr>
              <a:t>路由前缀长度与</a:t>
            </a:r>
            <a:r>
              <a:rPr lang="en-US" altLang="zh-CN" dirty="0">
                <a:sym typeface="+mn-ea"/>
              </a:rPr>
              <a:t>SAV</a:t>
            </a:r>
            <a:r>
              <a:rPr lang="zh-CN" altLang="en-US" dirty="0">
                <a:sym typeface="+mn-ea"/>
              </a:rPr>
              <a:t>部署情况的累计分布函数揭示了两者之间的内在联系。</a:t>
            </a:r>
            <a:r>
              <a:rPr lang="zh-CN" altLang="en-US" dirty="0">
                <a:solidFill>
                  <a:srgbClr val="000000"/>
                </a:solidFill>
                <a:effectLst/>
                <a:latin typeface="宋体" panose="02010600030101010101" pitchFamily="2" charset="-122"/>
                <a:ea typeface="宋体" panose="02010600030101010101" pitchFamily="2" charset="-122"/>
                <a:sym typeface="+mn-ea"/>
              </a:rPr>
              <a:t>测量结果表明，规模较小的网络更有可能缺少 </a:t>
            </a:r>
            <a:r>
              <a:rPr lang="en-US" altLang="zh-CN" dirty="0">
                <a:solidFill>
                  <a:srgbClr val="000000"/>
                </a:solidFill>
                <a:effectLst/>
                <a:latin typeface="Times New Roman" panose="02020603050405020304" pitchFamily="18" charset="0"/>
                <a:sym typeface="+mn-ea"/>
              </a:rPr>
              <a:t>SAV </a:t>
            </a:r>
            <a:r>
              <a:rPr lang="zh-CN" altLang="en-US" dirty="0">
                <a:solidFill>
                  <a:srgbClr val="000000"/>
                </a:solidFill>
                <a:effectLst/>
                <a:latin typeface="宋体" panose="02010600030101010101" pitchFamily="2" charset="-122"/>
                <a:ea typeface="宋体" panose="02010600030101010101" pitchFamily="2" charset="-122"/>
                <a:sym typeface="+mn-ea"/>
              </a:rPr>
              <a:t>部署。这可能是因为小型网络的管理员缺少过滤伪造流量的资源或能力。</a:t>
            </a:r>
            <a:endParaRPr lang="en-US" altLang="zh-CN" dirty="0">
              <a:solidFill>
                <a:srgbClr val="000000"/>
              </a:solidFill>
              <a:effectLst/>
              <a:latin typeface="宋体" panose="02010600030101010101" pitchFamily="2" charset="-122"/>
              <a:ea typeface="宋体" panose="02010600030101010101" pitchFamily="2" charset="-122"/>
            </a:endParaRPr>
          </a:p>
          <a:p>
            <a:r>
              <a:rPr lang="zh-CN" altLang="en-US" dirty="0">
                <a:solidFill>
                  <a:srgbClr val="000000"/>
                </a:solidFill>
                <a:effectLst/>
                <a:latin typeface="宋体" panose="02010600030101010101" pitchFamily="2" charset="-122"/>
                <a:ea typeface="宋体" panose="02010600030101010101" pitchFamily="2" charset="-122"/>
                <a:sym typeface="+mn-ea"/>
              </a:rPr>
              <a:t>此外，在大型网络中，部分部署 </a:t>
            </a:r>
            <a:r>
              <a:rPr lang="en-US" altLang="zh-CN" dirty="0">
                <a:solidFill>
                  <a:srgbClr val="000000"/>
                </a:solidFill>
                <a:effectLst/>
                <a:latin typeface="Times New Roman" panose="02020603050405020304" pitchFamily="18" charset="0"/>
                <a:sym typeface="+mn-ea"/>
              </a:rPr>
              <a:t>SAV </a:t>
            </a:r>
            <a:r>
              <a:rPr lang="zh-CN" altLang="en-US" dirty="0">
                <a:solidFill>
                  <a:srgbClr val="000000"/>
                </a:solidFill>
                <a:effectLst/>
                <a:latin typeface="宋体" panose="02010600030101010101" pitchFamily="2" charset="-122"/>
                <a:ea typeface="宋体" panose="02010600030101010101" pitchFamily="2" charset="-122"/>
                <a:sym typeface="+mn-ea"/>
              </a:rPr>
              <a:t>的情况较为常见。这表明大型网络的管理较为复杂，其庞大的地址空间容易导致不同网段的管理策略不一致。</a:t>
            </a:r>
            <a:endParaRPr lang="zh-CN" altLang="en-US" dirty="0"/>
          </a:p>
          <a:p>
            <a:r>
              <a:rPr lang="zh-CN" altLang="en-US" dirty="0">
                <a:sym typeface="+mn-ea"/>
              </a:rPr>
              <a:t>另外，</a:t>
            </a:r>
            <a:r>
              <a:rPr lang="zh-CN" altLang="en-US" dirty="0"/>
              <a:t>我们进一步分析了被测隧道节点所在网络的</a:t>
            </a:r>
            <a:r>
              <a:rPr lang="en-US" altLang="zh-CN" dirty="0"/>
              <a:t>AS</a:t>
            </a:r>
            <a:r>
              <a:rPr lang="zh-CN" altLang="en-US" dirty="0"/>
              <a:t>类型与</a:t>
            </a:r>
            <a:r>
              <a:rPr lang="en-US" altLang="zh-CN" dirty="0"/>
              <a:t>SAV</a:t>
            </a:r>
            <a:r>
              <a:rPr lang="zh-CN" altLang="en-US" dirty="0"/>
              <a:t>部署情况的关系。通过</a:t>
            </a:r>
            <a:r>
              <a:rPr lang="zh-CN" altLang="en-US" dirty="0"/>
              <a:t>右图展示的六个重要</a:t>
            </a:r>
            <a:r>
              <a:rPr lang="en-US" altLang="zh-CN" dirty="0"/>
              <a:t>AS</a:t>
            </a:r>
            <a:r>
              <a:rPr lang="zh-CN" altLang="en-US" dirty="0"/>
              <a:t>类型的</a:t>
            </a:r>
            <a:r>
              <a:rPr lang="en-US" altLang="zh-CN" dirty="0"/>
              <a:t>SAV</a:t>
            </a:r>
            <a:r>
              <a:rPr lang="zh-CN" altLang="en-US" dirty="0"/>
              <a:t>部署情况，相比之下，计算机相关网络和网络服务提供商（</a:t>
            </a:r>
            <a:r>
              <a:rPr lang="en-US" altLang="zh-CN" dirty="0"/>
              <a:t>ISP</a:t>
            </a:r>
            <a:r>
              <a:rPr lang="zh-CN" altLang="en-US" dirty="0"/>
              <a:t>）实施</a:t>
            </a:r>
            <a:r>
              <a:rPr lang="en-US" altLang="zh-CN" dirty="0"/>
              <a:t> SAV </a:t>
            </a:r>
            <a:r>
              <a:rPr lang="zh-CN" altLang="en-US" dirty="0"/>
              <a:t>的比例较小。由于隧道节点更多地分布在这两类网络中，这种</a:t>
            </a:r>
            <a:r>
              <a:rPr lang="en-US" altLang="zh-CN" dirty="0"/>
              <a:t> SAV </a:t>
            </a:r>
            <a:r>
              <a:rPr lang="zh-CN" altLang="en-US" dirty="0"/>
              <a:t>缺少的现状可能构成更严重的安全隐患</a:t>
            </a:r>
            <a:r>
              <a:rPr lang="zh-CN" altLang="en-US" dirty="0"/>
              <a:t>。</a:t>
            </a:r>
            <a:endParaRPr lang="zh-CN" altLang="en-US"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方向一：</a:t>
            </a:r>
            <a:r>
              <a:rPr kumimoji="1" lang="zh-CN" altLang="en-US" b="1">
                <a:latin typeface="微软雅黑" panose="020B0503020204020204" charset="-122"/>
                <a:ea typeface="微软雅黑" panose="020B0503020204020204" charset="-122"/>
              </a:rPr>
              <a:t>探究隧道场景下的测量</a:t>
            </a:r>
            <a:endParaRPr lang="en-US" altLang="zh-CN"/>
          </a:p>
          <a:p>
            <a:r>
              <a:rPr lang="zh-CN" altLang="en-US"/>
              <a:t>利用隧道节点转发特定测量任务的探测包来间接达到扩充观测点数量的目的，从而</a:t>
            </a:r>
            <a:r>
              <a:rPr lang="zh-CN" altLang="en-US" sz="1200" b="0" i="0" kern="1200">
                <a:solidFill>
                  <a:schemeClr val="tx1"/>
                </a:solidFill>
                <a:effectLst/>
                <a:latin typeface="+mn-lt"/>
                <a:ea typeface="+mn-ea"/>
                <a:cs typeface="+mn-cs"/>
              </a:rPr>
              <a:t>扩展可观测视野、降低观测数据偏差</a:t>
            </a:r>
            <a:r>
              <a:rPr lang="zh-CN" altLang="en-US"/>
              <a:t>。</a:t>
            </a:r>
            <a:endParaRPr lang="en-US" altLang="zh-CN"/>
          </a:p>
          <a:p>
            <a:r>
              <a:rPr lang="zh-CN" altLang="en-US"/>
              <a:t>通过主动发送特殊构造的探测数据包来探究隧道节点的</a:t>
            </a:r>
            <a:r>
              <a:rPr lang="zh-CN" altLang="en-US" sz="1200" b="0" i="0" kern="1200">
                <a:solidFill>
                  <a:schemeClr val="tx1"/>
                </a:solidFill>
                <a:effectLst/>
                <a:latin typeface="+mn-lt"/>
                <a:ea typeface="+mn-ea"/>
                <a:cs typeface="+mn-cs"/>
              </a:rPr>
              <a:t>工作机制是否存在错误处理或不一致问题</a:t>
            </a:r>
            <a:r>
              <a:rPr lang="zh-CN" altLang="en-US"/>
              <a:t>，</a:t>
            </a:r>
            <a:r>
              <a:rPr lang="zh-CN" altLang="en-US" sz="1200" b="0" i="0" kern="1200">
                <a:solidFill>
                  <a:schemeClr val="tx1"/>
                </a:solidFill>
                <a:effectLst/>
                <a:latin typeface="+mn-lt"/>
                <a:ea typeface="+mn-ea"/>
                <a:cs typeface="+mn-cs"/>
              </a:rPr>
              <a:t>进而寻找其中可能存在的安全风险。</a:t>
            </a:r>
            <a:endParaRPr lang="en-US" altLang="zh-CN"/>
          </a:p>
          <a:p>
            <a:r>
              <a:rPr lang="zh-CN" altLang="en-US"/>
              <a:t>方向二：</a:t>
            </a:r>
            <a:r>
              <a:rPr kumimoji="1" lang="zh-CN" altLang="en-US" b="1">
                <a:latin typeface="微软雅黑" panose="020B0503020204020204" charset="-122"/>
                <a:ea typeface="微软雅黑" panose="020B0503020204020204" charset="-122"/>
              </a:rPr>
              <a:t>探究隧道场景下的攻击</a:t>
            </a:r>
            <a:endParaRPr lang="en-US" altLang="zh-CN"/>
          </a:p>
          <a:p>
            <a:r>
              <a:rPr lang="zh-CN" altLang="en-US"/>
              <a:t>探究是否可以构造特定探测包来绕过隧道节点的访问控制机制，实现未授权流量注入或权限提升；或者利用隧道节点作为中继，将恶意流量定向转发到受害者网络，形成隐蔽的攻击通道。</a:t>
            </a:r>
            <a:endParaRPr lang="en-US" altLang="zh-CN"/>
          </a:p>
          <a:p>
            <a:r>
              <a:rPr lang="zh-CN" altLang="en-US"/>
              <a:t>探究是否可以利用隧道节点真正实现</a:t>
            </a:r>
            <a:r>
              <a:rPr lang="zh-CN" altLang="en-US" sz="1200" b="0" i="0" kern="1200">
                <a:solidFill>
                  <a:schemeClr val="tx1"/>
                </a:solidFill>
                <a:effectLst/>
                <a:latin typeface="+mn-lt"/>
                <a:ea typeface="+mn-ea"/>
                <a:cs typeface="+mn-cs"/>
              </a:rPr>
              <a:t>嵌套封装或反射放大机制下多跳</a:t>
            </a:r>
            <a:r>
              <a:rPr lang="zh-CN" altLang="en-US"/>
              <a:t>的</a:t>
            </a:r>
            <a:r>
              <a:rPr lang="en-US" altLang="zh-CN"/>
              <a:t>DoS</a:t>
            </a:r>
            <a:r>
              <a:rPr lang="zh-CN" altLang="en-US"/>
              <a:t>攻击，或者实现新型</a:t>
            </a:r>
            <a:r>
              <a:rPr lang="en-US" altLang="zh-CN"/>
              <a:t>DoS</a:t>
            </a:r>
            <a:r>
              <a:rPr lang="zh-CN" altLang="en-US"/>
              <a:t>攻击，例如基于隧道的隐蔽链路洪泛攻击。</a:t>
            </a:r>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a:t>单击此处编辑母版标题样式</a:t>
            </a:r>
            <a:endParaRPr lang="en-US"/>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pic>
        <p:nvPicPr>
          <p:cNvPr id="10" name="图片 9"/>
          <p:cNvPicPr>
            <a:picLocks noChangeAspect="1"/>
          </p:cNvPicPr>
          <p:nvPr userDrawn="1"/>
        </p:nvPicPr>
        <p:blipFill>
          <a:blip r:embed="rId2"/>
          <a:stretch>
            <a:fillRect/>
          </a:stretch>
        </p:blipFill>
        <p:spPr>
          <a:xfrm>
            <a:off x="459200" y="275794"/>
            <a:ext cx="2519770" cy="992105"/>
          </a:xfrm>
          <a:prstGeom prst="rect">
            <a:avLst/>
          </a:prstGeom>
        </p:spPr>
      </p:pic>
      <p:sp>
        <p:nvSpPr>
          <p:cNvPr id="9"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fld>
            <a:endParaRPr kumimoji="1" lang="zh-CN" altLang="en-US"/>
          </a:p>
        </p:txBody>
      </p:sp>
      <p:sp>
        <p:nvSpPr>
          <p:cNvPr id="11"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12"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4" name="Rectangle 6"/>
          <p:cNvSpPr>
            <a:spLocks noChangeAspect="1"/>
          </p:cNvSpPr>
          <p:nvPr userDrawn="1"/>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fld>
            <a:endParaRPr kumimoji="1" lang="zh-CN" altLang="en-US"/>
          </a:p>
        </p:txBody>
      </p:sp>
      <p:sp>
        <p:nvSpPr>
          <p:cNvPr id="12" name="Title 1"/>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a:t>单击此处编辑母版标题样式</a:t>
            </a:r>
            <a:endParaRPr lang="en-US"/>
          </a:p>
        </p:txBody>
      </p:sp>
      <p:sp>
        <p:nvSpPr>
          <p:cNvPr id="9" name="Content Placeholder 2"/>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pic>
        <p:nvPicPr>
          <p:cNvPr id="10" name="图片 9"/>
          <p:cNvPicPr>
            <a:picLocks noChangeAspect="1"/>
          </p:cNvPicPr>
          <p:nvPr userDrawn="1"/>
        </p:nvPicPr>
        <p:blipFill>
          <a:blip r:embed="rId2"/>
          <a:stretch>
            <a:fillRect/>
          </a:stretch>
        </p:blipFill>
        <p:spPr>
          <a:xfrm>
            <a:off x="92600" y="92600"/>
            <a:ext cx="1015763" cy="101955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9" name="图片 8"/>
          <p:cNvPicPr>
            <a:picLocks noChangeAspect="1"/>
          </p:cNvPicPr>
          <p:nvPr userDrawn="1"/>
        </p:nvPicPr>
        <p:blipFill>
          <a:blip r:embed="rId2"/>
          <a:stretch>
            <a:fillRect/>
          </a:stretch>
        </p:blipFill>
        <p:spPr>
          <a:xfrm>
            <a:off x="11072241" y="5257877"/>
            <a:ext cx="1015763" cy="1019553"/>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a:t>单击此处编辑母版标题样式</a:t>
            </a:r>
            <a:endParaRPr lang="en-US"/>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10" name="Date Placeholder 4"/>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fld>
            <a:endParaRPr kumimoji="1" lang="zh-CN" altLang="en-US"/>
          </a:p>
        </p:txBody>
      </p:sp>
      <p:sp>
        <p:nvSpPr>
          <p:cNvPr id="11" name="Footer Placeholder 5"/>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kumimoji="1" lang="zh-CN" altLang="en-US"/>
          </a:p>
        </p:txBody>
      </p:sp>
      <p:sp>
        <p:nvSpPr>
          <p:cNvPr id="12"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5"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7"/>
          <p:cNvSpPr>
            <a:spLocks noChangeAspect="1"/>
          </p:cNvSpPr>
          <p:nvPr userDrawn="1"/>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a:t>单击此处编辑母版标题样式</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pic>
        <p:nvPicPr>
          <p:cNvPr id="10" name="图片 9"/>
          <p:cNvPicPr>
            <a:picLocks noChangeAspect="1"/>
          </p:cNvPicPr>
          <p:nvPr userDrawn="1"/>
        </p:nvPicPr>
        <p:blipFill>
          <a:blip r:embed="rId2"/>
          <a:stretch>
            <a:fillRect/>
          </a:stretch>
        </p:blipFill>
        <p:spPr>
          <a:xfrm>
            <a:off x="11072241" y="5257877"/>
            <a:ext cx="1015763" cy="1019553"/>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8" name="Rectangle 6"/>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fld>
            <a:endParaRPr kumimoji="1" lang="zh-CN" altLang="en-US"/>
          </a:p>
        </p:txBody>
      </p:sp>
      <p:sp>
        <p:nvSpPr>
          <p:cNvPr id="2" name="标题 1"/>
          <p:cNvSpPr>
            <a:spLocks noGrp="1"/>
          </p:cNvSpPr>
          <p:nvPr>
            <p:ph type="title"/>
          </p:nvPr>
        </p:nvSpPr>
        <p:spPr/>
        <p:txBody>
          <a:bodyPr/>
          <a:lstStyle>
            <a:lvl1pPr>
              <a:defRPr cap="none" baseline="0"/>
            </a:lvl1pPr>
          </a:lstStyle>
          <a:p>
            <a:r>
              <a:rPr kumimoji="1" lang="zh-CN" altLang="en-US"/>
              <a:t>单击此处编辑母版标题样式</a:t>
            </a:r>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showMasterSp="0">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11"/>
          </p:nvPr>
        </p:nvSpPr>
        <p:spPr>
          <a:xfrm>
            <a:off x="774925" y="5951813"/>
            <a:ext cx="7896279" cy="365125"/>
          </a:xfrm>
        </p:spPr>
        <p:txBody>
          <a:bodyPr/>
          <a:lstStyle/>
          <a:p>
            <a:endParaRPr kumimoji="1"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fld>
            <a:endParaRPr kumimoji="1" lang="zh-CN" altLang="en-US"/>
          </a:p>
        </p:txBody>
      </p:sp>
      <p:pic>
        <p:nvPicPr>
          <p:cNvPr id="10" name="图片 9"/>
          <p:cNvPicPr>
            <a:picLocks noChangeAspect="1"/>
          </p:cNvPicPr>
          <p:nvPr userDrawn="1"/>
        </p:nvPicPr>
        <p:blipFill>
          <a:blip r:embed="rId2"/>
          <a:stretch>
            <a:fillRect/>
          </a:stretch>
        </p:blipFill>
        <p:spPr>
          <a:xfrm>
            <a:off x="11083637" y="92600"/>
            <a:ext cx="1015763" cy="101955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em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p:cNvSpPr>
            <a:spLocks noChangeAspect="1"/>
          </p:cNvSpPr>
          <p:nvPr userDrawn="1"/>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fld>
            <a:endParaRPr kumimoji="1" lang="zh-CN" altLang="en-US"/>
          </a:p>
        </p:txBody>
      </p:sp>
      <p:sp>
        <p:nvSpPr>
          <p:cNvPr id="11" name="Rectangle 6"/>
          <p:cNvSpPr>
            <a:spLocks noChangeAspect="1"/>
          </p:cNvSpPr>
          <p:nvPr userDrawn="1"/>
        </p:nvSpPr>
        <p:spPr>
          <a:xfrm>
            <a:off x="0" y="6612003"/>
            <a:ext cx="12192000" cy="245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0" name="图片 9"/>
          <p:cNvPicPr>
            <a:picLocks noChangeAspect="1"/>
          </p:cNvPicPr>
          <p:nvPr userDrawn="1"/>
        </p:nvPicPr>
        <p:blipFill>
          <a:blip r:embed="rId13"/>
          <a:stretch>
            <a:fillRect/>
          </a:stretch>
        </p:blipFill>
        <p:spPr>
          <a:xfrm>
            <a:off x="11072160" y="87749"/>
            <a:ext cx="1015763" cy="1019553"/>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a:t>单击此处编辑母版标题样式</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9.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99226" y="1731653"/>
            <a:ext cx="10993549" cy="2123126"/>
          </a:xfrm>
        </p:spPr>
        <p:txBody>
          <a:bodyPr/>
          <a:lstStyle/>
          <a:p>
            <a:r>
              <a:rPr lang="en-US" altLang="zh-CN" b="1"/>
              <a:t>Haunted by Legacy: Discovering and Exploiting Vulnerable Tunnelling Hosts</a:t>
            </a:r>
            <a:endParaRPr lang="zh-CN" altLang="en-US" b="1"/>
          </a:p>
        </p:txBody>
      </p:sp>
      <p:grpSp>
        <p:nvGrpSpPr>
          <p:cNvPr id="24" name="组合 23"/>
          <p:cNvGrpSpPr/>
          <p:nvPr/>
        </p:nvGrpSpPr>
        <p:grpSpPr>
          <a:xfrm>
            <a:off x="4080510" y="4543425"/>
            <a:ext cx="4030980" cy="548640"/>
            <a:chOff x="6560" y="6820"/>
            <a:chExt cx="6348" cy="864"/>
          </a:xfrm>
        </p:grpSpPr>
        <p:sp>
          <p:nvSpPr>
            <p:cNvPr id="10" name="副标题 2"/>
            <p:cNvSpPr txBox="1"/>
            <p:nvPr/>
          </p:nvSpPr>
          <p:spPr>
            <a:xfrm>
              <a:off x="7104" y="6820"/>
              <a:ext cx="5184" cy="865"/>
            </a:xfrm>
            <a:prstGeom prst="rect">
              <a:avLst/>
            </a:prstGeom>
          </p:spPr>
          <p:txBody>
            <a:bodyPr>
              <a:normAutofit/>
              <a:scene3d>
                <a:camera prst="orthographicFront"/>
                <a:lightRig rig="threePt" dir="t"/>
              </a:scene3d>
            </a:bodyPr>
            <a:lstStyle>
              <a:lvl1pPr marL="342900" indent="-342900" algn="l" defTabSz="914400" rtl="0" eaLnBrk="1" latinLnBrk="0" hangingPunct="1">
                <a:spcBef>
                  <a:spcPct val="20000"/>
                </a:spcBef>
                <a:buSzPct val="40000"/>
                <a:buFont typeface="Wingdings" panose="05000000000000000000" pitchFamily="2" charset="2"/>
                <a:buChar char="n"/>
                <a:defRPr sz="2800" b="1"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1"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1"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1"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1"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fld id="{8C008AFD-AF98-42D9-A3F2-D23DC0F23CE2}" type="datetime1">
                <a:rPr lang="zh-CN" altLang="en-US" smtClean="0">
                  <a:solidFill>
                    <a:schemeClr val="accent1"/>
                  </a:solidFill>
                  <a:effectLst>
                    <a:outerShdw blurRad="38100" dist="25400" dir="5400000" algn="ctr" rotWithShape="0">
                      <a:srgbClr val="6E747A">
                        <a:alpha val="43000"/>
                      </a:srgbClr>
                    </a:outerShdw>
                  </a:effectLst>
                </a:rPr>
              </a:fld>
              <a:endParaRPr lang="zh-CN" altLang="en-US">
                <a:solidFill>
                  <a:schemeClr val="accent1"/>
                </a:solidFill>
                <a:effectLst>
                  <a:outerShdw blurRad="38100" dist="25400" dir="5400000" algn="ctr" rotWithShape="0">
                    <a:srgbClr val="6E747A">
                      <a:alpha val="43000"/>
                    </a:srgbClr>
                  </a:outerShdw>
                </a:effectLst>
              </a:endParaRPr>
            </a:p>
          </p:txBody>
        </p:sp>
        <p:grpSp>
          <p:nvGrpSpPr>
            <p:cNvPr id="14" name="组合 13"/>
            <p:cNvGrpSpPr/>
            <p:nvPr/>
          </p:nvGrpSpPr>
          <p:grpSpPr>
            <a:xfrm flipV="1">
              <a:off x="6560" y="7148"/>
              <a:ext cx="6348" cy="120"/>
              <a:chOff x="3172449" y="3650145"/>
              <a:chExt cx="6124985" cy="0"/>
            </a:xfrm>
          </p:grpSpPr>
          <p:cxnSp>
            <p:nvCxnSpPr>
              <p:cNvPr id="21" name="直接连接符 20"/>
              <p:cNvCxnSpPr/>
              <p:nvPr/>
            </p:nvCxnSpPr>
            <p:spPr>
              <a:xfrm>
                <a:off x="3172449" y="3650145"/>
                <a:ext cx="971550" cy="0"/>
              </a:xfrm>
              <a:prstGeom prst="line">
                <a:avLst/>
              </a:prstGeom>
            </p:spPr>
            <p:style>
              <a:lnRef idx="3">
                <a:schemeClr val="accent1"/>
              </a:lnRef>
              <a:fillRef idx="0">
                <a:srgbClr val="FFFFFF"/>
              </a:fillRef>
              <a:effectRef idx="0">
                <a:srgbClr val="FFFFFF"/>
              </a:effectRef>
              <a:fontRef idx="minor">
                <a:schemeClr val="tx1"/>
              </a:fontRef>
            </p:style>
          </p:cxnSp>
          <p:cxnSp>
            <p:nvCxnSpPr>
              <p:cNvPr id="22" name="直接连接符 21"/>
              <p:cNvCxnSpPr/>
              <p:nvPr/>
            </p:nvCxnSpPr>
            <p:spPr>
              <a:xfrm>
                <a:off x="8325884" y="3650145"/>
                <a:ext cx="971550" cy="0"/>
              </a:xfrm>
              <a:prstGeom prst="line">
                <a:avLst/>
              </a:prstGeom>
            </p:spPr>
            <p:style>
              <a:lnRef idx="3">
                <a:schemeClr val="accent1"/>
              </a:lnRef>
              <a:fillRef idx="0">
                <a:srgbClr val="FFFFFF"/>
              </a:fillRef>
              <a:effectRef idx="0">
                <a:srgbClr val="FFFFFF"/>
              </a:effectRef>
              <a:fontRef idx="minor">
                <a:schemeClr val="tx1"/>
              </a:fontRef>
            </p:style>
          </p:cxnSp>
        </p:grpSp>
      </p:grpSp>
      <p:sp>
        <p:nvSpPr>
          <p:cNvPr id="4" name="副标题 3"/>
          <p:cNvSpPr>
            <a:spLocks noGrp="1"/>
          </p:cNvSpPr>
          <p:nvPr>
            <p:ph type="subTitle" idx="1"/>
          </p:nvPr>
        </p:nvSpPr>
        <p:spPr>
          <a:xfrm>
            <a:off x="581193" y="5092787"/>
            <a:ext cx="10993547" cy="1340999"/>
          </a:xfrm>
        </p:spPr>
        <p:txBody>
          <a:bodyPr/>
          <a:lstStyle/>
          <a:p>
            <a:pPr algn="ctr"/>
            <a:r>
              <a:rPr lang="zh-CN" altLang="en-US" sz="2800"/>
              <a:t>盖乐</a:t>
            </a:r>
            <a:r>
              <a:rPr lang="en-US" altLang="zh-CN" sz="2800"/>
              <a:t> </a:t>
            </a:r>
            <a:r>
              <a:rPr lang="zh-CN" altLang="en-US" sz="2800"/>
              <a:t>贾泽栋</a:t>
            </a:r>
            <a:endParaRPr lang="zh-CN"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目录</a:t>
            </a:r>
            <a:endParaRPr kumimoji="1" lang="zh-CN" altLang="en-US"/>
          </a:p>
        </p:txBody>
      </p:sp>
      <p:sp>
        <p:nvSpPr>
          <p:cNvPr id="5" name="内容占位符 2"/>
          <p:cNvSpPr>
            <a:spLocks noGrp="1"/>
          </p:cNvSpPr>
          <p:nvPr/>
        </p:nvSpPr>
        <p:spPr>
          <a:xfrm>
            <a:off x="4505430" y="1137357"/>
            <a:ext cx="6066519" cy="4583289"/>
          </a:xfrm>
          <a:prstGeom prst="rect">
            <a:avLst/>
          </a:prstGeom>
        </p:spPr>
        <p:txBody>
          <a:bodyPr vert="horz" lIns="91440" tIns="45720" rIns="91440" bIns="45720" rtlCol="0" anchor="ctr">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l"/>
            <a:r>
              <a:rPr lang="zh-CN" altLang="en-US" sz="3600"/>
              <a:t>一、研究背景</a:t>
            </a:r>
            <a:endParaRPr lang="zh-CN" altLang="en-US" sz="3600"/>
          </a:p>
          <a:p>
            <a:pPr algn="l"/>
            <a:r>
              <a:rPr lang="zh-CN" altLang="en-US" sz="3600"/>
              <a:t>二、</a:t>
            </a:r>
            <a:r>
              <a:rPr lang="zh-CN" altLang="en-US" sz="3600">
                <a:latin typeface="微软雅黑" panose="020B0503020204020204" charset="-122"/>
                <a:cs typeface="微软雅黑" panose="020B0503020204020204" charset="-122"/>
                <a:sym typeface="+mn-ea"/>
              </a:rPr>
              <a:t>研究内容</a:t>
            </a:r>
            <a:endParaRPr lang="zh-CN" altLang="en-US" sz="3600"/>
          </a:p>
          <a:p>
            <a:pPr algn="l"/>
            <a:r>
              <a:rPr lang="zh-CN" altLang="en-US" sz="3600"/>
              <a:t>三、</a:t>
            </a:r>
            <a:r>
              <a:rPr lang="zh-CN" altLang="en-US" sz="3600">
                <a:latin typeface="微软雅黑" panose="020B0503020204020204" charset="-122"/>
                <a:cs typeface="微软雅黑" panose="020B0503020204020204" charset="-122"/>
                <a:sym typeface="+mn-ea"/>
              </a:rPr>
              <a:t>研究结果</a:t>
            </a:r>
            <a:endParaRPr lang="en-US" altLang="zh-CN" sz="3600">
              <a:latin typeface="微软雅黑" panose="020B0503020204020204" charset="-122"/>
              <a:cs typeface="微软雅黑" panose="020B0503020204020204" charset="-122"/>
              <a:sym typeface="+mn-ea"/>
            </a:endParaRPr>
          </a:p>
          <a:p>
            <a:pPr algn="l"/>
            <a:r>
              <a:rPr lang="zh-CN" altLang="en-US" sz="3600"/>
              <a:t>四、</a:t>
            </a:r>
            <a:r>
              <a:rPr lang="zh-CN" altLang="en-US" sz="3600">
                <a:latin typeface="微软雅黑" panose="020B0503020204020204" charset="-122"/>
                <a:sym typeface="+mn-ea"/>
              </a:rPr>
              <a:t>下一步研究计划</a:t>
            </a:r>
            <a:endParaRPr lang="zh-CN" altLang="en-US"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buClrTx/>
              <a:buSzTx/>
              <a:buFontTx/>
            </a:pPr>
            <a:r>
              <a:rPr lang="zh-CN" altLang="en-US" sz="3600">
                <a:sym typeface="+mn-ea"/>
              </a:rPr>
              <a:t>一、研究背景</a:t>
            </a:r>
            <a:endParaRPr lang="zh-CN" altLang="en-US" sz="3600">
              <a:latin typeface="微软雅黑" panose="020B0503020204020204" charset="-122"/>
              <a:cs typeface="微软雅黑" panose="020B0503020204020204" charset="-122"/>
            </a:endParaRPr>
          </a:p>
        </p:txBody>
      </p:sp>
      <p:pic>
        <p:nvPicPr>
          <p:cNvPr id="14" name="图片 13"/>
          <p:cNvPicPr>
            <a:picLocks noChangeAspect="1"/>
          </p:cNvPicPr>
          <p:nvPr/>
        </p:nvPicPr>
        <p:blipFill>
          <a:blip r:embed="rId1"/>
          <a:stretch>
            <a:fillRect/>
          </a:stretch>
        </p:blipFill>
        <p:spPr>
          <a:xfrm>
            <a:off x="6546972" y="1872330"/>
            <a:ext cx="5007536" cy="759708"/>
          </a:xfrm>
          <a:prstGeom prst="rect">
            <a:avLst/>
          </a:prstGeom>
        </p:spPr>
      </p:pic>
      <p:sp>
        <p:nvSpPr>
          <p:cNvPr id="15" name="文本框 14"/>
          <p:cNvSpPr txBox="1"/>
          <p:nvPr/>
        </p:nvSpPr>
        <p:spPr>
          <a:xfrm>
            <a:off x="8091182" y="2708652"/>
            <a:ext cx="1919115" cy="369332"/>
          </a:xfrm>
          <a:prstGeom prst="rect">
            <a:avLst/>
          </a:prstGeom>
          <a:noFill/>
        </p:spPr>
        <p:txBody>
          <a:bodyPr wrap="none" rtlCol="0">
            <a:spAutoFit/>
          </a:bodyPr>
          <a:lstStyle/>
          <a:p>
            <a:r>
              <a:rPr lang="en-US" altLang="zh-CN"/>
              <a:t>IPIP</a:t>
            </a:r>
            <a:r>
              <a:rPr lang="zh-CN" altLang="en-US"/>
              <a:t>地址欺骗攻击</a:t>
            </a:r>
            <a:endParaRPr lang="zh-CN" altLang="en-US"/>
          </a:p>
        </p:txBody>
      </p:sp>
      <p:sp>
        <p:nvSpPr>
          <p:cNvPr id="18" name="文本框 17"/>
          <p:cNvSpPr txBox="1"/>
          <p:nvPr/>
        </p:nvSpPr>
        <p:spPr>
          <a:xfrm>
            <a:off x="8091182" y="5811201"/>
            <a:ext cx="2099614" cy="369332"/>
          </a:xfrm>
          <a:prstGeom prst="rect">
            <a:avLst/>
          </a:prstGeom>
          <a:noFill/>
        </p:spPr>
        <p:txBody>
          <a:bodyPr wrap="none" rtlCol="0">
            <a:spAutoFit/>
          </a:bodyPr>
          <a:lstStyle/>
          <a:p>
            <a:r>
              <a:rPr lang="zh-CN" altLang="en-US"/>
              <a:t>隧道流量注入攻击</a:t>
            </a:r>
            <a:endParaRPr lang="zh-CN" altLang="en-US"/>
          </a:p>
        </p:txBody>
      </p:sp>
      <p:sp>
        <p:nvSpPr>
          <p:cNvPr id="19" name="矩形 18"/>
          <p:cNvSpPr/>
          <p:nvPr/>
        </p:nvSpPr>
        <p:spPr>
          <a:xfrm>
            <a:off x="6443558" y="1605982"/>
            <a:ext cx="5159176" cy="147200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443558" y="3265818"/>
            <a:ext cx="5159176" cy="297447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8" name="Picture 4" descr="the GRE atta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3929" y="3344332"/>
            <a:ext cx="4499307" cy="2559606"/>
          </a:xfrm>
          <a:prstGeom prst="rect">
            <a:avLst/>
          </a:prstGeom>
          <a:noFill/>
          <a:extLst>
            <a:ext uri="{909E8E84-426E-40DD-AFC4-6F175D3DCCD1}">
              <a14:hiddenFill xmlns:a14="http://schemas.microsoft.com/office/drawing/2010/main">
                <a:solidFill>
                  <a:srgbClr val="FFFFFF"/>
                </a:solidFill>
              </a14:hiddenFill>
            </a:ext>
          </a:extLst>
        </p:spPr>
      </p:pic>
      <p:sp>
        <p:nvSpPr>
          <p:cNvPr id="26" name="内容占位符 25"/>
          <p:cNvSpPr>
            <a:spLocks noGrp="1"/>
          </p:cNvSpPr>
          <p:nvPr>
            <p:ph idx="1"/>
          </p:nvPr>
        </p:nvSpPr>
        <p:spPr>
          <a:xfrm>
            <a:off x="544830" y="1296670"/>
            <a:ext cx="6002020" cy="5497830"/>
          </a:xfrm>
        </p:spPr>
        <p:txBody>
          <a:bodyPr>
            <a:normAutofit fontScale="97500"/>
          </a:bodyPr>
          <a:lstStyle/>
          <a:p>
            <a:pPr>
              <a:lnSpc>
                <a:spcPct val="150000"/>
              </a:lnSpc>
            </a:pPr>
            <a:r>
              <a:rPr kumimoji="1" lang="zh-CN" altLang="en-US" sz="2400" b="1">
                <a:solidFill>
                  <a:schemeClr val="accent2"/>
                </a:solidFill>
                <a:sym typeface="+mn-ea"/>
              </a:rPr>
              <a:t>隧道协议的普遍采用与固有安全隐患</a:t>
            </a:r>
            <a:endParaRPr kumimoji="1" lang="zh-CN" altLang="en-US" sz="2400" b="1">
              <a:solidFill>
                <a:schemeClr val="accent2"/>
              </a:solidFill>
              <a:sym typeface="+mn-ea"/>
            </a:endParaRPr>
          </a:p>
          <a:p>
            <a:pPr lvl="1">
              <a:buFont typeface="Wingdings" panose="05000000000000000000" pitchFamily="2" charset="2"/>
              <a:buChar char="Ø"/>
            </a:pPr>
            <a:r>
              <a:rPr kumimoji="1" lang="zh-CN" altLang="en-US">
                <a:sym typeface="+mn-ea"/>
              </a:rPr>
              <a:t>是互联网中连接隔离网络、构建 </a:t>
            </a:r>
            <a:r>
              <a:rPr kumimoji="1" lang="en-US" altLang="zh-CN">
                <a:sym typeface="+mn-ea"/>
              </a:rPr>
              <a:t>VPN </a:t>
            </a:r>
            <a:r>
              <a:rPr kumimoji="1" lang="zh-CN" altLang="en-US">
                <a:sym typeface="+mn-ea"/>
              </a:rPr>
              <a:t>的基础。</a:t>
            </a:r>
            <a:endParaRPr kumimoji="1" lang="zh-CN" altLang="en-US"/>
          </a:p>
          <a:p>
            <a:pPr lvl="1">
              <a:buFont typeface="Wingdings" panose="05000000000000000000" pitchFamily="2" charset="2"/>
              <a:buChar char="Ø"/>
            </a:pPr>
            <a:r>
              <a:rPr kumimoji="1" lang="zh-CN" altLang="en-US">
                <a:sym typeface="+mn-ea"/>
              </a:rPr>
              <a:t>协议本身无认证无加密 </a:t>
            </a:r>
            <a:r>
              <a:rPr kumimoji="1" lang="en-US" altLang="zh-CN">
                <a:sym typeface="+mn-ea"/>
              </a:rPr>
              <a:t>+ </a:t>
            </a:r>
            <a:r>
              <a:rPr kumimoji="1" lang="zh-CN" altLang="en-US">
                <a:sym typeface="+mn-ea"/>
              </a:rPr>
              <a:t>错误配置</a:t>
            </a:r>
            <a:r>
              <a:rPr kumimoji="1" lang="en-US" altLang="zh-CN">
                <a:sym typeface="+mn-ea"/>
              </a:rPr>
              <a:t> </a:t>
            </a:r>
            <a:r>
              <a:rPr kumimoji="1" lang="en-US" altLang="zh-CN">
                <a:sym typeface="Wingdings" panose="05000000000000000000" pitchFamily="2" charset="2"/>
              </a:rPr>
              <a:t></a:t>
            </a:r>
            <a:r>
              <a:rPr kumimoji="1" lang="en-US" altLang="zh-CN">
                <a:sym typeface="+mn-ea"/>
              </a:rPr>
              <a:t> </a:t>
            </a:r>
            <a:r>
              <a:rPr kumimoji="1" lang="zh-CN" altLang="en-US">
                <a:sym typeface="+mn-ea"/>
              </a:rPr>
              <a:t>可以接受来自任意来源的流量。</a:t>
            </a:r>
            <a:endParaRPr kumimoji="1" lang="en-US" altLang="zh-CN"/>
          </a:p>
          <a:p>
            <a:pPr defTabSz="457200">
              <a:spcBef>
                <a:spcPct val="20000"/>
              </a:spcBef>
              <a:spcAft>
                <a:spcPts val="600"/>
              </a:spcAft>
              <a:buClr>
                <a:schemeClr val="accent2"/>
              </a:buClr>
              <a:buSzPct val="92000"/>
            </a:pPr>
            <a:r>
              <a:rPr kumimoji="1" lang="zh-CN" altLang="en-US" sz="2400" b="1">
                <a:solidFill>
                  <a:schemeClr val="accent2"/>
                </a:solidFill>
                <a:sym typeface="+mn-ea"/>
              </a:rPr>
              <a:t>现实威胁的严重性与攻击利用面</a:t>
            </a:r>
            <a:endParaRPr kumimoji="1" lang="en-US" altLang="zh-CN" sz="2400" b="1">
              <a:solidFill>
                <a:schemeClr val="accent2"/>
              </a:solidFill>
            </a:endParaRPr>
          </a:p>
          <a:p>
            <a:pPr lvl="1">
              <a:lnSpc>
                <a:spcPct val="90000"/>
              </a:lnSpc>
              <a:buFont typeface="Wingdings" panose="05000000000000000000" pitchFamily="2" charset="2"/>
              <a:buChar char="Ø"/>
            </a:pPr>
            <a:r>
              <a:rPr kumimoji="1" lang="en-US" altLang="zh-CN">
                <a:sym typeface="+mn-ea"/>
              </a:rPr>
              <a:t>IP </a:t>
            </a:r>
            <a:r>
              <a:rPr kumimoji="1" lang="zh-CN" altLang="en-US">
                <a:sym typeface="+mn-ea"/>
              </a:rPr>
              <a:t>地址欺骗（绕过源地址过滤）</a:t>
            </a:r>
            <a:endParaRPr kumimoji="1" lang="zh-CN" altLang="en-US"/>
          </a:p>
          <a:p>
            <a:pPr lvl="1">
              <a:lnSpc>
                <a:spcPct val="90000"/>
              </a:lnSpc>
              <a:buFont typeface="Wingdings" panose="05000000000000000000" pitchFamily="2" charset="2"/>
              <a:buChar char="Ø"/>
            </a:pPr>
            <a:r>
              <a:rPr kumimoji="1" lang="zh-CN" altLang="en-US">
                <a:sym typeface="+mn-ea"/>
              </a:rPr>
              <a:t>单向代理（隐藏攻击者身份）</a:t>
            </a:r>
            <a:endParaRPr kumimoji="1" lang="zh-CN" altLang="en-US"/>
          </a:p>
          <a:p>
            <a:pPr lvl="1">
              <a:lnSpc>
                <a:spcPct val="90000"/>
              </a:lnSpc>
              <a:buFont typeface="Wingdings" panose="05000000000000000000" pitchFamily="2" charset="2"/>
              <a:buChar char="Ø"/>
            </a:pPr>
            <a:r>
              <a:rPr kumimoji="1" lang="zh-CN" altLang="en-US">
                <a:sym typeface="+mn-ea"/>
              </a:rPr>
              <a:t>访问内网资源</a:t>
            </a:r>
            <a:endParaRPr kumimoji="1" lang="zh-CN" altLang="en-US"/>
          </a:p>
          <a:p>
            <a:pPr lvl="1">
              <a:lnSpc>
                <a:spcPct val="90000"/>
              </a:lnSpc>
              <a:buFont typeface="Wingdings" panose="05000000000000000000" pitchFamily="2" charset="2"/>
              <a:buChar char="Ø"/>
            </a:pPr>
            <a:r>
              <a:rPr kumimoji="1" lang="en-US" altLang="zh-CN">
                <a:sym typeface="+mn-ea"/>
              </a:rPr>
              <a:t>DoS </a:t>
            </a:r>
            <a:r>
              <a:rPr kumimoji="1" lang="zh-CN" altLang="en-US">
                <a:sym typeface="+mn-ea"/>
              </a:rPr>
              <a:t>攻击</a:t>
            </a:r>
            <a:endParaRPr kumimoji="1" lang="zh-CN" altLang="en-US">
              <a:sym typeface="+mn-ea"/>
            </a:endParaRPr>
          </a:p>
          <a:p>
            <a:pPr defTabSz="457200">
              <a:spcBef>
                <a:spcPct val="20000"/>
              </a:spcBef>
              <a:spcAft>
                <a:spcPts val="600"/>
              </a:spcAft>
              <a:buClr>
                <a:schemeClr val="accent2"/>
              </a:buClr>
              <a:buSzPct val="92000"/>
            </a:pPr>
            <a:r>
              <a:rPr kumimoji="1" lang="zh-CN" altLang="en-US" sz="2400" b="1">
                <a:solidFill>
                  <a:schemeClr val="accent2"/>
                </a:solidFill>
                <a:sym typeface="+mn-ea"/>
              </a:rPr>
              <a:t>前人研究的局限</a:t>
            </a:r>
            <a:endParaRPr kumimoji="1" lang="en-US" altLang="zh-CN" sz="2400" b="1">
              <a:solidFill>
                <a:schemeClr val="accent2"/>
              </a:solidFill>
            </a:endParaRPr>
          </a:p>
          <a:p>
            <a:pPr lvl="1">
              <a:lnSpc>
                <a:spcPct val="70000"/>
              </a:lnSpc>
              <a:buFont typeface="Wingdings" panose="05000000000000000000" pitchFamily="2" charset="2"/>
              <a:buChar char="Ø"/>
            </a:pPr>
            <a:r>
              <a:rPr kumimoji="1" lang="zh-CN" altLang="en-US">
                <a:sym typeface="+mn-ea"/>
              </a:rPr>
              <a:t>未系统研究其他隧道协议（如 </a:t>
            </a:r>
            <a:r>
              <a:rPr kumimoji="1" lang="en-US" altLang="zh-CN">
                <a:sym typeface="+mn-ea"/>
              </a:rPr>
              <a:t>GRE</a:t>
            </a:r>
            <a:r>
              <a:rPr kumimoji="1" lang="zh-CN" altLang="en-US">
                <a:sym typeface="+mn-ea"/>
              </a:rPr>
              <a:t>、</a:t>
            </a:r>
            <a:r>
              <a:rPr kumimoji="1" lang="en-US" altLang="zh-CN">
                <a:sym typeface="+mn-ea"/>
              </a:rPr>
              <a:t>6in4 </a:t>
            </a:r>
            <a:r>
              <a:rPr kumimoji="1" lang="zh-CN" altLang="en-US">
                <a:sym typeface="+mn-ea"/>
              </a:rPr>
              <a:t>等）</a:t>
            </a:r>
            <a:r>
              <a:rPr kumimoji="1" lang="zh-CN" altLang="en-US"/>
              <a:t>。</a:t>
            </a:r>
            <a:endParaRPr kumimoji="1" lang="zh-CN" altLang="en-US"/>
          </a:p>
          <a:p>
            <a:pPr lvl="1">
              <a:lnSpc>
                <a:spcPct val="70000"/>
              </a:lnSpc>
              <a:buFont typeface="Wingdings" panose="05000000000000000000" pitchFamily="2" charset="2"/>
              <a:buChar char="Ø"/>
            </a:pPr>
            <a:r>
              <a:rPr kumimoji="1" lang="zh-CN" altLang="en-US">
                <a:sym typeface="+mn-ea"/>
              </a:rPr>
              <a:t>未深入探讨存在漏洞的隧道主机存在的安全隐患。</a:t>
            </a:r>
            <a:endParaRPr kumimoji="1" lang="en-US" altLang="zh-CN"/>
          </a:p>
          <a:p>
            <a:pPr lvl="1">
              <a:lnSpc>
                <a:spcPct val="70000"/>
              </a:lnSpc>
              <a:buFont typeface="Wingdings" panose="05000000000000000000" pitchFamily="2" charset="2"/>
              <a:buChar char="Ø"/>
            </a:pPr>
            <a:r>
              <a:rPr kumimoji="1" lang="zh-CN" altLang="en-US">
                <a:sym typeface="+mn-ea"/>
              </a:rPr>
              <a:t>未提出有效的防御措施。</a:t>
            </a:r>
            <a:endParaRPr kumimoji="1" lang="en-US" altLang="zh-CN"/>
          </a:p>
          <a:p>
            <a:pPr marL="285750" indent="-285750">
              <a:buFont typeface="Arial" panose="020B0604020202020204" pitchFamily="34" charset="0"/>
              <a:buChar char="•"/>
            </a:pPr>
            <a:endParaRPr kumimoji="1" lang="en-US" altLang="zh-CN"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buClrTx/>
              <a:buSzTx/>
              <a:buFontTx/>
            </a:pPr>
            <a:r>
              <a:rPr lang="zh-CN" altLang="en-US" sz="3600"/>
              <a:t>二、研究内容</a:t>
            </a:r>
            <a:endParaRPr lang="zh-CN" altLang="en-US" sz="3600"/>
          </a:p>
        </p:txBody>
      </p:sp>
      <p:sp>
        <p:nvSpPr>
          <p:cNvPr id="21" name="文本框 20"/>
          <p:cNvSpPr txBox="1"/>
          <p:nvPr/>
        </p:nvSpPr>
        <p:spPr>
          <a:xfrm>
            <a:off x="4976042" y="1860818"/>
            <a:ext cx="6592207" cy="4169410"/>
          </a:xfrm>
          <a:prstGeom prst="rect">
            <a:avLst/>
          </a:prstGeom>
          <a:noFill/>
        </p:spPr>
        <p:txBody>
          <a:bodyPr wrap="square">
            <a:spAutoFit/>
          </a:bodyPr>
          <a:lstStyle/>
          <a:p>
            <a:pPr marL="342900" indent="-342900">
              <a:lnSpc>
                <a:spcPct val="130000"/>
              </a:lnSpc>
              <a:buFont typeface="Wingdings" panose="05000000000000000000" charset="0"/>
              <a:buChar char="Ø"/>
            </a:pPr>
            <a:r>
              <a:rPr kumimoji="1" lang="zh-CN" altLang="en-US" sz="2000" b="1">
                <a:solidFill>
                  <a:schemeClr val="accent2"/>
                </a:solidFill>
              </a:rPr>
              <a:t>从静态发现到动态演化分析</a:t>
            </a:r>
            <a:endParaRPr kumimoji="1" lang="zh-CN" altLang="en-US" sz="2000" b="1">
              <a:solidFill>
                <a:schemeClr val="accent2"/>
              </a:solidFill>
            </a:endParaRPr>
          </a:p>
          <a:p>
            <a:pPr marL="285750" indent="-285750">
              <a:lnSpc>
                <a:spcPct val="130000"/>
              </a:lnSpc>
              <a:buFont typeface="Arial" panose="020B0604020202020204" pitchFamily="34" charset="0"/>
              <a:buChar char="•"/>
            </a:pPr>
            <a:r>
              <a:rPr lang="zh-CN" altLang="en-US"/>
              <a:t>验证论文对</a:t>
            </a:r>
            <a:r>
              <a:rPr lang="en-US" altLang="zh-CN" b="1"/>
              <a:t>IP6IP6</a:t>
            </a:r>
            <a:r>
              <a:rPr lang="zh-CN" altLang="en-US" b="1"/>
              <a:t>、</a:t>
            </a:r>
            <a:r>
              <a:rPr lang="en-US" altLang="zh-CN" b="1"/>
              <a:t>GRE</a:t>
            </a:r>
            <a:r>
              <a:rPr lang="zh-CN" altLang="en-US" b="1"/>
              <a:t>和</a:t>
            </a:r>
            <a:r>
              <a:rPr lang="en-US" altLang="zh-CN" b="1"/>
              <a:t>6in4</a:t>
            </a:r>
            <a:r>
              <a:rPr lang="zh-CN" altLang="en-US" b="1"/>
              <a:t>等</a:t>
            </a:r>
            <a:r>
              <a:rPr lang="zh-CN" altLang="en-US"/>
              <a:t>协议的大规模测量结果。</a:t>
            </a:r>
            <a:endParaRPr lang="zh-CN" altLang="en-US"/>
          </a:p>
          <a:p>
            <a:pPr marL="285750" indent="-285750">
              <a:lnSpc>
                <a:spcPct val="130000"/>
              </a:lnSpc>
              <a:buFont typeface="Arial" panose="020B0604020202020204" pitchFamily="34" charset="0"/>
              <a:buChar char="•"/>
            </a:pPr>
            <a:r>
              <a:rPr lang="zh-CN" altLang="en-US"/>
              <a:t>持续监控隧道节点，分析其</a:t>
            </a:r>
            <a:r>
              <a:rPr lang="zh-CN" altLang="en-US" b="1"/>
              <a:t>存活状态变化趋势。</a:t>
            </a:r>
            <a:endParaRPr lang="en-US" altLang="zh-CN"/>
          </a:p>
          <a:p>
            <a:pPr>
              <a:lnSpc>
                <a:spcPct val="130000"/>
              </a:lnSpc>
            </a:pPr>
            <a:endParaRPr lang="zh-CN" altLang="en-US"/>
          </a:p>
          <a:p>
            <a:pPr marL="342900" indent="-342900">
              <a:lnSpc>
                <a:spcPct val="130000"/>
              </a:lnSpc>
              <a:buFont typeface="Wingdings" panose="05000000000000000000" charset="0"/>
              <a:buChar char="Ø"/>
            </a:pPr>
            <a:r>
              <a:rPr kumimoji="1" lang="zh-CN" altLang="en-US" sz="2000" b="1">
                <a:solidFill>
                  <a:schemeClr val="accent2"/>
                </a:solidFill>
              </a:rPr>
              <a:t>从理解攻击机理到构建防御体系</a:t>
            </a:r>
            <a:endParaRPr kumimoji="1" lang="zh-CN" altLang="en-US" sz="2000" b="1">
              <a:solidFill>
                <a:schemeClr val="accent2"/>
              </a:solidFill>
            </a:endParaRPr>
          </a:p>
          <a:p>
            <a:pPr marL="285750" indent="-285750">
              <a:lnSpc>
                <a:spcPct val="130000"/>
              </a:lnSpc>
              <a:buFont typeface="Arial" panose="020B0604020202020204" pitchFamily="34" charset="0"/>
              <a:buChar char="•"/>
            </a:pPr>
            <a:r>
              <a:rPr lang="zh-CN" altLang="en-US"/>
              <a:t>验证并理解基于隧道节点的新型</a:t>
            </a:r>
            <a:r>
              <a:rPr lang="en-US" altLang="zh-CN" b="1"/>
              <a:t>DoS</a:t>
            </a:r>
            <a:r>
              <a:rPr lang="zh-CN" altLang="en-US" b="1"/>
              <a:t>攻击</a:t>
            </a:r>
            <a:r>
              <a:rPr lang="zh-CN" altLang="en-US"/>
              <a:t>。</a:t>
            </a:r>
            <a:endParaRPr lang="en-US" altLang="zh-CN"/>
          </a:p>
          <a:p>
            <a:pPr marL="285750" indent="-285750">
              <a:lnSpc>
                <a:spcPct val="130000"/>
              </a:lnSpc>
              <a:buFont typeface="Arial" panose="020B0604020202020204" pitchFamily="34" charset="0"/>
              <a:buChar char="•"/>
            </a:pPr>
            <a:r>
              <a:rPr lang="zh-CN" altLang="en-US"/>
              <a:t>探索防御该</a:t>
            </a:r>
            <a:r>
              <a:rPr lang="en-US" altLang="zh-CN"/>
              <a:t>DoS</a:t>
            </a:r>
            <a:r>
              <a:rPr lang="zh-CN" altLang="en-US"/>
              <a:t>攻击的</a:t>
            </a:r>
            <a:r>
              <a:rPr lang="zh-CN" altLang="en-US" b="1"/>
              <a:t>防御策略</a:t>
            </a:r>
            <a:r>
              <a:rPr lang="zh-CN" altLang="en-US"/>
              <a:t>。</a:t>
            </a:r>
            <a:endParaRPr lang="zh-CN" altLang="en-US"/>
          </a:p>
          <a:p>
            <a:pPr marL="285750" indent="-285750">
              <a:lnSpc>
                <a:spcPct val="130000"/>
              </a:lnSpc>
              <a:buFont typeface="Arial" panose="020B0604020202020204" pitchFamily="34" charset="0"/>
              <a:buChar char="•"/>
            </a:pPr>
            <a:endParaRPr lang="zh-CN" altLang="en-US"/>
          </a:p>
          <a:p>
            <a:pPr marL="342900" indent="-342900">
              <a:lnSpc>
                <a:spcPct val="130000"/>
              </a:lnSpc>
              <a:buFont typeface="Wingdings" panose="05000000000000000000" charset="0"/>
              <a:buChar char="Ø"/>
            </a:pPr>
            <a:r>
              <a:rPr kumimoji="1" lang="zh-CN" altLang="en-US" sz="2000" b="1">
                <a:solidFill>
                  <a:schemeClr val="accent2"/>
                </a:solidFill>
              </a:rPr>
              <a:t>量化源地址验证（</a:t>
            </a:r>
            <a:r>
              <a:rPr kumimoji="1" lang="en-US" altLang="zh-CN" sz="2000" b="1">
                <a:solidFill>
                  <a:schemeClr val="accent2"/>
                </a:solidFill>
              </a:rPr>
              <a:t>SAV</a:t>
            </a:r>
            <a:r>
              <a:rPr kumimoji="1" lang="zh-CN" altLang="en-US" sz="2000" b="1">
                <a:solidFill>
                  <a:schemeClr val="accent2"/>
                </a:solidFill>
              </a:rPr>
              <a:t>）的部署情况</a:t>
            </a:r>
            <a:endParaRPr kumimoji="1" lang="zh-CN" altLang="en-US" sz="2000" b="1">
              <a:solidFill>
                <a:schemeClr val="accent2"/>
              </a:solidFill>
            </a:endParaRPr>
          </a:p>
          <a:p>
            <a:pPr marL="285750" indent="-285750">
              <a:lnSpc>
                <a:spcPct val="130000"/>
              </a:lnSpc>
              <a:buFont typeface="Arial" panose="020B0604020202020204" pitchFamily="34" charset="0"/>
              <a:buChar char="•"/>
            </a:pPr>
            <a:r>
              <a:rPr lang="zh-CN" altLang="en-US"/>
              <a:t>论文并未测量隧道节点上部署</a:t>
            </a:r>
            <a:r>
              <a:rPr lang="en-US" altLang="zh-CN"/>
              <a:t>SAV</a:t>
            </a:r>
            <a:r>
              <a:rPr lang="zh-CN" altLang="en-US"/>
              <a:t>的情况。</a:t>
            </a:r>
            <a:endParaRPr lang="en-US" altLang="zh-CN"/>
          </a:p>
          <a:p>
            <a:pPr marL="285750" indent="-285750">
              <a:lnSpc>
                <a:spcPct val="130000"/>
              </a:lnSpc>
              <a:buFont typeface="Arial" panose="020B0604020202020204" pitchFamily="34" charset="0"/>
              <a:buChar char="•"/>
            </a:pPr>
            <a:r>
              <a:rPr lang="zh-CN" altLang="en-US"/>
              <a:t>设计具体的测量方法，量化评估隧道节点中</a:t>
            </a:r>
            <a:r>
              <a:rPr lang="en-US" altLang="zh-CN" b="1"/>
              <a:t>SAV</a:t>
            </a:r>
            <a:r>
              <a:rPr lang="zh-CN" altLang="en-US" b="1"/>
              <a:t>部署的情况</a:t>
            </a:r>
            <a:r>
              <a:rPr lang="zh-CN" altLang="en-US"/>
              <a:t>。</a:t>
            </a:r>
            <a:endParaRPr lang="zh-CN" altLang="en-US"/>
          </a:p>
        </p:txBody>
      </p:sp>
      <p:pic>
        <p:nvPicPr>
          <p:cNvPr id="5" name="图片 4"/>
          <p:cNvPicPr>
            <a:picLocks noChangeAspect="1"/>
          </p:cNvPicPr>
          <p:nvPr/>
        </p:nvPicPr>
        <p:blipFill>
          <a:blip r:embed="rId1"/>
          <a:stretch>
            <a:fillRect/>
          </a:stretch>
        </p:blipFill>
        <p:spPr>
          <a:xfrm>
            <a:off x="1048418" y="1713854"/>
            <a:ext cx="3420307" cy="3694471"/>
          </a:xfrm>
          <a:prstGeom prst="rect">
            <a:avLst/>
          </a:prstGeom>
        </p:spPr>
      </p:pic>
      <p:sp>
        <p:nvSpPr>
          <p:cNvPr id="7" name="文本框 6"/>
          <p:cNvSpPr txBox="1"/>
          <p:nvPr/>
        </p:nvSpPr>
        <p:spPr>
          <a:xfrm>
            <a:off x="2014232" y="5706739"/>
            <a:ext cx="1488677" cy="369332"/>
          </a:xfrm>
          <a:prstGeom prst="rect">
            <a:avLst/>
          </a:prstGeom>
          <a:noFill/>
        </p:spPr>
        <p:txBody>
          <a:bodyPr wrap="none" rtlCol="0">
            <a:spAutoFit/>
          </a:bodyPr>
          <a:lstStyle/>
          <a:p>
            <a:r>
              <a:rPr lang="en-US" altLang="zh-CN"/>
              <a:t>SAV</a:t>
            </a:r>
            <a:r>
              <a:rPr lang="zh-CN" altLang="en-US"/>
              <a:t>体系结构</a:t>
            </a:r>
            <a:endParaRPr lang="en-US" altLang="zh-CN"/>
          </a:p>
        </p:txBody>
      </p:sp>
      <p:sp>
        <p:nvSpPr>
          <p:cNvPr id="8" name="矩形 7"/>
          <p:cNvSpPr/>
          <p:nvPr/>
        </p:nvSpPr>
        <p:spPr>
          <a:xfrm>
            <a:off x="980767" y="1676143"/>
            <a:ext cx="3487958" cy="439992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738370" y="1492250"/>
            <a:ext cx="4064000" cy="398780"/>
          </a:xfrm>
          <a:prstGeom prst="rect">
            <a:avLst/>
          </a:prstGeom>
          <a:noFill/>
        </p:spPr>
        <p:txBody>
          <a:bodyPr wrap="square" rtlCol="0">
            <a:spAutoFit/>
          </a:bodyPr>
          <a:lstStyle/>
          <a:p>
            <a:pPr marL="342900" indent="-342900" algn="l">
              <a:buClrTx/>
              <a:buSzTx/>
              <a:buFont typeface="Wingdings" panose="05000000000000000000" charset="0"/>
              <a:buChar char="n"/>
            </a:pP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复现动机:</a:t>
            </a:r>
            <a:endPar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l">
              <a:buClrTx/>
              <a:buSzTx/>
              <a:buFontTx/>
            </a:pPr>
            <a:r>
              <a:rPr lang="zh-CN" altLang="en-US" sz="3600">
                <a:sym typeface="+mn-ea"/>
              </a:rPr>
              <a:t>二、</a:t>
            </a:r>
            <a:r>
              <a:rPr lang="zh-CN" altLang="en-US" sz="3600">
                <a:latin typeface="微软雅黑" panose="020B0503020204020204" charset="-122"/>
                <a:cs typeface="微软雅黑" panose="020B0503020204020204" charset="-122"/>
                <a:sym typeface="+mn-ea"/>
              </a:rPr>
              <a:t>研究内容</a:t>
            </a:r>
            <a:endParaRPr lang="zh-CN" altLang="en-US" sz="3600">
              <a:latin typeface="微软雅黑" panose="020B0503020204020204" charset="-122"/>
              <a:cs typeface="微软雅黑" panose="020B0503020204020204" charset="-122"/>
            </a:endParaRPr>
          </a:p>
        </p:txBody>
      </p:sp>
      <p:sp>
        <p:nvSpPr>
          <p:cNvPr id="14" name="文本框 13"/>
          <p:cNvSpPr txBox="1"/>
          <p:nvPr/>
        </p:nvSpPr>
        <p:spPr>
          <a:xfrm>
            <a:off x="781371" y="1512076"/>
            <a:ext cx="1699838" cy="453586"/>
          </a:xfrm>
          <a:prstGeom prst="rect">
            <a:avLst/>
          </a:prstGeom>
          <a:noFill/>
        </p:spPr>
        <p:txBody>
          <a:bodyPr wrap="square" rtlCol="0">
            <a:spAutoFit/>
          </a:bodyPr>
          <a:lstStyle/>
          <a:p>
            <a:pPr marL="342900" indent="-342900">
              <a:lnSpc>
                <a:spcPct val="130000"/>
              </a:lnSpc>
              <a:buFont typeface="Wingdings" panose="05000000000000000000" charset="0"/>
              <a:buChar char="n"/>
            </a:pP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复现计划:</a:t>
            </a:r>
            <a:endParaRPr lang="en-US" altLang="zh-CN"/>
          </a:p>
        </p:txBody>
      </p:sp>
      <p:sp>
        <p:nvSpPr>
          <p:cNvPr id="15" name="内容占位符 14"/>
          <p:cNvSpPr>
            <a:spLocks noGrp="1"/>
          </p:cNvSpPr>
          <p:nvPr>
            <p:ph idx="1"/>
          </p:nvPr>
        </p:nvSpPr>
        <p:spPr>
          <a:xfrm>
            <a:off x="1087231" y="2043528"/>
            <a:ext cx="5138908" cy="1691890"/>
          </a:xfrm>
        </p:spPr>
        <p:txBody>
          <a:bodyPr>
            <a:normAutofit/>
          </a:bodyPr>
          <a:lstStyle/>
          <a:p>
            <a:pPr>
              <a:lnSpc>
                <a:spcPct val="130000"/>
              </a:lnSpc>
              <a:buFont typeface="Wingdings" panose="05000000000000000000" pitchFamily="2" charset="2"/>
              <a:buChar char="Ø"/>
            </a:pPr>
            <a:r>
              <a:rPr lang="en-US" altLang="zh-CN" sz="2000" dirty="0"/>
              <a:t>1. </a:t>
            </a:r>
            <a:r>
              <a:rPr lang="zh-CN" altLang="en-US" sz="2000" dirty="0"/>
              <a:t>进行全网隧道节点扫描</a:t>
            </a:r>
            <a:endParaRPr lang="en-US" altLang="zh-CN" sz="2000" dirty="0"/>
          </a:p>
          <a:p>
            <a:pPr>
              <a:lnSpc>
                <a:spcPct val="130000"/>
              </a:lnSpc>
              <a:buFont typeface="Wingdings" panose="05000000000000000000" pitchFamily="2" charset="2"/>
              <a:buChar char="Ø"/>
            </a:pPr>
            <a:r>
              <a:rPr lang="en-US" altLang="zh-CN" sz="2000" dirty="0"/>
              <a:t>2. </a:t>
            </a:r>
            <a:r>
              <a:rPr lang="zh-CN" altLang="en-US" sz="2000" dirty="0"/>
              <a:t>进行脆弱主机数据分析</a:t>
            </a:r>
            <a:endParaRPr lang="en-US" altLang="zh-CN" sz="2000" dirty="0"/>
          </a:p>
          <a:p>
            <a:pPr>
              <a:lnSpc>
                <a:spcPct val="130000"/>
              </a:lnSpc>
              <a:buFont typeface="Wingdings" panose="05000000000000000000" pitchFamily="2" charset="2"/>
              <a:buChar char="Ø"/>
            </a:pPr>
            <a:r>
              <a:rPr lang="en-US" altLang="zh-CN" sz="2000" dirty="0"/>
              <a:t>3. </a:t>
            </a:r>
            <a:r>
              <a:rPr lang="zh-CN" altLang="en-US" sz="2000" dirty="0"/>
              <a:t>攻击验证与演示</a:t>
            </a:r>
            <a:endParaRPr lang="zh-CN" altLang="en-US" sz="2000"/>
          </a:p>
        </p:txBody>
      </p:sp>
      <p:sp>
        <p:nvSpPr>
          <p:cNvPr id="2" name="文本占位符 1"/>
          <p:cNvSpPr txBox="1"/>
          <p:nvPr/>
        </p:nvSpPr>
        <p:spPr>
          <a:xfrm>
            <a:off x="1087231" y="4588723"/>
            <a:ext cx="6053308" cy="1383160"/>
          </a:xfrm>
          <a:prstGeom prst="rect">
            <a:avLst/>
          </a:prstGeom>
        </p:spPr>
        <p:txBody>
          <a:bodyPr vert="horz" lIns="91440" tIns="45720" rIns="91440" bIns="45720" rtlCol="0" anchor="t">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anose="05000000000000000000" pitchFamily="2" charset="2"/>
              <a:buChar char="Ø"/>
            </a:pPr>
            <a:r>
              <a:rPr lang="zh-CN" altLang="en-US" sz="2000"/>
              <a:t>场景</a:t>
            </a:r>
            <a:r>
              <a:rPr lang="en-US" altLang="zh-CN" sz="2000"/>
              <a:t> A</a:t>
            </a:r>
            <a:r>
              <a:rPr lang="zh-CN" altLang="en-US" sz="2000"/>
              <a:t>：测量入网过滤</a:t>
            </a:r>
            <a:r>
              <a:rPr lang="en-US" altLang="zh-CN" sz="2000"/>
              <a:t> (Inbound SAV)</a:t>
            </a:r>
            <a:endParaRPr lang="en-US" altLang="zh-CN" sz="2000"/>
          </a:p>
          <a:p>
            <a:pPr>
              <a:buFont typeface="Wingdings" panose="05000000000000000000" pitchFamily="2" charset="2"/>
              <a:buChar char="Ø"/>
            </a:pPr>
            <a:r>
              <a:rPr lang="zh-CN" altLang="en-US" sz="2000"/>
              <a:t>场景 </a:t>
            </a:r>
            <a:r>
              <a:rPr lang="en-US" altLang="zh-CN" sz="2000"/>
              <a:t>B</a:t>
            </a:r>
            <a:r>
              <a:rPr lang="zh-CN" altLang="en-US" sz="2000"/>
              <a:t>：测量出网过滤 </a:t>
            </a:r>
            <a:r>
              <a:rPr lang="en-US" altLang="zh-CN" sz="2000"/>
              <a:t>(Outbound SAV)</a:t>
            </a:r>
            <a:endParaRPr lang="en-US" altLang="zh-CN" sz="2000"/>
          </a:p>
          <a:p>
            <a:endParaRPr lang="en-US" altLang="zh-CN" sz="2000"/>
          </a:p>
        </p:txBody>
      </p:sp>
      <p:sp>
        <p:nvSpPr>
          <p:cNvPr id="6" name="文本框 5"/>
          <p:cNvSpPr txBox="1"/>
          <p:nvPr/>
        </p:nvSpPr>
        <p:spPr>
          <a:xfrm>
            <a:off x="781206" y="3935342"/>
            <a:ext cx="5861037"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扩展</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计划: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基于隧道的源地址验证 </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(SAV)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测量</a:t>
            </a:r>
            <a:endPar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1757415" y="2272444"/>
            <a:ext cx="9102368" cy="853567"/>
          </a:xfrm>
          <a:prstGeom prst="rect">
            <a:avLst/>
          </a:prstGeom>
          <a:noFill/>
        </p:spPr>
        <p:txBody>
          <a:bodyPr wrap="square" rtlCol="0">
            <a:spAutoFit/>
          </a:bodyPr>
          <a:lstStyle/>
          <a:p>
            <a:pPr marL="342900" indent="-342900">
              <a:lnSpc>
                <a:spcPct val="130000"/>
              </a:lnSpc>
              <a:buFont typeface="Wingdings" panose="05000000000000000000" pitchFamily="2" charset="2"/>
              <a:buChar char="Ø"/>
            </a:pP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成果</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1: </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验证论文对</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IP6IP6</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GRE</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和</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6in4</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等隧道协议的大规模测量结果</a:t>
            </a:r>
            <a:endPar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endParaRPr>
          </a:p>
          <a:p>
            <a:pPr marL="342900" indent="-342900">
              <a:lnSpc>
                <a:spcPct val="130000"/>
              </a:lnSpc>
              <a:buFont typeface="Wingdings" panose="05000000000000000000" pitchFamily="2" charset="2"/>
              <a:buChar char="Ø"/>
            </a:pP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成果</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2: </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验证基于隧道节点的新型</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DoS</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攻击</a:t>
            </a:r>
            <a:endPar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endParaRPr>
          </a:p>
        </p:txBody>
      </p:sp>
      <p:sp>
        <p:nvSpPr>
          <p:cNvPr id="23" name="文本占位符 1"/>
          <p:cNvSpPr>
            <a:spLocks noGrp="1"/>
          </p:cNvSpPr>
          <p:nvPr>
            <p:ph type="body" idx="1"/>
          </p:nvPr>
        </p:nvSpPr>
        <p:spPr>
          <a:xfrm>
            <a:off x="1442024" y="1738546"/>
            <a:ext cx="5087075" cy="536005"/>
          </a:xfrm>
        </p:spPr>
        <p:txBody>
          <a:bodyPr/>
          <a:lstStyle/>
          <a:p>
            <a:pPr marL="342900" indent="-342900">
              <a:buFont typeface="Wingdings" panose="05000000000000000000" pitchFamily="2" charset="2"/>
              <a:buChar char="n"/>
            </a:pPr>
            <a:r>
              <a:rPr kumimoji="1" lang="zh-CN" altLang="en-US" b="1" dirty="0">
                <a:latin typeface="微软雅黑" panose="020B0503020204020204" charset="-122"/>
                <a:ea typeface="微软雅黑" panose="020B0503020204020204" charset="-122"/>
              </a:rPr>
              <a:t>复现成果</a:t>
            </a:r>
            <a:endParaRPr kumimoji="1" lang="zh-CN" altLang="en-US" b="1" dirty="0">
              <a:latin typeface="微软雅黑" panose="020B0503020204020204" charset="-122"/>
              <a:ea typeface="微软雅黑" panose="020B0503020204020204" charset="-122"/>
            </a:endParaRPr>
          </a:p>
        </p:txBody>
      </p:sp>
      <p:sp>
        <p:nvSpPr>
          <p:cNvPr id="24" name="文本占位符 1"/>
          <p:cNvSpPr txBox="1"/>
          <p:nvPr/>
        </p:nvSpPr>
        <p:spPr>
          <a:xfrm>
            <a:off x="1442024" y="3610443"/>
            <a:ext cx="5087075" cy="536005"/>
          </a:xfrm>
          <a:prstGeom prst="rect">
            <a:avLst/>
          </a:prstGeom>
        </p:spPr>
        <p:txBody>
          <a:bodyPr vert="horz" lIns="91440" tIns="45720" rIns="91440" bIns="45720" rtlCol="0" anchor="b">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200" b="0" kern="1200">
                <a:solidFill>
                  <a:schemeClr val="accent2"/>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pPr marL="342900" indent="-342900">
              <a:buFont typeface="Wingdings" panose="05000000000000000000" pitchFamily="2" charset="2"/>
              <a:buChar char="n"/>
            </a:pPr>
            <a:r>
              <a:rPr kumimoji="1" lang="zh-CN" altLang="en-US" b="1" dirty="0">
                <a:latin typeface="微软雅黑" panose="020B0503020204020204" charset="-122"/>
                <a:ea typeface="微软雅黑" panose="020B0503020204020204" charset="-122"/>
              </a:rPr>
              <a:t>扩展成果</a:t>
            </a:r>
            <a:endParaRPr kumimoji="1" lang="zh-CN" altLang="en-US" b="1" dirty="0">
              <a:latin typeface="微软雅黑" panose="020B0503020204020204" charset="-122"/>
              <a:ea typeface="微软雅黑" panose="020B0503020204020204" charset="-122"/>
            </a:endParaRPr>
          </a:p>
        </p:txBody>
      </p:sp>
      <p:sp>
        <p:nvSpPr>
          <p:cNvPr id="26" name="文本框 25"/>
          <p:cNvSpPr txBox="1"/>
          <p:nvPr/>
        </p:nvSpPr>
        <p:spPr>
          <a:xfrm>
            <a:off x="1757415" y="4146448"/>
            <a:ext cx="6478668" cy="1253548"/>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成果</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1: </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监测隧道节点的存活变化趋势</a:t>
            </a:r>
            <a:endPar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endParaRPr>
          </a:p>
          <a:p>
            <a:pPr marL="342900" indent="-342900">
              <a:lnSpc>
                <a:spcPct val="130000"/>
              </a:lnSpc>
              <a:buFont typeface="Wingdings" panose="05000000000000000000" pitchFamily="2" charset="2"/>
              <a:buChar char="Ø"/>
            </a:pP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成果</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2: </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评估隧道节点中</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ISAV</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部署的情况</a:t>
            </a:r>
            <a:endPar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endParaRPr>
          </a:p>
          <a:p>
            <a:pPr marL="342900" indent="-342900">
              <a:lnSpc>
                <a:spcPct val="130000"/>
              </a:lnSpc>
              <a:buFont typeface="Wingdings" panose="05000000000000000000" pitchFamily="2" charset="2"/>
              <a:buChar char="Ø"/>
            </a:pP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成果</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3: </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评估隧道节点中</a:t>
            </a:r>
            <a:r>
              <a:rPr lang="en-US" altLang="zh-CN" sz="2000" dirty="0">
                <a:effectLst>
                  <a:outerShdw blurRad="38100" dist="25400" dir="5400000" algn="ctr" rotWithShape="0">
                    <a:srgbClr val="6E747A">
                      <a:alpha val="43000"/>
                    </a:srgbClr>
                  </a:outerShdw>
                </a:effectLst>
                <a:latin typeface="+mn-ea"/>
                <a:cs typeface="微软雅黑" panose="020B0503020204020204" charset="-122"/>
                <a:sym typeface="+mn-ea"/>
              </a:rPr>
              <a:t>OSAV</a:t>
            </a:r>
            <a:r>
              <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rPr>
              <a:t>部署的情况</a:t>
            </a:r>
            <a:endParaRPr lang="zh-CN" altLang="en-US" sz="2000" dirty="0">
              <a:effectLst>
                <a:outerShdw blurRad="38100" dist="25400" dir="5400000" algn="ctr" rotWithShape="0">
                  <a:srgbClr val="6E747A">
                    <a:alpha val="43000"/>
                  </a:srgbClr>
                </a:outerShdw>
              </a:effectLst>
              <a:latin typeface="+mn-ea"/>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复现成果</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1: </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验证论文对</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IP6IP6</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GRE</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和</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6in4</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等隧道协议的大规模测量结果</a:t>
            </a:r>
            <a:endPar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grpSp>
        <p:nvGrpSpPr>
          <p:cNvPr id="20" name="组合 19"/>
          <p:cNvGrpSpPr/>
          <p:nvPr/>
        </p:nvGrpSpPr>
        <p:grpSpPr>
          <a:xfrm>
            <a:off x="318186" y="2153586"/>
            <a:ext cx="6087343" cy="1996390"/>
            <a:chOff x="78490" y="7539834"/>
            <a:chExt cx="6087343" cy="1996390"/>
          </a:xfrm>
        </p:grpSpPr>
        <p:pic>
          <p:nvPicPr>
            <p:cNvPr id="18" name="图片 17"/>
            <p:cNvPicPr>
              <a:picLocks noChangeAspect="1"/>
            </p:cNvPicPr>
            <p:nvPr/>
          </p:nvPicPr>
          <p:blipFill>
            <a:blip r:embed="rId1"/>
            <a:srcRect l="485" r="65821"/>
            <a:stretch>
              <a:fillRect/>
            </a:stretch>
          </p:blipFill>
          <p:spPr>
            <a:xfrm>
              <a:off x="78490" y="7539834"/>
              <a:ext cx="4108075" cy="1996390"/>
            </a:xfrm>
            <a:prstGeom prst="rect">
              <a:avLst/>
            </a:prstGeom>
          </p:spPr>
        </p:pic>
        <p:pic>
          <p:nvPicPr>
            <p:cNvPr id="19" name="图片 18"/>
            <p:cNvPicPr>
              <a:picLocks noChangeAspect="1"/>
            </p:cNvPicPr>
            <p:nvPr/>
          </p:nvPicPr>
          <p:blipFill>
            <a:blip r:embed="rId1"/>
            <a:srcRect l="65677" r="18089"/>
            <a:stretch>
              <a:fillRect/>
            </a:stretch>
          </p:blipFill>
          <p:spPr>
            <a:xfrm>
              <a:off x="4186565" y="7539834"/>
              <a:ext cx="1979268" cy="1996390"/>
            </a:xfrm>
            <a:prstGeom prst="rect">
              <a:avLst/>
            </a:prstGeom>
          </p:spPr>
        </p:pic>
      </p:grpSp>
      <p:pic>
        <p:nvPicPr>
          <p:cNvPr id="22" name="图片 21"/>
          <p:cNvPicPr>
            <a:picLocks noChangeAspect="1"/>
          </p:cNvPicPr>
          <p:nvPr/>
        </p:nvPicPr>
        <p:blipFill>
          <a:blip r:embed="rId2"/>
          <a:stretch>
            <a:fillRect/>
          </a:stretch>
        </p:blipFill>
        <p:spPr>
          <a:xfrm>
            <a:off x="318186" y="4201368"/>
            <a:ext cx="6009852" cy="2345482"/>
          </a:xfrm>
          <a:prstGeom prst="rect">
            <a:avLst/>
          </a:prstGeom>
        </p:spPr>
      </p:pic>
      <p:sp>
        <p:nvSpPr>
          <p:cNvPr id="23" name="矩形 22"/>
          <p:cNvSpPr/>
          <p:nvPr/>
        </p:nvSpPr>
        <p:spPr>
          <a:xfrm>
            <a:off x="4495991" y="2983908"/>
            <a:ext cx="958771" cy="10414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4" name="矩形 23"/>
          <p:cNvSpPr/>
          <p:nvPr/>
        </p:nvSpPr>
        <p:spPr>
          <a:xfrm>
            <a:off x="4364431" y="4924726"/>
            <a:ext cx="1842878" cy="3394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5" name="矩形 24"/>
          <p:cNvSpPr/>
          <p:nvPr/>
        </p:nvSpPr>
        <p:spPr>
          <a:xfrm>
            <a:off x="4186631" y="6118526"/>
            <a:ext cx="2020678" cy="33942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 name="文本框 1"/>
          <p:cNvSpPr txBox="1"/>
          <p:nvPr/>
        </p:nvSpPr>
        <p:spPr>
          <a:xfrm>
            <a:off x="6941147" y="1784749"/>
            <a:ext cx="2098308" cy="369332"/>
          </a:xfrm>
          <a:prstGeom prst="rect">
            <a:avLst/>
          </a:prstGeom>
          <a:noFill/>
        </p:spPr>
        <p:txBody>
          <a:bodyPr wrap="square" rtlCol="0">
            <a:spAutoFit/>
          </a:bodyPr>
          <a:lstStyle/>
          <a:p>
            <a:r>
              <a:rPr lang="zh-CN" altLang="en-US" b="1" dirty="0">
                <a:solidFill>
                  <a:srgbClr val="660874"/>
                </a:solidFill>
              </a:rPr>
              <a:t>收集隧道节点</a:t>
            </a:r>
            <a:endParaRPr lang="zh-CN" altLang="en-US" b="1" dirty="0">
              <a:solidFill>
                <a:srgbClr val="660874"/>
              </a:solidFill>
            </a:endParaRPr>
          </a:p>
        </p:txBody>
      </p:sp>
      <p:pic>
        <p:nvPicPr>
          <p:cNvPr id="3" name="图片 2"/>
          <p:cNvPicPr>
            <a:picLocks noChangeAspect="1"/>
          </p:cNvPicPr>
          <p:nvPr/>
        </p:nvPicPr>
        <p:blipFill>
          <a:blip r:embed="rId3"/>
          <a:srcRect l="1102" t="1358" r="2435" b="74062"/>
          <a:stretch>
            <a:fillRect/>
          </a:stretch>
        </p:blipFill>
        <p:spPr>
          <a:xfrm>
            <a:off x="6475259" y="2093468"/>
            <a:ext cx="5556250" cy="1182588"/>
          </a:xfrm>
          <a:prstGeom prst="rect">
            <a:avLst/>
          </a:prstGeom>
        </p:spPr>
      </p:pic>
      <p:pic>
        <p:nvPicPr>
          <p:cNvPr id="7" name="图片 6"/>
          <p:cNvPicPr>
            <a:picLocks noChangeAspect="1"/>
          </p:cNvPicPr>
          <p:nvPr/>
        </p:nvPicPr>
        <p:blipFill>
          <a:blip r:embed="rId3"/>
          <a:srcRect l="1102" t="36496" r="2435" b="37868"/>
          <a:stretch>
            <a:fillRect/>
          </a:stretch>
        </p:blipFill>
        <p:spPr>
          <a:xfrm>
            <a:off x="6475259" y="3559878"/>
            <a:ext cx="5556250" cy="1233388"/>
          </a:xfrm>
          <a:prstGeom prst="rect">
            <a:avLst/>
          </a:prstGeom>
        </p:spPr>
      </p:pic>
      <p:pic>
        <p:nvPicPr>
          <p:cNvPr id="8" name="图片 7"/>
          <p:cNvPicPr>
            <a:picLocks noChangeAspect="1"/>
          </p:cNvPicPr>
          <p:nvPr/>
        </p:nvPicPr>
        <p:blipFill>
          <a:blip r:embed="rId3"/>
          <a:srcRect l="1102" t="71999" r="2435" b="3452"/>
          <a:stretch>
            <a:fillRect/>
          </a:stretch>
        </p:blipFill>
        <p:spPr>
          <a:xfrm>
            <a:off x="6475259" y="5077088"/>
            <a:ext cx="5556250" cy="1181099"/>
          </a:xfrm>
          <a:prstGeom prst="rect">
            <a:avLst/>
          </a:prstGeom>
        </p:spPr>
      </p:pic>
      <p:sp>
        <p:nvSpPr>
          <p:cNvPr id="9" name="文本框 8"/>
          <p:cNvSpPr txBox="1"/>
          <p:nvPr/>
        </p:nvSpPr>
        <p:spPr>
          <a:xfrm>
            <a:off x="8006889" y="3248690"/>
            <a:ext cx="2236510" cy="338554"/>
          </a:xfrm>
          <a:prstGeom prst="rect">
            <a:avLst/>
          </a:prstGeom>
          <a:noFill/>
        </p:spPr>
        <p:txBody>
          <a:bodyPr wrap="none" rtlCol="0">
            <a:spAutoFit/>
          </a:bodyPr>
          <a:lstStyle/>
          <a:p>
            <a:r>
              <a:rPr lang="zh-CN" altLang="en-US" sz="1600" dirty="0"/>
              <a:t>可转发内部报文的主机</a:t>
            </a:r>
            <a:endParaRPr lang="zh-CN" altLang="en-US" sz="1600" dirty="0"/>
          </a:p>
        </p:txBody>
      </p:sp>
      <p:sp>
        <p:nvSpPr>
          <p:cNvPr id="10" name="文本框 9"/>
          <p:cNvSpPr txBox="1"/>
          <p:nvPr/>
        </p:nvSpPr>
        <p:spPr>
          <a:xfrm>
            <a:off x="7568467" y="4765900"/>
            <a:ext cx="3018775" cy="338554"/>
          </a:xfrm>
          <a:prstGeom prst="rect">
            <a:avLst/>
          </a:prstGeom>
          <a:noFill/>
        </p:spPr>
        <p:txBody>
          <a:bodyPr wrap="none" rtlCol="0">
            <a:spAutoFit/>
          </a:bodyPr>
          <a:lstStyle/>
          <a:p>
            <a:r>
              <a:rPr lang="zh-CN" altLang="en-US" sz="1600" dirty="0"/>
              <a:t>不可转发但可响应 </a:t>
            </a:r>
            <a:r>
              <a:rPr lang="en-US" altLang="zh-CN" sz="1600" dirty="0"/>
              <a:t>ICMP </a:t>
            </a:r>
            <a:r>
              <a:rPr lang="zh-CN" altLang="en-US" sz="1600" dirty="0"/>
              <a:t>的主机</a:t>
            </a:r>
            <a:endParaRPr lang="zh-CN" altLang="en-US" sz="1600" dirty="0"/>
          </a:p>
        </p:txBody>
      </p:sp>
      <p:sp>
        <p:nvSpPr>
          <p:cNvPr id="12" name="文本框 11"/>
          <p:cNvSpPr txBox="1"/>
          <p:nvPr/>
        </p:nvSpPr>
        <p:spPr>
          <a:xfrm>
            <a:off x="7776055" y="6230822"/>
            <a:ext cx="2646878" cy="338554"/>
          </a:xfrm>
          <a:prstGeom prst="rect">
            <a:avLst/>
          </a:prstGeom>
          <a:noFill/>
        </p:spPr>
        <p:txBody>
          <a:bodyPr wrap="none" rtlCol="0">
            <a:spAutoFit/>
          </a:bodyPr>
          <a:lstStyle/>
          <a:p>
            <a:r>
              <a:rPr lang="zh-CN" altLang="en-US" sz="1600" dirty="0"/>
              <a:t>不可被上述方法发现的主机</a:t>
            </a:r>
            <a:endParaRPr lang="zh-CN" altLang="en-US" sz="1600" dirty="0"/>
          </a:p>
        </p:txBody>
      </p:sp>
      <p:cxnSp>
        <p:nvCxnSpPr>
          <p:cNvPr id="13" name="直接连接符 12"/>
          <p:cNvCxnSpPr/>
          <p:nvPr/>
        </p:nvCxnSpPr>
        <p:spPr>
          <a:xfrm>
            <a:off x="6475259" y="1969415"/>
            <a:ext cx="0" cy="4599961"/>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85053" y="1784749"/>
            <a:ext cx="2098308" cy="369332"/>
          </a:xfrm>
          <a:prstGeom prst="rect">
            <a:avLst/>
          </a:prstGeom>
          <a:noFill/>
        </p:spPr>
        <p:txBody>
          <a:bodyPr wrap="square" rtlCol="0">
            <a:spAutoFit/>
          </a:bodyPr>
          <a:lstStyle/>
          <a:p>
            <a:r>
              <a:rPr lang="zh-CN" altLang="en-US" b="1" dirty="0">
                <a:solidFill>
                  <a:srgbClr val="660874"/>
                </a:solidFill>
              </a:rPr>
              <a:t>文中隧道节点数量</a:t>
            </a:r>
            <a:endParaRPr lang="zh-CN" altLang="en-US" b="1" dirty="0">
              <a:solidFill>
                <a:srgbClr val="66087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复现成果</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1: </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验证论文对</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IP6IP6</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GRE</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和</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6in4</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等隧道协议的大规模测量结果</a:t>
            </a:r>
            <a:endPar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nvSpPr>
        <p:spPr>
          <a:xfrm>
            <a:off x="581025" y="1775247"/>
            <a:ext cx="10810875" cy="1705467"/>
          </a:xfrm>
          <a:prstGeom prst="rect">
            <a:avLst/>
          </a:prstGeom>
          <a:noFill/>
        </p:spPr>
        <p:txBody>
          <a:bodyPr wrap="square" rtlCol="0">
            <a:spAutoFit/>
          </a:bodyPr>
          <a:lstStyle/>
          <a:p>
            <a:pPr>
              <a:lnSpc>
                <a:spcPct val="150000"/>
              </a:lnSpc>
            </a:pPr>
            <a:r>
              <a:rPr lang="zh-CN" altLang="en-US" b="1" dirty="0"/>
              <a:t>方法：</a:t>
            </a:r>
            <a:r>
              <a:rPr lang="zh-CN" altLang="en-US" dirty="0"/>
              <a:t> 使用 </a:t>
            </a:r>
            <a:r>
              <a:rPr lang="en-US" altLang="zh-CN" dirty="0" err="1"/>
              <a:t>ZMap</a:t>
            </a:r>
            <a:r>
              <a:rPr lang="zh-CN" altLang="en-US" dirty="0"/>
              <a:t>，根据不同隧道节点的特性，设计不同的扫描模块，实现对全球 </a:t>
            </a:r>
            <a:r>
              <a:rPr lang="en-US" altLang="zh-CN" dirty="0"/>
              <a:t>IPv4 </a:t>
            </a:r>
            <a:r>
              <a:rPr lang="zh-CN" altLang="en-US" dirty="0"/>
              <a:t>和 </a:t>
            </a:r>
            <a:r>
              <a:rPr lang="en-US" altLang="zh-CN" dirty="0"/>
              <a:t>IPv6 Hitlist</a:t>
            </a:r>
            <a:r>
              <a:rPr lang="zh-CN" altLang="en-US" dirty="0"/>
              <a:t>进行扫描。我们测量到的隧道节点类型及数量如下所示：</a:t>
            </a:r>
            <a:endParaRPr lang="en-US" altLang="zh-CN" dirty="0"/>
          </a:p>
          <a:p>
            <a:pPr marL="285750" indent="-285750">
              <a:lnSpc>
                <a:spcPct val="150000"/>
              </a:lnSpc>
              <a:buFont typeface="Arial" panose="020B0604020202020204" pitchFamily="34" charset="0"/>
              <a:buChar char="•"/>
            </a:pPr>
            <a:r>
              <a:rPr lang="zh-CN" altLang="en-US" dirty="0"/>
              <a:t>其中</a:t>
            </a:r>
            <a:r>
              <a:rPr lang="en-US" altLang="zh-CN" dirty="0"/>
              <a:t>6in4 </a:t>
            </a:r>
            <a:r>
              <a:rPr lang="zh-CN" altLang="en-US" dirty="0"/>
              <a:t>是最常见的漏洞协议，这主要源于其作为 </a:t>
            </a:r>
            <a:r>
              <a:rPr lang="en-US" altLang="zh-CN" dirty="0"/>
              <a:t>IPv6 </a:t>
            </a:r>
            <a:r>
              <a:rPr lang="zh-CN" altLang="en-US" dirty="0"/>
              <a:t>过渡机制的广泛部署 。</a:t>
            </a:r>
            <a:endParaRPr lang="en-US" altLang="zh-CN" dirty="0"/>
          </a:p>
          <a:p>
            <a:pPr marL="285750" indent="-285750">
              <a:lnSpc>
                <a:spcPct val="150000"/>
              </a:lnSpc>
              <a:buFont typeface="Arial" panose="020B0604020202020204" pitchFamily="34" charset="0"/>
              <a:buChar char="•"/>
            </a:pPr>
            <a:r>
              <a:rPr lang="zh-CN" altLang="en-US" dirty="0"/>
              <a:t>其余的隧道节点数量也与文章中所给出的数量规模一致。</a:t>
            </a:r>
            <a:endParaRPr lang="zh-CN" altLang="en-US" dirty="0"/>
          </a:p>
        </p:txBody>
      </p:sp>
      <p:graphicFrame>
        <p:nvGraphicFramePr>
          <p:cNvPr id="5" name="表格 4"/>
          <p:cNvGraphicFramePr/>
          <p:nvPr/>
        </p:nvGraphicFramePr>
        <p:xfrm>
          <a:off x="4274514" y="3524250"/>
          <a:ext cx="3642972" cy="2886189"/>
        </p:xfrm>
        <a:graphic>
          <a:graphicData uri="http://schemas.openxmlformats.org/drawingml/2006/table">
            <a:tbl>
              <a:tblPr firstRow="1" bandRow="1">
                <a:tableStyleId>{5C22544A-7EE6-4342-B048-85BDC9FD1C3A}</a:tableStyleId>
              </a:tblPr>
              <a:tblGrid>
                <a:gridCol w="1821486"/>
                <a:gridCol w="1821486"/>
              </a:tblGrid>
              <a:tr h="394131">
                <a:tc>
                  <a:txBody>
                    <a:bodyPr/>
                    <a:lstStyle/>
                    <a:p>
                      <a:pPr algn="ctr">
                        <a:buNone/>
                      </a:pPr>
                      <a:r>
                        <a:rPr lang="zh-CN" altLang="en-US" sz="1900" dirty="0"/>
                        <a:t>隧道类型</a:t>
                      </a:r>
                      <a:endParaRPr lang="zh-CN" altLang="en-US" sz="1900" dirty="0"/>
                    </a:p>
                  </a:txBody>
                  <a:tcPr marL="98533" marR="98533" marT="49266" marB="49266"/>
                </a:tc>
                <a:tc>
                  <a:txBody>
                    <a:bodyPr/>
                    <a:lstStyle/>
                    <a:p>
                      <a:pPr algn="ctr">
                        <a:buNone/>
                      </a:pPr>
                      <a:r>
                        <a:rPr lang="zh-CN" altLang="en-US" sz="1900"/>
                        <a:t>数量</a:t>
                      </a:r>
                      <a:endParaRPr lang="zh-CN" altLang="en-US" sz="1900"/>
                    </a:p>
                  </a:txBody>
                  <a:tcPr marL="98533" marR="98533" marT="49266" marB="49266"/>
                </a:tc>
              </a:tr>
              <a:tr h="415343">
                <a:tc>
                  <a:txBody>
                    <a:bodyPr/>
                    <a:lstStyle/>
                    <a:p>
                      <a:pPr algn="ctr">
                        <a:buNone/>
                      </a:pPr>
                      <a:r>
                        <a:rPr lang="en-US" altLang="zh-CN" sz="1900"/>
                        <a:t>6to4</a:t>
                      </a:r>
                      <a:endParaRPr lang="en-US" altLang="zh-CN" sz="1900"/>
                    </a:p>
                  </a:txBody>
                  <a:tcPr marL="98533" marR="98533" marT="49266" marB="49266"/>
                </a:tc>
                <a:tc>
                  <a:txBody>
                    <a:bodyPr/>
                    <a:lstStyle/>
                    <a:p>
                      <a:pPr algn="ctr">
                        <a:buNone/>
                      </a:pPr>
                      <a:r>
                        <a:rPr lang="en-US" altLang="zh-CN" sz="1900" dirty="0"/>
                        <a:t>560000+</a:t>
                      </a:r>
                      <a:endParaRPr lang="en-US" altLang="zh-CN" sz="1900" dirty="0"/>
                    </a:p>
                  </a:txBody>
                  <a:tcPr marL="98533" marR="98533" marT="49266" marB="49266"/>
                </a:tc>
              </a:tr>
              <a:tr h="415343">
                <a:tc>
                  <a:txBody>
                    <a:bodyPr/>
                    <a:lstStyle/>
                    <a:p>
                      <a:pPr algn="ctr">
                        <a:buNone/>
                      </a:pPr>
                      <a:r>
                        <a:rPr lang="en-US" altLang="zh-CN" sz="1900" dirty="0"/>
                        <a:t>4in6</a:t>
                      </a:r>
                      <a:endParaRPr lang="en-US" altLang="zh-CN" sz="1900" dirty="0"/>
                    </a:p>
                  </a:txBody>
                  <a:tcPr marL="98533" marR="98533" marT="49266" marB="49266"/>
                </a:tc>
                <a:tc>
                  <a:txBody>
                    <a:bodyPr/>
                    <a:lstStyle/>
                    <a:p>
                      <a:pPr algn="ctr">
                        <a:buNone/>
                      </a:pPr>
                      <a:r>
                        <a:rPr lang="en-US" altLang="zh-CN" sz="1900" dirty="0"/>
                        <a:t>80000+</a:t>
                      </a:r>
                      <a:endParaRPr lang="en-US" altLang="zh-CN" sz="1900" dirty="0"/>
                    </a:p>
                  </a:txBody>
                  <a:tcPr marL="98533" marR="98533" marT="49266" marB="49266"/>
                </a:tc>
              </a:tr>
              <a:tr h="415343">
                <a:tc>
                  <a:txBody>
                    <a:bodyPr/>
                    <a:lstStyle/>
                    <a:p>
                      <a:pPr algn="ctr">
                        <a:buNone/>
                      </a:pPr>
                      <a:r>
                        <a:rPr lang="en-US" altLang="zh-CN" sz="1900" dirty="0" err="1"/>
                        <a:t>ipip</a:t>
                      </a:r>
                      <a:endParaRPr lang="en-US" altLang="zh-CN" sz="1900" dirty="0"/>
                    </a:p>
                  </a:txBody>
                  <a:tcPr marL="98533" marR="98533" marT="49266" marB="49266"/>
                </a:tc>
                <a:tc>
                  <a:txBody>
                    <a:bodyPr/>
                    <a:lstStyle/>
                    <a:p>
                      <a:pPr algn="ctr">
                        <a:buNone/>
                      </a:pPr>
                      <a:r>
                        <a:rPr lang="en-US" altLang="zh-CN" sz="1900" dirty="0"/>
                        <a:t>500000+</a:t>
                      </a:r>
                      <a:endParaRPr lang="en-US" altLang="zh-CN" sz="1900" dirty="0"/>
                    </a:p>
                  </a:txBody>
                  <a:tcPr marL="98533" marR="98533" marT="49266" marB="49266"/>
                </a:tc>
              </a:tr>
              <a:tr h="415343">
                <a:tc>
                  <a:txBody>
                    <a:bodyPr/>
                    <a:lstStyle/>
                    <a:p>
                      <a:pPr algn="ctr">
                        <a:buNone/>
                      </a:pPr>
                      <a:r>
                        <a:rPr lang="en-US" altLang="zh-CN" sz="1900"/>
                        <a:t>ip6ip6</a:t>
                      </a:r>
                      <a:endParaRPr lang="en-US" altLang="zh-CN" sz="1900"/>
                    </a:p>
                  </a:txBody>
                  <a:tcPr marL="98533" marR="98533" marT="49266" marB="49266"/>
                </a:tc>
                <a:tc>
                  <a:txBody>
                    <a:bodyPr/>
                    <a:lstStyle/>
                    <a:p>
                      <a:pPr algn="ctr">
                        <a:buNone/>
                      </a:pPr>
                      <a:r>
                        <a:rPr lang="en-US" altLang="zh-CN" sz="1900" dirty="0"/>
                        <a:t>200000+</a:t>
                      </a:r>
                      <a:endParaRPr lang="en-US" altLang="zh-CN" sz="1900" dirty="0"/>
                    </a:p>
                  </a:txBody>
                  <a:tcPr marL="98533" marR="98533" marT="49266" marB="49266"/>
                </a:tc>
              </a:tr>
              <a:tr h="415343">
                <a:tc>
                  <a:txBody>
                    <a:bodyPr/>
                    <a:lstStyle/>
                    <a:p>
                      <a:pPr algn="ctr">
                        <a:buNone/>
                      </a:pPr>
                      <a:r>
                        <a:rPr lang="en-US" altLang="zh-CN" sz="1900"/>
                        <a:t>gre</a:t>
                      </a:r>
                      <a:endParaRPr lang="en-US" altLang="zh-CN" sz="1900"/>
                    </a:p>
                  </a:txBody>
                  <a:tcPr marL="98533" marR="98533" marT="49266" marB="49266"/>
                </a:tc>
                <a:tc>
                  <a:txBody>
                    <a:bodyPr/>
                    <a:lstStyle/>
                    <a:p>
                      <a:pPr algn="ctr">
                        <a:buNone/>
                      </a:pPr>
                      <a:r>
                        <a:rPr lang="en-US" altLang="zh-CN" sz="1900" dirty="0">
                          <a:sym typeface="+mn-ea"/>
                        </a:rPr>
                        <a:t>520000+</a:t>
                      </a:r>
                      <a:endParaRPr lang="zh-CN" altLang="en-US" sz="1900" dirty="0"/>
                    </a:p>
                  </a:txBody>
                  <a:tcPr marL="98533" marR="98533" marT="49266" marB="49266"/>
                </a:tc>
              </a:tr>
              <a:tr h="415343">
                <a:tc>
                  <a:txBody>
                    <a:bodyPr/>
                    <a:lstStyle/>
                    <a:p>
                      <a:pPr algn="ctr">
                        <a:buNone/>
                      </a:pPr>
                      <a:r>
                        <a:rPr lang="en-US" altLang="zh-CN" sz="1900" dirty="0"/>
                        <a:t>gre6</a:t>
                      </a:r>
                      <a:endParaRPr lang="en-US" altLang="zh-CN" sz="1900" dirty="0"/>
                    </a:p>
                  </a:txBody>
                  <a:tcPr marL="98533" marR="98533" marT="49266" marB="49266"/>
                </a:tc>
                <a:tc>
                  <a:txBody>
                    <a:bodyPr/>
                    <a:lstStyle/>
                    <a:p>
                      <a:pPr algn="ctr">
                        <a:buNone/>
                      </a:pPr>
                      <a:r>
                        <a:rPr lang="en-US" altLang="zh-CN" sz="1900" dirty="0"/>
                        <a:t>4300+</a:t>
                      </a:r>
                      <a:endParaRPr lang="en-US" altLang="zh-CN" sz="1900" dirty="0"/>
                    </a:p>
                  </a:txBody>
                  <a:tcPr marL="98533" marR="98533" marT="49266" marB="49266"/>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复现成果</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2: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验证基于隧道节点的新型</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DoS</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攻击</a:t>
            </a:r>
            <a:endPar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581025" y="1731712"/>
            <a:ext cx="10617155" cy="874470"/>
          </a:xfrm>
          <a:prstGeom prst="rect">
            <a:avLst/>
          </a:prstGeom>
          <a:noFill/>
        </p:spPr>
        <p:txBody>
          <a:bodyPr wrap="square" rtlCol="0">
            <a:spAutoFit/>
          </a:bodyPr>
          <a:lstStyle/>
          <a:p>
            <a:pPr>
              <a:lnSpc>
                <a:spcPct val="150000"/>
              </a:lnSpc>
            </a:pPr>
            <a:r>
              <a:rPr lang="zh-CN" altLang="en-US" dirty="0"/>
              <a:t>在单跳的情况下，我们设计并规划不同路径的延迟，使所有数据包同时到达受害者。使用</a:t>
            </a:r>
            <a:r>
              <a:rPr lang="en-US" altLang="zh-CN" dirty="0"/>
              <a:t>1</a:t>
            </a:r>
            <a:r>
              <a:rPr lang="zh-CN" altLang="en-US" dirty="0"/>
              <a:t>台主机时，在此情况下的实验效果如图所示：</a:t>
            </a:r>
            <a:endParaRPr lang="zh-CN" altLang="en-US" dirty="0"/>
          </a:p>
        </p:txBody>
      </p:sp>
      <p:sp>
        <p:nvSpPr>
          <p:cNvPr id="4" name="文本框 3"/>
          <p:cNvSpPr txBox="1"/>
          <p:nvPr/>
        </p:nvSpPr>
        <p:spPr>
          <a:xfrm>
            <a:off x="461610" y="5472102"/>
            <a:ext cx="11268778" cy="92202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dirty="0"/>
              <a:t>在</a:t>
            </a:r>
            <a:r>
              <a:rPr lang="zh-CN" altLang="en-US" dirty="0"/>
              <a:t>某一点之后，红</a:t>
            </a:r>
            <a:r>
              <a:rPr lang="zh-CN" altLang="en-US" dirty="0"/>
              <a:t>色曲线迅速攀升并形成明显的流量峰值（最高达 </a:t>
            </a:r>
            <a:r>
              <a:rPr lang="en-US" altLang="zh-CN" dirty="0"/>
              <a:t>800 Packets/50ms</a:t>
            </a:r>
            <a:r>
              <a:rPr lang="zh-CN" altLang="en-US" dirty="0"/>
              <a:t>），放大倍数近似</a:t>
            </a:r>
            <a:r>
              <a:rPr lang="en-US" altLang="zh-CN" dirty="0"/>
              <a:t>15</a:t>
            </a:r>
            <a:r>
              <a:rPr lang="zh-CN" altLang="en-US" dirty="0"/>
              <a:t>倍。</a:t>
            </a:r>
            <a:endParaRPr lang="zh-CN" altLang="en-US" dirty="0"/>
          </a:p>
          <a:p>
            <a:pPr marL="285750" indent="-285750">
              <a:lnSpc>
                <a:spcPct val="150000"/>
              </a:lnSpc>
              <a:buFont typeface="Wingdings" panose="05000000000000000000" pitchFamily="2" charset="2"/>
              <a:buChar char="Ø"/>
            </a:pPr>
            <a:r>
              <a:rPr lang="zh-CN" altLang="en-US" dirty="0"/>
              <a:t>该实验证明我们通过隧道构造的攻击路径能够成功在接收者处形成显著的脉冲攻击效果。与原文效果一致。</a:t>
            </a:r>
            <a:endParaRPr lang="zh-CN" altLang="en-US" dirty="0"/>
          </a:p>
        </p:txBody>
      </p:sp>
      <p:pic>
        <p:nvPicPr>
          <p:cNvPr id="8" name="图片 7" descr="Figure_1"/>
          <p:cNvPicPr>
            <a:picLocks noChangeAspect="1"/>
          </p:cNvPicPr>
          <p:nvPr>
            <p:custDataLst>
              <p:tags r:id="rId1"/>
            </p:custDataLst>
          </p:nvPr>
        </p:nvPicPr>
        <p:blipFill>
          <a:blip r:embed="rId2"/>
          <a:srcRect t="6026"/>
          <a:stretch>
            <a:fillRect/>
          </a:stretch>
        </p:blipFill>
        <p:spPr>
          <a:xfrm>
            <a:off x="1586622" y="2606181"/>
            <a:ext cx="8103477" cy="30471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复现成果</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2: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验证基于隧道节点的新型</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DoS</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攻击</a:t>
            </a:r>
            <a:endPar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581025" y="1731712"/>
            <a:ext cx="10617155" cy="874535"/>
          </a:xfrm>
          <a:prstGeom prst="rect">
            <a:avLst/>
          </a:prstGeom>
          <a:noFill/>
        </p:spPr>
        <p:txBody>
          <a:bodyPr wrap="square" rtlCol="0">
            <a:spAutoFit/>
          </a:bodyPr>
          <a:lstStyle/>
          <a:p>
            <a:pPr>
              <a:lnSpc>
                <a:spcPct val="150000"/>
              </a:lnSpc>
            </a:pPr>
            <a:r>
              <a:rPr lang="zh-CN" altLang="en-US" dirty="0"/>
              <a:t>多跳情况，在经过现网测量实验后，我们发现论文中设计的多跳转发情况不可行。隧道主机会直接转发最内层的数据包</a:t>
            </a:r>
            <a:r>
              <a:rPr lang="en-US" altLang="zh-CN" dirty="0"/>
              <a:t>:</a:t>
            </a:r>
            <a:endParaRPr lang="zh-CN" altLang="en-US" dirty="0"/>
          </a:p>
        </p:txBody>
      </p:sp>
      <p:sp>
        <p:nvSpPr>
          <p:cNvPr id="9" name="文本框 8"/>
          <p:cNvSpPr txBox="1"/>
          <p:nvPr/>
        </p:nvSpPr>
        <p:spPr>
          <a:xfrm>
            <a:off x="790303" y="5200865"/>
            <a:ext cx="10407877" cy="874470"/>
          </a:xfrm>
          <a:prstGeom prst="rect">
            <a:avLst/>
          </a:prstGeom>
          <a:noFill/>
        </p:spPr>
        <p:txBody>
          <a:bodyPr wrap="square" rtlCol="0">
            <a:spAutoFit/>
          </a:bodyPr>
          <a:lstStyle/>
          <a:p>
            <a:pPr>
              <a:lnSpc>
                <a:spcPct val="150000"/>
              </a:lnSpc>
            </a:pPr>
            <a:r>
              <a:rPr lang="zh-CN" altLang="en-US" dirty="0"/>
              <a:t>我们使用</a:t>
            </a:r>
            <a:r>
              <a:rPr lang="en-US" altLang="zh-CN" dirty="0"/>
              <a:t>IP6IP6</a:t>
            </a:r>
            <a:r>
              <a:rPr lang="zh-CN" altLang="en-US" dirty="0"/>
              <a:t>隧道协议的</a:t>
            </a:r>
            <a:r>
              <a:rPr lang="en-US" altLang="zh-CN" dirty="0"/>
              <a:t>20</a:t>
            </a:r>
            <a:r>
              <a:rPr lang="zh-CN" altLang="en-US" dirty="0"/>
              <a:t>余万数据包，将内层的地址设为</a:t>
            </a:r>
            <a:r>
              <a:rPr lang="en-US" altLang="zh-CN" dirty="0"/>
              <a:t>::1</a:t>
            </a:r>
            <a:r>
              <a:rPr lang="zh-CN" altLang="en-US" dirty="0"/>
              <a:t>进行测试，结果均如上图所示。我们可以收到转发回的最内层数据包。</a:t>
            </a:r>
            <a:endParaRPr lang="zh-CN" altLang="en-US" dirty="0"/>
          </a:p>
        </p:txBody>
      </p:sp>
      <p:pic>
        <p:nvPicPr>
          <p:cNvPr id="12" name="图片 11"/>
          <p:cNvPicPr>
            <a:picLocks noChangeAspect="1"/>
          </p:cNvPicPr>
          <p:nvPr/>
        </p:nvPicPr>
        <p:blipFill>
          <a:blip r:embed="rId1"/>
          <a:srcRect r="4218"/>
          <a:stretch>
            <a:fillRect/>
          </a:stretch>
        </p:blipFill>
        <p:spPr>
          <a:xfrm>
            <a:off x="2073643" y="2777144"/>
            <a:ext cx="7352380" cy="980952"/>
          </a:xfrm>
          <a:prstGeom prst="rect">
            <a:avLst/>
          </a:prstGeom>
        </p:spPr>
      </p:pic>
      <p:pic>
        <p:nvPicPr>
          <p:cNvPr id="14" name="图片 13"/>
          <p:cNvPicPr>
            <a:picLocks noChangeAspect="1"/>
          </p:cNvPicPr>
          <p:nvPr/>
        </p:nvPicPr>
        <p:blipFill>
          <a:blip r:embed="rId2"/>
          <a:stretch>
            <a:fillRect/>
          </a:stretch>
        </p:blipFill>
        <p:spPr>
          <a:xfrm>
            <a:off x="2073643" y="4049016"/>
            <a:ext cx="7352381" cy="695238"/>
          </a:xfrm>
          <a:prstGeom prst="rect">
            <a:avLst/>
          </a:prstGeom>
        </p:spPr>
      </p:pic>
      <p:sp>
        <p:nvSpPr>
          <p:cNvPr id="15" name="文本框 14"/>
          <p:cNvSpPr txBox="1"/>
          <p:nvPr/>
        </p:nvSpPr>
        <p:spPr>
          <a:xfrm>
            <a:off x="4755108" y="3716058"/>
            <a:ext cx="1826141" cy="338554"/>
          </a:xfrm>
          <a:prstGeom prst="rect">
            <a:avLst/>
          </a:prstGeom>
          <a:noFill/>
        </p:spPr>
        <p:txBody>
          <a:bodyPr wrap="none" rtlCol="0">
            <a:spAutoFit/>
          </a:bodyPr>
          <a:lstStyle/>
          <a:p>
            <a:r>
              <a:rPr lang="zh-CN" altLang="en-US" sz="1600" dirty="0"/>
              <a:t>构造的三层数据包</a:t>
            </a:r>
            <a:endParaRPr lang="zh-CN" altLang="en-US" sz="1600" dirty="0"/>
          </a:p>
        </p:txBody>
      </p:sp>
      <p:sp>
        <p:nvSpPr>
          <p:cNvPr id="16" name="文本框 15"/>
          <p:cNvSpPr txBox="1"/>
          <p:nvPr/>
        </p:nvSpPr>
        <p:spPr>
          <a:xfrm>
            <a:off x="4652515" y="4693194"/>
            <a:ext cx="2031325" cy="369332"/>
          </a:xfrm>
          <a:prstGeom prst="rect">
            <a:avLst/>
          </a:prstGeom>
          <a:noFill/>
        </p:spPr>
        <p:txBody>
          <a:bodyPr wrap="none" rtlCol="0">
            <a:spAutoFit/>
          </a:bodyPr>
          <a:lstStyle/>
          <a:p>
            <a:r>
              <a:rPr lang="zh-CN" altLang="en-US" dirty="0"/>
              <a:t>收到的内层数据包</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扩展成果</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1: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监测隧道节点的存活变化趋势</a:t>
            </a:r>
            <a:endPar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graphicFrame>
        <p:nvGraphicFramePr>
          <p:cNvPr id="2" name="图表 1"/>
          <p:cNvGraphicFramePr/>
          <p:nvPr/>
        </p:nvGraphicFramePr>
        <p:xfrm>
          <a:off x="1449705" y="1933262"/>
          <a:ext cx="9292590" cy="3933825"/>
        </p:xfrm>
        <a:graphic>
          <a:graphicData uri="http://schemas.openxmlformats.org/drawingml/2006/chart">
            <c:chart xmlns:c="http://schemas.openxmlformats.org/drawingml/2006/chart" xmlns:r="http://schemas.openxmlformats.org/officeDocument/2006/relationships" r:id="rId1"/>
          </a:graphicData>
        </a:graphic>
      </p:graphicFrame>
      <p:sp>
        <p:nvSpPr>
          <p:cNvPr id="3" name="文本框 2"/>
          <p:cNvSpPr txBox="1"/>
          <p:nvPr/>
        </p:nvSpPr>
        <p:spPr>
          <a:xfrm>
            <a:off x="1017270" y="5867087"/>
            <a:ext cx="10386604" cy="729046"/>
          </a:xfrm>
          <a:prstGeom prst="rect">
            <a:avLst/>
          </a:prstGeom>
          <a:noFill/>
        </p:spPr>
        <p:txBody>
          <a:bodyPr wrap="square">
            <a:spAutoFit/>
          </a:bodyPr>
          <a:lstStyle/>
          <a:p>
            <a:pPr>
              <a:lnSpc>
                <a:spcPct val="120000"/>
              </a:lnSpc>
            </a:pPr>
            <a:r>
              <a:rPr lang="zh-CN" altLang="en-US" dirty="0">
                <a:effectLst/>
              </a:rPr>
              <a:t>我们探测了</a:t>
            </a:r>
            <a:r>
              <a:rPr lang="en-US" altLang="zh-CN" b="1" dirty="0">
                <a:effectLst/>
              </a:rPr>
              <a:t>2025</a:t>
            </a:r>
            <a:r>
              <a:rPr lang="zh-CN" altLang="en-US" b="1" dirty="0">
                <a:effectLst/>
              </a:rPr>
              <a:t>年</a:t>
            </a:r>
            <a:r>
              <a:rPr lang="en-US" altLang="zh-CN" b="1" dirty="0">
                <a:effectLst/>
              </a:rPr>
              <a:t>6</a:t>
            </a:r>
            <a:r>
              <a:rPr lang="zh-CN" altLang="en-US" b="1" dirty="0">
                <a:effectLst/>
              </a:rPr>
              <a:t>月至</a:t>
            </a:r>
            <a:r>
              <a:rPr lang="en-US" altLang="zh-CN" b="1" dirty="0">
                <a:effectLst/>
              </a:rPr>
              <a:t>11</a:t>
            </a:r>
            <a:r>
              <a:rPr lang="zh-CN" altLang="en-US" b="1" dirty="0">
                <a:effectLst/>
              </a:rPr>
              <a:t>月期间</a:t>
            </a:r>
            <a:r>
              <a:rPr lang="zh-CN" altLang="en-US" dirty="0">
                <a:effectLst/>
              </a:rPr>
              <a:t>六种隧道协议（</a:t>
            </a:r>
            <a:r>
              <a:rPr lang="en-US" altLang="zh-CN" dirty="0" err="1">
                <a:effectLst/>
              </a:rPr>
              <a:t>ipip</a:t>
            </a:r>
            <a:r>
              <a:rPr lang="zh-CN" altLang="en-US" dirty="0">
                <a:effectLst/>
              </a:rPr>
              <a:t>、</a:t>
            </a:r>
            <a:r>
              <a:rPr lang="en-US" altLang="zh-CN" dirty="0" err="1">
                <a:effectLst/>
              </a:rPr>
              <a:t>gre</a:t>
            </a:r>
            <a:r>
              <a:rPr lang="zh-CN" altLang="en-US" dirty="0">
                <a:effectLst/>
              </a:rPr>
              <a:t>、</a:t>
            </a:r>
            <a:r>
              <a:rPr lang="en-US" altLang="zh-CN" dirty="0">
                <a:effectLst/>
              </a:rPr>
              <a:t>ip6ip6</a:t>
            </a:r>
            <a:r>
              <a:rPr lang="zh-CN" altLang="en-US" dirty="0">
                <a:effectLst/>
              </a:rPr>
              <a:t>、</a:t>
            </a:r>
            <a:r>
              <a:rPr lang="en-US" altLang="zh-CN" dirty="0">
                <a:effectLst/>
              </a:rPr>
              <a:t>gre6</a:t>
            </a:r>
            <a:r>
              <a:rPr lang="zh-CN" altLang="en-US" dirty="0">
                <a:effectLst/>
              </a:rPr>
              <a:t>、</a:t>
            </a:r>
            <a:r>
              <a:rPr lang="en-US" altLang="zh-CN" dirty="0">
                <a:effectLst/>
              </a:rPr>
              <a:t>6to4</a:t>
            </a:r>
            <a:r>
              <a:rPr lang="zh-CN" altLang="en-US" dirty="0">
                <a:effectLst/>
              </a:rPr>
              <a:t>、</a:t>
            </a:r>
            <a:r>
              <a:rPr lang="en-US" altLang="zh-CN" dirty="0">
                <a:effectLst/>
              </a:rPr>
              <a:t>4in6</a:t>
            </a:r>
            <a:r>
              <a:rPr lang="zh-CN" altLang="en-US" dirty="0">
                <a:effectLst/>
              </a:rPr>
              <a:t>）的数量变化趋势，其中</a:t>
            </a:r>
            <a:r>
              <a:rPr lang="en-US" altLang="zh-CN" b="1" dirty="0">
                <a:effectLst/>
              </a:rPr>
              <a:t>6to4 </a:t>
            </a:r>
            <a:r>
              <a:rPr lang="zh-CN" altLang="en-US" b="1" dirty="0">
                <a:effectLst/>
              </a:rPr>
              <a:t>协议在前几个月经历了显著下降</a:t>
            </a:r>
            <a:r>
              <a:rPr lang="zh-CN" altLang="en-US" dirty="0">
                <a:effectLst/>
              </a:rPr>
              <a:t>，而其他大多数协议在此时期内保持了相对平稳的态势。</a:t>
            </a:r>
            <a:endParaRPr lang="zh-CN" altLang="en-US" dirty="0">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a:sym typeface="+mn-ea"/>
              </a:rPr>
              <a:t>三、</a:t>
            </a:r>
            <a:r>
              <a:rPr lang="zh-CN" altLang="en-US" sz="3600">
                <a:latin typeface="微软雅黑" panose="020B0503020204020204" charset="-122"/>
                <a:cs typeface="微软雅黑" panose="020B0503020204020204" charset="-122"/>
                <a:sym typeface="+mn-ea"/>
              </a:rPr>
              <a:t>研究结果</a:t>
            </a:r>
            <a:endParaRPr lang="zh-CN" altLang="en-US"/>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扩展成果</a:t>
            </a:r>
            <a:r>
              <a:rPr lang="en-US" altLang="zh-CN"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1: </a:t>
            </a:r>
            <a:r>
              <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监测隧道节点的存活变化趋势</a:t>
            </a:r>
            <a:endParaRPr lang="zh-CN" altLang="en-US" sz="2000" b="1">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996951" y="1728080"/>
            <a:ext cx="10229850" cy="923330"/>
          </a:xfrm>
          <a:prstGeom prst="rect">
            <a:avLst/>
          </a:prstGeom>
          <a:noFill/>
        </p:spPr>
        <p:txBody>
          <a:bodyPr wrap="square" rtlCol="0">
            <a:spAutoFit/>
          </a:bodyPr>
          <a:lstStyle/>
          <a:p>
            <a:r>
              <a:rPr lang="zh-CN" altLang="en-US" dirty="0"/>
              <a:t>其中</a:t>
            </a:r>
            <a:r>
              <a:rPr lang="en-US" altLang="zh-CN" dirty="0"/>
              <a:t>6to4</a:t>
            </a:r>
            <a:r>
              <a:rPr lang="zh-CN" altLang="en-US" dirty="0"/>
              <a:t>隧道的数量变化明显，随着 </a:t>
            </a:r>
            <a:r>
              <a:rPr lang="en-US" altLang="zh-CN" dirty="0"/>
              <a:t>2025 </a:t>
            </a:r>
            <a:r>
              <a:rPr lang="zh-CN" altLang="en-US" dirty="0"/>
              <a:t>年全球原生 </a:t>
            </a:r>
            <a:r>
              <a:rPr lang="en-US" altLang="zh-CN" dirty="0"/>
              <a:t>IPv6 </a:t>
            </a:r>
            <a:r>
              <a:rPr lang="zh-CN" altLang="en-US" dirty="0"/>
              <a:t>普及率超过 </a:t>
            </a:r>
            <a:r>
              <a:rPr lang="en-US" altLang="zh-CN" b="1" dirty="0"/>
              <a:t>45%</a:t>
            </a:r>
            <a:r>
              <a:rPr lang="zh-CN" altLang="en-US" dirty="0"/>
              <a:t>，该协议作为过渡机制的需求正在逐年降低，呈现长期下降趋势。为此我们进一步分析其对应的数量、</a:t>
            </a:r>
            <a:r>
              <a:rPr lang="en-US" altLang="zh-CN" dirty="0"/>
              <a:t>AS</a:t>
            </a:r>
            <a:r>
              <a:rPr lang="zh-CN" altLang="en-US" dirty="0"/>
              <a:t>、组织和国家的归属情况。对其变化的趋势进行解析。</a:t>
            </a:r>
            <a:endParaRPr lang="zh-CN" altLang="en-US" dirty="0"/>
          </a:p>
        </p:txBody>
      </p:sp>
      <p:graphicFrame>
        <p:nvGraphicFramePr>
          <p:cNvPr id="8" name="表格 7"/>
          <p:cNvGraphicFramePr/>
          <p:nvPr/>
        </p:nvGraphicFramePr>
        <p:xfrm>
          <a:off x="996951" y="2679919"/>
          <a:ext cx="4384041" cy="3918999"/>
        </p:xfrm>
        <a:graphic>
          <a:graphicData uri="http://schemas.openxmlformats.org/drawingml/2006/table">
            <a:tbl>
              <a:tblPr firstRow="1" bandRow="1">
                <a:tableStyleId>{5C22544A-7EE6-4342-B048-85BDC9FD1C3A}</a:tableStyleId>
              </a:tblPr>
              <a:tblGrid>
                <a:gridCol w="1656081"/>
                <a:gridCol w="1440180"/>
                <a:gridCol w="1287780"/>
              </a:tblGrid>
              <a:tr h="376379">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国家</a:t>
                      </a:r>
                      <a:endParaRPr lang="zh-CN" altLang="en-US" sz="1800" b="1" kern="1200" dirty="0">
                        <a:solidFill>
                          <a:schemeClr val="lt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计数</a:t>
                      </a:r>
                      <a:endParaRPr lang="zh-CN" altLang="en-US" sz="1800" b="1" kern="1200" dirty="0">
                        <a:solidFill>
                          <a:schemeClr val="lt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占比</a:t>
                      </a:r>
                      <a:endParaRPr lang="zh-CN" altLang="en-US" sz="1800" b="1" kern="1200" dirty="0">
                        <a:solidFill>
                          <a:schemeClr val="lt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dirty="0">
                          <a:solidFill>
                            <a:schemeClr val="tx1"/>
                          </a:solidFill>
                          <a:latin typeface="+mn-lt"/>
                          <a:ea typeface="+mn-ea"/>
                          <a:cs typeface="+mn-cs"/>
                        </a:rPr>
                        <a:t>United States</a:t>
                      </a:r>
                      <a:endParaRPr lang="en-US"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270697</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a:solidFill>
                            <a:schemeClr val="tx1"/>
                          </a:solidFill>
                          <a:latin typeface="+mn-lt"/>
                          <a:ea typeface="+mn-ea"/>
                          <a:cs typeface="+mn-cs"/>
                        </a:rPr>
                        <a:t>47.6%</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dirty="0">
                          <a:solidFill>
                            <a:schemeClr val="tx1"/>
                          </a:solidFill>
                          <a:latin typeface="+mn-lt"/>
                          <a:ea typeface="+mn-ea"/>
                          <a:cs typeface="+mn-cs"/>
                        </a:rPr>
                        <a:t>Hong Kong</a:t>
                      </a:r>
                      <a:endParaRPr lang="en-US"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101090</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17.8%</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dirty="0">
                          <a:solidFill>
                            <a:schemeClr val="tx1"/>
                          </a:solidFill>
                          <a:latin typeface="+mn-lt"/>
                          <a:ea typeface="+mn-ea"/>
                          <a:cs typeface="+mn-cs"/>
                        </a:rPr>
                        <a:t>China</a:t>
                      </a:r>
                      <a:endParaRPr lang="en-US"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a:solidFill>
                            <a:schemeClr val="tx1"/>
                          </a:solidFill>
                          <a:latin typeface="+mn-lt"/>
                          <a:ea typeface="+mn-ea"/>
                          <a:cs typeface="+mn-cs"/>
                        </a:rPr>
                        <a:t>39941</a:t>
                      </a:r>
                      <a:endParaRPr lang="en-US" altLang="zh-CN"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7.0%</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South Korea</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39370</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6.9%</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Seychelles</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a:solidFill>
                            <a:schemeClr val="tx1"/>
                          </a:solidFill>
                          <a:latin typeface="+mn-lt"/>
                          <a:ea typeface="+mn-ea"/>
                          <a:cs typeface="+mn-cs"/>
                        </a:rPr>
                        <a:t>21401</a:t>
                      </a:r>
                      <a:endParaRPr lang="en-US" altLang="zh-CN"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3.8%</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South Africa</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11335</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2.0%</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Russia</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9132</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1.6%</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Japan</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8278</a:t>
                      </a:r>
                      <a:endParaRPr lang="en-US" altLang="zh-CN" sz="1800" b="1" kern="1200" dirty="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1.5%</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Vietnam</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a:solidFill>
                            <a:schemeClr val="tx1"/>
                          </a:solidFill>
                          <a:latin typeface="+mn-lt"/>
                          <a:ea typeface="+mn-ea"/>
                          <a:cs typeface="+mn-cs"/>
                        </a:rPr>
                        <a:t>7795</a:t>
                      </a:r>
                      <a:endParaRPr lang="en-US" altLang="zh-CN"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1.4%</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marL="0" algn="ctr" defTabSz="457200" rtl="0" eaLnBrk="1" fontAlgn="ctr" latinLnBrk="0" hangingPunct="1">
                        <a:buNone/>
                      </a:pPr>
                      <a:r>
                        <a:rPr lang="en-US" sz="1800" b="1" kern="1200">
                          <a:solidFill>
                            <a:schemeClr val="tx1"/>
                          </a:solidFill>
                          <a:latin typeface="+mn-lt"/>
                          <a:ea typeface="+mn-ea"/>
                          <a:cs typeface="+mn-cs"/>
                        </a:rPr>
                        <a:t>Singapore</a:t>
                      </a:r>
                      <a:endParaRPr lang="en-US"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a:solidFill>
                            <a:schemeClr val="tx1"/>
                          </a:solidFill>
                          <a:latin typeface="+mn-lt"/>
                          <a:ea typeface="+mn-ea"/>
                          <a:cs typeface="+mn-cs"/>
                        </a:rPr>
                        <a:t>6134</a:t>
                      </a:r>
                      <a:endParaRPr lang="en-US" altLang="zh-CN" sz="1800" b="1" kern="1200">
                        <a:solidFill>
                          <a:schemeClr val="tx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en-US" altLang="zh-CN" sz="1800" b="1" kern="1200" dirty="0">
                          <a:solidFill>
                            <a:schemeClr val="tx1"/>
                          </a:solidFill>
                          <a:latin typeface="+mn-lt"/>
                          <a:ea typeface="+mn-ea"/>
                          <a:cs typeface="+mn-cs"/>
                        </a:rPr>
                        <a:t>1.1%</a:t>
                      </a:r>
                      <a:endParaRPr lang="en-US" altLang="zh-CN" sz="1800" b="1" kern="1200" dirty="0">
                        <a:solidFill>
                          <a:schemeClr val="tx1"/>
                        </a:solidFill>
                        <a:latin typeface="+mn-lt"/>
                        <a:ea typeface="+mn-ea"/>
                        <a:cs typeface="+mn-cs"/>
                      </a:endParaRPr>
                    </a:p>
                  </a:txBody>
                  <a:tcPr marL="9525" marR="9525" marT="9525" marB="0" anchor="ctr"/>
                </a:tc>
              </a:tr>
            </a:tbl>
          </a:graphicData>
        </a:graphic>
      </p:graphicFrame>
      <p:graphicFrame>
        <p:nvGraphicFramePr>
          <p:cNvPr id="10" name="表格 9"/>
          <p:cNvGraphicFramePr/>
          <p:nvPr/>
        </p:nvGraphicFramePr>
        <p:xfrm>
          <a:off x="5920908" y="2679918"/>
          <a:ext cx="4625172" cy="3918999"/>
        </p:xfrm>
        <a:graphic>
          <a:graphicData uri="http://schemas.openxmlformats.org/drawingml/2006/table">
            <a:tbl>
              <a:tblPr firstRow="1" bandRow="1">
                <a:tableStyleId>{5C22544A-7EE6-4342-B048-85BDC9FD1C3A}</a:tableStyleId>
              </a:tblPr>
              <a:tblGrid>
                <a:gridCol w="1156293"/>
                <a:gridCol w="1846815"/>
                <a:gridCol w="858080"/>
                <a:gridCol w="763984"/>
              </a:tblGrid>
              <a:tr h="376379">
                <a:tc>
                  <a:txBody>
                    <a:bodyPr/>
                    <a:lstStyle/>
                    <a:p>
                      <a:pPr marL="0" algn="ctr" defTabSz="457200" rtl="0" eaLnBrk="1" fontAlgn="ctr" latinLnBrk="0" hangingPunct="1">
                        <a:buNone/>
                      </a:pPr>
                      <a:r>
                        <a:rPr lang="en-US" altLang="zh-CN" sz="1800" b="1" kern="1200" dirty="0">
                          <a:solidFill>
                            <a:schemeClr val="lt1"/>
                          </a:solidFill>
                          <a:latin typeface="+mn-lt"/>
                          <a:ea typeface="+mn-ea"/>
                          <a:cs typeface="+mn-cs"/>
                        </a:rPr>
                        <a:t>ASN</a:t>
                      </a:r>
                      <a:endParaRPr lang="zh-CN" altLang="en-US" sz="1800" b="1" kern="1200" dirty="0">
                        <a:solidFill>
                          <a:schemeClr val="lt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组织</a:t>
                      </a:r>
                      <a:endParaRPr lang="zh-CN" altLang="en-US" sz="1800" b="1" kern="1200" dirty="0">
                        <a:solidFill>
                          <a:schemeClr val="lt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计数</a:t>
                      </a:r>
                      <a:endParaRPr lang="zh-CN" altLang="en-US" sz="1800" b="1" kern="1200" dirty="0">
                        <a:solidFill>
                          <a:schemeClr val="lt1"/>
                        </a:solidFill>
                        <a:latin typeface="+mn-lt"/>
                        <a:ea typeface="+mn-ea"/>
                        <a:cs typeface="+mn-cs"/>
                      </a:endParaRPr>
                    </a:p>
                  </a:txBody>
                  <a:tcPr marL="9525" marR="9525" marT="9525" marB="0" anchor="ctr"/>
                </a:tc>
                <a:tc>
                  <a:txBody>
                    <a:bodyPr/>
                    <a:lstStyle/>
                    <a:p>
                      <a:pPr marL="0" algn="ctr" defTabSz="457200" rtl="0" eaLnBrk="1" fontAlgn="ctr" latinLnBrk="0" hangingPunct="1">
                        <a:buNone/>
                      </a:pPr>
                      <a:r>
                        <a:rPr lang="zh-CN" altLang="en-US" sz="1800" b="1" kern="1200" dirty="0">
                          <a:solidFill>
                            <a:schemeClr val="lt1"/>
                          </a:solidFill>
                          <a:latin typeface="+mn-lt"/>
                          <a:ea typeface="+mn-ea"/>
                          <a:cs typeface="+mn-cs"/>
                        </a:rPr>
                        <a:t>占比</a:t>
                      </a:r>
                      <a:endParaRPr lang="zh-CN" altLang="en-US" sz="1800" b="1" kern="1200" dirty="0">
                        <a:solidFill>
                          <a:schemeClr val="lt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54600</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a:t>PEG TECH INC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101776</a:t>
                      </a:r>
                      <a:endParaRPr lang="en-US" altLang="zh-CN" sz="1800" b="1" kern="120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17.9%</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398823</a:t>
                      </a:r>
                      <a:endParaRPr lang="en-US" altLang="zh-CN" sz="1800" b="1" kern="1200" dirty="0">
                        <a:solidFill>
                          <a:schemeClr val="tx1"/>
                        </a:solidFill>
                        <a:latin typeface="+mn-lt"/>
                        <a:ea typeface="+mn-ea"/>
                        <a:cs typeface="+mn-cs"/>
                      </a:endParaRPr>
                    </a:p>
                  </a:txBody>
                  <a:tcPr marL="9525" marR="9525" marT="9525" marB="0" anchor="ctr"/>
                </a:tc>
                <a:tc>
                  <a:txBody>
                    <a:bodyPr/>
                    <a:lstStyle/>
                    <a:p>
                      <a:pPr marL="0" marR="0" lvl="0" indent="0" algn="ctr" defTabSz="457200" rtl="0" eaLnBrk="1" fontAlgn="ctr" latinLnBrk="0" hangingPunct="1">
                        <a:lnSpc>
                          <a:spcPct val="100000"/>
                        </a:lnSpc>
                        <a:spcBef>
                          <a:spcPts val="0"/>
                        </a:spcBef>
                        <a:spcAft>
                          <a:spcPts val="0"/>
                        </a:spcAft>
                        <a:buClrTx/>
                        <a:buSzTx/>
                        <a:buFontTx/>
                        <a:buNone/>
                        <a:defRPr/>
                      </a:pPr>
                      <a:r>
                        <a:rPr lang="en-US" altLang="zh-CN" dirty="0"/>
                        <a:t>PEG TECH INC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53073</a:t>
                      </a:r>
                      <a:endParaRPr lang="en-US" altLang="zh-CN" sz="1800" b="1" kern="120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9.3%</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135097</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err="1"/>
                        <a:t>CloudFly</a:t>
                      </a:r>
                      <a:r>
                        <a:rPr lang="en-US" altLang="zh-CN" dirty="0"/>
                        <a:t> Net Inc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20637</a:t>
                      </a:r>
                      <a:endParaRPr lang="en-US" altLang="zh-CN" sz="1800" b="1" kern="120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3.6%</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398478</a:t>
                      </a:r>
                      <a:endParaRPr lang="en-US" altLang="zh-CN" sz="1800" b="1" kern="1200" dirty="0">
                        <a:solidFill>
                          <a:schemeClr val="tx1"/>
                        </a:solidFill>
                        <a:latin typeface="+mn-lt"/>
                        <a:ea typeface="+mn-ea"/>
                        <a:cs typeface="+mn-cs"/>
                      </a:endParaRPr>
                    </a:p>
                  </a:txBody>
                  <a:tcPr marL="9525" marR="9525" marT="9525" marB="0" anchor="ctr"/>
                </a:tc>
                <a:tc>
                  <a:txBody>
                    <a:bodyPr/>
                    <a:lstStyle/>
                    <a:p>
                      <a:pPr marL="0" marR="0" lvl="0" indent="0" algn="ctr" defTabSz="457200" rtl="0" eaLnBrk="1" fontAlgn="ctr" latinLnBrk="0" hangingPunct="1">
                        <a:lnSpc>
                          <a:spcPct val="100000"/>
                        </a:lnSpc>
                        <a:spcBef>
                          <a:spcPts val="0"/>
                        </a:spcBef>
                        <a:spcAft>
                          <a:spcPts val="0"/>
                        </a:spcAft>
                        <a:buClrTx/>
                        <a:buSzTx/>
                        <a:buFontTx/>
                        <a:buNone/>
                        <a:defRPr/>
                      </a:pPr>
                      <a:r>
                        <a:rPr lang="en-US" altLang="zh-CN" dirty="0"/>
                        <a:t>PEG TECH INC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20622</a:t>
                      </a:r>
                      <a:endParaRPr lang="en-US" altLang="zh-CN" sz="1800" b="1" kern="120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3.6%</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38661</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a:t>LG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19773</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3.5%</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26658</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a:t>HT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17554</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3.1%</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134548</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err="1"/>
                        <a:t>DingFeng</a:t>
                      </a:r>
                      <a:r>
                        <a:rPr lang="en-US" altLang="zh-CN" dirty="0"/>
                        <a:t> </a:t>
                      </a:r>
                      <a:r>
                        <a:rPr lang="en-US" altLang="zh-CN" dirty="0" err="1"/>
                        <a:t>XinHui</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17319</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a:solidFill>
                            <a:schemeClr val="tx1"/>
                          </a:solidFill>
                          <a:latin typeface="+mn-lt"/>
                          <a:ea typeface="+mn-ea"/>
                          <a:cs typeface="+mn-cs"/>
                        </a:rPr>
                        <a:t>3.0%</a:t>
                      </a:r>
                      <a:endParaRPr lang="en-US" altLang="zh-CN" sz="1800" b="1" kern="120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132839</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a:t>POWER LINE</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16422</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2.9%</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17561</a:t>
                      </a:r>
                      <a:endParaRPr lang="en-US" altLang="zh-CN" sz="1800" b="1" kern="1200" dirty="0">
                        <a:solidFill>
                          <a:schemeClr val="tx1"/>
                        </a:solidFill>
                        <a:latin typeface="+mn-lt"/>
                        <a:ea typeface="+mn-ea"/>
                        <a:cs typeface="+mn-cs"/>
                      </a:endParaRPr>
                    </a:p>
                  </a:txBody>
                  <a:tcPr marL="9525" marR="9525" marT="9525" marB="0" anchor="ctr"/>
                </a:tc>
                <a:tc>
                  <a:txBody>
                    <a:bodyPr/>
                    <a:lstStyle/>
                    <a:p>
                      <a:pPr marL="0" marR="0" lvl="0" indent="0" algn="ctr" defTabSz="457200" rtl="0" eaLnBrk="1" fontAlgn="ctr" latinLnBrk="0" hangingPunct="1">
                        <a:lnSpc>
                          <a:spcPct val="100000"/>
                        </a:lnSpc>
                        <a:spcBef>
                          <a:spcPts val="0"/>
                        </a:spcBef>
                        <a:spcAft>
                          <a:spcPts val="0"/>
                        </a:spcAft>
                        <a:buClrTx/>
                        <a:buSzTx/>
                        <a:buFontTx/>
                        <a:buNone/>
                        <a:defRPr/>
                      </a:pPr>
                      <a:r>
                        <a:rPr lang="en-US" altLang="zh-CN" dirty="0"/>
                        <a:t>Larus Limited </a:t>
                      </a:r>
                      <a:endParaRPr lang="en-US" altLang="zh-CN" dirty="0"/>
                    </a:p>
                  </a:txBody>
                  <a:tcPr marL="9525" marR="9525" marT="9525" marB="0" anchor="ctr"/>
                </a:tc>
                <a:tc>
                  <a:txBody>
                    <a:bodyPr/>
                    <a:lstStyle/>
                    <a:p>
                      <a:pPr algn="ctr" fontAlgn="ctr"/>
                      <a:r>
                        <a:rPr lang="en-US" altLang="zh-CN" sz="1800" b="1" kern="1200">
                          <a:solidFill>
                            <a:schemeClr val="tx1"/>
                          </a:solidFill>
                          <a:latin typeface="+mn-lt"/>
                          <a:ea typeface="+mn-ea"/>
                          <a:cs typeface="+mn-cs"/>
                        </a:rPr>
                        <a:t>16358</a:t>
                      </a:r>
                      <a:endParaRPr lang="en-US" altLang="zh-CN" sz="1800" b="1" kern="120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2.9%</a:t>
                      </a:r>
                      <a:endParaRPr lang="en-US" altLang="zh-CN" sz="1800" b="1" kern="1200" dirty="0">
                        <a:solidFill>
                          <a:schemeClr val="tx1"/>
                        </a:solidFill>
                        <a:latin typeface="+mn-lt"/>
                        <a:ea typeface="+mn-ea"/>
                        <a:cs typeface="+mn-cs"/>
                      </a:endParaRPr>
                    </a:p>
                  </a:txBody>
                  <a:tcPr marL="9525" marR="9525" marT="9525" marB="0" anchor="ctr"/>
                </a:tc>
              </a:tr>
              <a:tr h="354262">
                <a:tc>
                  <a:txBody>
                    <a:bodyPr/>
                    <a:lstStyle/>
                    <a:p>
                      <a:pPr algn="ctr" fontAlgn="ctr"/>
                      <a:r>
                        <a:rPr lang="en-US" altLang="zh-CN" sz="1800" b="1" kern="1200" dirty="0">
                          <a:solidFill>
                            <a:schemeClr val="tx1"/>
                          </a:solidFill>
                          <a:latin typeface="+mn-lt"/>
                          <a:ea typeface="+mn-ea"/>
                          <a:cs typeface="+mn-cs"/>
                        </a:rPr>
                        <a:t>4766</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dirty="0"/>
                        <a:t>Korea Telecom </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14260</a:t>
                      </a:r>
                      <a:endParaRPr lang="en-US" altLang="zh-CN" sz="1800" b="1" kern="1200" dirty="0">
                        <a:solidFill>
                          <a:schemeClr val="tx1"/>
                        </a:solidFill>
                        <a:latin typeface="+mn-lt"/>
                        <a:ea typeface="+mn-ea"/>
                        <a:cs typeface="+mn-cs"/>
                      </a:endParaRPr>
                    </a:p>
                  </a:txBody>
                  <a:tcPr marL="9525" marR="9525" marT="9525" marB="0" anchor="ctr"/>
                </a:tc>
                <a:tc>
                  <a:txBody>
                    <a:bodyPr/>
                    <a:lstStyle/>
                    <a:p>
                      <a:pPr algn="ctr" fontAlgn="ctr"/>
                      <a:r>
                        <a:rPr lang="en-US" altLang="zh-CN" sz="1800" b="1" kern="1200" dirty="0">
                          <a:solidFill>
                            <a:schemeClr val="tx1"/>
                          </a:solidFill>
                          <a:latin typeface="+mn-lt"/>
                          <a:ea typeface="+mn-ea"/>
                          <a:cs typeface="+mn-cs"/>
                        </a:rPr>
                        <a:t>2.5%</a:t>
                      </a:r>
                      <a:endParaRPr lang="en-US" altLang="zh-CN" sz="1800" b="1" kern="1200" dirty="0">
                        <a:solidFill>
                          <a:schemeClr val="tx1"/>
                        </a:solidFill>
                        <a:latin typeface="+mn-lt"/>
                        <a:ea typeface="+mn-ea"/>
                        <a:cs typeface="+mn-cs"/>
                      </a:endParaRPr>
                    </a:p>
                  </a:txBody>
                  <a:tcPr marL="9525" marR="9525" marT="9525" marB="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dirty="0">
                <a:sym typeface="+mn-ea"/>
              </a:rPr>
              <a:t>三、</a:t>
            </a:r>
            <a:r>
              <a:rPr lang="zh-CN" altLang="en-US" sz="3600" dirty="0">
                <a:latin typeface="微软雅黑" panose="020B0503020204020204" charset="-122"/>
                <a:cs typeface="微软雅黑" panose="020B0503020204020204" charset="-122"/>
                <a:sym typeface="+mn-ea"/>
              </a:rPr>
              <a:t>研究结果</a:t>
            </a:r>
            <a:endParaRPr lang="zh-CN" altLang="en-US" dirty="0"/>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扩展成果</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2: </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评估隧道节点中</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ISAV</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部署的情况</a:t>
            </a:r>
            <a:endPar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 name="内容占位符 2"/>
          <p:cNvSpPr>
            <a:spLocks noGrp="1"/>
          </p:cNvSpPr>
          <p:nvPr>
            <p:ph sz="half" idx="2"/>
          </p:nvPr>
        </p:nvSpPr>
        <p:spPr>
          <a:xfrm>
            <a:off x="6367632" y="1961500"/>
            <a:ext cx="5393100" cy="2934999"/>
          </a:xfrm>
        </p:spPr>
        <p:txBody>
          <a:bodyPr/>
          <a:lstStyle/>
          <a:p>
            <a:r>
              <a:rPr lang="zh-CN" altLang="en-US"/>
              <a:t>原理：反射探测</a:t>
            </a:r>
            <a:endParaRPr lang="en-US" altLang="zh-CN"/>
          </a:p>
          <a:p>
            <a:r>
              <a:rPr lang="zh-CN" altLang="en-US"/>
              <a:t>向目标隧道发送一个伪造了源地址（伪装成目标内网</a:t>
            </a:r>
            <a:r>
              <a:rPr lang="en-US" altLang="zh-CN"/>
              <a:t> IP</a:t>
            </a:r>
            <a:r>
              <a:rPr lang="zh-CN" altLang="en-US"/>
              <a:t>）的封装包。</a:t>
            </a:r>
            <a:endParaRPr lang="zh-CN" altLang="en-US"/>
          </a:p>
          <a:p>
            <a:r>
              <a:rPr lang="zh-CN" altLang="en-US"/>
              <a:t>如果隧道节点解封装并回复</a:t>
            </a:r>
            <a:r>
              <a:rPr lang="en-US" altLang="zh-CN"/>
              <a:t>/</a:t>
            </a:r>
            <a:r>
              <a:rPr lang="zh-CN" altLang="en-US"/>
              <a:t>反射了数据包，说明该网络未部署</a:t>
            </a:r>
            <a:r>
              <a:rPr lang="en-US" altLang="zh-CN"/>
              <a:t> Inbound SAV</a:t>
            </a:r>
            <a:r>
              <a:rPr lang="zh-CN" altLang="en-US"/>
              <a:t>（允许伪造的内网包进入）</a:t>
            </a:r>
            <a:endParaRPr lang="zh-CN" altLang="en-US"/>
          </a:p>
        </p:txBody>
      </p:sp>
      <p:pic>
        <p:nvPicPr>
          <p:cNvPr id="3" name="图片 2"/>
          <p:cNvPicPr>
            <a:picLocks noChangeAspect="1"/>
          </p:cNvPicPr>
          <p:nvPr/>
        </p:nvPicPr>
        <p:blipFill>
          <a:blip r:embed="rId1"/>
          <a:stretch>
            <a:fillRect/>
          </a:stretch>
        </p:blipFill>
        <p:spPr>
          <a:xfrm>
            <a:off x="6443662" y="2364751"/>
            <a:ext cx="5438775" cy="3286760"/>
          </a:xfrm>
          <a:prstGeom prst="rect">
            <a:avLst/>
          </a:prstGeom>
        </p:spPr>
      </p:pic>
      <p:graphicFrame>
        <p:nvGraphicFramePr>
          <p:cNvPr id="4" name="表格 3"/>
          <p:cNvGraphicFramePr/>
          <p:nvPr/>
        </p:nvGraphicFramePr>
        <p:xfrm>
          <a:off x="834233" y="2582746"/>
          <a:ext cx="4990136" cy="2996999"/>
        </p:xfrm>
        <a:graphic>
          <a:graphicData uri="http://schemas.openxmlformats.org/drawingml/2006/table">
            <a:tbl>
              <a:tblPr firstRow="1" bandRow="1">
                <a:tableStyleId>{5C22544A-7EE6-4342-B048-85BDC9FD1C3A}</a:tableStyleId>
              </a:tblPr>
              <a:tblGrid>
                <a:gridCol w="2495068"/>
                <a:gridCol w="2495068"/>
              </a:tblGrid>
              <a:tr h="450851">
                <a:tc>
                  <a:txBody>
                    <a:bodyPr/>
                    <a:lstStyle/>
                    <a:p>
                      <a:pPr algn="ctr">
                        <a:buNone/>
                      </a:pPr>
                      <a:r>
                        <a:rPr lang="zh-CN" altLang="en-US" sz="1900" dirty="0"/>
                        <a:t>隧道类型</a:t>
                      </a:r>
                      <a:endParaRPr lang="zh-CN" altLang="en-US" sz="1900" dirty="0"/>
                    </a:p>
                  </a:txBody>
                  <a:tcPr marL="98533" marR="98533" marT="49266" marB="49266"/>
                </a:tc>
                <a:tc>
                  <a:txBody>
                    <a:bodyPr/>
                    <a:lstStyle/>
                    <a:p>
                      <a:pPr algn="ctr">
                        <a:buNone/>
                      </a:pPr>
                      <a:r>
                        <a:rPr lang="en-US" altLang="zh-CN" sz="1900" dirty="0"/>
                        <a:t>ISAV</a:t>
                      </a:r>
                      <a:r>
                        <a:rPr lang="zh-CN" altLang="en-US" sz="1900" dirty="0"/>
                        <a:t>部署的情况</a:t>
                      </a:r>
                      <a:endParaRPr lang="zh-CN" altLang="en-US" sz="1900" dirty="0"/>
                    </a:p>
                  </a:txBody>
                  <a:tcPr marL="98533" marR="98533" marT="49266" marB="49266"/>
                </a:tc>
              </a:tr>
              <a:tr h="424358">
                <a:tc>
                  <a:txBody>
                    <a:bodyPr/>
                    <a:lstStyle/>
                    <a:p>
                      <a:pPr algn="ctr">
                        <a:buNone/>
                      </a:pPr>
                      <a:r>
                        <a:rPr lang="en-US" altLang="zh-CN" sz="1900" dirty="0"/>
                        <a:t>6to4</a:t>
                      </a:r>
                      <a:endParaRPr lang="en-US" altLang="zh-CN" sz="1900" dirty="0"/>
                    </a:p>
                  </a:txBody>
                  <a:tcPr marL="98533" marR="98533" marT="49266" marB="49266"/>
                </a:tc>
                <a:tc>
                  <a:txBody>
                    <a:bodyPr/>
                    <a:lstStyle/>
                    <a:p>
                      <a:pPr algn="ctr">
                        <a:buNone/>
                      </a:pPr>
                      <a:r>
                        <a:rPr lang="en-US" altLang="zh-CN" sz="1800" kern="1200" dirty="0">
                          <a:solidFill>
                            <a:schemeClr val="dk1"/>
                          </a:solidFill>
                          <a:effectLst/>
                          <a:latin typeface="+mn-lt"/>
                          <a:ea typeface="+mn-ea"/>
                          <a:cs typeface="+mn-cs"/>
                        </a:rPr>
                        <a:t>21.6%</a:t>
                      </a:r>
                      <a:endParaRPr lang="en-US" altLang="zh-CN" sz="1900" dirty="0"/>
                    </a:p>
                  </a:txBody>
                  <a:tcPr marL="98533" marR="98533" marT="49266" marB="49266"/>
                </a:tc>
              </a:tr>
              <a:tr h="424358">
                <a:tc>
                  <a:txBody>
                    <a:bodyPr/>
                    <a:lstStyle/>
                    <a:p>
                      <a:pPr algn="ctr">
                        <a:buNone/>
                      </a:pPr>
                      <a:r>
                        <a:rPr lang="en-US" altLang="zh-CN" sz="1900" dirty="0"/>
                        <a:t>4in6</a:t>
                      </a:r>
                      <a:endParaRPr lang="en-US" altLang="zh-CN" sz="1900" dirty="0"/>
                    </a:p>
                  </a:txBody>
                  <a:tcPr marL="98533" marR="98533" marT="49266" marB="49266"/>
                </a:tc>
                <a:tc>
                  <a:txBody>
                    <a:bodyPr/>
                    <a:lstStyle/>
                    <a:p>
                      <a:pPr algn="ctr">
                        <a:buNone/>
                      </a:pPr>
                      <a:r>
                        <a:rPr lang="en-US" altLang="zh-CN" sz="1900" dirty="0"/>
                        <a:t>17.6%</a:t>
                      </a:r>
                      <a:endParaRPr lang="en-US" altLang="zh-CN" sz="1900" dirty="0"/>
                    </a:p>
                  </a:txBody>
                  <a:tcPr marL="98533" marR="98533" marT="49266" marB="49266"/>
                </a:tc>
              </a:tr>
              <a:tr h="424358">
                <a:tc>
                  <a:txBody>
                    <a:bodyPr/>
                    <a:lstStyle/>
                    <a:p>
                      <a:pPr algn="ctr">
                        <a:buNone/>
                      </a:pPr>
                      <a:r>
                        <a:rPr lang="en-US" altLang="zh-CN" sz="1900" dirty="0" err="1"/>
                        <a:t>ipip</a:t>
                      </a:r>
                      <a:endParaRPr lang="en-US" altLang="zh-CN" sz="1900" dirty="0"/>
                    </a:p>
                  </a:txBody>
                  <a:tcPr marL="98533" marR="98533" marT="49266" marB="49266"/>
                </a:tc>
                <a:tc>
                  <a:txBody>
                    <a:bodyPr/>
                    <a:lstStyle/>
                    <a:p>
                      <a:pPr algn="ctr">
                        <a:buNone/>
                      </a:pPr>
                      <a:r>
                        <a:rPr lang="en-US" altLang="zh-CN" sz="1900" dirty="0"/>
                        <a:t>3.2%</a:t>
                      </a:r>
                      <a:endParaRPr lang="en-US" altLang="zh-CN" sz="1900" dirty="0"/>
                    </a:p>
                  </a:txBody>
                  <a:tcPr marL="98533" marR="98533" marT="49266" marB="49266"/>
                </a:tc>
              </a:tr>
              <a:tr h="424358">
                <a:tc>
                  <a:txBody>
                    <a:bodyPr/>
                    <a:lstStyle/>
                    <a:p>
                      <a:pPr algn="ctr">
                        <a:buNone/>
                      </a:pPr>
                      <a:r>
                        <a:rPr lang="en-US" altLang="zh-CN" sz="1900"/>
                        <a:t>ip6ip6</a:t>
                      </a:r>
                      <a:endParaRPr lang="en-US" altLang="zh-CN" sz="1900"/>
                    </a:p>
                  </a:txBody>
                  <a:tcPr marL="98533" marR="98533" marT="49266" marB="49266"/>
                </a:tc>
                <a:tc>
                  <a:txBody>
                    <a:bodyPr/>
                    <a:lstStyle/>
                    <a:p>
                      <a:pPr algn="ctr">
                        <a:buNone/>
                      </a:pPr>
                      <a:r>
                        <a:rPr lang="en-US" altLang="zh-CN" sz="1900" dirty="0"/>
                        <a:t>64.1%</a:t>
                      </a:r>
                      <a:endParaRPr lang="en-US" altLang="zh-CN" sz="1900" dirty="0"/>
                    </a:p>
                  </a:txBody>
                  <a:tcPr marL="98533" marR="98533" marT="49266" marB="49266"/>
                </a:tc>
              </a:tr>
              <a:tr h="424358">
                <a:tc>
                  <a:txBody>
                    <a:bodyPr/>
                    <a:lstStyle/>
                    <a:p>
                      <a:pPr algn="ctr">
                        <a:buNone/>
                      </a:pPr>
                      <a:r>
                        <a:rPr lang="en-US" altLang="zh-CN" sz="1900"/>
                        <a:t>gre</a:t>
                      </a:r>
                      <a:endParaRPr lang="en-US" altLang="zh-CN" sz="1900"/>
                    </a:p>
                  </a:txBody>
                  <a:tcPr marL="98533" marR="98533" marT="49266" marB="49266"/>
                </a:tc>
                <a:tc>
                  <a:txBody>
                    <a:bodyPr/>
                    <a:lstStyle/>
                    <a:p>
                      <a:pPr algn="ctr">
                        <a:buNone/>
                      </a:pPr>
                      <a:r>
                        <a:rPr lang="en-US" altLang="zh-CN" sz="1900" dirty="0"/>
                        <a:t>5.4%</a:t>
                      </a:r>
                      <a:endParaRPr lang="zh-CN" altLang="en-US" sz="1900" dirty="0"/>
                    </a:p>
                  </a:txBody>
                  <a:tcPr marL="98533" marR="98533" marT="49266" marB="49266"/>
                </a:tc>
              </a:tr>
              <a:tr h="424358">
                <a:tc>
                  <a:txBody>
                    <a:bodyPr/>
                    <a:lstStyle/>
                    <a:p>
                      <a:pPr algn="ctr">
                        <a:buNone/>
                      </a:pPr>
                      <a:r>
                        <a:rPr lang="en-US" altLang="zh-CN" sz="1900" dirty="0"/>
                        <a:t>gre6</a:t>
                      </a:r>
                      <a:endParaRPr lang="en-US" altLang="zh-CN" sz="1900" dirty="0"/>
                    </a:p>
                  </a:txBody>
                  <a:tcPr marL="98533" marR="98533" marT="49266" marB="49266"/>
                </a:tc>
                <a:tc>
                  <a:txBody>
                    <a:bodyPr/>
                    <a:lstStyle/>
                    <a:p>
                      <a:pPr algn="ctr">
                        <a:buNone/>
                      </a:pPr>
                      <a:r>
                        <a:rPr lang="en-US" altLang="zh-CN" sz="1900" dirty="0"/>
                        <a:t>74.1%</a:t>
                      </a:r>
                      <a:endParaRPr lang="en-US" altLang="zh-CN" sz="1900" dirty="0"/>
                    </a:p>
                  </a:txBody>
                  <a:tcPr marL="98533" marR="98533" marT="49266" marB="49266"/>
                </a:tc>
              </a:tr>
            </a:tbl>
          </a:graphicData>
        </a:graphic>
      </p:graphicFrame>
      <p:sp>
        <p:nvSpPr>
          <p:cNvPr id="7" name="文本框 6"/>
          <p:cNvSpPr txBox="1"/>
          <p:nvPr/>
        </p:nvSpPr>
        <p:spPr>
          <a:xfrm>
            <a:off x="834233" y="1950297"/>
            <a:ext cx="6093994" cy="369332"/>
          </a:xfrm>
          <a:prstGeom prst="rect">
            <a:avLst/>
          </a:prstGeom>
          <a:noFill/>
        </p:spPr>
        <p:txBody>
          <a:bodyPr wrap="square">
            <a:spAutoFit/>
          </a:bodyPr>
          <a:lstStyle/>
          <a:p>
            <a:r>
              <a:rPr lang="zh-CN" altLang="en-US" dirty="0"/>
              <a:t>评估隧道主机所在的网络是否拦截进入的伪造包。</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sz="3600" dirty="0">
                <a:sym typeface="+mn-ea"/>
              </a:rPr>
              <a:t>三、</a:t>
            </a:r>
            <a:r>
              <a:rPr lang="zh-CN" altLang="en-US" sz="3600" dirty="0">
                <a:latin typeface="微软雅黑" panose="020B0503020204020204" charset="-122"/>
                <a:cs typeface="微软雅黑" panose="020B0503020204020204" charset="-122"/>
                <a:sym typeface="+mn-ea"/>
              </a:rPr>
              <a:t>研究结果</a:t>
            </a:r>
            <a:endParaRPr lang="zh-CN" altLang="en-US" dirty="0"/>
          </a:p>
        </p:txBody>
      </p:sp>
      <p:sp>
        <p:nvSpPr>
          <p:cNvPr id="11" name="文本框 10"/>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扩展成果</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3: </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评估隧道节点中</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OSAV</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部署的情况</a:t>
            </a:r>
            <a:endPar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 name="内容占位符 4"/>
          <p:cNvSpPr txBox="1"/>
          <p:nvPr/>
        </p:nvSpPr>
        <p:spPr>
          <a:xfrm>
            <a:off x="7344152" y="1942078"/>
            <a:ext cx="3588067" cy="921438"/>
          </a:xfrm>
          <a:prstGeom prst="rect">
            <a:avLst/>
          </a:prstGeom>
        </p:spPr>
        <p:txBody>
          <a:bodyPr vert="horz" lIns="91440" tIns="45720" rIns="91440" bIns="45720" rtlCol="0" anchor="t">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t>原理：转发探测</a:t>
            </a:r>
            <a:endParaRPr lang="zh-CN" altLang="en-US" dirty="0"/>
          </a:p>
          <a:p>
            <a:endParaRPr lang="zh-CN" altLang="en-US" dirty="0"/>
          </a:p>
        </p:txBody>
      </p:sp>
      <p:pic>
        <p:nvPicPr>
          <p:cNvPr id="4" name="图片 3"/>
          <p:cNvPicPr>
            <a:picLocks noChangeAspect="1"/>
          </p:cNvPicPr>
          <p:nvPr/>
        </p:nvPicPr>
        <p:blipFill>
          <a:blip r:embed="rId1"/>
          <a:stretch>
            <a:fillRect/>
          </a:stretch>
        </p:blipFill>
        <p:spPr>
          <a:xfrm>
            <a:off x="7509251" y="2375148"/>
            <a:ext cx="3199130" cy="3256915"/>
          </a:xfrm>
          <a:prstGeom prst="rect">
            <a:avLst/>
          </a:prstGeom>
        </p:spPr>
      </p:pic>
      <p:graphicFrame>
        <p:nvGraphicFramePr>
          <p:cNvPr id="2" name="表格 1"/>
          <p:cNvGraphicFramePr/>
          <p:nvPr/>
        </p:nvGraphicFramePr>
        <p:xfrm>
          <a:off x="834233" y="2582746"/>
          <a:ext cx="4990136" cy="2996999"/>
        </p:xfrm>
        <a:graphic>
          <a:graphicData uri="http://schemas.openxmlformats.org/drawingml/2006/table">
            <a:tbl>
              <a:tblPr firstRow="1" bandRow="1">
                <a:tableStyleId>{5C22544A-7EE6-4342-B048-85BDC9FD1C3A}</a:tableStyleId>
              </a:tblPr>
              <a:tblGrid>
                <a:gridCol w="2495068"/>
                <a:gridCol w="2495068"/>
              </a:tblGrid>
              <a:tr h="450851">
                <a:tc>
                  <a:txBody>
                    <a:bodyPr/>
                    <a:lstStyle/>
                    <a:p>
                      <a:pPr algn="ctr">
                        <a:buNone/>
                      </a:pPr>
                      <a:r>
                        <a:rPr lang="zh-CN" altLang="en-US" sz="1900" dirty="0"/>
                        <a:t>隧道类型</a:t>
                      </a:r>
                      <a:endParaRPr lang="zh-CN" altLang="en-US" sz="1900" dirty="0"/>
                    </a:p>
                  </a:txBody>
                  <a:tcPr marL="98533" marR="98533" marT="49266" marB="49266"/>
                </a:tc>
                <a:tc>
                  <a:txBody>
                    <a:bodyPr/>
                    <a:lstStyle/>
                    <a:p>
                      <a:pPr algn="ctr">
                        <a:buNone/>
                      </a:pPr>
                      <a:r>
                        <a:rPr lang="en-US" altLang="zh-CN" sz="1900" dirty="0"/>
                        <a:t>OSAV</a:t>
                      </a:r>
                      <a:r>
                        <a:rPr lang="zh-CN" altLang="en-US" sz="1900" dirty="0"/>
                        <a:t>部署的情况</a:t>
                      </a:r>
                      <a:endParaRPr lang="zh-CN" altLang="en-US" sz="1900" dirty="0"/>
                    </a:p>
                  </a:txBody>
                  <a:tcPr marL="98533" marR="98533" marT="49266" marB="49266"/>
                </a:tc>
              </a:tr>
              <a:tr h="424358">
                <a:tc>
                  <a:txBody>
                    <a:bodyPr/>
                    <a:lstStyle/>
                    <a:p>
                      <a:pPr algn="ctr">
                        <a:buNone/>
                      </a:pPr>
                      <a:r>
                        <a:rPr lang="en-US" altLang="zh-CN" sz="1900"/>
                        <a:t>6to4</a:t>
                      </a:r>
                      <a:endParaRPr lang="en-US" altLang="zh-CN" sz="1900"/>
                    </a:p>
                  </a:txBody>
                  <a:tcPr marL="98533" marR="98533" marT="49266" marB="49266"/>
                </a:tc>
                <a:tc>
                  <a:txBody>
                    <a:bodyPr/>
                    <a:lstStyle/>
                    <a:p>
                      <a:pPr algn="ctr">
                        <a:buNone/>
                      </a:pPr>
                      <a:r>
                        <a:rPr lang="en-US" altLang="zh-CN" sz="1900" dirty="0"/>
                        <a:t>0.4%</a:t>
                      </a:r>
                      <a:endParaRPr lang="en-US" altLang="zh-CN" sz="1900" dirty="0"/>
                    </a:p>
                  </a:txBody>
                  <a:tcPr marL="98533" marR="98533" marT="49266" marB="49266"/>
                </a:tc>
              </a:tr>
              <a:tr h="424358">
                <a:tc>
                  <a:txBody>
                    <a:bodyPr/>
                    <a:lstStyle/>
                    <a:p>
                      <a:pPr algn="ctr">
                        <a:buNone/>
                      </a:pPr>
                      <a:r>
                        <a:rPr lang="en-US" altLang="zh-CN" sz="1900" dirty="0"/>
                        <a:t>4in6</a:t>
                      </a:r>
                      <a:endParaRPr lang="en-US" altLang="zh-CN" sz="1900" dirty="0"/>
                    </a:p>
                  </a:txBody>
                  <a:tcPr marL="98533" marR="98533" marT="49266" marB="49266"/>
                </a:tc>
                <a:tc>
                  <a:txBody>
                    <a:bodyPr/>
                    <a:lstStyle/>
                    <a:p>
                      <a:pPr algn="ctr">
                        <a:buNone/>
                      </a:pPr>
                      <a:r>
                        <a:rPr lang="en-US" altLang="zh-CN" sz="1900" dirty="0"/>
                        <a:t>5.6%</a:t>
                      </a:r>
                      <a:endParaRPr lang="en-US" altLang="zh-CN" sz="1900" dirty="0"/>
                    </a:p>
                  </a:txBody>
                  <a:tcPr marL="98533" marR="98533" marT="49266" marB="49266"/>
                </a:tc>
              </a:tr>
              <a:tr h="424358">
                <a:tc>
                  <a:txBody>
                    <a:bodyPr/>
                    <a:lstStyle/>
                    <a:p>
                      <a:pPr algn="ctr">
                        <a:buNone/>
                      </a:pPr>
                      <a:r>
                        <a:rPr lang="en-US" altLang="zh-CN" sz="1900" dirty="0" err="1"/>
                        <a:t>ipip</a:t>
                      </a:r>
                      <a:endParaRPr lang="en-US" altLang="zh-CN" sz="1900" dirty="0"/>
                    </a:p>
                  </a:txBody>
                  <a:tcPr marL="98533" marR="98533" marT="49266" marB="49266"/>
                </a:tc>
                <a:tc>
                  <a:txBody>
                    <a:bodyPr/>
                    <a:lstStyle/>
                    <a:p>
                      <a:pPr algn="ctr">
                        <a:buNone/>
                      </a:pPr>
                      <a:r>
                        <a:rPr lang="en-US" altLang="zh-CN" sz="1900" dirty="0"/>
                        <a:t>5.2%</a:t>
                      </a:r>
                      <a:endParaRPr lang="en-US" altLang="zh-CN" sz="1900" dirty="0"/>
                    </a:p>
                  </a:txBody>
                  <a:tcPr marL="98533" marR="98533" marT="49266" marB="49266"/>
                </a:tc>
              </a:tr>
              <a:tr h="424358">
                <a:tc>
                  <a:txBody>
                    <a:bodyPr/>
                    <a:lstStyle/>
                    <a:p>
                      <a:pPr algn="ctr">
                        <a:buNone/>
                      </a:pPr>
                      <a:r>
                        <a:rPr lang="en-US" altLang="zh-CN" sz="1900"/>
                        <a:t>ip6ip6</a:t>
                      </a:r>
                      <a:endParaRPr lang="en-US" altLang="zh-CN" sz="1900"/>
                    </a:p>
                  </a:txBody>
                  <a:tcPr marL="98533" marR="98533" marT="49266" marB="49266"/>
                </a:tc>
                <a:tc>
                  <a:txBody>
                    <a:bodyPr/>
                    <a:lstStyle/>
                    <a:p>
                      <a:pPr algn="ctr">
                        <a:buNone/>
                      </a:pPr>
                      <a:r>
                        <a:rPr lang="en-US" altLang="zh-CN" sz="1900" dirty="0"/>
                        <a:t>39.0%</a:t>
                      </a:r>
                      <a:endParaRPr lang="en-US" altLang="zh-CN" sz="1900" dirty="0"/>
                    </a:p>
                  </a:txBody>
                  <a:tcPr marL="98533" marR="98533" marT="49266" marB="49266"/>
                </a:tc>
              </a:tr>
              <a:tr h="424358">
                <a:tc>
                  <a:txBody>
                    <a:bodyPr/>
                    <a:lstStyle/>
                    <a:p>
                      <a:pPr algn="ctr">
                        <a:buNone/>
                      </a:pPr>
                      <a:r>
                        <a:rPr lang="en-US" altLang="zh-CN" sz="1900"/>
                        <a:t>gre</a:t>
                      </a:r>
                      <a:endParaRPr lang="en-US" altLang="zh-CN" sz="1900"/>
                    </a:p>
                  </a:txBody>
                  <a:tcPr marL="98533" marR="98533" marT="49266" marB="49266"/>
                </a:tc>
                <a:tc>
                  <a:txBody>
                    <a:bodyPr/>
                    <a:lstStyle/>
                    <a:p>
                      <a:pPr algn="ctr">
                        <a:buNone/>
                      </a:pPr>
                      <a:r>
                        <a:rPr lang="en-US" altLang="zh-CN" sz="1900" dirty="0"/>
                        <a:t>24.4%</a:t>
                      </a:r>
                      <a:endParaRPr lang="zh-CN" altLang="en-US" sz="1900" dirty="0"/>
                    </a:p>
                  </a:txBody>
                  <a:tcPr marL="98533" marR="98533" marT="49266" marB="49266"/>
                </a:tc>
              </a:tr>
              <a:tr h="424358">
                <a:tc>
                  <a:txBody>
                    <a:bodyPr/>
                    <a:lstStyle/>
                    <a:p>
                      <a:pPr algn="ctr">
                        <a:buNone/>
                      </a:pPr>
                      <a:r>
                        <a:rPr lang="en-US" altLang="zh-CN" sz="1900" dirty="0"/>
                        <a:t>gre6</a:t>
                      </a:r>
                      <a:endParaRPr lang="en-US" altLang="zh-CN" sz="1900" dirty="0"/>
                    </a:p>
                  </a:txBody>
                  <a:tcPr marL="98533" marR="98533" marT="49266" marB="49266"/>
                </a:tc>
                <a:tc>
                  <a:txBody>
                    <a:bodyPr/>
                    <a:lstStyle/>
                    <a:p>
                      <a:pPr algn="ctr">
                        <a:buNone/>
                      </a:pPr>
                      <a:r>
                        <a:rPr lang="en-US" altLang="zh-CN" sz="1900" dirty="0"/>
                        <a:t>35.4%</a:t>
                      </a:r>
                      <a:endParaRPr lang="en-US" altLang="zh-CN" sz="1900" dirty="0"/>
                    </a:p>
                  </a:txBody>
                  <a:tcPr marL="98533" marR="98533" marT="49266" marB="49266"/>
                </a:tc>
              </a:tr>
            </a:tbl>
          </a:graphicData>
        </a:graphic>
      </p:graphicFrame>
      <p:sp>
        <p:nvSpPr>
          <p:cNvPr id="7" name="文本框 6"/>
          <p:cNvSpPr txBox="1"/>
          <p:nvPr/>
        </p:nvSpPr>
        <p:spPr>
          <a:xfrm>
            <a:off x="804863" y="1942078"/>
            <a:ext cx="6232358" cy="369332"/>
          </a:xfrm>
          <a:prstGeom prst="rect">
            <a:avLst/>
          </a:prstGeom>
          <a:noFill/>
        </p:spPr>
        <p:txBody>
          <a:bodyPr wrap="square">
            <a:spAutoFit/>
          </a:bodyPr>
          <a:lstStyle/>
          <a:p>
            <a:r>
              <a:rPr lang="zh-CN" altLang="en-US" dirty="0"/>
              <a:t>评估隧道主机解封后发送出的伪造包是否被其网络拦截。</a:t>
            </a:r>
            <a:endParaRPr lang="zh-CN" altLang="en-US" dirty="0"/>
          </a:p>
        </p:txBody>
      </p:sp>
      <p:sp>
        <p:nvSpPr>
          <p:cNvPr id="9" name="文本框 8"/>
          <p:cNvSpPr txBox="1"/>
          <p:nvPr/>
        </p:nvSpPr>
        <p:spPr>
          <a:xfrm>
            <a:off x="804862" y="5657671"/>
            <a:ext cx="10913895" cy="646331"/>
          </a:xfrm>
          <a:prstGeom prst="rect">
            <a:avLst/>
          </a:prstGeom>
          <a:noFill/>
        </p:spPr>
        <p:txBody>
          <a:bodyPr wrap="square">
            <a:spAutoFit/>
          </a:bodyPr>
          <a:lstStyle/>
          <a:p>
            <a:r>
              <a:rPr lang="zh-CN" altLang="en-US" dirty="0"/>
              <a:t>通过对被测隧道节点进行聚合，我们识别出 </a:t>
            </a:r>
            <a:r>
              <a:rPr lang="en-US" altLang="zh-CN" dirty="0"/>
              <a:t>2,014 </a:t>
            </a:r>
            <a:r>
              <a:rPr lang="zh-CN" altLang="en-US" dirty="0"/>
              <a:t>个 </a:t>
            </a:r>
            <a:r>
              <a:rPr lang="en-US" altLang="zh-CN" dirty="0"/>
              <a:t>AS </a:t>
            </a:r>
            <a:r>
              <a:rPr lang="zh-CN" altLang="en-US" dirty="0"/>
              <a:t>一致缺少 </a:t>
            </a:r>
            <a:r>
              <a:rPr lang="en-US" altLang="zh-CN" dirty="0"/>
              <a:t>OSAV</a:t>
            </a:r>
            <a:r>
              <a:rPr lang="zh-CN" altLang="en-US" dirty="0"/>
              <a:t>，</a:t>
            </a:r>
            <a:r>
              <a:rPr lang="en-US" altLang="zh-CN" dirty="0"/>
              <a:t>49 </a:t>
            </a:r>
            <a:r>
              <a:rPr lang="zh-CN" altLang="en-US" dirty="0"/>
              <a:t>个 </a:t>
            </a:r>
            <a:r>
              <a:rPr lang="en-US" altLang="zh-CN" dirty="0"/>
              <a:t>AS </a:t>
            </a:r>
            <a:r>
              <a:rPr lang="zh-CN" altLang="en-US" dirty="0"/>
              <a:t>部分部署 </a:t>
            </a:r>
            <a:r>
              <a:rPr lang="en-US" altLang="zh-CN" dirty="0"/>
              <a:t>OSAV</a:t>
            </a:r>
            <a:r>
              <a:rPr lang="zh-CN" altLang="en-US" dirty="0"/>
              <a:t>，</a:t>
            </a:r>
            <a:r>
              <a:rPr lang="en-US" altLang="zh-CN" dirty="0"/>
              <a:t>41 </a:t>
            </a:r>
            <a:r>
              <a:rPr lang="zh-CN" altLang="en-US" dirty="0"/>
              <a:t>个 </a:t>
            </a:r>
            <a:r>
              <a:rPr lang="en-US" altLang="zh-CN" dirty="0"/>
              <a:t>AS </a:t>
            </a:r>
            <a:r>
              <a:rPr lang="zh-CN" altLang="en-US" dirty="0"/>
              <a:t>一致部署</a:t>
            </a:r>
            <a:r>
              <a:rPr lang="en-US" altLang="zh-CN" dirty="0"/>
              <a:t>OSAV</a:t>
            </a:r>
            <a:r>
              <a:rPr lang="zh-CN" altLang="en-US"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4"/>
          </p:nvPr>
        </p:nvSpPr>
        <p:spPr>
          <a:xfrm>
            <a:off x="6217710" y="2209723"/>
            <a:ext cx="5393100" cy="952578"/>
          </a:xfrm>
        </p:spPr>
        <p:txBody>
          <a:bodyPr>
            <a:normAutofit/>
          </a:bodyPr>
          <a:lstStyle/>
          <a:p>
            <a:r>
              <a:rPr lang="zh-CN" altLang="en-US" sz="1800" dirty="0">
                <a:solidFill>
                  <a:srgbClr val="000000"/>
                </a:solidFill>
                <a:effectLst/>
                <a:latin typeface="+mn-ea"/>
              </a:rPr>
              <a:t>此外进一步分析了被测隧道节点所在网络的</a:t>
            </a:r>
            <a:r>
              <a:rPr lang="en-US" altLang="zh-CN" sz="1800" dirty="0">
                <a:solidFill>
                  <a:srgbClr val="000000"/>
                </a:solidFill>
                <a:effectLst/>
                <a:latin typeface="+mn-ea"/>
              </a:rPr>
              <a:t>AS </a:t>
            </a:r>
            <a:r>
              <a:rPr lang="zh-CN" altLang="en-US" sz="1800" dirty="0">
                <a:solidFill>
                  <a:srgbClr val="000000"/>
                </a:solidFill>
                <a:effectLst/>
                <a:latin typeface="+mn-ea"/>
              </a:rPr>
              <a:t>类型与 </a:t>
            </a:r>
            <a:r>
              <a:rPr lang="en-US" altLang="zh-CN" sz="1800" dirty="0">
                <a:solidFill>
                  <a:srgbClr val="000000"/>
                </a:solidFill>
                <a:effectLst/>
                <a:latin typeface="+mn-ea"/>
              </a:rPr>
              <a:t>SAV </a:t>
            </a:r>
            <a:r>
              <a:rPr lang="zh-CN" altLang="en-US" sz="1800" dirty="0">
                <a:solidFill>
                  <a:srgbClr val="000000"/>
                </a:solidFill>
                <a:effectLst/>
                <a:latin typeface="+mn-ea"/>
              </a:rPr>
              <a:t>部署情况的关系。图</a:t>
            </a:r>
            <a:r>
              <a:rPr lang="en-US" altLang="zh-CN" sz="1800" dirty="0">
                <a:solidFill>
                  <a:srgbClr val="000000"/>
                </a:solidFill>
                <a:effectLst/>
                <a:latin typeface="+mn-ea"/>
              </a:rPr>
              <a:t>5.7</a:t>
            </a:r>
            <a:r>
              <a:rPr lang="zh-CN" altLang="en-US" sz="1800" dirty="0">
                <a:solidFill>
                  <a:srgbClr val="000000"/>
                </a:solidFill>
                <a:effectLst/>
                <a:latin typeface="+mn-ea"/>
              </a:rPr>
              <a:t>展示了六个较为重要的</a:t>
            </a:r>
            <a:r>
              <a:rPr lang="en-US" altLang="zh-CN" sz="1800" dirty="0">
                <a:solidFill>
                  <a:srgbClr val="000000"/>
                </a:solidFill>
                <a:effectLst/>
                <a:latin typeface="+mn-ea"/>
              </a:rPr>
              <a:t>AS </a:t>
            </a:r>
            <a:r>
              <a:rPr lang="zh-CN" altLang="en-US" sz="1800" dirty="0">
                <a:solidFill>
                  <a:srgbClr val="000000"/>
                </a:solidFill>
                <a:effectLst/>
                <a:latin typeface="+mn-ea"/>
              </a:rPr>
              <a:t>类型的 </a:t>
            </a:r>
            <a:r>
              <a:rPr lang="en-US" altLang="zh-CN" sz="1800" dirty="0">
                <a:solidFill>
                  <a:srgbClr val="000000"/>
                </a:solidFill>
                <a:effectLst/>
                <a:latin typeface="+mn-ea"/>
              </a:rPr>
              <a:t>SAV </a:t>
            </a:r>
            <a:r>
              <a:rPr lang="zh-CN" altLang="en-US" sz="1800" dirty="0">
                <a:solidFill>
                  <a:srgbClr val="000000"/>
                </a:solidFill>
                <a:effectLst/>
                <a:latin typeface="+mn-ea"/>
              </a:rPr>
              <a:t>部署情况。</a:t>
            </a:r>
            <a:endParaRPr lang="zh-CN" altLang="en-US" dirty="0">
              <a:latin typeface="+mn-ea"/>
            </a:endParaRPr>
          </a:p>
        </p:txBody>
      </p:sp>
      <p:sp>
        <p:nvSpPr>
          <p:cNvPr id="6" name="标题 5"/>
          <p:cNvSpPr>
            <a:spLocks noGrp="1"/>
          </p:cNvSpPr>
          <p:nvPr>
            <p:ph type="title"/>
          </p:nvPr>
        </p:nvSpPr>
        <p:spPr/>
        <p:txBody>
          <a:bodyPr/>
          <a:lstStyle/>
          <a:p>
            <a:r>
              <a:rPr lang="zh-CN" altLang="en-US" sz="3600" dirty="0">
                <a:latin typeface="微软雅黑" panose="020B0503020204020204" charset="-122"/>
                <a:sym typeface="+mn-ea"/>
              </a:rPr>
              <a:t>三、研究结果</a:t>
            </a:r>
            <a:endParaRPr lang="zh-CN" altLang="en-US" sz="3600" dirty="0">
              <a:latin typeface="微软雅黑" panose="020B0503020204020204" charset="-122"/>
            </a:endParaRPr>
          </a:p>
        </p:txBody>
      </p:sp>
      <p:sp>
        <p:nvSpPr>
          <p:cNvPr id="7" name="文本框 6"/>
          <p:cNvSpPr txBox="1"/>
          <p:nvPr/>
        </p:nvSpPr>
        <p:spPr>
          <a:xfrm>
            <a:off x="581025" y="1278255"/>
            <a:ext cx="11029950" cy="453457"/>
          </a:xfrm>
          <a:prstGeom prst="rect">
            <a:avLst/>
          </a:prstGeom>
          <a:noFill/>
        </p:spPr>
        <p:txBody>
          <a:bodyPr wrap="square" rtlCol="0">
            <a:spAutoFit/>
          </a:bodyPr>
          <a:lstStyle/>
          <a:p>
            <a:pPr marL="342900" indent="-342900">
              <a:lnSpc>
                <a:spcPct val="130000"/>
              </a:lnSpc>
              <a:buFont typeface="Wingdings" panose="05000000000000000000" charset="0"/>
              <a:buChar char="n"/>
            </a:pP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影响 </a:t>
            </a:r>
            <a:r>
              <a:rPr lang="en-US" altLang="zh-CN"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SAV </a:t>
            </a:r>
            <a:r>
              <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rPr>
              <a:t>部署的因素</a:t>
            </a:r>
            <a:endParaRPr lang="zh-CN" altLang="en-US" sz="20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nvPicPr>
        <p:blipFill>
          <a:blip r:embed="rId1"/>
          <a:srcRect t="1768" b="8783"/>
          <a:stretch>
            <a:fillRect/>
          </a:stretch>
        </p:blipFill>
        <p:spPr>
          <a:xfrm>
            <a:off x="7162593" y="3162301"/>
            <a:ext cx="3707446" cy="3212625"/>
          </a:xfrm>
          <a:prstGeom prst="rect">
            <a:avLst/>
          </a:prstGeom>
        </p:spPr>
      </p:pic>
      <p:sp>
        <p:nvSpPr>
          <p:cNvPr id="13" name="文本框 12"/>
          <p:cNvSpPr txBox="1"/>
          <p:nvPr/>
        </p:nvSpPr>
        <p:spPr>
          <a:xfrm>
            <a:off x="6345348" y="1803151"/>
            <a:ext cx="1634490" cy="369332"/>
          </a:xfrm>
          <a:prstGeom prst="rect">
            <a:avLst/>
          </a:prstGeom>
          <a:noFill/>
        </p:spPr>
        <p:txBody>
          <a:bodyPr wrap="square">
            <a:spAutoFit/>
          </a:bodyPr>
          <a:lstStyle/>
          <a:p>
            <a:r>
              <a:rPr lang="en-US" altLang="zh-CN" sz="1800" dirty="0">
                <a:solidFill>
                  <a:schemeClr val="tx1"/>
                </a:solidFill>
              </a:rPr>
              <a:t>2.AS </a:t>
            </a:r>
            <a:r>
              <a:rPr lang="zh-CN" altLang="en-US" sz="1800" dirty="0">
                <a:solidFill>
                  <a:schemeClr val="tx1"/>
                </a:solidFill>
              </a:rPr>
              <a:t>类别</a:t>
            </a:r>
            <a:endParaRPr lang="zh-CN" altLang="en-US" sz="1800" dirty="0">
              <a:solidFill>
                <a:schemeClr val="tx1"/>
              </a:solidFill>
            </a:endParaRPr>
          </a:p>
        </p:txBody>
      </p:sp>
      <p:sp>
        <p:nvSpPr>
          <p:cNvPr id="15" name="文本框 14"/>
          <p:cNvSpPr txBox="1"/>
          <p:nvPr/>
        </p:nvSpPr>
        <p:spPr>
          <a:xfrm>
            <a:off x="792752" y="1811188"/>
            <a:ext cx="1911259" cy="369332"/>
          </a:xfrm>
          <a:prstGeom prst="rect">
            <a:avLst/>
          </a:prstGeom>
          <a:noFill/>
        </p:spPr>
        <p:txBody>
          <a:bodyPr wrap="square">
            <a:spAutoFit/>
          </a:bodyPr>
          <a:lstStyle/>
          <a:p>
            <a:r>
              <a:rPr lang="en-US" altLang="zh-CN" dirty="0"/>
              <a:t>1.</a:t>
            </a:r>
            <a:r>
              <a:rPr lang="zh-CN" altLang="en-US" dirty="0"/>
              <a:t>网络空间大小</a:t>
            </a:r>
            <a:endParaRPr lang="zh-CN" altLang="en-US" dirty="0"/>
          </a:p>
        </p:txBody>
      </p:sp>
      <p:pic>
        <p:nvPicPr>
          <p:cNvPr id="17" name="图片 16"/>
          <p:cNvPicPr>
            <a:picLocks noChangeAspect="1"/>
          </p:cNvPicPr>
          <p:nvPr/>
        </p:nvPicPr>
        <p:blipFill>
          <a:blip r:embed="rId2"/>
          <a:stretch>
            <a:fillRect/>
          </a:stretch>
        </p:blipFill>
        <p:spPr>
          <a:xfrm>
            <a:off x="753687" y="2181914"/>
            <a:ext cx="4500250" cy="2035828"/>
          </a:xfrm>
          <a:prstGeom prst="rect">
            <a:avLst/>
          </a:prstGeom>
        </p:spPr>
      </p:pic>
      <p:pic>
        <p:nvPicPr>
          <p:cNvPr id="19" name="图片 18"/>
          <p:cNvPicPr>
            <a:picLocks noChangeAspect="1"/>
          </p:cNvPicPr>
          <p:nvPr/>
        </p:nvPicPr>
        <p:blipFill>
          <a:blip r:embed="rId3"/>
          <a:stretch>
            <a:fillRect/>
          </a:stretch>
        </p:blipFill>
        <p:spPr>
          <a:xfrm>
            <a:off x="792752" y="4248149"/>
            <a:ext cx="4463432" cy="2035829"/>
          </a:xfrm>
          <a:prstGeom prst="rect">
            <a:avLst/>
          </a:prstGeom>
        </p:spPr>
      </p:pic>
      <p:sp>
        <p:nvSpPr>
          <p:cNvPr id="21" name="文本框 20"/>
          <p:cNvSpPr txBox="1"/>
          <p:nvPr/>
        </p:nvSpPr>
        <p:spPr>
          <a:xfrm>
            <a:off x="581025" y="6251496"/>
            <a:ext cx="4675159" cy="307777"/>
          </a:xfrm>
          <a:prstGeom prst="rect">
            <a:avLst/>
          </a:prstGeom>
          <a:noFill/>
        </p:spPr>
        <p:txBody>
          <a:bodyPr wrap="square">
            <a:spAutoFit/>
          </a:bodyPr>
          <a:lstStyle/>
          <a:p>
            <a:pPr algn="ctr"/>
            <a:r>
              <a:rPr lang="en-US" altLang="zh-CN" sz="1400" dirty="0">
                <a:solidFill>
                  <a:srgbClr val="000000"/>
                </a:solidFill>
                <a:latin typeface="+mn-ea"/>
              </a:rPr>
              <a:t>BGP </a:t>
            </a:r>
            <a:r>
              <a:rPr lang="zh-CN" altLang="en-US" sz="1400" dirty="0">
                <a:solidFill>
                  <a:srgbClr val="000000"/>
                </a:solidFill>
                <a:latin typeface="+mn-ea"/>
              </a:rPr>
              <a:t>路由前缀长度与 </a:t>
            </a:r>
            <a:r>
              <a:rPr lang="en-US" altLang="zh-CN" sz="1400" dirty="0">
                <a:solidFill>
                  <a:srgbClr val="000000"/>
                </a:solidFill>
                <a:latin typeface="+mn-ea"/>
              </a:rPr>
              <a:t>SAV </a:t>
            </a:r>
            <a:r>
              <a:rPr lang="zh-CN" altLang="en-US" sz="1400" dirty="0">
                <a:solidFill>
                  <a:srgbClr val="000000"/>
                </a:solidFill>
                <a:latin typeface="+mn-ea"/>
              </a:rPr>
              <a:t>部署情况的累计分布函数</a:t>
            </a:r>
            <a:endParaRPr lang="zh-CN" altLang="en-US" sz="1400" dirty="0">
              <a:solidFill>
                <a:srgbClr val="000000"/>
              </a:solidFill>
              <a:latin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1501583" y="1744708"/>
            <a:ext cx="5087075" cy="536005"/>
          </a:xfrm>
        </p:spPr>
        <p:txBody>
          <a:bodyPr/>
          <a:lstStyle/>
          <a:p>
            <a:pPr marL="342900" indent="-342900">
              <a:buFont typeface="Wingdings" panose="05000000000000000000" pitchFamily="2" charset="2"/>
              <a:buChar char="n"/>
            </a:pPr>
            <a:r>
              <a:rPr kumimoji="1" lang="zh-CN" altLang="en-US" b="1">
                <a:latin typeface="微软雅黑" panose="020B0503020204020204" charset="-122"/>
                <a:ea typeface="微软雅黑" panose="020B0503020204020204" charset="-122"/>
              </a:rPr>
              <a:t>方向一：探究隧道场景下的测量</a:t>
            </a:r>
            <a:endParaRPr kumimoji="1" lang="zh-CN" altLang="en-US" b="1">
              <a:latin typeface="微软雅黑" panose="020B0503020204020204" charset="-122"/>
              <a:ea typeface="微软雅黑" panose="020B0503020204020204" charset="-122"/>
            </a:endParaRPr>
          </a:p>
        </p:txBody>
      </p:sp>
      <p:sp>
        <p:nvSpPr>
          <p:cNvPr id="3" name="内容占位符 2"/>
          <p:cNvSpPr>
            <a:spLocks noGrp="1"/>
          </p:cNvSpPr>
          <p:nvPr>
            <p:ph sz="half" idx="2"/>
          </p:nvPr>
        </p:nvSpPr>
        <p:spPr>
          <a:xfrm>
            <a:off x="1954021" y="2394014"/>
            <a:ext cx="6075553" cy="1263051"/>
          </a:xfrm>
        </p:spPr>
        <p:txBody>
          <a:bodyPr>
            <a:normAutofit/>
          </a:bodyPr>
          <a:lstStyle/>
          <a:p>
            <a:pPr>
              <a:buFont typeface="Wingdings" panose="05000000000000000000" pitchFamily="2" charset="2"/>
              <a:buChar char="Ø"/>
            </a:pPr>
            <a:r>
              <a:rPr kumimoji="1" lang="zh-CN" altLang="en-US" sz="2000"/>
              <a:t>利用隧道节点扩充观测点的数量</a:t>
            </a:r>
            <a:endParaRPr kumimoji="1" lang="en-US" altLang="zh-CN" sz="2000"/>
          </a:p>
          <a:p>
            <a:pPr>
              <a:buFont typeface="Wingdings" panose="05000000000000000000" pitchFamily="2" charset="2"/>
              <a:buChar char="Ø"/>
            </a:pPr>
            <a:r>
              <a:rPr kumimoji="1" lang="zh-CN" altLang="en-US" sz="2000"/>
              <a:t>探究隧道节点的工作机制和潜在问题</a:t>
            </a:r>
            <a:endParaRPr lang="en-US" altLang="zh-CN" sz="2000"/>
          </a:p>
        </p:txBody>
      </p:sp>
      <p:sp>
        <p:nvSpPr>
          <p:cNvPr id="6" name="标题 5"/>
          <p:cNvSpPr>
            <a:spLocks noGrp="1"/>
          </p:cNvSpPr>
          <p:nvPr>
            <p:ph type="title"/>
          </p:nvPr>
        </p:nvSpPr>
        <p:spPr/>
        <p:txBody>
          <a:bodyPr/>
          <a:lstStyle/>
          <a:p>
            <a:r>
              <a:rPr lang="zh-CN" altLang="en-US" sz="3600">
                <a:sym typeface="+mn-ea"/>
              </a:rPr>
              <a:t>四、</a:t>
            </a:r>
            <a:r>
              <a:rPr lang="zh-CN" altLang="en-US" sz="3600">
                <a:latin typeface="微软雅黑" panose="020B0503020204020204" charset="-122"/>
                <a:cs typeface="微软雅黑" panose="020B0503020204020204" charset="-122"/>
                <a:sym typeface="+mn-ea"/>
              </a:rPr>
              <a:t>下一步研究计划</a:t>
            </a:r>
            <a:endParaRPr kumimoji="1" lang="zh-CN" altLang="en-US" sz="3600">
              <a:sym typeface="+mn-ea"/>
            </a:endParaRPr>
          </a:p>
        </p:txBody>
      </p:sp>
      <p:sp>
        <p:nvSpPr>
          <p:cNvPr id="4" name="文本占位符 1"/>
          <p:cNvSpPr txBox="1"/>
          <p:nvPr/>
        </p:nvSpPr>
        <p:spPr>
          <a:xfrm>
            <a:off x="1501583" y="3657065"/>
            <a:ext cx="5087075" cy="536005"/>
          </a:xfrm>
          <a:prstGeom prst="rect">
            <a:avLst/>
          </a:prstGeom>
        </p:spPr>
        <p:txBody>
          <a:bodyPr vert="horz" lIns="91440" tIns="45720" rIns="91440" bIns="45720" rtlCol="0" anchor="b">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200" b="0" kern="1200">
                <a:solidFill>
                  <a:schemeClr val="accent2"/>
                </a:solidFill>
                <a:latin typeface="+mn-lt"/>
                <a:ea typeface="+mn-ea"/>
                <a:cs typeface="+mn-cs"/>
              </a:defRPr>
            </a:lvl1pPr>
            <a:lvl2pPr marL="457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2000" b="1" kern="1200">
                <a:solidFill>
                  <a:schemeClr val="tx2"/>
                </a:solidFill>
                <a:latin typeface="+mn-lt"/>
                <a:ea typeface="+mn-ea"/>
                <a:cs typeface="+mn-cs"/>
              </a:defRPr>
            </a:lvl2pPr>
            <a:lvl3pPr marL="914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800" b="1" kern="1200">
                <a:solidFill>
                  <a:schemeClr val="tx2"/>
                </a:solidFill>
                <a:latin typeface="+mn-lt"/>
                <a:ea typeface="+mn-ea"/>
                <a:cs typeface="+mn-cs"/>
              </a:defRPr>
            </a:lvl3pPr>
            <a:lvl4pPr marL="1371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4pPr>
            <a:lvl5pPr marL="18288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5pPr>
            <a:lvl6pPr marL="22860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6pPr>
            <a:lvl7pPr marL="27432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7pPr>
            <a:lvl8pPr marL="32004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8pPr>
            <a:lvl9pPr marL="365760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b="1" kern="1200">
                <a:solidFill>
                  <a:schemeClr val="tx2"/>
                </a:solidFill>
                <a:latin typeface="+mn-lt"/>
                <a:ea typeface="+mn-ea"/>
                <a:cs typeface="+mn-cs"/>
              </a:defRPr>
            </a:lvl9pPr>
          </a:lstStyle>
          <a:p>
            <a:pPr marL="342900" indent="-342900">
              <a:buFont typeface="Wingdings" panose="05000000000000000000" pitchFamily="2" charset="2"/>
              <a:buChar char="n"/>
            </a:pPr>
            <a:r>
              <a:rPr kumimoji="1" lang="zh-CN" altLang="en-US" b="1">
                <a:latin typeface="微软雅黑" panose="020B0503020204020204" charset="-122"/>
                <a:ea typeface="微软雅黑" panose="020B0503020204020204" charset="-122"/>
              </a:rPr>
              <a:t>方向二：探究隧道场景下的攻击</a:t>
            </a:r>
            <a:endParaRPr kumimoji="1" lang="zh-CN" altLang="en-US" b="1">
              <a:latin typeface="微软雅黑" panose="020B0503020204020204" charset="-122"/>
              <a:ea typeface="微软雅黑" panose="020B0503020204020204" charset="-122"/>
            </a:endParaRPr>
          </a:p>
        </p:txBody>
      </p:sp>
      <p:sp>
        <p:nvSpPr>
          <p:cNvPr id="5" name="内容占位符 2"/>
          <p:cNvSpPr txBox="1"/>
          <p:nvPr/>
        </p:nvSpPr>
        <p:spPr>
          <a:xfrm>
            <a:off x="1954022" y="4306371"/>
            <a:ext cx="4468550" cy="1263051"/>
          </a:xfrm>
          <a:prstGeom prst="rect">
            <a:avLst/>
          </a:prstGeom>
        </p:spPr>
        <p:txBody>
          <a:bodyPr vert="horz" lIns="91440" tIns="45720" rIns="91440" bIns="45720" rtlCol="0" anchor="t">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368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64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anose="05000000000000000000" pitchFamily="2" charset="2"/>
              <a:buChar char="Ø"/>
            </a:pPr>
            <a:r>
              <a:rPr kumimoji="1" lang="zh-CN" altLang="en-US" sz="2000"/>
              <a:t>利用隧道节点绕过监管</a:t>
            </a:r>
            <a:endParaRPr kumimoji="1" lang="en-US" altLang="zh-CN" sz="2000"/>
          </a:p>
          <a:p>
            <a:pPr>
              <a:buFont typeface="Wingdings" panose="05000000000000000000" pitchFamily="2" charset="2"/>
              <a:buChar char="Ø"/>
            </a:pPr>
            <a:r>
              <a:rPr kumimoji="1" lang="zh-CN" altLang="en-US" sz="2000"/>
              <a:t>利用隧道节点构建新型</a:t>
            </a:r>
            <a:r>
              <a:rPr kumimoji="1" lang="en-US" altLang="zh-CN" sz="2000"/>
              <a:t>DoS</a:t>
            </a:r>
            <a:r>
              <a:rPr kumimoji="1" lang="zh-CN" altLang="en-US" sz="2000"/>
              <a:t>攻击</a:t>
            </a:r>
            <a:endParaRPr kumimoji="1" lang="en-US" altLang="zh-CN"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017963" y="2828835"/>
            <a:ext cx="4156075" cy="1198880"/>
          </a:xfrm>
          <a:prstGeom prst="rect">
            <a:avLst/>
          </a:prstGeom>
          <a:noFill/>
        </p:spPr>
        <p:txBody>
          <a:bodyPr wrap="none" rtlCol="0">
            <a:spAutoFit/>
          </a:bodyPr>
          <a:lstStyle/>
          <a:p>
            <a:pPr algn="ctr"/>
            <a:r>
              <a:rPr lang="en-US" altLang="zh-CN" sz="720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rPr>
              <a:t>THANK YOU</a:t>
            </a:r>
            <a:endParaRPr lang="en-US" altLang="zh-CN" sz="7200">
              <a:solidFill>
                <a:schemeClr val="accent1"/>
              </a:solidFill>
              <a:effectLst>
                <a:outerShdw blurRad="38100" dist="25400" dir="5400000" algn="ctr" rotWithShape="0">
                  <a:srgbClr val="6E747A">
                    <a:alpha val="43000"/>
                  </a:srgbClr>
                </a:outerShdw>
              </a:effectLst>
              <a:latin typeface="Impact" panose="020B0806030902050204" pitchFamily="34" charset="0"/>
              <a:cs typeface="+mn-ea"/>
              <a:sym typeface="+mn-lt"/>
            </a:endParaRPr>
          </a:p>
        </p:txBody>
      </p:sp>
      <p:grpSp>
        <p:nvGrpSpPr>
          <p:cNvPr id="17" name="组合 16"/>
          <p:cNvGrpSpPr/>
          <p:nvPr/>
        </p:nvGrpSpPr>
        <p:grpSpPr>
          <a:xfrm>
            <a:off x="2858860" y="3428999"/>
            <a:ext cx="6474279" cy="0"/>
            <a:chOff x="4129088" y="2457450"/>
            <a:chExt cx="6474279" cy="0"/>
          </a:xfrm>
        </p:grpSpPr>
        <p:cxnSp>
          <p:nvCxnSpPr>
            <p:cNvPr id="18" name="直接连接符 17"/>
            <p:cNvCxnSpPr/>
            <p:nvPr/>
          </p:nvCxnSpPr>
          <p:spPr>
            <a:xfrm>
              <a:off x="4129088"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cxnSp>
          <p:nvCxnSpPr>
            <p:cNvPr id="19" name="直接连接符 18"/>
            <p:cNvCxnSpPr/>
            <p:nvPr/>
          </p:nvCxnSpPr>
          <p:spPr>
            <a:xfrm>
              <a:off x="9631817" y="2457450"/>
              <a:ext cx="971550" cy="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grpSp>
    </p:spTree>
  </p:cSld>
  <p:clrMapOvr>
    <a:masterClrMapping/>
  </p:clrMapOvr>
</p:sld>
</file>

<file path=ppt/tags/tag1.xml><?xml version="1.0" encoding="utf-8"?>
<p:tagLst xmlns:p="http://schemas.openxmlformats.org/presentationml/2006/main">
  <p:tag name="KSO_WM_DIAGRAM_VIRTUALLY_FRAME" val="{&quot;height&quot;:514.3752014160157,&quot;left&quot;:21.75,&quot;top&quot;:37.95,&quot;width&quot;:920.2}"/>
</p:tagLst>
</file>

<file path=ppt/theme/theme1.xml><?xml version="1.0" encoding="utf-8"?>
<a:theme xmlns:a="http://schemas.openxmlformats.org/drawingml/2006/main" name="清华简约主题-顶边-16:9">
  <a:themeElements>
    <a:clrScheme name="清华紫主题">
      <a:dk1>
        <a:srgbClr val="000000"/>
      </a:dk1>
      <a:lt1>
        <a:srgbClr val="FFFFFF"/>
      </a:lt1>
      <a:dk2>
        <a:srgbClr val="3D3D3D"/>
      </a:dk2>
      <a:lt2>
        <a:srgbClr val="EBEBEB"/>
      </a:lt2>
      <a:accent1>
        <a:srgbClr val="660874"/>
      </a:accent1>
      <a:accent2>
        <a:srgbClr val="660874"/>
      </a:accent2>
      <a:accent3>
        <a:srgbClr val="E6C46D"/>
      </a:accent3>
      <a:accent4>
        <a:srgbClr val="969FA7"/>
      </a:accent4>
      <a:accent5>
        <a:srgbClr val="A9C37C"/>
      </a:accent5>
      <a:accent6>
        <a:srgbClr val="5A8071"/>
      </a:accent6>
      <a:hlink>
        <a:srgbClr val="007698"/>
      </a:hlink>
      <a:folHlink>
        <a:srgbClr val="43064C"/>
      </a:folHlink>
    </a:clrScheme>
    <a:fontScheme name="红利">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2873</Words>
  <Application>WPS 演示</Application>
  <PresentationFormat>宽屏</PresentationFormat>
  <Paragraphs>418</Paragraphs>
  <Slides>17</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宋体</vt:lpstr>
      <vt:lpstr>Wingdings</vt:lpstr>
      <vt:lpstr>Wingdings 2</vt:lpstr>
      <vt:lpstr>微软雅黑</vt:lpstr>
      <vt:lpstr>Wingdings</vt:lpstr>
      <vt:lpstr>Times New Roman</vt:lpstr>
      <vt:lpstr>Impact</vt:lpstr>
      <vt:lpstr>Gill Sans MT</vt:lpstr>
      <vt:lpstr>华文中宋</vt:lpstr>
      <vt:lpstr>Arial Unicode MS</vt:lpstr>
      <vt:lpstr>Calibri</vt:lpstr>
      <vt:lpstr>清华简约主题-顶边-16:9</vt:lpstr>
      <vt:lpstr>Haunted by Legacy: Discovering and Exploiting Vulnerable Tunnelling Hosts</vt:lpstr>
      <vt:lpstr>目录</vt:lpstr>
      <vt:lpstr>一、研究背景</vt:lpstr>
      <vt:lpstr>二、研究内容</vt:lpstr>
      <vt:lpstr>二、研究内容</vt:lpstr>
      <vt:lpstr>三、研究结果</vt:lpstr>
      <vt:lpstr>三、研究结果</vt:lpstr>
      <vt:lpstr>三、研究结果</vt:lpstr>
      <vt:lpstr>三、研究结果</vt:lpstr>
      <vt:lpstr>三、研究结果</vt:lpstr>
      <vt:lpstr>三、研究结果</vt:lpstr>
      <vt:lpstr>三、研究结果</vt:lpstr>
      <vt:lpstr>三、研究结果</vt:lpstr>
      <vt:lpstr>三、研究结果</vt:lpstr>
      <vt:lpstr>三、研究结果</vt:lpstr>
      <vt:lpstr>四、下一步研究计划</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 伟浩</dc:creator>
  <cp:lastModifiedBy>谭柘</cp:lastModifiedBy>
  <cp:revision>24</cp:revision>
  <cp:lastPrinted>2020-04-04T02:50:00Z</cp:lastPrinted>
  <dcterms:created xsi:type="dcterms:W3CDTF">2020-01-04T07:43:00Z</dcterms:created>
  <dcterms:modified xsi:type="dcterms:W3CDTF">2025-12-21T12:31:41Z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7B4D8A1E786748CC8D1CF0B83565C971_12</vt:lpwstr>
  </property>
  <property fmtid="{D5CDD505-2E9C-101B-9397-08002B2CF9AE}" pid="3" name="KSOProductBuildVer">
    <vt:lpwstr>2052-12.1.0.24034</vt:lpwstr>
  </property>
</Properties>
</file>