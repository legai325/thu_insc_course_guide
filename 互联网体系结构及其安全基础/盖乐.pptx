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59" r:id="rId6"/>
    <p:sldId id="260" r:id="rId7"/>
    <p:sldId id="261" r:id="rId8"/>
    <p:sldId id="262" r:id="rId9"/>
    <p:sldId id="265" r:id="rId10"/>
    <p:sldId id="266" r:id="rId11"/>
    <p:sldId id="267" r:id="rId12"/>
    <p:sldId id="268" r:id="rId13"/>
    <p:sldId id="269" r:id="rId14"/>
    <p:sldId id="270" r:id="rId15"/>
    <p:sldId id="271" r:id="rId16"/>
    <p:sldId id="272" r:id="rId17"/>
    <p:sldId id="273" r:id="rId18"/>
    <p:sldId id="274" r:id="rId19"/>
    <p:sldId id="27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1" userDrawn="1">
          <p15:clr>
            <a:srgbClr val="A4A3A4"/>
          </p15:clr>
        </p15:guide>
        <p15:guide id="2" pos="37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41"/>
        <p:guide pos="379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在加密恶意流量检测领域，机器学习和深度学习展现出显著优势。传统检测方法聚焦明文有效载荷分析，面对加密流量时束手无策。而</a:t>
            </a:r>
            <a:r>
              <a:rPr lang="en-US" altLang="zh-CN"/>
              <a:t>ML/DL</a:t>
            </a:r>
            <a:r>
              <a:rPr lang="zh-CN" altLang="en-US"/>
              <a:t>模型却能精准捕捉加密恶意流量的关键特征，检测效果十分显著。然而，大多数基于</a:t>
            </a:r>
            <a:r>
              <a:rPr lang="en-US" altLang="zh-CN"/>
              <a:t>ML/DL</a:t>
            </a:r>
            <a:r>
              <a:rPr lang="zh-CN" altLang="en-US"/>
              <a:t>的检测方法依赖高质量训练数据集，可收集这类数据既耗时又困难。数据标注易产生误差，恶意软件样本收集也受时效性限制。</a:t>
            </a:r>
            <a:endParaRPr lang="zh-CN" altLang="en-US"/>
          </a:p>
          <a:p>
            <a:r>
              <a:rPr lang="zh-CN" altLang="en-US"/>
              <a:t>既然高质量数据获取困难，那当我们只有低质量训练数据时，该如何实现对加密恶意流量的有效检测呢</a:t>
            </a:r>
            <a:r>
              <a:rPr lang="en-US" altLang="zh-CN"/>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首先，什么是低质量的训练数据？低质量训练数据主要体现在两个方面。一方面，标签噪声不可忽视。像</a:t>
            </a:r>
            <a:r>
              <a:rPr lang="en-US" altLang="zh-CN"/>
              <a:t>VirusTotal</a:t>
            </a:r>
            <a:r>
              <a:rPr lang="zh-CN" altLang="en-US"/>
              <a:t>这类公共服务，其</a:t>
            </a:r>
            <a:r>
              <a:rPr lang="zh-CN" altLang="en-US">
                <a:latin typeface="Arial" panose="020B0604020202020204"/>
                <a:cs typeface="Arial" panose="020B0604020202020204"/>
                <a:sym typeface="+mn-ea"/>
              </a:rPr>
              <a:t>给恶意软件的标签</a:t>
            </a:r>
            <a:r>
              <a:rPr lang="zh-CN" altLang="en-US"/>
              <a:t>每年都在变化，可靠性欠佳。而手动标注不仅开销大，在处理加密流量时更是难上加难，这无疑增加了标签的不确定性。</a:t>
            </a:r>
            <a:endParaRPr lang="zh-CN" altLang="en-US"/>
          </a:p>
          <a:p>
            <a:r>
              <a:rPr lang="zh-CN" altLang="en-US"/>
              <a:t>另一方面，恶意训练样本严重不足。通常收集恶意训练样本的办法是在沙箱中运行从真实网络捕获的恶意软件并收集流量，但现实中恶意软件不断进化，要获取时效性强的恶意软件数据极为困难。</a:t>
            </a:r>
            <a:endParaRPr lang="zh-CN" altLang="en-US"/>
          </a:p>
          <a:p>
            <a:r>
              <a:rPr lang="zh-CN" altLang="en-US"/>
              <a:t>由于这两个主要问题，低质量训练数据的这些问题会严重降低基于机器学习</a:t>
            </a:r>
            <a:r>
              <a:rPr lang="en-US" altLang="zh-CN"/>
              <a:t>/</a:t>
            </a:r>
            <a:r>
              <a:rPr lang="zh-CN" altLang="en-US"/>
              <a:t>深度学习的加密恶意流量检测方法的性能。</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面对低质量训练数据影响加密恶意流量检测性能的问题，有几种可能的解决方案，但都存在一定局限。鲁棒性强的机器学习模型依赖强假设或先验知识，缺乏灵活性和通用性。数据增强方法会因标签噪声混淆类别分布，产生更多标签噪声。使用大规模未标记加密训练数据预训练深度学习模型，成本高昂且有隐私泄露风险。</a:t>
            </a:r>
            <a:endParaRPr lang="zh-CN" altLang="en-US"/>
          </a:p>
          <a:p>
            <a:r>
              <a:rPr lang="zh-CN" altLang="en-US"/>
              <a:t>因此，本文的目标是仅使用低质量的训练数据集来准确检测加密的恶意流量。</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作者经过长时间的收集</a:t>
            </a:r>
            <a:r>
              <a:rPr lang="zh-CN" altLang="en-US">
                <a:sym typeface="+mn-ea"/>
              </a:rPr>
              <a:t>观察</a:t>
            </a:r>
            <a:r>
              <a:rPr lang="zh-CN" altLang="en-US"/>
              <a:t>，发现网络流量的数据分布</a:t>
            </a:r>
            <a:r>
              <a:rPr lang="zh-CN" altLang="en-US"/>
              <a:t>存在差异：良性数据的分布更密集，而恶意数据的分布更稀疏。</a:t>
            </a:r>
            <a:endParaRPr lang="zh-CN" altLang="en-US"/>
          </a:p>
          <a:p>
            <a:r>
              <a:rPr lang="zh-CN" altLang="en-US"/>
              <a:t>如左图所示，</a:t>
            </a:r>
            <a:r>
              <a:rPr lang="zh-CN" altLang="en-US">
                <a:sym typeface="+mn-ea"/>
              </a:rPr>
              <a:t>我们可以简单地画一条垂直线，将所有样本分为低密度样本和高密度样本。</a:t>
            </a:r>
            <a:endParaRPr lang="en-US" altLang="zh-CN"/>
          </a:p>
          <a:p>
            <a:r>
              <a:rPr lang="zh-CN" altLang="en-US"/>
              <a:t>然后，我们可以将高密度样本重新标记为正常样本，将其他样本重新标记为恶意样本。</a:t>
            </a:r>
            <a:endParaRPr lang="zh-CN" altLang="en-US"/>
          </a:p>
          <a:p>
            <a:r>
              <a:rPr lang="zh-CN" altLang="en-US">
                <a:sym typeface="+mn-ea"/>
              </a:rPr>
              <a:t>右图是对三个公开数据集的数据分布进行的验证。</a:t>
            </a:r>
            <a:endParaRPr lang="zh-CN" altLang="en-US"/>
          </a:p>
          <a:p>
            <a:r>
              <a:rPr lang="zh-CN" altLang="en-US"/>
              <a:t>因此，本文解决低质量训练数据问题的核心思路是利用良性样本和恶意样本分布的差异来推断训练样本的真实标签，但攻击者可能会模仿正常行为，生成具有与正常数据相似分布的恶意数据。</a:t>
            </a:r>
            <a:r>
              <a:rPr lang="en-US" altLang="zh-CN"/>
              <a:t> </a:t>
            </a:r>
            <a:r>
              <a:rPr lang="zh-CN" altLang="en-US"/>
              <a:t>在这种情况下，合成位于新恶意数据可能分布区域的新训练数据，以提高</a:t>
            </a:r>
            <a:r>
              <a:rPr lang="zh-CN" altLang="en-US"/>
              <a:t>检测模型的泛化性。</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根据我们的核心思想，我们的框架如下。它包含</a:t>
            </a:r>
            <a:r>
              <a:rPr lang="en-US" altLang="zh-CN"/>
              <a:t>4</a:t>
            </a:r>
            <a:r>
              <a:rPr lang="zh-CN" altLang="en-US"/>
              <a:t>个模块。第一个模块是特征提取模块，它可以将原始加密流量转换为代表细粒度行为的特征向量。</a:t>
            </a:r>
            <a:r>
              <a:rPr lang="en-US" altLang="zh-CN"/>
              <a:t> </a:t>
            </a:r>
            <a:r>
              <a:rPr lang="zh-CN" altLang="en-US"/>
              <a:t>基于改进的自编码器架构，我们的特征提取模块以无监督的方式工作，以防止不正确的标签污染特征向量。</a:t>
            </a:r>
            <a:endParaRPr lang="zh-CN" altLang="en-US"/>
          </a:p>
          <a:p>
            <a:r>
              <a:rPr lang="zh-CN" altLang="en-US"/>
              <a:t>第二个模块是标签校正模块，它可以估计训练数据的分布，然后检测并校正标签噪声。</a:t>
            </a:r>
            <a:r>
              <a:rPr lang="en-US" altLang="zh-CN"/>
              <a:t> </a:t>
            </a:r>
            <a:r>
              <a:rPr lang="zh-CN" altLang="en-US"/>
              <a:t>它通过自回归生成模型估计训练数据的分布，对表现出最明显分布特征的训练数据进行重新标注，并通过集成学习推断剩余数据的标签。</a:t>
            </a:r>
            <a:endParaRPr lang="zh-CN" altLang="en-US"/>
          </a:p>
          <a:p>
            <a:r>
              <a:rPr lang="zh-CN" altLang="en-US"/>
              <a:t>第三个模块是数据增强模块，它可以应用改进的生成对抗网络（</a:t>
            </a:r>
            <a:r>
              <a:rPr lang="en-US" altLang="zh-CN"/>
              <a:t>GAN</a:t>
            </a:r>
            <a:r>
              <a:rPr lang="zh-CN" altLang="en-US"/>
              <a:t>）模型</a:t>
            </a:r>
            <a:r>
              <a:rPr lang="zh-CN" altLang="en-US"/>
              <a:t>生成能够代表新型恶意数据的新训练数据。</a:t>
            </a:r>
            <a:endParaRPr lang="zh-CN" altLang="en-US"/>
          </a:p>
          <a:p>
            <a:r>
              <a:rPr lang="zh-CN" altLang="en-US"/>
              <a:t>最后是基于机器学习的检测模块，进行</a:t>
            </a:r>
            <a:r>
              <a:rPr lang="zh-CN" altLang="en-US"/>
              <a:t>二分类任务。</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特征提取模块的</a:t>
            </a:r>
            <a:r>
              <a:rPr lang="zh-CN" altLang="en-US" b="1">
                <a:latin typeface="Arial" panose="020B0604020202020204"/>
                <a:cs typeface="Arial" panose="020B0604020202020204"/>
                <a:sym typeface="+mn-ea"/>
              </a:rPr>
              <a:t>目标：</a:t>
            </a:r>
            <a:r>
              <a:rPr lang="zh-CN" altLang="en-US">
                <a:latin typeface="Arial" panose="020B0604020202020204"/>
                <a:cs typeface="Arial" panose="020B0604020202020204"/>
                <a:sym typeface="+mn-ea"/>
              </a:rPr>
              <a:t>将原始加密网络流量转换为特征向量</a:t>
            </a:r>
            <a:endParaRPr lang="zh-CN" altLang="en-US">
              <a:latin typeface="Arial" panose="020B0604020202020204"/>
              <a:cs typeface="Arial" panose="020B0604020202020204"/>
            </a:endParaRPr>
          </a:p>
          <a:p>
            <a:r>
              <a:rPr lang="zh-CN" altLang="en-US"/>
              <a:t>面临着两个挑战。第一个挑战是流量始终由各种无线加密协议进行加密。</a:t>
            </a:r>
            <a:endParaRPr lang="zh-CN" altLang="en-US"/>
          </a:p>
          <a:p>
            <a:r>
              <a:rPr lang="zh-CN" altLang="en-US"/>
              <a:t>第二个挑战是不可忽略的标签噪声会导致特征选择或特征提取器性能下降。</a:t>
            </a:r>
            <a:endParaRPr lang="en-US" altLang="zh-CN"/>
          </a:p>
          <a:p>
            <a:r>
              <a:rPr lang="zh-CN" altLang="en-US"/>
              <a:t>因此，我们的解决方案是使用无监督的序列自编码器模型，该模型可以首先学习最具代表性的特征，并最大限度地减少标签噪声的影响。</a:t>
            </a:r>
            <a:endParaRPr lang="en-US" altLang="zh-CN"/>
          </a:p>
          <a:p>
            <a:r>
              <a:rPr lang="zh-CN" altLang="en-US">
                <a:latin typeface="Arial" panose="020B0604020202020204"/>
                <a:cs typeface="Arial" panose="020B0604020202020204"/>
                <a:sym typeface="+mn-ea"/>
              </a:rPr>
              <a:t>首先根据五元组信息</a:t>
            </a:r>
            <a:r>
              <a:rPr lang="en-US" altLang="zh-CN">
                <a:latin typeface="Arial" panose="020B0604020202020204"/>
                <a:cs typeface="Arial" panose="020B0604020202020204"/>
                <a:sym typeface="+mn-ea"/>
              </a:rPr>
              <a:t>(</a:t>
            </a:r>
            <a:r>
              <a:rPr lang="zh-CN" altLang="en-US">
                <a:latin typeface="Arial" panose="020B0604020202020204"/>
                <a:cs typeface="Arial" panose="020B0604020202020204"/>
                <a:sym typeface="+mn-ea"/>
              </a:rPr>
              <a:t>源和目的</a:t>
            </a:r>
            <a:r>
              <a:rPr lang="en-US" altLang="zh-CN">
                <a:latin typeface="Arial" panose="020B0604020202020204"/>
                <a:cs typeface="Arial" panose="020B0604020202020204"/>
                <a:sym typeface="+mn-ea"/>
              </a:rPr>
              <a:t>IP</a:t>
            </a:r>
            <a:r>
              <a:rPr lang="zh-CN" altLang="en-US">
                <a:latin typeface="Arial" panose="020B0604020202020204"/>
                <a:cs typeface="Arial" panose="020B0604020202020204"/>
                <a:sym typeface="+mn-ea"/>
              </a:rPr>
              <a:t>地址、源和目的端口以及传输层协议</a:t>
            </a:r>
            <a:r>
              <a:rPr lang="en-US" altLang="zh-CN">
                <a:latin typeface="Arial" panose="020B0604020202020204"/>
                <a:cs typeface="Arial" panose="020B0604020202020204"/>
                <a:sym typeface="+mn-ea"/>
              </a:rPr>
              <a:t>)</a:t>
            </a:r>
            <a:r>
              <a:rPr lang="zh-CN" altLang="en-US">
                <a:latin typeface="Arial" panose="020B0604020202020204"/>
                <a:cs typeface="Arial" panose="020B0604020202020204"/>
                <a:sym typeface="+mn-ea"/>
              </a:rPr>
              <a:t>将原始加密流量划分为网络流，使用数据包长度序列（流量序列）作为输入数据。</a:t>
            </a:r>
            <a:r>
              <a:rPr lang="zh-CN" altLang="en-US"/>
              <a:t>然后使用</a:t>
            </a:r>
            <a:r>
              <a:rPr lang="en-US" altLang="zh-CN"/>
              <a:t> GRU </a:t>
            </a:r>
            <a:r>
              <a:rPr lang="zh-CN" altLang="en-US"/>
              <a:t>作为自编码器框架的单元来提取特征向量。</a:t>
            </a:r>
            <a:endParaRPr lang="en-US" altLang="zh-CN"/>
          </a:p>
          <a:p>
            <a:r>
              <a:rPr lang="zh-CN" altLang="en-US"/>
              <a:t>这样我们就得到了所有训练样本和测试样本的特征向量，从而可以进行标签校正。</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b="1" spc="-10" dirty="0">
                <a:solidFill>
                  <a:srgbClr val="23366E"/>
                </a:solidFill>
                <a:latin typeface="Times New Roman" panose="02020603050405020304"/>
                <a:cs typeface="Times New Roman" panose="02020603050405020304"/>
                <a:sym typeface="+mn-ea"/>
              </a:rPr>
              <a:t>标签校正模块</a:t>
            </a:r>
            <a:r>
              <a:rPr lang="zh-CN" altLang="en-US" b="1">
                <a:latin typeface="Arial" panose="020B0604020202020204"/>
                <a:cs typeface="Arial" panose="020B0604020202020204"/>
                <a:sym typeface="+mn-ea"/>
              </a:rPr>
              <a:t>的目标：对</a:t>
            </a:r>
            <a:r>
              <a:rPr lang="zh-CN" altLang="en-US">
                <a:latin typeface="Arial" panose="020B0604020202020204"/>
                <a:cs typeface="Arial" panose="020B0604020202020204"/>
                <a:sym typeface="+mn-ea"/>
              </a:rPr>
              <a:t>训练数据的分布进行</a:t>
            </a:r>
            <a:r>
              <a:rPr lang="zh-CN" altLang="en-US">
                <a:latin typeface="Arial" panose="020B0604020202020204"/>
                <a:cs typeface="Arial" panose="020B0604020202020204"/>
                <a:sym typeface="+mn-ea"/>
              </a:rPr>
              <a:t>估计，并根据</a:t>
            </a:r>
            <a:r>
              <a:rPr lang="zh-CN" altLang="en-US">
                <a:latin typeface="Arial" panose="020B0604020202020204"/>
                <a:cs typeface="Arial" panose="020B0604020202020204"/>
                <a:sym typeface="+mn-ea"/>
              </a:rPr>
              <a:t>分布特征对训练样本的标签进行修正。</a:t>
            </a:r>
            <a:r>
              <a:rPr lang="zh-CN" altLang="en-US">
                <a:sym typeface="+mn-ea"/>
              </a:rPr>
              <a:t>但它也面临两个挑战。第一个挑战是高维特征向量的分布难以准确估计。</a:t>
            </a:r>
            <a:endParaRPr lang="zh-CN" altLang="en-US"/>
          </a:p>
          <a:p>
            <a:r>
              <a:rPr lang="zh-CN" altLang="en-US"/>
              <a:t>第二个挑战是正常数据和恶意数据之间的差异，部分正常数据和恶意数据的分布可能并不显著，难以识别。</a:t>
            </a:r>
            <a:endParaRPr lang="zh-CN" altLang="en-US"/>
          </a:p>
          <a:p>
            <a:r>
              <a:rPr lang="zh-CN" altLang="en-US"/>
              <a:t>也就是之前图中直线</a:t>
            </a:r>
            <a:r>
              <a:rPr lang="zh-CN" altLang="en-US"/>
              <a:t>附近的样本。</a:t>
            </a:r>
            <a:endParaRPr lang="zh-CN" altLang="en-US"/>
          </a:p>
          <a:p>
            <a:r>
              <a:rPr lang="zh-CN" altLang="en-US"/>
              <a:t>因此，我们的设计流程如下：首先，使用</a:t>
            </a:r>
            <a:r>
              <a:rPr lang="en-US" altLang="zh-CN"/>
              <a:t>MADE</a:t>
            </a:r>
            <a:r>
              <a:rPr lang="zh-CN" altLang="en-US"/>
              <a:t>（一种深度生成模型）估计流量数据的分布，该模型能够输出特征空间中的概率密度函数。</a:t>
            </a:r>
            <a:endParaRPr lang="zh-CN" altLang="en-US"/>
          </a:p>
          <a:p>
            <a:r>
              <a:rPr lang="zh-CN" altLang="en-US"/>
              <a:t>随后，基于</a:t>
            </a:r>
            <a:r>
              <a:rPr lang="en-US" altLang="zh-CN"/>
              <a:t>MADE</a:t>
            </a:r>
            <a:r>
              <a:rPr lang="zh-CN" altLang="en-US"/>
              <a:t>输出的概率密度，识别出具有最显著分布的训练样本，并对这部分样本进行重新标记。最后，利用这些已标记的样本，构建包含七个经典机器学习分类器的集成示例，进而推断并标注其余样本的标签</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典型的</a:t>
            </a:r>
            <a:r>
              <a:rPr lang="en-US" altLang="zh-CN" spc="-10" dirty="0">
                <a:solidFill>
                  <a:srgbClr val="23366E"/>
                </a:solidFill>
                <a:latin typeface="Times New Roman" panose="02020603050405020304"/>
                <a:cs typeface="Times New Roman" panose="02020603050405020304"/>
                <a:sym typeface="+mn-ea"/>
              </a:rPr>
              <a:t>GAN</a:t>
            </a:r>
            <a:r>
              <a:rPr lang="zh-CN" altLang="en-US" spc="-10" dirty="0">
                <a:solidFill>
                  <a:srgbClr val="23366E"/>
                </a:solidFill>
                <a:latin typeface="Times New Roman" panose="02020603050405020304"/>
                <a:cs typeface="Times New Roman" panose="02020603050405020304"/>
                <a:sym typeface="+mn-ea"/>
              </a:rPr>
              <a:t>由两个主要部分组成：生成器学习特定的数据分布以生成新数据，</a:t>
            </a:r>
            <a:r>
              <a:rPr lang="zh-CN" altLang="en-US" spc="-10" dirty="0">
                <a:solidFill>
                  <a:srgbClr val="23366E"/>
                </a:solidFill>
                <a:latin typeface="Times New Roman" panose="02020603050405020304"/>
                <a:cs typeface="Times New Roman" panose="02020603050405020304"/>
                <a:sym typeface="+mn-ea"/>
              </a:rPr>
              <a:t>然后创建各种符合该分布的新训练数据，以增加有限的训练数据。</a:t>
            </a:r>
            <a:r>
              <a:rPr lang="zh-CN" altLang="en-US" spc="-10" dirty="0">
                <a:solidFill>
                  <a:srgbClr val="23366E"/>
                </a:solidFill>
                <a:latin typeface="Times New Roman" panose="02020603050405020304"/>
                <a:cs typeface="Times New Roman" panose="02020603050405020304"/>
                <a:sym typeface="+mn-ea"/>
              </a:rPr>
              <a:t>鉴别器将新生成的数据与原始训练数据区分开来。</a:t>
            </a:r>
            <a:r>
              <a:rPr lang="en-US" altLang="zh-CN" spc="-10" dirty="0">
                <a:solidFill>
                  <a:srgbClr val="23366E"/>
                </a:solidFill>
                <a:latin typeface="Times New Roman" panose="02020603050405020304"/>
                <a:cs typeface="Times New Roman" panose="02020603050405020304"/>
                <a:sym typeface="+mn-ea"/>
              </a:rPr>
              <a:t>  </a:t>
            </a:r>
            <a:r>
              <a:rPr lang="zh-CN" altLang="en-US" spc="-10" dirty="0">
                <a:solidFill>
                  <a:srgbClr val="23366E"/>
                </a:solidFill>
                <a:latin typeface="Times New Roman" panose="02020603050405020304"/>
                <a:cs typeface="Times New Roman" panose="02020603050405020304"/>
                <a:sym typeface="+mn-ea"/>
              </a:rPr>
              <a:t>然而，所有这些方法对标签噪声都没有弹性。</a:t>
            </a:r>
            <a:r>
              <a:rPr lang="en-US" altLang="zh-CN" spc="-10" dirty="0">
                <a:solidFill>
                  <a:srgbClr val="23366E"/>
                </a:solidFill>
                <a:latin typeface="Times New Roman" panose="02020603050405020304"/>
                <a:cs typeface="Times New Roman" panose="02020603050405020304"/>
                <a:sym typeface="+mn-ea"/>
              </a:rPr>
              <a:t> </a:t>
            </a:r>
            <a:r>
              <a:rPr lang="zh-CN" altLang="en-US" spc="-10" dirty="0">
                <a:solidFill>
                  <a:srgbClr val="23366E"/>
                </a:solidFill>
                <a:latin typeface="Times New Roman" panose="02020603050405020304"/>
                <a:cs typeface="Times New Roman" panose="02020603050405020304"/>
                <a:sym typeface="+mn-ea"/>
              </a:rPr>
              <a:t>错误标记的训练样本会混淆不同类别的数据分布，产生更多的标签噪声。</a:t>
            </a:r>
            <a:r>
              <a:rPr lang="en-US" altLang="zh-CN" spc="-10" dirty="0">
                <a:solidFill>
                  <a:srgbClr val="23366E"/>
                </a:solidFill>
                <a:latin typeface="Times New Roman" panose="02020603050405020304"/>
                <a:cs typeface="Times New Roman" panose="02020603050405020304"/>
                <a:sym typeface="+mn-ea"/>
              </a:rPr>
              <a:t> </a:t>
            </a:r>
            <a:r>
              <a:rPr lang="zh-CN" altLang="en-US" spc="-10" dirty="0">
                <a:solidFill>
                  <a:srgbClr val="23366E"/>
                </a:solidFill>
                <a:latin typeface="Times New Roman" panose="02020603050405020304"/>
                <a:cs typeface="Times New Roman" panose="02020603050405020304"/>
                <a:sym typeface="+mn-ea"/>
              </a:rPr>
              <a:t>因此，现有的数据增强方法无法处理加密训练数据的低质量问题。</a:t>
            </a:r>
            <a:endParaRPr lang="zh-CN" altLang="en-US"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spc="-10" dirty="0">
                <a:solidFill>
                  <a:srgbClr val="23366E"/>
                </a:solidFill>
                <a:latin typeface="Times New Roman" panose="02020603050405020304"/>
                <a:cs typeface="Times New Roman" panose="02020603050405020304"/>
                <a:sym typeface="+mn-ea"/>
              </a:rPr>
              <a:t>本文</a:t>
            </a:r>
            <a:r>
              <a:rPr spc="-10" dirty="0">
                <a:solidFill>
                  <a:srgbClr val="23366E"/>
                </a:solidFill>
                <a:latin typeface="Times New Roman" panose="02020603050405020304"/>
                <a:cs typeface="Times New Roman" panose="02020603050405020304"/>
                <a:sym typeface="+mn-ea"/>
              </a:rPr>
              <a:t>数据增强模块</a:t>
            </a:r>
            <a:r>
              <a:rPr lang="zh-CN" spc="-10" dirty="0">
                <a:solidFill>
                  <a:srgbClr val="23366E"/>
                </a:solidFill>
                <a:latin typeface="Times New Roman" panose="02020603050405020304"/>
                <a:cs typeface="Times New Roman" panose="02020603050405020304"/>
                <a:sym typeface="+mn-ea"/>
              </a:rPr>
              <a:t>的</a:t>
            </a:r>
            <a:r>
              <a:rPr lang="zh-CN" altLang="en-US">
                <a:latin typeface="Arial" panose="020B0604020202020204"/>
                <a:cs typeface="Arial" panose="020B0604020202020204"/>
                <a:sym typeface="+mn-ea"/>
              </a:rPr>
              <a:t>目标：生成能够代表新型加密恶意流量的训练数据</a:t>
            </a:r>
            <a:endParaRPr lang="zh-CN" altLang="en-US">
              <a:latin typeface="Arial" panose="020B0604020202020204"/>
              <a:cs typeface="Arial" panose="020B0604020202020204"/>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它</a:t>
            </a:r>
            <a:r>
              <a:rPr lang="zh-CN" altLang="en-US" spc="-10" dirty="0">
                <a:solidFill>
                  <a:srgbClr val="23366E"/>
                </a:solidFill>
                <a:latin typeface="Times New Roman" panose="02020603050405020304"/>
                <a:cs typeface="Times New Roman" panose="02020603050405020304"/>
                <a:sym typeface="+mn-ea"/>
              </a:rPr>
              <a:t>也面临两个挑战。首先，生成的数据必须多样化，否则可能会限制模型的泛化能力。</a:t>
            </a:r>
            <a:endParaRPr lang="zh-CN" altLang="en-US"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其次，新的恶意样本分布可能与现有训练数据不同，因此我们需要使用特定的模型来生成新数据。</a:t>
            </a:r>
            <a:endParaRPr lang="en-US" altLang="zh-CN"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本文的解决方案是，首先预测新恶意样本的潜在区域，然后使用我们提出的模型从该目标区域进行采样。</a:t>
            </a:r>
            <a:endParaRPr lang="en-US" altLang="zh-CN"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我们对潜在区域的预测基于两个条件。条件一是指攻击者可能模仿正常行为以逃避检测，这在特征空间中可以描述为：这些恶意样本与正常样本相似。</a:t>
            </a:r>
            <a:endParaRPr lang="en-US" altLang="zh-CN"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第二个条件是，新的攻击方法会不可预测地出现，例如零日攻击，这在特征空间中可以描述为：这些恶意样本与所有正常样本和恶意样本都不同。</a:t>
            </a:r>
            <a:endParaRPr lang="en-US" altLang="zh-CN"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最后，为了避免数据不平衡问题，还应该在正常样本区域周围生成正常样本。</a:t>
            </a:r>
            <a:endParaRPr lang="zh-CN" altLang="en-US" spc="-10" dirty="0">
              <a:solidFill>
                <a:srgbClr val="23366E"/>
              </a:solidFill>
              <a:latin typeface="Times New Roman" panose="02020603050405020304"/>
              <a:cs typeface="Times New Roman" panose="02020603050405020304"/>
              <a:sym typeface="+mn-ea"/>
            </a:endParaRPr>
          </a:p>
          <a:p>
            <a:pPr>
              <a:lnSpc>
                <a:spcPct val="100000"/>
              </a:lnSpc>
              <a:spcBef>
                <a:spcPts val="105"/>
              </a:spcBef>
            </a:pPr>
            <a:r>
              <a:rPr lang="zh-CN" altLang="en-US" spc="-10" dirty="0">
                <a:solidFill>
                  <a:srgbClr val="23366E"/>
                </a:solidFill>
                <a:latin typeface="Times New Roman" panose="02020603050405020304"/>
                <a:cs typeface="Times New Roman" panose="02020603050405020304"/>
                <a:sym typeface="+mn-ea"/>
              </a:rPr>
              <a:t>因此，这三个区域是需要生成的样本的潜在区域。由于现有的数据增强方法只能生成与现有样本相似的样本，我们如何才能从这些特定区域生成样本呢？</a:t>
            </a:r>
            <a:endParaRPr lang="zh-CN" altLang="en-US" spc="-10" dirty="0">
              <a:solidFill>
                <a:srgbClr val="23366E"/>
              </a:solidFill>
              <a:latin typeface="Times New Roman" panose="02020603050405020304"/>
              <a:cs typeface="Times New Roman" panose="02020603050405020304"/>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我们提出并改进了</a:t>
            </a:r>
            <a:r>
              <a:rPr lang="en-US" altLang="zh-CN"/>
              <a:t> GAN </a:t>
            </a:r>
            <a:r>
              <a:rPr lang="zh-CN" altLang="en-US"/>
              <a:t>来解决这个问题。该</a:t>
            </a:r>
            <a:r>
              <a:rPr lang="en-US" altLang="zh-CN"/>
              <a:t> GAN </a:t>
            </a:r>
            <a:r>
              <a:rPr lang="zh-CN" altLang="en-US"/>
              <a:t>可以拟合三个特定区域的分布来生成样本。</a:t>
            </a:r>
            <a:endParaRPr lang="en-US" altLang="zh-CN"/>
          </a:p>
          <a:p>
            <a:r>
              <a:rPr lang="zh-CN" altLang="en-US"/>
              <a:t>我们的设计是，首先构建三个特定区域的概率密度函数，然后在同一个</a:t>
            </a:r>
            <a:r>
              <a:rPr lang="en-US" altLang="zh-CN"/>
              <a:t> GAN </a:t>
            </a:r>
            <a:r>
              <a:rPr lang="zh-CN" altLang="en-US"/>
              <a:t>中分别针对这三个区域设计三个生成器。</a:t>
            </a:r>
            <a:endParaRPr lang="en-US" altLang="zh-CN"/>
          </a:p>
          <a:p>
            <a:r>
              <a:rPr lang="zh-CN" altLang="en-US"/>
              <a:t>如右图所示，每个生成器负责合成符合目标分布的新数据，鉴别器对新生成的数据进行分类，进行对抗性训练。。最后，我们为每个生成器计算新的损失函数，然后训练</a:t>
            </a:r>
            <a:r>
              <a:rPr lang="en-US" altLang="zh-CN"/>
              <a:t> GAN</a:t>
            </a:r>
            <a:r>
              <a:rPr lang="zh-CN" altLang="en-US"/>
              <a:t>，</a:t>
            </a:r>
            <a:r>
              <a:rPr lang="en-US" altLang="zh-CN"/>
              <a:t>GAN </a:t>
            </a:r>
            <a:r>
              <a:rPr lang="zh-CN" altLang="en-US"/>
              <a:t>可以为我们上面提到的三个特定区域生成样本。</a:t>
            </a:r>
            <a:endParaRPr lang="zh-CN" altLang="en-US"/>
          </a:p>
          <a:p>
            <a:r>
              <a:rPr lang="zh-CN" altLang="en-US"/>
              <a:t>当模型收敛时，生成网络合成的新数据将被视为新的训练数据。</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是评估部分。首先是设置部分，包括两个数据集、基线模型中选择了两种最先进的流级恶意流量检测方法、两种对低质量训练数据鲁棒的恶意软件检测方法、两种可以处理低质量训练数据的表示机器学习方法。最后还有</a:t>
            </a:r>
            <a:r>
              <a:rPr lang="zh-CN" altLang="en-US">
                <a:sym typeface="+mn-ea"/>
              </a:rPr>
              <a:t>指标以及标签噪声比和训练集大小的设置。</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本文做了非常多的实验，从</a:t>
            </a:r>
            <a:r>
              <a:rPr lang="en-US" altLang="zh-CN"/>
              <a:t>7-13</a:t>
            </a:r>
            <a:r>
              <a:rPr lang="zh-CN" altLang="en-US"/>
              <a:t>页。只涉及其中的</a:t>
            </a:r>
            <a:r>
              <a:rPr lang="zh-CN" altLang="en-US"/>
              <a:t>一些。评估的第一部分是整体性能。当原始标签噪声比高达</a:t>
            </a:r>
            <a:r>
              <a:rPr lang="en-US" altLang="zh-CN"/>
              <a:t> 45% </a:t>
            </a:r>
            <a:r>
              <a:rPr lang="zh-CN" altLang="en-US"/>
              <a:t>时，我们的系统获得了最佳</a:t>
            </a:r>
            <a:r>
              <a:rPr lang="en-US" altLang="zh-CN"/>
              <a:t> F1 </a:t>
            </a:r>
            <a:r>
              <a:rPr lang="zh-CN" altLang="en-US"/>
              <a:t>分数，平均提升超过</a:t>
            </a:r>
            <a:r>
              <a:rPr lang="en-US" altLang="zh-CN"/>
              <a:t> 200%</a:t>
            </a:r>
            <a:r>
              <a:rPr lang="zh-CN" altLang="en-US"/>
              <a:t>，最高可达</a:t>
            </a:r>
            <a:r>
              <a:rPr lang="en-US" altLang="zh-CN"/>
              <a:t> 350%</a:t>
            </a:r>
            <a:r>
              <a:rPr lang="zh-CN" altLang="en-US"/>
              <a:t>（相对于所有基线模型）。</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其次，本文对可能被错误标记的两种常见场景创建了标签噪声。将</a:t>
            </a:r>
            <a:r>
              <a:rPr lang="zh-CN" altLang="en-US">
                <a:sym typeface="+mn-ea"/>
              </a:rPr>
              <a:t>未见过或不常见的域名的</a:t>
            </a:r>
            <a:r>
              <a:rPr lang="zh-CN" altLang="en-US"/>
              <a:t>良性数据错误地标记，和由于</a:t>
            </a:r>
            <a:r>
              <a:rPr lang="zh-CN" altLang="en-US">
                <a:sym typeface="+mn-ea"/>
              </a:rPr>
              <a:t>缺乏关于某些类型恶意软件的威胁情报，将恶意流量</a:t>
            </a:r>
            <a:r>
              <a:rPr lang="zh-CN" altLang="en-US"/>
              <a:t>错误地标记。结果表明，</a:t>
            </a:r>
            <a:r>
              <a:rPr lang="zh-CN" altLang="en-US"/>
              <a:t>检测的系统也能在所有基线模型的基础上实现超过</a:t>
            </a:r>
            <a:r>
              <a:rPr lang="en-US" altLang="zh-CN"/>
              <a:t> 150% </a:t>
            </a:r>
            <a:r>
              <a:rPr lang="zh-CN" altLang="en-US"/>
              <a:t>的提升。</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此外还进行了一些模型测试来评估</a:t>
            </a:r>
            <a:r>
              <a:rPr lang="zh-CN" altLang="en-US"/>
              <a:t>本文的标签校正和数据增强方法，结果表明这两个模型都比基线模型更有效。</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此外，本文对滤波比</a:t>
            </a:r>
            <a:r>
              <a:rPr lang="en-US" altLang="zh-CN"/>
              <a:t>α</a:t>
            </a:r>
            <a:r>
              <a:rPr lang="zh-CN" altLang="en-US"/>
              <a:t>、阈值</a:t>
            </a:r>
            <a:r>
              <a:rPr lang="en-US" altLang="zh-CN"/>
              <a:t>ω1 ω2 ω3</a:t>
            </a:r>
            <a:r>
              <a:rPr lang="zh-CN" altLang="en-US"/>
              <a:t>、</a:t>
            </a:r>
            <a:r>
              <a:rPr lang="en-US" altLang="zh-CN"/>
              <a:t>GAN</a:t>
            </a:r>
            <a:r>
              <a:rPr lang="zh-CN" altLang="en-US"/>
              <a:t>模型个数</a:t>
            </a:r>
            <a:r>
              <a:rPr lang="en-US" altLang="zh-CN"/>
              <a:t>η</a:t>
            </a:r>
            <a:r>
              <a:rPr lang="zh-CN" altLang="en-US"/>
              <a:t>还进行了一些参数敏感性分析。结果表明，</a:t>
            </a:r>
            <a:r>
              <a:rPr lang="zh-CN" altLang="en-US"/>
              <a:t>本文的框架对所有超参数都不敏感。</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最后</a:t>
            </a:r>
            <a:r>
              <a:rPr lang="zh-CN" altLang="en-US">
                <a:sym typeface="+mn-ea"/>
              </a:rPr>
              <a:t>还进行一项现</a:t>
            </a:r>
            <a:r>
              <a:rPr lang="zh-CN" altLang="en-US">
                <a:sym typeface="+mn-ea"/>
              </a:rPr>
              <a:t>网的实验。</a:t>
            </a:r>
            <a:endParaRPr lang="zh-CN" altLang="en-US"/>
          </a:p>
          <a:p>
            <a:r>
              <a:rPr lang="zh-CN" altLang="en-US"/>
              <a:t>与网络安全企业合作，总共获得了超过</a:t>
            </a:r>
            <a:r>
              <a:rPr lang="en-US" altLang="zh-CN"/>
              <a:t> 290 </a:t>
            </a:r>
            <a:r>
              <a:rPr lang="zh-CN" altLang="en-US"/>
              <a:t>万个良性样本和</a:t>
            </a:r>
            <a:r>
              <a:rPr lang="en-US" altLang="zh-CN"/>
              <a:t> 79 </a:t>
            </a:r>
            <a:r>
              <a:rPr lang="zh-CN" altLang="en-US"/>
              <a:t>万个恶意样本，数据时间跨度从</a:t>
            </a:r>
            <a:r>
              <a:rPr lang="en-US" altLang="zh-CN"/>
              <a:t> 2017 </a:t>
            </a:r>
            <a:r>
              <a:rPr lang="zh-CN" altLang="en-US"/>
              <a:t>年</a:t>
            </a:r>
            <a:r>
              <a:rPr lang="en-US" altLang="zh-CN"/>
              <a:t> 11 </a:t>
            </a:r>
            <a:r>
              <a:rPr lang="zh-CN" altLang="en-US"/>
              <a:t>月到</a:t>
            </a:r>
            <a:r>
              <a:rPr lang="en-US" altLang="zh-CN"/>
              <a:t> 2021 </a:t>
            </a:r>
            <a:r>
              <a:rPr lang="zh-CN" altLang="en-US"/>
              <a:t>年</a:t>
            </a:r>
            <a:r>
              <a:rPr lang="en-US" altLang="zh-CN"/>
              <a:t> 2 </a:t>
            </a:r>
            <a:r>
              <a:rPr lang="zh-CN" altLang="en-US"/>
              <a:t>月，由一家网络安全企业收集。</a:t>
            </a:r>
            <a:endParaRPr lang="en-US" altLang="zh-CN"/>
          </a:p>
          <a:p>
            <a:r>
              <a:rPr lang="zh-CN" altLang="en-US"/>
              <a:t>使用</a:t>
            </a:r>
            <a:r>
              <a:rPr lang="en-US" altLang="zh-CN"/>
              <a:t> 2017 </a:t>
            </a:r>
            <a:r>
              <a:rPr lang="zh-CN" altLang="en-US"/>
              <a:t>年的流量数据进行训练，其余数据用于测试。结果表明，我们的系统将基线性能从约</a:t>
            </a:r>
            <a:r>
              <a:rPr lang="en-US" altLang="zh-CN"/>
              <a:t> 90% </a:t>
            </a:r>
            <a:r>
              <a:rPr lang="zh-CN" altLang="en-US"/>
              <a:t>提升至</a:t>
            </a:r>
            <a:r>
              <a:rPr lang="en-US" altLang="zh-CN"/>
              <a:t> 445%</a:t>
            </a:r>
            <a:r>
              <a:rPr lang="zh-CN" altLang="en-US"/>
              <a:t>，平均提升幅度为</a:t>
            </a:r>
            <a:r>
              <a:rPr lang="en-US" altLang="zh-CN"/>
              <a:t> 272.5%</a:t>
            </a:r>
            <a:r>
              <a:rPr lang="zh-CN" altLang="en-US"/>
              <a:t>。</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3" Type="http://schemas.openxmlformats.org/officeDocument/2006/relationships/notesSlide" Target="../notesSlides/notesSlide4.xml"/><Relationship Id="rId22" Type="http://schemas.openxmlformats.org/officeDocument/2006/relationships/slideLayout" Target="../slideLayouts/slideLayout2.xml"/><Relationship Id="rId21" Type="http://schemas.openxmlformats.org/officeDocument/2006/relationships/image" Target="../media/image23.png"/><Relationship Id="rId20" Type="http://schemas.openxmlformats.org/officeDocument/2006/relationships/image" Target="../media/image22.png"/><Relationship Id="rId2" Type="http://schemas.openxmlformats.org/officeDocument/2006/relationships/image" Target="../media/image4.png"/><Relationship Id="rId19" Type="http://schemas.openxmlformats.org/officeDocument/2006/relationships/image" Target="../media/image21.png"/><Relationship Id="rId18" Type="http://schemas.openxmlformats.org/officeDocument/2006/relationships/image" Target="../media/image20.png"/><Relationship Id="rId17" Type="http://schemas.openxmlformats.org/officeDocument/2006/relationships/image" Target="../media/image19.png"/><Relationship Id="rId16" Type="http://schemas.openxmlformats.org/officeDocument/2006/relationships/image" Target="../media/image18.png"/><Relationship Id="rId15" Type="http://schemas.openxmlformats.org/officeDocument/2006/relationships/image" Target="../media/image17.png"/><Relationship Id="rId14" Type="http://schemas.openxmlformats.org/officeDocument/2006/relationships/image" Target="../media/image16.png"/><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5" Type="http://schemas.openxmlformats.org/officeDocument/2006/relationships/notesSlide" Target="../notesSlides/notesSlide5.xml"/><Relationship Id="rId64" Type="http://schemas.openxmlformats.org/officeDocument/2006/relationships/slideLayout" Target="../slideLayouts/slideLayout2.xml"/><Relationship Id="rId63" Type="http://schemas.openxmlformats.org/officeDocument/2006/relationships/image" Target="../media/image86.jpeg"/><Relationship Id="rId62" Type="http://schemas.openxmlformats.org/officeDocument/2006/relationships/image" Target="../media/image85.jpeg"/><Relationship Id="rId61" Type="http://schemas.openxmlformats.org/officeDocument/2006/relationships/image" Target="../media/image84.jpeg"/><Relationship Id="rId60" Type="http://schemas.openxmlformats.org/officeDocument/2006/relationships/image" Target="../media/image83.png"/><Relationship Id="rId6" Type="http://schemas.openxmlformats.org/officeDocument/2006/relationships/image" Target="../media/image29.png"/><Relationship Id="rId59" Type="http://schemas.openxmlformats.org/officeDocument/2006/relationships/image" Target="../media/image82.png"/><Relationship Id="rId58" Type="http://schemas.openxmlformats.org/officeDocument/2006/relationships/image" Target="../media/image81.jpeg"/><Relationship Id="rId57" Type="http://schemas.openxmlformats.org/officeDocument/2006/relationships/image" Target="../media/image80.png"/><Relationship Id="rId56" Type="http://schemas.openxmlformats.org/officeDocument/2006/relationships/image" Target="../media/image79.png"/><Relationship Id="rId55" Type="http://schemas.openxmlformats.org/officeDocument/2006/relationships/image" Target="../media/image78.png"/><Relationship Id="rId54" Type="http://schemas.openxmlformats.org/officeDocument/2006/relationships/image" Target="../media/image77.png"/><Relationship Id="rId53" Type="http://schemas.openxmlformats.org/officeDocument/2006/relationships/image" Target="../media/image76.jpeg"/><Relationship Id="rId52" Type="http://schemas.openxmlformats.org/officeDocument/2006/relationships/image" Target="../media/image75.png"/><Relationship Id="rId51" Type="http://schemas.openxmlformats.org/officeDocument/2006/relationships/image" Target="../media/image74.jpeg"/><Relationship Id="rId50" Type="http://schemas.openxmlformats.org/officeDocument/2006/relationships/image" Target="../media/image73.jpeg"/><Relationship Id="rId5" Type="http://schemas.openxmlformats.org/officeDocument/2006/relationships/image" Target="../media/image28.jpeg"/><Relationship Id="rId49" Type="http://schemas.openxmlformats.org/officeDocument/2006/relationships/image" Target="../media/image72.jpeg"/><Relationship Id="rId48" Type="http://schemas.openxmlformats.org/officeDocument/2006/relationships/image" Target="../media/image71.png"/><Relationship Id="rId47" Type="http://schemas.openxmlformats.org/officeDocument/2006/relationships/image" Target="../media/image70.png"/><Relationship Id="rId46" Type="http://schemas.openxmlformats.org/officeDocument/2006/relationships/image" Target="../media/image69.png"/><Relationship Id="rId45" Type="http://schemas.openxmlformats.org/officeDocument/2006/relationships/image" Target="../media/image68.png"/><Relationship Id="rId44" Type="http://schemas.openxmlformats.org/officeDocument/2006/relationships/image" Target="../media/image67.jpeg"/><Relationship Id="rId43" Type="http://schemas.openxmlformats.org/officeDocument/2006/relationships/image" Target="../media/image66.jpeg"/><Relationship Id="rId42" Type="http://schemas.openxmlformats.org/officeDocument/2006/relationships/image" Target="../media/image65.png"/><Relationship Id="rId41" Type="http://schemas.openxmlformats.org/officeDocument/2006/relationships/image" Target="../media/image64.png"/><Relationship Id="rId40" Type="http://schemas.openxmlformats.org/officeDocument/2006/relationships/image" Target="../media/image63.png"/><Relationship Id="rId4" Type="http://schemas.openxmlformats.org/officeDocument/2006/relationships/image" Target="../media/image27.png"/><Relationship Id="rId39" Type="http://schemas.openxmlformats.org/officeDocument/2006/relationships/image" Target="../media/image62.png"/><Relationship Id="rId38" Type="http://schemas.openxmlformats.org/officeDocument/2006/relationships/image" Target="../media/image61.png"/><Relationship Id="rId37" Type="http://schemas.openxmlformats.org/officeDocument/2006/relationships/image" Target="../media/image60.png"/><Relationship Id="rId36" Type="http://schemas.openxmlformats.org/officeDocument/2006/relationships/image" Target="../media/image59.jpeg"/><Relationship Id="rId35" Type="http://schemas.openxmlformats.org/officeDocument/2006/relationships/image" Target="../media/image58.jpeg"/><Relationship Id="rId34" Type="http://schemas.openxmlformats.org/officeDocument/2006/relationships/image" Target="../media/image57.jpeg"/><Relationship Id="rId33" Type="http://schemas.openxmlformats.org/officeDocument/2006/relationships/image" Target="../media/image56.jpeg"/><Relationship Id="rId32" Type="http://schemas.openxmlformats.org/officeDocument/2006/relationships/image" Target="../media/image55.png"/><Relationship Id="rId31" Type="http://schemas.openxmlformats.org/officeDocument/2006/relationships/image" Target="../media/image54.png"/><Relationship Id="rId30" Type="http://schemas.openxmlformats.org/officeDocument/2006/relationships/image" Target="../media/image53.png"/><Relationship Id="rId3" Type="http://schemas.openxmlformats.org/officeDocument/2006/relationships/image" Target="../media/image26.png"/><Relationship Id="rId29" Type="http://schemas.openxmlformats.org/officeDocument/2006/relationships/image" Target="../media/image52.png"/><Relationship Id="rId28" Type="http://schemas.openxmlformats.org/officeDocument/2006/relationships/image" Target="../media/image51.png"/><Relationship Id="rId27" Type="http://schemas.openxmlformats.org/officeDocument/2006/relationships/image" Target="../media/image50.png"/><Relationship Id="rId26" Type="http://schemas.openxmlformats.org/officeDocument/2006/relationships/image" Target="../media/image49.png"/><Relationship Id="rId25" Type="http://schemas.openxmlformats.org/officeDocument/2006/relationships/image" Target="../media/image48.png"/><Relationship Id="rId24" Type="http://schemas.openxmlformats.org/officeDocument/2006/relationships/image" Target="../media/image47.png"/><Relationship Id="rId23" Type="http://schemas.openxmlformats.org/officeDocument/2006/relationships/image" Target="../media/image46.png"/><Relationship Id="rId22" Type="http://schemas.openxmlformats.org/officeDocument/2006/relationships/image" Target="../media/image45.png"/><Relationship Id="rId21" Type="http://schemas.openxmlformats.org/officeDocument/2006/relationships/image" Target="../media/image44.png"/><Relationship Id="rId20" Type="http://schemas.openxmlformats.org/officeDocument/2006/relationships/image" Target="../media/image43.png"/><Relationship Id="rId2" Type="http://schemas.openxmlformats.org/officeDocument/2006/relationships/image" Target="../media/image25.jpeg"/><Relationship Id="rId19" Type="http://schemas.openxmlformats.org/officeDocument/2006/relationships/image" Target="../media/image42.png"/><Relationship Id="rId18" Type="http://schemas.openxmlformats.org/officeDocument/2006/relationships/image" Target="../media/image41.png"/><Relationship Id="rId17" Type="http://schemas.openxmlformats.org/officeDocument/2006/relationships/image" Target="../media/image40.png"/><Relationship Id="rId16" Type="http://schemas.openxmlformats.org/officeDocument/2006/relationships/image" Target="../media/image39.png"/><Relationship Id="rId15" Type="http://schemas.openxmlformats.org/officeDocument/2006/relationships/image" Target="../media/image38.png"/><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image" Target="../media/image35.pn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image" Target="../media/image2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9.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png"/><Relationship Id="rId7" Type="http://schemas.openxmlformats.org/officeDocument/2006/relationships/image" Target="../media/image95.png"/><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37" Type="http://schemas.openxmlformats.org/officeDocument/2006/relationships/notesSlide" Target="../notesSlides/notesSlide8.xml"/><Relationship Id="rId36" Type="http://schemas.openxmlformats.org/officeDocument/2006/relationships/slideLayout" Target="../slideLayouts/slideLayout2.xml"/><Relationship Id="rId35" Type="http://schemas.openxmlformats.org/officeDocument/2006/relationships/image" Target="../media/image123.png"/><Relationship Id="rId34" Type="http://schemas.openxmlformats.org/officeDocument/2006/relationships/image" Target="../media/image122.png"/><Relationship Id="rId33" Type="http://schemas.openxmlformats.org/officeDocument/2006/relationships/image" Target="../media/image121.png"/><Relationship Id="rId32" Type="http://schemas.openxmlformats.org/officeDocument/2006/relationships/image" Target="../media/image120.png"/><Relationship Id="rId31" Type="http://schemas.openxmlformats.org/officeDocument/2006/relationships/image" Target="../media/image119.png"/><Relationship Id="rId30" Type="http://schemas.openxmlformats.org/officeDocument/2006/relationships/image" Target="../media/image118.png"/><Relationship Id="rId3" Type="http://schemas.openxmlformats.org/officeDocument/2006/relationships/image" Target="../media/image91.png"/><Relationship Id="rId29" Type="http://schemas.openxmlformats.org/officeDocument/2006/relationships/image" Target="../media/image117.png"/><Relationship Id="rId28" Type="http://schemas.openxmlformats.org/officeDocument/2006/relationships/image" Target="../media/image116.png"/><Relationship Id="rId27" Type="http://schemas.openxmlformats.org/officeDocument/2006/relationships/image" Target="../media/image115.png"/><Relationship Id="rId26" Type="http://schemas.openxmlformats.org/officeDocument/2006/relationships/image" Target="../media/image114.png"/><Relationship Id="rId25" Type="http://schemas.openxmlformats.org/officeDocument/2006/relationships/image" Target="../media/image113.png"/><Relationship Id="rId24" Type="http://schemas.openxmlformats.org/officeDocument/2006/relationships/image" Target="../media/image112.png"/><Relationship Id="rId23" Type="http://schemas.openxmlformats.org/officeDocument/2006/relationships/image" Target="../media/image111.png"/><Relationship Id="rId22" Type="http://schemas.openxmlformats.org/officeDocument/2006/relationships/image" Target="../media/image110.png"/><Relationship Id="rId21" Type="http://schemas.openxmlformats.org/officeDocument/2006/relationships/image" Target="../media/image109.png"/><Relationship Id="rId20" Type="http://schemas.openxmlformats.org/officeDocument/2006/relationships/image" Target="../media/image108.png"/><Relationship Id="rId2" Type="http://schemas.openxmlformats.org/officeDocument/2006/relationships/image" Target="../media/image90.png"/><Relationship Id="rId19" Type="http://schemas.openxmlformats.org/officeDocument/2006/relationships/image" Target="../media/image107.png"/><Relationship Id="rId18" Type="http://schemas.openxmlformats.org/officeDocument/2006/relationships/image" Target="../media/image106.png"/><Relationship Id="rId17" Type="http://schemas.openxmlformats.org/officeDocument/2006/relationships/image" Target="../media/image105.png"/><Relationship Id="rId16" Type="http://schemas.openxmlformats.org/officeDocument/2006/relationships/image" Target="../media/image104.png"/><Relationship Id="rId15" Type="http://schemas.openxmlformats.org/officeDocument/2006/relationships/image" Target="../media/image103.png"/><Relationship Id="rId14" Type="http://schemas.openxmlformats.org/officeDocument/2006/relationships/image" Target="../media/image102.png"/><Relationship Id="rId13" Type="http://schemas.openxmlformats.org/officeDocument/2006/relationships/image" Target="../media/image101.png"/><Relationship Id="rId12" Type="http://schemas.openxmlformats.org/officeDocument/2006/relationships/image" Target="../media/image100.png"/><Relationship Id="rId11" Type="http://schemas.openxmlformats.org/officeDocument/2006/relationships/image" Target="../media/image99.png"/><Relationship Id="rId10" Type="http://schemas.openxmlformats.org/officeDocument/2006/relationships/image" Target="../media/image98.png"/><Relationship Id="rId1" Type="http://schemas.openxmlformats.org/officeDocument/2006/relationships/image" Target="../media/image8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28.png"/><Relationship Id="rId1" Type="http://schemas.openxmlformats.org/officeDocument/2006/relationships/image" Target="../media/image127.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30.png"/><Relationship Id="rId1" Type="http://schemas.openxmlformats.org/officeDocument/2006/relationships/image" Target="../media/image12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33.jpeg"/><Relationship Id="rId1" Type="http://schemas.openxmlformats.org/officeDocument/2006/relationships/image" Target="../media/image13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36.jpeg"/><Relationship Id="rId2" Type="http://schemas.openxmlformats.org/officeDocument/2006/relationships/image" Target="../media/image135.jpeg"/><Relationship Id="rId1" Type="http://schemas.openxmlformats.org/officeDocument/2006/relationships/image" Target="../media/image134.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3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bject 9"/>
          <p:cNvPicPr/>
          <p:nvPr/>
        </p:nvPicPr>
        <p:blipFill>
          <a:blip r:embed="rId1" cstate="print"/>
          <a:stretch>
            <a:fillRect/>
          </a:stretch>
        </p:blipFill>
        <p:spPr>
          <a:xfrm>
            <a:off x="3265805" y="3669983"/>
            <a:ext cx="1995805" cy="1959610"/>
          </a:xfrm>
          <a:prstGeom prst="rect">
            <a:avLst/>
          </a:prstGeom>
        </p:spPr>
      </p:pic>
      <p:sp>
        <p:nvSpPr>
          <p:cNvPr id="12" name="object 12"/>
          <p:cNvSpPr txBox="1"/>
          <p:nvPr/>
        </p:nvSpPr>
        <p:spPr>
          <a:xfrm>
            <a:off x="1470025" y="3281680"/>
            <a:ext cx="9653905" cy="288925"/>
          </a:xfrm>
          <a:prstGeom prst="rect">
            <a:avLst/>
          </a:prstGeom>
        </p:spPr>
        <p:txBody>
          <a:bodyPr vert="horz" wrap="square" lIns="0" tIns="12092" rIns="0" bIns="0" rtlCol="0">
            <a:spAutoFit/>
          </a:bodyPr>
          <a:lstStyle/>
          <a:p>
            <a:pPr marL="12700" algn="ctr">
              <a:lnSpc>
                <a:spcPct val="100000"/>
              </a:lnSpc>
              <a:spcBef>
                <a:spcPts val="105"/>
              </a:spcBef>
            </a:pPr>
            <a:r>
              <a:rPr spc="-10" dirty="0">
                <a:solidFill>
                  <a:srgbClr val="23366E"/>
                </a:solidFill>
                <a:latin typeface="Arial" panose="020B0604020202020204"/>
                <a:cs typeface="Arial" panose="020B0604020202020204"/>
              </a:rPr>
              <a:t>Yuqi</a:t>
            </a:r>
            <a:r>
              <a:rPr spc="-4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Qing,</a:t>
            </a:r>
            <a:r>
              <a:rPr spc="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Qilei</a:t>
            </a:r>
            <a:r>
              <a:rPr spc="-6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Yin,</a:t>
            </a:r>
            <a:r>
              <a:rPr spc="-1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Xinhao</a:t>
            </a:r>
            <a:r>
              <a:rPr spc="-5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Deng,</a:t>
            </a:r>
            <a:r>
              <a:rPr spc="-4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Yihao</a:t>
            </a:r>
            <a:r>
              <a:rPr spc="-2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Chen,</a:t>
            </a:r>
            <a:r>
              <a:rPr spc="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Zhuotao</a:t>
            </a:r>
            <a:r>
              <a:rPr spc="-2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Liu,</a:t>
            </a:r>
            <a:r>
              <a:rPr spc="-1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Kun</a:t>
            </a:r>
            <a:r>
              <a:rPr spc="-2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Sun,</a:t>
            </a:r>
            <a:r>
              <a:rPr spc="-1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Ke</a:t>
            </a:r>
            <a:r>
              <a:rPr spc="-2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Xu,</a:t>
            </a:r>
            <a:r>
              <a:rPr spc="-2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Jia</a:t>
            </a:r>
            <a:r>
              <a:rPr spc="-35"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Zhang,</a:t>
            </a:r>
            <a:r>
              <a:rPr spc="-10" dirty="0">
                <a:solidFill>
                  <a:srgbClr val="23366E"/>
                </a:solidFill>
                <a:latin typeface="Arial" panose="020B0604020202020204"/>
                <a:cs typeface="Arial" panose="020B0604020202020204"/>
              </a:rPr>
              <a:t> </a:t>
            </a:r>
            <a:r>
              <a:rPr dirty="0">
                <a:solidFill>
                  <a:srgbClr val="23366E"/>
                </a:solidFill>
                <a:latin typeface="Arial" panose="020B0604020202020204"/>
                <a:cs typeface="Arial" panose="020B0604020202020204"/>
              </a:rPr>
              <a:t>Qi</a:t>
            </a:r>
            <a:r>
              <a:rPr spc="-15" dirty="0">
                <a:solidFill>
                  <a:srgbClr val="23366E"/>
                </a:solidFill>
                <a:latin typeface="Arial" panose="020B0604020202020204"/>
                <a:cs typeface="Arial" panose="020B0604020202020204"/>
              </a:rPr>
              <a:t> </a:t>
            </a:r>
            <a:r>
              <a:rPr spc="-25" dirty="0">
                <a:solidFill>
                  <a:srgbClr val="23366E"/>
                </a:solidFill>
                <a:latin typeface="Arial" panose="020B0604020202020204"/>
                <a:cs typeface="Arial" panose="020B0604020202020204"/>
              </a:rPr>
              <a:t>Li</a:t>
            </a:r>
            <a:endParaRPr spc="-25" dirty="0">
              <a:solidFill>
                <a:srgbClr val="23366E"/>
              </a:solidFill>
              <a:latin typeface="Arial" panose="020B0604020202020204"/>
              <a:cs typeface="Arial" panose="020B0604020202020204"/>
            </a:endParaRPr>
          </a:p>
        </p:txBody>
      </p:sp>
      <p:sp>
        <p:nvSpPr>
          <p:cNvPr id="4" name="文本框 3"/>
          <p:cNvSpPr txBox="1"/>
          <p:nvPr/>
        </p:nvSpPr>
        <p:spPr>
          <a:xfrm>
            <a:off x="7541895" y="2583815"/>
            <a:ext cx="2327910" cy="480695"/>
          </a:xfrm>
          <a:prstGeom prst="rect">
            <a:avLst/>
          </a:prstGeom>
          <a:noFill/>
        </p:spPr>
        <p:txBody>
          <a:bodyPr wrap="square" rtlCol="0">
            <a:spAutoFit/>
          </a:bodyPr>
          <a:p>
            <a:pPr marL="12700" marR="5080" algn="r">
              <a:lnSpc>
                <a:spcPts val="3040"/>
              </a:lnSpc>
              <a:spcBef>
                <a:spcPts val="475"/>
              </a:spcBef>
              <a:buClrTx/>
              <a:buSzTx/>
              <a:buFontTx/>
            </a:pPr>
            <a:r>
              <a:rPr lang="en-US" sz="3200" b="1" dirty="0">
                <a:solidFill>
                  <a:srgbClr val="23366E"/>
                </a:solidFill>
                <a:latin typeface="Times New Roman" panose="02020603050405020304"/>
                <a:cs typeface="Times New Roman" panose="02020603050405020304"/>
              </a:rPr>
              <a:t>—</a:t>
            </a:r>
            <a:r>
              <a:rPr sz="3200" b="1" dirty="0">
                <a:solidFill>
                  <a:srgbClr val="23366E"/>
                </a:solidFill>
                <a:latin typeface="Times New Roman" panose="02020603050405020304"/>
                <a:cs typeface="Times New Roman" panose="02020603050405020304"/>
              </a:rPr>
              <a:t>NDSS '24</a:t>
            </a:r>
            <a:endParaRPr sz="3200" b="1" dirty="0">
              <a:solidFill>
                <a:srgbClr val="23366E"/>
              </a:solidFill>
              <a:latin typeface="Times New Roman" panose="02020603050405020304"/>
              <a:cs typeface="Times New Roman" panose="02020603050405020304"/>
            </a:endParaRPr>
          </a:p>
        </p:txBody>
      </p:sp>
      <p:pic>
        <p:nvPicPr>
          <p:cNvPr id="5" name="图片 4" descr="images"/>
          <p:cNvPicPr>
            <a:picLocks noChangeAspect="1"/>
          </p:cNvPicPr>
          <p:nvPr/>
        </p:nvPicPr>
        <p:blipFill>
          <a:blip r:embed="rId2"/>
          <a:stretch>
            <a:fillRect/>
          </a:stretch>
        </p:blipFill>
        <p:spPr>
          <a:xfrm>
            <a:off x="6011545" y="3787775"/>
            <a:ext cx="2657475" cy="1724025"/>
          </a:xfrm>
          <a:prstGeom prst="rect">
            <a:avLst/>
          </a:prstGeom>
        </p:spPr>
      </p:pic>
      <p:sp>
        <p:nvSpPr>
          <p:cNvPr id="6" name="文本框 5"/>
          <p:cNvSpPr txBox="1"/>
          <p:nvPr/>
        </p:nvSpPr>
        <p:spPr>
          <a:xfrm>
            <a:off x="1470660" y="1217930"/>
            <a:ext cx="9653270" cy="1877695"/>
          </a:xfrm>
          <a:prstGeom prst="rect">
            <a:avLst/>
          </a:prstGeom>
          <a:noFill/>
        </p:spPr>
        <p:txBody>
          <a:bodyPr wrap="square" rtlCol="0" anchor="t">
            <a:spAutoFit/>
          </a:bodyPr>
          <a:p>
            <a:pPr marL="12700" marR="5080" algn="l">
              <a:lnSpc>
                <a:spcPct val="110000"/>
              </a:lnSpc>
              <a:spcBef>
                <a:spcPts val="475"/>
              </a:spcBef>
            </a:pPr>
            <a:r>
              <a:rPr sz="3400" b="1" dirty="0">
                <a:solidFill>
                  <a:srgbClr val="23366E"/>
                </a:solidFill>
                <a:latin typeface="Times New Roman" panose="02020603050405020304"/>
                <a:cs typeface="Times New Roman" panose="02020603050405020304"/>
                <a:sym typeface="+mn-ea"/>
              </a:rPr>
              <a:t>Low-Quality Training Data Only?</a:t>
            </a:r>
            <a:endParaRPr sz="3400" b="1" spc="0" dirty="0">
              <a:solidFill>
                <a:srgbClr val="23366E"/>
              </a:solidFill>
              <a:latin typeface="Times New Roman" panose="02020603050405020304"/>
              <a:ea typeface="+mn-ea"/>
              <a:cs typeface="Times New Roman" panose="02020603050405020304"/>
            </a:endParaRPr>
          </a:p>
          <a:p>
            <a:pPr marL="12700" marR="5080" algn="l">
              <a:lnSpc>
                <a:spcPct val="110000"/>
              </a:lnSpc>
              <a:spcBef>
                <a:spcPts val="475"/>
              </a:spcBef>
            </a:pPr>
            <a:r>
              <a:rPr sz="3400" b="1" dirty="0">
                <a:solidFill>
                  <a:srgbClr val="23366E"/>
                </a:solidFill>
                <a:latin typeface="Times New Roman" panose="02020603050405020304"/>
                <a:cs typeface="Times New Roman" panose="02020603050405020304"/>
                <a:sym typeface="+mn-ea"/>
              </a:rPr>
              <a:t>A</a:t>
            </a:r>
            <a:r>
              <a:rPr sz="3400" b="1" spc="-185" dirty="0">
                <a:solidFill>
                  <a:srgbClr val="23366E"/>
                </a:solidFill>
                <a:latin typeface="Times New Roman" panose="02020603050405020304"/>
                <a:cs typeface="Times New Roman" panose="02020603050405020304"/>
                <a:sym typeface="+mn-ea"/>
              </a:rPr>
              <a:t> </a:t>
            </a:r>
            <a:r>
              <a:rPr sz="3400" b="1" dirty="0">
                <a:solidFill>
                  <a:srgbClr val="23366E"/>
                </a:solidFill>
                <a:latin typeface="Times New Roman" panose="02020603050405020304"/>
                <a:cs typeface="Times New Roman" panose="02020603050405020304"/>
                <a:sym typeface="+mn-ea"/>
              </a:rPr>
              <a:t>Robust</a:t>
            </a:r>
            <a:r>
              <a:rPr sz="3400" b="1" spc="-40" dirty="0">
                <a:solidFill>
                  <a:srgbClr val="23366E"/>
                </a:solidFill>
                <a:latin typeface="Times New Roman" panose="02020603050405020304"/>
                <a:cs typeface="Times New Roman" panose="02020603050405020304"/>
                <a:sym typeface="+mn-ea"/>
              </a:rPr>
              <a:t> </a:t>
            </a:r>
            <a:r>
              <a:rPr sz="3400" b="1" dirty="0">
                <a:solidFill>
                  <a:srgbClr val="23366E"/>
                </a:solidFill>
                <a:latin typeface="Times New Roman" panose="02020603050405020304"/>
                <a:cs typeface="Times New Roman" panose="02020603050405020304"/>
                <a:sym typeface="+mn-ea"/>
              </a:rPr>
              <a:t>Framework</a:t>
            </a:r>
            <a:r>
              <a:rPr sz="3400" b="1" spc="-10" dirty="0">
                <a:solidFill>
                  <a:srgbClr val="23366E"/>
                </a:solidFill>
                <a:latin typeface="Times New Roman" panose="02020603050405020304"/>
                <a:cs typeface="Times New Roman" panose="02020603050405020304"/>
                <a:sym typeface="+mn-ea"/>
              </a:rPr>
              <a:t> </a:t>
            </a:r>
            <a:r>
              <a:rPr sz="3400" b="1" dirty="0">
                <a:solidFill>
                  <a:srgbClr val="23366E"/>
                </a:solidFill>
                <a:latin typeface="Times New Roman" panose="02020603050405020304"/>
                <a:cs typeface="Times New Roman" panose="02020603050405020304"/>
                <a:sym typeface="+mn-ea"/>
              </a:rPr>
              <a:t>for</a:t>
            </a:r>
            <a:r>
              <a:rPr sz="3400" b="1" spc="-55" dirty="0">
                <a:solidFill>
                  <a:srgbClr val="23366E"/>
                </a:solidFill>
                <a:latin typeface="Times New Roman" panose="02020603050405020304"/>
                <a:cs typeface="Times New Roman" panose="02020603050405020304"/>
                <a:sym typeface="+mn-ea"/>
              </a:rPr>
              <a:t> </a:t>
            </a:r>
            <a:r>
              <a:rPr sz="3400" b="1" dirty="0">
                <a:solidFill>
                  <a:srgbClr val="23366E"/>
                </a:solidFill>
                <a:latin typeface="Times New Roman" panose="02020603050405020304"/>
                <a:cs typeface="Times New Roman" panose="02020603050405020304"/>
                <a:sym typeface="+mn-ea"/>
              </a:rPr>
              <a:t>Detecting</a:t>
            </a:r>
            <a:r>
              <a:rPr sz="3400" b="1" spc="-45" dirty="0">
                <a:solidFill>
                  <a:srgbClr val="23366E"/>
                </a:solidFill>
                <a:latin typeface="Times New Roman" panose="02020603050405020304"/>
                <a:cs typeface="Times New Roman" panose="02020603050405020304"/>
                <a:sym typeface="+mn-ea"/>
              </a:rPr>
              <a:t> </a:t>
            </a:r>
            <a:r>
              <a:rPr sz="3400" b="1" spc="-10" dirty="0">
                <a:solidFill>
                  <a:srgbClr val="23366E"/>
                </a:solidFill>
                <a:latin typeface="Times New Roman" panose="02020603050405020304"/>
                <a:cs typeface="Times New Roman" panose="02020603050405020304"/>
                <a:sym typeface="+mn-ea"/>
              </a:rPr>
              <a:t>Encrypted </a:t>
            </a:r>
            <a:r>
              <a:rPr sz="3400" b="1" dirty="0">
                <a:solidFill>
                  <a:srgbClr val="23366E"/>
                </a:solidFill>
                <a:latin typeface="Times New Roman" panose="02020603050405020304"/>
                <a:cs typeface="Times New Roman" panose="02020603050405020304"/>
                <a:sym typeface="+mn-ea"/>
              </a:rPr>
              <a:t>Malicious</a:t>
            </a:r>
            <a:r>
              <a:rPr sz="3400" b="1" spc="-55" dirty="0">
                <a:solidFill>
                  <a:srgbClr val="23366E"/>
                </a:solidFill>
                <a:latin typeface="Times New Roman" panose="02020603050405020304"/>
                <a:cs typeface="Times New Roman" panose="02020603050405020304"/>
                <a:sym typeface="+mn-ea"/>
              </a:rPr>
              <a:t> </a:t>
            </a:r>
            <a:r>
              <a:rPr sz="3400" b="1" dirty="0">
                <a:solidFill>
                  <a:srgbClr val="23366E"/>
                </a:solidFill>
                <a:latin typeface="Times New Roman" panose="02020603050405020304"/>
                <a:cs typeface="Times New Roman" panose="02020603050405020304"/>
                <a:sym typeface="+mn-ea"/>
              </a:rPr>
              <a:t>Network</a:t>
            </a:r>
            <a:r>
              <a:rPr sz="3400" b="1" spc="-60" dirty="0">
                <a:solidFill>
                  <a:srgbClr val="23366E"/>
                </a:solidFill>
                <a:latin typeface="Times New Roman" panose="02020603050405020304"/>
                <a:cs typeface="Times New Roman" panose="02020603050405020304"/>
                <a:sym typeface="+mn-ea"/>
              </a:rPr>
              <a:t> </a:t>
            </a:r>
            <a:r>
              <a:rPr sz="3400" b="1" spc="-10" dirty="0">
                <a:solidFill>
                  <a:srgbClr val="23366E"/>
                </a:solidFill>
                <a:latin typeface="Times New Roman" panose="02020603050405020304"/>
                <a:cs typeface="Times New Roman" panose="02020603050405020304"/>
                <a:sym typeface="+mn-ea"/>
              </a:rPr>
              <a:t>Traffic</a:t>
            </a:r>
            <a:endParaRPr lang="zh-CN" altLang="en-US" sz="3400" b="1" spc="-10" dirty="0">
              <a:solidFill>
                <a:srgbClr val="23366E"/>
              </a:solidFill>
              <a:latin typeface="Times New Roman" panose="02020603050405020304"/>
              <a:cs typeface="Times New Roman" panose="02020603050405020304"/>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5"/>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基于机器学习/深度学习的加密恶意流量检测</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858520" y="1621155"/>
            <a:ext cx="10676255" cy="2828290"/>
          </a:xfrm>
          <a:prstGeom prst="rect">
            <a:avLst/>
          </a:prstGeom>
        </p:spPr>
        <p:txBody>
          <a:bodyPr vert="horz" wrap="square" lIns="0" tIns="58732" rIns="0" bIns="0" rtlCol="0">
            <a:spAutoFit/>
          </a:bodyPr>
          <a:lstStyle/>
          <a:p>
            <a:pPr marL="212725" indent="-200660">
              <a:lnSpc>
                <a:spcPct val="150000"/>
              </a:lnSpc>
              <a:buChar char="•"/>
              <a:tabLst>
                <a:tab pos="213360" algn="l"/>
              </a:tabLst>
            </a:pPr>
            <a:r>
              <a:rPr lang="zh-CN" altLang="en-US" sz="2400">
                <a:latin typeface="微软雅黑" panose="020B0503020204020204" charset="-122"/>
                <a:ea typeface="微软雅黑" panose="020B0503020204020204" charset="-122"/>
                <a:cs typeface="微软雅黑" panose="020B0503020204020204" charset="-122"/>
              </a:rPr>
              <a:t>机器学习</a:t>
            </a:r>
            <a:r>
              <a:rPr lang="en-US" altLang="zh-CN" sz="240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深度学习</a:t>
            </a:r>
            <a:r>
              <a:rPr lang="en-US" altLang="zh-CN" sz="2400">
                <a:latin typeface="微软雅黑" panose="020B0503020204020204" charset="-122"/>
                <a:ea typeface="微软雅黑" panose="020B0503020204020204" charset="-122"/>
                <a:cs typeface="微软雅黑" panose="020B0503020204020204" charset="-122"/>
              </a:rPr>
              <a:t> (ML/DL) </a:t>
            </a:r>
            <a:r>
              <a:rPr lang="zh-CN" altLang="en-US" sz="2400">
                <a:latin typeface="微软雅黑" panose="020B0503020204020204" charset="-122"/>
                <a:ea typeface="微软雅黑" panose="020B0503020204020204" charset="-122"/>
                <a:cs typeface="微软雅黑" panose="020B0503020204020204" charset="-122"/>
              </a:rPr>
              <a:t>在检测加密恶意流量方面非常有效。</a:t>
            </a:r>
            <a:endParaRPr lang="zh-CN" altLang="en-US" sz="2400">
              <a:latin typeface="微软雅黑" panose="020B0503020204020204" charset="-122"/>
              <a:ea typeface="微软雅黑" panose="020B0503020204020204" charset="-122"/>
              <a:cs typeface="微软雅黑" panose="020B0503020204020204" charset="-122"/>
            </a:endParaRPr>
          </a:p>
          <a:p>
            <a:pPr marL="669925" lvl="1" indent="-200660">
              <a:lnSpc>
                <a:spcPct val="150000"/>
              </a:lnSpc>
              <a:buChar char="•"/>
              <a:tabLst>
                <a:tab pos="213360" algn="l"/>
              </a:tabLst>
            </a:pPr>
            <a:r>
              <a:rPr lang="zh-CN" altLang="en-US" sz="2400">
                <a:latin typeface="微软雅黑" panose="020B0503020204020204" charset="-122"/>
                <a:ea typeface="微软雅黑" panose="020B0503020204020204" charset="-122"/>
                <a:cs typeface="微软雅黑" panose="020B0503020204020204" charset="-122"/>
              </a:rPr>
              <a:t>传统的检测方法侧重于分析明文有效载荷，这在面对加密流量时</a:t>
            </a:r>
            <a:r>
              <a:rPr lang="zh-CN" altLang="en-US" sz="2400">
                <a:latin typeface="微软雅黑" panose="020B0503020204020204" charset="-122"/>
                <a:ea typeface="微软雅黑" panose="020B0503020204020204" charset="-122"/>
                <a:cs typeface="微软雅黑" panose="020B0503020204020204" charset="-122"/>
              </a:rPr>
              <a:t>束手无策。</a:t>
            </a:r>
            <a:endParaRPr lang="en-US" altLang="zh-CN" sz="2400">
              <a:latin typeface="微软雅黑" panose="020B0503020204020204" charset="-122"/>
              <a:ea typeface="微软雅黑" panose="020B0503020204020204" charset="-122"/>
              <a:cs typeface="微软雅黑" panose="020B0503020204020204" charset="-122"/>
            </a:endParaRPr>
          </a:p>
          <a:p>
            <a:pPr marL="669925" lvl="1" indent="-200660">
              <a:lnSpc>
                <a:spcPct val="150000"/>
              </a:lnSpc>
              <a:buChar char="•"/>
              <a:tabLst>
                <a:tab pos="213360" algn="l"/>
              </a:tabLst>
            </a:pPr>
            <a:r>
              <a:rPr lang="en-US" altLang="zh-CN" sz="2400">
                <a:latin typeface="微软雅黑" panose="020B0503020204020204" charset="-122"/>
                <a:ea typeface="微软雅黑" panose="020B0503020204020204" charset="-122"/>
                <a:cs typeface="微软雅黑" panose="020B0503020204020204" charset="-122"/>
              </a:rPr>
              <a:t>ML/DL </a:t>
            </a:r>
            <a:r>
              <a:rPr lang="zh-CN" altLang="en-US" sz="2400">
                <a:latin typeface="微软雅黑" panose="020B0503020204020204" charset="-122"/>
                <a:ea typeface="微软雅黑" panose="020B0503020204020204" charset="-122"/>
                <a:cs typeface="微软雅黑" panose="020B0503020204020204" charset="-122"/>
              </a:rPr>
              <a:t>模型可以捕捉加密恶意流量的关键特征。</a:t>
            </a:r>
            <a:endParaRPr lang="en-US" altLang="zh-CN" sz="2400">
              <a:latin typeface="微软雅黑" panose="020B0503020204020204" charset="-122"/>
              <a:ea typeface="微软雅黑" panose="020B0503020204020204" charset="-122"/>
              <a:cs typeface="微软雅黑" panose="020B0503020204020204" charset="-122"/>
            </a:endParaRPr>
          </a:p>
          <a:p>
            <a:pPr marL="212725" indent="-200660">
              <a:lnSpc>
                <a:spcPct val="150000"/>
              </a:lnSpc>
              <a:buChar char="•"/>
              <a:tabLst>
                <a:tab pos="213360" algn="l"/>
              </a:tabLst>
            </a:pPr>
            <a:r>
              <a:rPr lang="zh-CN" altLang="en-US" sz="2400">
                <a:latin typeface="微软雅黑" panose="020B0503020204020204" charset="-122"/>
                <a:ea typeface="微软雅黑" panose="020B0503020204020204" charset="-122"/>
                <a:cs typeface="微软雅黑" panose="020B0503020204020204" charset="-122"/>
              </a:rPr>
              <a:t>大多数基于</a:t>
            </a:r>
            <a:r>
              <a:rPr lang="en-US" altLang="zh-CN" sz="2400">
                <a:latin typeface="微软雅黑" panose="020B0503020204020204" charset="-122"/>
                <a:ea typeface="微软雅黑" panose="020B0503020204020204" charset="-122"/>
                <a:cs typeface="微软雅黑" panose="020B0503020204020204" charset="-122"/>
              </a:rPr>
              <a:t> ML/DL </a:t>
            </a:r>
            <a:r>
              <a:rPr lang="zh-CN" altLang="en-US" sz="2400">
                <a:latin typeface="微软雅黑" panose="020B0503020204020204" charset="-122"/>
                <a:ea typeface="微软雅黑" panose="020B0503020204020204" charset="-122"/>
                <a:cs typeface="微软雅黑" panose="020B0503020204020204" charset="-122"/>
              </a:rPr>
              <a:t>的方法依赖于高质量的训练数据集。</a:t>
            </a:r>
            <a:endParaRPr lang="en-US" altLang="zh-CN" sz="2400">
              <a:latin typeface="微软雅黑" panose="020B0503020204020204" charset="-122"/>
              <a:ea typeface="微软雅黑" panose="020B0503020204020204" charset="-122"/>
              <a:cs typeface="微软雅黑" panose="020B0503020204020204" charset="-122"/>
            </a:endParaRPr>
          </a:p>
          <a:p>
            <a:pPr marL="212725" indent="-200660">
              <a:lnSpc>
                <a:spcPct val="150000"/>
              </a:lnSpc>
              <a:buChar char="•"/>
              <a:tabLst>
                <a:tab pos="213360" algn="l"/>
              </a:tabLst>
            </a:pPr>
            <a:r>
              <a:rPr lang="zh-CN" altLang="en-US" sz="2400">
                <a:latin typeface="微软雅黑" panose="020B0503020204020204" charset="-122"/>
                <a:ea typeface="微软雅黑" panose="020B0503020204020204" charset="-122"/>
                <a:cs typeface="微软雅黑" panose="020B0503020204020204" charset="-122"/>
              </a:rPr>
              <a:t>然而，收集高质量数据既耗时又困难。</a:t>
            </a:r>
            <a:endParaRPr lang="zh-CN" altLang="en-US" sz="2400">
              <a:latin typeface="微软雅黑" panose="020B0503020204020204" charset="-122"/>
              <a:ea typeface="微软雅黑" panose="020B0503020204020204" charset="-122"/>
              <a:cs typeface="微软雅黑" panose="020B0503020204020204" charset="-122"/>
            </a:endParaRPr>
          </a:p>
        </p:txBody>
      </p:sp>
      <p:grpSp>
        <p:nvGrpSpPr>
          <p:cNvPr id="4" name="object 4"/>
          <p:cNvGrpSpPr/>
          <p:nvPr/>
        </p:nvGrpSpPr>
        <p:grpSpPr>
          <a:xfrm>
            <a:off x="2641600" y="4798695"/>
            <a:ext cx="6785610" cy="800100"/>
            <a:chOff x="1773173" y="4770882"/>
            <a:chExt cx="7147559" cy="666115"/>
          </a:xfrm>
        </p:grpSpPr>
        <p:sp>
          <p:nvSpPr>
            <p:cNvPr id="5" name="object 5"/>
            <p:cNvSpPr/>
            <p:nvPr/>
          </p:nvSpPr>
          <p:spPr>
            <a:xfrm>
              <a:off x="1778507" y="4776216"/>
              <a:ext cx="7137400" cy="655320"/>
            </a:xfrm>
            <a:custGeom>
              <a:avLst/>
              <a:gdLst/>
              <a:ahLst/>
              <a:cxnLst/>
              <a:rect l="l" t="t" r="r" b="b"/>
              <a:pathLst>
                <a:path w="7137400" h="655320">
                  <a:moveTo>
                    <a:pt x="6975348" y="655319"/>
                  </a:moveTo>
                  <a:lnTo>
                    <a:pt x="161543" y="655319"/>
                  </a:lnTo>
                  <a:lnTo>
                    <a:pt x="118356" y="649597"/>
                  </a:lnTo>
                  <a:lnTo>
                    <a:pt x="79699" y="633419"/>
                  </a:lnTo>
                  <a:lnTo>
                    <a:pt x="47053" y="608266"/>
                  </a:lnTo>
                  <a:lnTo>
                    <a:pt x="21900" y="575620"/>
                  </a:lnTo>
                  <a:lnTo>
                    <a:pt x="5722" y="536963"/>
                  </a:lnTo>
                  <a:lnTo>
                    <a:pt x="0" y="493776"/>
                  </a:lnTo>
                  <a:lnTo>
                    <a:pt x="0" y="161543"/>
                  </a:lnTo>
                  <a:lnTo>
                    <a:pt x="5722" y="118886"/>
                  </a:lnTo>
                  <a:lnTo>
                    <a:pt x="21900" y="80376"/>
                  </a:lnTo>
                  <a:lnTo>
                    <a:pt x="47053" y="47624"/>
                  </a:lnTo>
                  <a:lnTo>
                    <a:pt x="79699" y="22239"/>
                  </a:lnTo>
                  <a:lnTo>
                    <a:pt x="118356" y="5827"/>
                  </a:lnTo>
                  <a:lnTo>
                    <a:pt x="161543" y="0"/>
                  </a:lnTo>
                  <a:lnTo>
                    <a:pt x="6975348" y="0"/>
                  </a:lnTo>
                  <a:lnTo>
                    <a:pt x="7018005" y="5827"/>
                  </a:lnTo>
                  <a:lnTo>
                    <a:pt x="7056515" y="22239"/>
                  </a:lnTo>
                  <a:lnTo>
                    <a:pt x="7089267" y="47624"/>
                  </a:lnTo>
                  <a:lnTo>
                    <a:pt x="7114653" y="80376"/>
                  </a:lnTo>
                  <a:lnTo>
                    <a:pt x="7131064" y="118886"/>
                  </a:lnTo>
                  <a:lnTo>
                    <a:pt x="7136892" y="161543"/>
                  </a:lnTo>
                  <a:lnTo>
                    <a:pt x="7136892" y="493776"/>
                  </a:lnTo>
                  <a:lnTo>
                    <a:pt x="7131064" y="536963"/>
                  </a:lnTo>
                  <a:lnTo>
                    <a:pt x="7114653" y="575620"/>
                  </a:lnTo>
                  <a:lnTo>
                    <a:pt x="7089267" y="608266"/>
                  </a:lnTo>
                  <a:lnTo>
                    <a:pt x="7056515" y="633419"/>
                  </a:lnTo>
                  <a:lnTo>
                    <a:pt x="7018005" y="649597"/>
                  </a:lnTo>
                  <a:lnTo>
                    <a:pt x="6975348" y="655319"/>
                  </a:lnTo>
                  <a:close/>
                </a:path>
              </a:pathLst>
            </a:custGeom>
            <a:solidFill>
              <a:srgbClr val="501D83"/>
            </a:solidFill>
          </p:spPr>
          <p:txBody>
            <a:bodyPr wrap="square" lIns="0" tIns="0" rIns="0" bIns="0" rtlCol="0"/>
            <a:lstStyle/>
            <a:p>
              <a:endParaRPr sz="1630"/>
            </a:p>
          </p:txBody>
        </p:sp>
        <p:sp>
          <p:nvSpPr>
            <p:cNvPr id="6" name="object 6"/>
            <p:cNvSpPr/>
            <p:nvPr/>
          </p:nvSpPr>
          <p:spPr>
            <a:xfrm>
              <a:off x="1778507" y="4776216"/>
              <a:ext cx="7137400" cy="655320"/>
            </a:xfrm>
            <a:custGeom>
              <a:avLst/>
              <a:gdLst/>
              <a:ahLst/>
              <a:cxnLst/>
              <a:rect l="l" t="t" r="r" b="b"/>
              <a:pathLst>
                <a:path w="7137400" h="655320">
                  <a:moveTo>
                    <a:pt x="0" y="161543"/>
                  </a:moveTo>
                  <a:lnTo>
                    <a:pt x="5722" y="118886"/>
                  </a:lnTo>
                  <a:lnTo>
                    <a:pt x="21900" y="80376"/>
                  </a:lnTo>
                  <a:lnTo>
                    <a:pt x="47053" y="47624"/>
                  </a:lnTo>
                  <a:lnTo>
                    <a:pt x="79699" y="22239"/>
                  </a:lnTo>
                  <a:lnTo>
                    <a:pt x="118356" y="5827"/>
                  </a:lnTo>
                  <a:lnTo>
                    <a:pt x="161543" y="0"/>
                  </a:lnTo>
                  <a:lnTo>
                    <a:pt x="6975348" y="0"/>
                  </a:lnTo>
                  <a:lnTo>
                    <a:pt x="7018005" y="5827"/>
                  </a:lnTo>
                  <a:lnTo>
                    <a:pt x="7056515" y="22239"/>
                  </a:lnTo>
                  <a:lnTo>
                    <a:pt x="7089267" y="47624"/>
                  </a:lnTo>
                  <a:lnTo>
                    <a:pt x="7114653" y="80376"/>
                  </a:lnTo>
                  <a:lnTo>
                    <a:pt x="7131064" y="118886"/>
                  </a:lnTo>
                  <a:lnTo>
                    <a:pt x="7136892" y="161543"/>
                  </a:lnTo>
                  <a:lnTo>
                    <a:pt x="7136892" y="493776"/>
                  </a:lnTo>
                  <a:lnTo>
                    <a:pt x="7131064" y="536963"/>
                  </a:lnTo>
                  <a:lnTo>
                    <a:pt x="7114653" y="575620"/>
                  </a:lnTo>
                  <a:lnTo>
                    <a:pt x="7089267" y="608266"/>
                  </a:lnTo>
                  <a:lnTo>
                    <a:pt x="7056515" y="633419"/>
                  </a:lnTo>
                  <a:lnTo>
                    <a:pt x="7018005" y="649597"/>
                  </a:lnTo>
                  <a:lnTo>
                    <a:pt x="6975348" y="655319"/>
                  </a:lnTo>
                  <a:lnTo>
                    <a:pt x="161543" y="655319"/>
                  </a:lnTo>
                  <a:lnTo>
                    <a:pt x="118356" y="649597"/>
                  </a:lnTo>
                  <a:lnTo>
                    <a:pt x="79699" y="633419"/>
                  </a:lnTo>
                  <a:lnTo>
                    <a:pt x="47053" y="608266"/>
                  </a:lnTo>
                  <a:lnTo>
                    <a:pt x="21900" y="575620"/>
                  </a:lnTo>
                  <a:lnTo>
                    <a:pt x="5722" y="536963"/>
                  </a:lnTo>
                  <a:lnTo>
                    <a:pt x="0" y="493776"/>
                  </a:lnTo>
                  <a:lnTo>
                    <a:pt x="0" y="161543"/>
                  </a:lnTo>
                  <a:close/>
                </a:path>
              </a:pathLst>
            </a:custGeom>
            <a:ln w="10668">
              <a:solidFill>
                <a:srgbClr val="38135E"/>
              </a:solidFill>
            </a:ln>
          </p:spPr>
          <p:txBody>
            <a:bodyPr wrap="square" lIns="0" tIns="0" rIns="0" bIns="0" rtlCol="0"/>
            <a:lstStyle/>
            <a:p>
              <a:endParaRPr sz="1630"/>
            </a:p>
          </p:txBody>
        </p:sp>
      </p:grpSp>
      <p:sp>
        <p:nvSpPr>
          <p:cNvPr id="7" name="object 7"/>
          <p:cNvSpPr txBox="1"/>
          <p:nvPr/>
        </p:nvSpPr>
        <p:spPr>
          <a:xfrm>
            <a:off x="3375051" y="5010004"/>
            <a:ext cx="5432849" cy="381000"/>
          </a:xfrm>
          <a:prstGeom prst="rect">
            <a:avLst/>
          </a:prstGeom>
        </p:spPr>
        <p:txBody>
          <a:bodyPr vert="horz" wrap="square" lIns="0" tIns="12668" rIns="0" bIns="0" rtlCol="0">
            <a:spAutoFit/>
          </a:bodyPr>
          <a:lstStyle/>
          <a:p>
            <a:pPr marL="12700" algn="l">
              <a:lnSpc>
                <a:spcPct val="100000"/>
              </a:lnSpc>
              <a:spcBef>
                <a:spcPts val="110"/>
              </a:spcBef>
              <a:buClrTx/>
              <a:buSzTx/>
              <a:buFontTx/>
            </a:pPr>
            <a:r>
              <a:rPr sz="2400" dirty="0">
                <a:solidFill>
                  <a:srgbClr val="FFFFFF"/>
                </a:solidFill>
                <a:latin typeface="Arial" panose="020B0604020202020204"/>
                <a:cs typeface="Arial" panose="020B0604020202020204"/>
              </a:rPr>
              <a:t>如果我们只有</a:t>
            </a:r>
            <a:r>
              <a:rPr sz="2400" b="1" dirty="0">
                <a:solidFill>
                  <a:srgbClr val="FFFFFF"/>
                </a:solidFill>
                <a:latin typeface="Arial" panose="020B0604020202020204"/>
                <a:cs typeface="Arial" panose="020B0604020202020204"/>
              </a:rPr>
              <a:t>低质量</a:t>
            </a:r>
            <a:r>
              <a:rPr sz="2400" dirty="0">
                <a:solidFill>
                  <a:srgbClr val="FFFFFF"/>
                </a:solidFill>
                <a:latin typeface="Arial" panose="020B0604020202020204"/>
                <a:cs typeface="Arial" panose="020B0604020202020204"/>
              </a:rPr>
              <a:t>的训练数据怎么办？</a:t>
            </a:r>
            <a:endParaRPr sz="2400" dirty="0">
              <a:solidFill>
                <a:srgbClr val="FFFFFF"/>
              </a:solidFill>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什么是低质量训练数据</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1030605" y="1472565"/>
            <a:ext cx="10090150" cy="3552190"/>
          </a:xfrm>
          <a:prstGeom prst="rect">
            <a:avLst/>
          </a:prstGeom>
        </p:spPr>
        <p:txBody>
          <a:bodyPr vert="horz" wrap="square" lIns="0" tIns="58732" rIns="0" bIns="0" rtlCol="0">
            <a:spAutoFit/>
          </a:bodyPr>
          <a:lstStyle/>
          <a:p>
            <a:pPr marL="156845" lvl="0"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标签噪声不可忽略</a:t>
            </a:r>
            <a:endParaRPr lang="en-US" altLang="zh-CN" sz="2200">
              <a:latin typeface="Arial" panose="020B0604020202020204"/>
              <a:cs typeface="Arial" panose="020B0604020202020204"/>
            </a:endParaRPr>
          </a:p>
          <a:p>
            <a:pPr marL="614045" lvl="1"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公共服务（例如</a:t>
            </a:r>
            <a:r>
              <a:rPr lang="en-US" altLang="zh-CN" sz="2200">
                <a:latin typeface="Arial" panose="020B0604020202020204"/>
                <a:cs typeface="Arial" panose="020B0604020202020204"/>
              </a:rPr>
              <a:t> VirusTotal</a:t>
            </a:r>
            <a:r>
              <a:rPr lang="zh-CN" altLang="en-US" sz="2200">
                <a:latin typeface="Arial" panose="020B0604020202020204"/>
                <a:cs typeface="Arial" panose="020B0604020202020204"/>
              </a:rPr>
              <a:t>）给恶意软件的标签每年发布的报告中</a:t>
            </a:r>
            <a:r>
              <a:rPr lang="zh-CN" altLang="en-US" sz="2200">
                <a:latin typeface="Arial" panose="020B0604020202020204"/>
                <a:cs typeface="Arial" panose="020B0604020202020204"/>
              </a:rPr>
              <a:t>可能有所不同，并非总是可靠的。</a:t>
            </a:r>
            <a:endParaRPr lang="en-US" altLang="zh-CN" sz="2200">
              <a:latin typeface="Arial" panose="020B0604020202020204"/>
              <a:cs typeface="Arial" panose="020B0604020202020204"/>
            </a:endParaRPr>
          </a:p>
          <a:p>
            <a:pPr marL="614045" lvl="1"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手动标注会产生大量开销。</a:t>
            </a:r>
            <a:endParaRPr lang="en-US" altLang="zh-CN" sz="2200">
              <a:latin typeface="Arial" panose="020B0604020202020204"/>
              <a:cs typeface="Arial" panose="020B0604020202020204"/>
            </a:endParaRPr>
          </a:p>
          <a:p>
            <a:pPr marL="156845" lvl="0"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恶意训练样本不足</a:t>
            </a:r>
            <a:endParaRPr lang="en-US" altLang="zh-CN" sz="2200">
              <a:latin typeface="Arial" panose="020B0604020202020204"/>
              <a:cs typeface="Arial" panose="020B0604020202020204"/>
            </a:endParaRPr>
          </a:p>
          <a:p>
            <a:pPr marL="614045" lvl="1"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收集恶意训练样本的典型方法是在受控沙箱中执行从真实网络空间捕获的恶意软件样本，并收集生成的流量。</a:t>
            </a:r>
            <a:endParaRPr lang="en-US" altLang="zh-CN" sz="2200">
              <a:latin typeface="Arial" panose="020B0604020202020204"/>
              <a:cs typeface="Arial" panose="020B0604020202020204"/>
            </a:endParaRPr>
          </a:p>
          <a:p>
            <a:pPr marL="614045" lvl="1" indent="-201295">
              <a:lnSpc>
                <a:spcPct val="120000"/>
              </a:lnSpc>
              <a:spcBef>
                <a:spcPts val="385"/>
              </a:spcBef>
              <a:buChar char="•"/>
              <a:tabLst>
                <a:tab pos="614045" algn="l"/>
                <a:tab pos="614680" algn="l"/>
              </a:tabLst>
            </a:pPr>
            <a:r>
              <a:rPr lang="zh-CN" altLang="en-US" sz="2200">
                <a:latin typeface="Arial" panose="020B0604020202020204"/>
                <a:cs typeface="Arial" panose="020B0604020202020204"/>
              </a:rPr>
              <a:t>但现实世界中的恶意软件不断演变。收集时效性强的恶意软件数据十分困难。</a:t>
            </a:r>
            <a:endParaRPr lang="zh-CN" altLang="en-US" sz="2200">
              <a:latin typeface="Arial" panose="020B0604020202020204"/>
              <a:cs typeface="Arial" panose="020B0604020202020204"/>
            </a:endParaRPr>
          </a:p>
        </p:txBody>
      </p:sp>
      <p:grpSp>
        <p:nvGrpSpPr>
          <p:cNvPr id="4" name="object 4"/>
          <p:cNvGrpSpPr/>
          <p:nvPr/>
        </p:nvGrpSpPr>
        <p:grpSpPr>
          <a:xfrm>
            <a:off x="1557020" y="5205730"/>
            <a:ext cx="8152765" cy="926465"/>
            <a:chOff x="1616202" y="4679441"/>
            <a:chExt cx="7708900" cy="876300"/>
          </a:xfrm>
        </p:grpSpPr>
        <p:sp>
          <p:nvSpPr>
            <p:cNvPr id="5" name="object 5"/>
            <p:cNvSpPr/>
            <p:nvPr/>
          </p:nvSpPr>
          <p:spPr>
            <a:xfrm>
              <a:off x="1621536" y="4684775"/>
              <a:ext cx="7698105" cy="866140"/>
            </a:xfrm>
            <a:custGeom>
              <a:avLst/>
              <a:gdLst/>
              <a:ahLst/>
              <a:cxnLst/>
              <a:rect l="l" t="t" r="r" b="b"/>
              <a:pathLst>
                <a:path w="7698105" h="866139">
                  <a:moveTo>
                    <a:pt x="7484364" y="865632"/>
                  </a:moveTo>
                  <a:lnTo>
                    <a:pt x="213359" y="865632"/>
                  </a:lnTo>
                  <a:lnTo>
                    <a:pt x="164591" y="859971"/>
                  </a:lnTo>
                  <a:lnTo>
                    <a:pt x="119742" y="843860"/>
                  </a:lnTo>
                  <a:lnTo>
                    <a:pt x="80118" y="818605"/>
                  </a:lnTo>
                  <a:lnTo>
                    <a:pt x="47026" y="785513"/>
                  </a:lnTo>
                  <a:lnTo>
                    <a:pt x="21771" y="745889"/>
                  </a:lnTo>
                  <a:lnTo>
                    <a:pt x="5660" y="701040"/>
                  </a:lnTo>
                  <a:lnTo>
                    <a:pt x="0" y="652272"/>
                  </a:lnTo>
                  <a:lnTo>
                    <a:pt x="0" y="213360"/>
                  </a:lnTo>
                  <a:lnTo>
                    <a:pt x="5660" y="164592"/>
                  </a:lnTo>
                  <a:lnTo>
                    <a:pt x="21771" y="119742"/>
                  </a:lnTo>
                  <a:lnTo>
                    <a:pt x="47026" y="80118"/>
                  </a:lnTo>
                  <a:lnTo>
                    <a:pt x="80118" y="47026"/>
                  </a:lnTo>
                  <a:lnTo>
                    <a:pt x="119742" y="21771"/>
                  </a:lnTo>
                  <a:lnTo>
                    <a:pt x="164592" y="5660"/>
                  </a:lnTo>
                  <a:lnTo>
                    <a:pt x="213359" y="0"/>
                  </a:lnTo>
                  <a:lnTo>
                    <a:pt x="7484364" y="0"/>
                  </a:lnTo>
                  <a:lnTo>
                    <a:pt x="7533611" y="5660"/>
                  </a:lnTo>
                  <a:lnTo>
                    <a:pt x="7578647" y="21771"/>
                  </a:lnTo>
                  <a:lnTo>
                    <a:pt x="7618244" y="47026"/>
                  </a:lnTo>
                  <a:lnTo>
                    <a:pt x="7651177" y="80118"/>
                  </a:lnTo>
                  <a:lnTo>
                    <a:pt x="7676218" y="119742"/>
                  </a:lnTo>
                  <a:lnTo>
                    <a:pt x="7692143" y="164592"/>
                  </a:lnTo>
                  <a:lnTo>
                    <a:pt x="7697723" y="213360"/>
                  </a:lnTo>
                  <a:lnTo>
                    <a:pt x="7697723" y="652272"/>
                  </a:lnTo>
                  <a:lnTo>
                    <a:pt x="7692143" y="701040"/>
                  </a:lnTo>
                  <a:lnTo>
                    <a:pt x="7676218" y="745889"/>
                  </a:lnTo>
                  <a:lnTo>
                    <a:pt x="7651177" y="785513"/>
                  </a:lnTo>
                  <a:lnTo>
                    <a:pt x="7618244" y="818605"/>
                  </a:lnTo>
                  <a:lnTo>
                    <a:pt x="7578647" y="843860"/>
                  </a:lnTo>
                  <a:lnTo>
                    <a:pt x="7533611" y="859971"/>
                  </a:lnTo>
                  <a:lnTo>
                    <a:pt x="7484364" y="865632"/>
                  </a:lnTo>
                  <a:close/>
                </a:path>
              </a:pathLst>
            </a:custGeom>
            <a:solidFill>
              <a:srgbClr val="501D83"/>
            </a:solidFill>
          </p:spPr>
          <p:txBody>
            <a:bodyPr wrap="square" lIns="0" tIns="0" rIns="0" bIns="0" rtlCol="0"/>
            <a:lstStyle/>
            <a:p>
              <a:endParaRPr sz="1630"/>
            </a:p>
          </p:txBody>
        </p:sp>
        <p:sp>
          <p:nvSpPr>
            <p:cNvPr id="6" name="object 6"/>
            <p:cNvSpPr/>
            <p:nvPr/>
          </p:nvSpPr>
          <p:spPr>
            <a:xfrm>
              <a:off x="1621536" y="4684775"/>
              <a:ext cx="7698105" cy="866140"/>
            </a:xfrm>
            <a:custGeom>
              <a:avLst/>
              <a:gdLst/>
              <a:ahLst/>
              <a:cxnLst/>
              <a:rect l="l" t="t" r="r" b="b"/>
              <a:pathLst>
                <a:path w="7698105" h="866139">
                  <a:moveTo>
                    <a:pt x="0" y="213360"/>
                  </a:moveTo>
                  <a:lnTo>
                    <a:pt x="5660" y="164592"/>
                  </a:lnTo>
                  <a:lnTo>
                    <a:pt x="21771" y="119742"/>
                  </a:lnTo>
                  <a:lnTo>
                    <a:pt x="47026" y="80118"/>
                  </a:lnTo>
                  <a:lnTo>
                    <a:pt x="80118" y="47026"/>
                  </a:lnTo>
                  <a:lnTo>
                    <a:pt x="119742" y="21771"/>
                  </a:lnTo>
                  <a:lnTo>
                    <a:pt x="164592" y="5660"/>
                  </a:lnTo>
                  <a:lnTo>
                    <a:pt x="213359" y="0"/>
                  </a:lnTo>
                  <a:lnTo>
                    <a:pt x="7484364" y="0"/>
                  </a:lnTo>
                  <a:lnTo>
                    <a:pt x="7533611" y="5660"/>
                  </a:lnTo>
                  <a:lnTo>
                    <a:pt x="7578647" y="21771"/>
                  </a:lnTo>
                  <a:lnTo>
                    <a:pt x="7618244" y="47026"/>
                  </a:lnTo>
                  <a:lnTo>
                    <a:pt x="7651177" y="80118"/>
                  </a:lnTo>
                  <a:lnTo>
                    <a:pt x="7676218" y="119742"/>
                  </a:lnTo>
                  <a:lnTo>
                    <a:pt x="7692143" y="164592"/>
                  </a:lnTo>
                  <a:lnTo>
                    <a:pt x="7697723" y="213360"/>
                  </a:lnTo>
                  <a:lnTo>
                    <a:pt x="7697723" y="652272"/>
                  </a:lnTo>
                  <a:lnTo>
                    <a:pt x="7692143" y="701040"/>
                  </a:lnTo>
                  <a:lnTo>
                    <a:pt x="7676218" y="745889"/>
                  </a:lnTo>
                  <a:lnTo>
                    <a:pt x="7651177" y="785513"/>
                  </a:lnTo>
                  <a:lnTo>
                    <a:pt x="7618244" y="818605"/>
                  </a:lnTo>
                  <a:lnTo>
                    <a:pt x="7578647" y="843860"/>
                  </a:lnTo>
                  <a:lnTo>
                    <a:pt x="7533611" y="859971"/>
                  </a:lnTo>
                  <a:lnTo>
                    <a:pt x="7484364" y="865632"/>
                  </a:lnTo>
                  <a:lnTo>
                    <a:pt x="213359" y="865632"/>
                  </a:lnTo>
                  <a:lnTo>
                    <a:pt x="164591" y="859971"/>
                  </a:lnTo>
                  <a:lnTo>
                    <a:pt x="119742" y="843860"/>
                  </a:lnTo>
                  <a:lnTo>
                    <a:pt x="80118" y="818605"/>
                  </a:lnTo>
                  <a:lnTo>
                    <a:pt x="47026" y="785513"/>
                  </a:lnTo>
                  <a:lnTo>
                    <a:pt x="21771" y="745889"/>
                  </a:lnTo>
                  <a:lnTo>
                    <a:pt x="5660" y="701040"/>
                  </a:lnTo>
                  <a:lnTo>
                    <a:pt x="0" y="652272"/>
                  </a:lnTo>
                  <a:lnTo>
                    <a:pt x="0" y="213360"/>
                  </a:lnTo>
                  <a:close/>
                </a:path>
              </a:pathLst>
            </a:custGeom>
            <a:ln w="10668">
              <a:solidFill>
                <a:srgbClr val="38135E"/>
              </a:solidFill>
            </a:ln>
          </p:spPr>
          <p:txBody>
            <a:bodyPr wrap="square" lIns="0" tIns="0" rIns="0" bIns="0" rtlCol="0"/>
            <a:lstStyle/>
            <a:p>
              <a:endParaRPr sz="1630"/>
            </a:p>
          </p:txBody>
        </p:sp>
      </p:grpSp>
      <p:sp>
        <p:nvSpPr>
          <p:cNvPr id="7" name="object 7"/>
          <p:cNvSpPr txBox="1"/>
          <p:nvPr/>
        </p:nvSpPr>
        <p:spPr>
          <a:xfrm>
            <a:off x="1885950" y="5283835"/>
            <a:ext cx="7572375" cy="798830"/>
          </a:xfrm>
          <a:prstGeom prst="rect">
            <a:avLst/>
          </a:prstGeom>
        </p:spPr>
        <p:txBody>
          <a:bodyPr vert="horz" wrap="square" lIns="0" tIns="11516" rIns="0" bIns="0" rtlCol="0">
            <a:noAutofit/>
          </a:bodyPr>
          <a:lstStyle/>
          <a:p>
            <a:pPr marL="12700" algn="ctr">
              <a:lnSpc>
                <a:spcPct val="100000"/>
              </a:lnSpc>
              <a:spcBef>
                <a:spcPts val="110"/>
              </a:spcBef>
              <a:buClrTx/>
              <a:buSzTx/>
              <a:buFontTx/>
            </a:pPr>
            <a:r>
              <a:rPr sz="2400" dirty="0">
                <a:solidFill>
                  <a:srgbClr val="FFFFFF"/>
                </a:solidFill>
                <a:latin typeface="Arial" panose="020B0604020202020204"/>
                <a:cs typeface="Arial" panose="020B0604020202020204"/>
              </a:rPr>
              <a:t>低质量的训练数据会降低基于机器学习/深度学习的加密恶意流量检测方法的检测性能。</a:t>
            </a:r>
            <a:endParaRPr sz="2400" dirty="0">
              <a:solidFill>
                <a:srgbClr val="FFFFFF"/>
              </a:solidFill>
              <a:latin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可能的解决方案？</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937260" y="1285240"/>
            <a:ext cx="9823450" cy="2960370"/>
          </a:xfrm>
          <a:prstGeom prst="rect">
            <a:avLst/>
          </a:prstGeom>
        </p:spPr>
        <p:txBody>
          <a:bodyPr vert="horz" wrap="square" lIns="0" tIns="58732" rIns="0" bIns="0" rtlCol="0">
            <a:spAutoFit/>
          </a:bodyPr>
          <a:lstStyle/>
          <a:p>
            <a:pPr marL="0" marR="5080" lvl="0" indent="0">
              <a:lnSpc>
                <a:spcPct val="116000"/>
              </a:lnSpc>
              <a:spcBef>
                <a:spcPts val="105"/>
              </a:spcBef>
              <a:buNone/>
              <a:tabLst>
                <a:tab pos="614045" algn="l"/>
                <a:tab pos="614680" algn="l"/>
              </a:tabLst>
            </a:pPr>
            <a:endParaRPr sz="1405">
              <a:latin typeface="Arial" panose="020B0604020202020204"/>
              <a:cs typeface="Arial" panose="020B0604020202020204"/>
            </a:endParaRPr>
          </a:p>
          <a:p>
            <a:pPr marL="156845" marR="5080" lvl="0"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鲁棒性强的机器学习模型</a:t>
            </a:r>
            <a:endParaRPr lang="en-US" altLang="zh-CN" sz="2400">
              <a:latin typeface="Arial" panose="020B0604020202020204"/>
              <a:cs typeface="Arial" panose="020B0604020202020204"/>
            </a:endParaRPr>
          </a:p>
          <a:p>
            <a:pPr marL="614045" marR="5080" lvl="1"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依赖于强假设或先验知识。</a:t>
            </a:r>
            <a:endParaRPr lang="en-US" altLang="zh-CN" sz="2400">
              <a:latin typeface="Arial" panose="020B0604020202020204"/>
              <a:cs typeface="Arial" panose="020B0604020202020204"/>
            </a:endParaRPr>
          </a:p>
          <a:p>
            <a:pPr marL="156845" marR="5080" lvl="0"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数据增强方法，根据现有训练数据的分布合成新数据</a:t>
            </a:r>
            <a:endParaRPr lang="zh-CN" altLang="en-US" sz="2400">
              <a:latin typeface="Arial" panose="020B0604020202020204"/>
              <a:cs typeface="Arial" panose="020B0604020202020204"/>
            </a:endParaRPr>
          </a:p>
          <a:p>
            <a:pPr marL="614045" marR="5080" lvl="1"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标签噪声会混淆不同类别的分布，导致合成更多标签噪声。</a:t>
            </a:r>
            <a:endParaRPr lang="en-US" altLang="zh-CN" sz="2400">
              <a:latin typeface="Arial" panose="020B0604020202020204"/>
              <a:cs typeface="Arial" panose="020B0604020202020204"/>
            </a:endParaRPr>
          </a:p>
          <a:p>
            <a:pPr marL="156845" marR="5080" lvl="0"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使用大规模未标记加密训练数据预训练深度学习模型</a:t>
            </a:r>
            <a:endParaRPr lang="zh-CN" altLang="en-US" sz="2400">
              <a:latin typeface="Arial" panose="020B0604020202020204"/>
              <a:cs typeface="Arial" panose="020B0604020202020204"/>
            </a:endParaRPr>
          </a:p>
          <a:p>
            <a:pPr marL="614045" marR="5080" lvl="1" indent="-201295">
              <a:lnSpc>
                <a:spcPct val="116000"/>
              </a:lnSpc>
              <a:spcBef>
                <a:spcPts val="105"/>
              </a:spcBef>
              <a:buChar char="•"/>
              <a:tabLst>
                <a:tab pos="614045" algn="l"/>
                <a:tab pos="614680" algn="l"/>
              </a:tabLst>
            </a:pPr>
            <a:r>
              <a:rPr lang="zh-CN" altLang="en-US" sz="2400">
                <a:latin typeface="Arial" panose="020B0604020202020204"/>
                <a:cs typeface="Arial" panose="020B0604020202020204"/>
              </a:rPr>
              <a:t>收集和预处理大规模数据集成本高昂，也可能增加隐私泄露的风险。</a:t>
            </a:r>
            <a:endParaRPr lang="zh-CN" altLang="en-US" sz="2400">
              <a:latin typeface="Arial" panose="020B0604020202020204"/>
              <a:cs typeface="Arial" panose="020B0604020202020204"/>
            </a:endParaRPr>
          </a:p>
        </p:txBody>
      </p:sp>
      <p:sp>
        <p:nvSpPr>
          <p:cNvPr id="4" name="object 4"/>
          <p:cNvSpPr txBox="1"/>
          <p:nvPr/>
        </p:nvSpPr>
        <p:spPr>
          <a:xfrm>
            <a:off x="1603375" y="4763135"/>
            <a:ext cx="1628140" cy="380365"/>
          </a:xfrm>
          <a:prstGeom prst="rect">
            <a:avLst/>
          </a:prstGeom>
        </p:spPr>
        <p:txBody>
          <a:bodyPr vert="horz" wrap="square" lIns="0" tIns="11516" rIns="0" bIns="0" rtlCol="0">
            <a:spAutoFit/>
          </a:bodyPr>
          <a:lstStyle/>
          <a:p>
            <a:pPr marL="213360" indent="-201295">
              <a:lnSpc>
                <a:spcPct val="100000"/>
              </a:lnSpc>
              <a:spcBef>
                <a:spcPts val="100"/>
              </a:spcBef>
              <a:buFont typeface="Arial" panose="020B0604020202020204"/>
              <a:buChar char="•"/>
              <a:tabLst>
                <a:tab pos="213995" algn="l"/>
              </a:tabLst>
            </a:pPr>
            <a:r>
              <a:rPr lang="zh-CN" altLang="en-US" sz="2400" b="1">
                <a:latin typeface="Arial" panose="020B0604020202020204"/>
                <a:cs typeface="Arial" panose="020B0604020202020204"/>
              </a:rPr>
              <a:t>本文目标</a:t>
            </a:r>
            <a:r>
              <a:rPr lang="en-US" altLang="zh-CN" sz="2400" b="1">
                <a:latin typeface="Arial" panose="020B0604020202020204"/>
                <a:cs typeface="Arial" panose="020B0604020202020204"/>
              </a:rPr>
              <a:t>:</a:t>
            </a:r>
            <a:endParaRPr lang="en-US" altLang="zh-CN" sz="2400" b="1">
              <a:latin typeface="Arial" panose="020B0604020202020204"/>
              <a:cs typeface="Arial" panose="020B0604020202020204"/>
            </a:endParaRPr>
          </a:p>
        </p:txBody>
      </p:sp>
      <p:grpSp>
        <p:nvGrpSpPr>
          <p:cNvPr id="5" name="object 5"/>
          <p:cNvGrpSpPr/>
          <p:nvPr/>
        </p:nvGrpSpPr>
        <p:grpSpPr>
          <a:xfrm>
            <a:off x="3225800" y="4577715"/>
            <a:ext cx="7587615" cy="689610"/>
            <a:chOff x="2181605" y="5048250"/>
            <a:chExt cx="7192009" cy="760730"/>
          </a:xfrm>
        </p:grpSpPr>
        <p:sp>
          <p:nvSpPr>
            <p:cNvPr id="6" name="object 6"/>
            <p:cNvSpPr/>
            <p:nvPr/>
          </p:nvSpPr>
          <p:spPr>
            <a:xfrm>
              <a:off x="2186939" y="5053583"/>
              <a:ext cx="7181215" cy="749935"/>
            </a:xfrm>
            <a:custGeom>
              <a:avLst/>
              <a:gdLst/>
              <a:ahLst/>
              <a:cxnLst/>
              <a:rect l="l" t="t" r="r" b="b"/>
              <a:pathLst>
                <a:path w="7181215" h="749935">
                  <a:moveTo>
                    <a:pt x="6996683" y="749808"/>
                  </a:moveTo>
                  <a:lnTo>
                    <a:pt x="184404" y="749808"/>
                  </a:lnTo>
                  <a:lnTo>
                    <a:pt x="135290" y="743239"/>
                  </a:lnTo>
                  <a:lnTo>
                    <a:pt x="91214" y="724690"/>
                  </a:lnTo>
                  <a:lnTo>
                    <a:pt x="53911" y="695896"/>
                  </a:lnTo>
                  <a:lnTo>
                    <a:pt x="25117" y="658593"/>
                  </a:lnTo>
                  <a:lnTo>
                    <a:pt x="6568" y="614517"/>
                  </a:lnTo>
                  <a:lnTo>
                    <a:pt x="0" y="565404"/>
                  </a:lnTo>
                  <a:lnTo>
                    <a:pt x="0" y="184404"/>
                  </a:lnTo>
                  <a:lnTo>
                    <a:pt x="6568" y="135290"/>
                  </a:lnTo>
                  <a:lnTo>
                    <a:pt x="25117" y="91214"/>
                  </a:lnTo>
                  <a:lnTo>
                    <a:pt x="53911" y="53911"/>
                  </a:lnTo>
                  <a:lnTo>
                    <a:pt x="91214" y="25117"/>
                  </a:lnTo>
                  <a:lnTo>
                    <a:pt x="135290" y="6568"/>
                  </a:lnTo>
                  <a:lnTo>
                    <a:pt x="184404" y="0"/>
                  </a:lnTo>
                  <a:lnTo>
                    <a:pt x="6996683" y="0"/>
                  </a:lnTo>
                  <a:lnTo>
                    <a:pt x="7045797" y="6568"/>
                  </a:lnTo>
                  <a:lnTo>
                    <a:pt x="7089873" y="25117"/>
                  </a:lnTo>
                  <a:lnTo>
                    <a:pt x="7127176" y="53911"/>
                  </a:lnTo>
                  <a:lnTo>
                    <a:pt x="7155970" y="91214"/>
                  </a:lnTo>
                  <a:lnTo>
                    <a:pt x="7174519" y="135290"/>
                  </a:lnTo>
                  <a:lnTo>
                    <a:pt x="7181087" y="184404"/>
                  </a:lnTo>
                  <a:lnTo>
                    <a:pt x="7181087" y="565404"/>
                  </a:lnTo>
                  <a:lnTo>
                    <a:pt x="7174519" y="614517"/>
                  </a:lnTo>
                  <a:lnTo>
                    <a:pt x="7155970" y="658593"/>
                  </a:lnTo>
                  <a:lnTo>
                    <a:pt x="7127176" y="695896"/>
                  </a:lnTo>
                  <a:lnTo>
                    <a:pt x="7089873" y="724690"/>
                  </a:lnTo>
                  <a:lnTo>
                    <a:pt x="7045797" y="743239"/>
                  </a:lnTo>
                  <a:lnTo>
                    <a:pt x="6996683" y="749808"/>
                  </a:lnTo>
                  <a:close/>
                </a:path>
              </a:pathLst>
            </a:custGeom>
            <a:solidFill>
              <a:srgbClr val="501D83"/>
            </a:solidFill>
          </p:spPr>
          <p:txBody>
            <a:bodyPr wrap="square" lIns="0" tIns="0" rIns="0" bIns="0" rtlCol="0"/>
            <a:lstStyle/>
            <a:p>
              <a:endParaRPr sz="1630"/>
            </a:p>
          </p:txBody>
        </p:sp>
        <p:sp>
          <p:nvSpPr>
            <p:cNvPr id="7" name="object 7"/>
            <p:cNvSpPr/>
            <p:nvPr/>
          </p:nvSpPr>
          <p:spPr>
            <a:xfrm>
              <a:off x="2186939" y="5053583"/>
              <a:ext cx="7181215" cy="749935"/>
            </a:xfrm>
            <a:custGeom>
              <a:avLst/>
              <a:gdLst/>
              <a:ahLst/>
              <a:cxnLst/>
              <a:rect l="l" t="t" r="r" b="b"/>
              <a:pathLst>
                <a:path w="7181215" h="749935">
                  <a:moveTo>
                    <a:pt x="0" y="184404"/>
                  </a:moveTo>
                  <a:lnTo>
                    <a:pt x="6568" y="135290"/>
                  </a:lnTo>
                  <a:lnTo>
                    <a:pt x="25117" y="91214"/>
                  </a:lnTo>
                  <a:lnTo>
                    <a:pt x="53911" y="53911"/>
                  </a:lnTo>
                  <a:lnTo>
                    <a:pt x="91214" y="25117"/>
                  </a:lnTo>
                  <a:lnTo>
                    <a:pt x="135290" y="6568"/>
                  </a:lnTo>
                  <a:lnTo>
                    <a:pt x="184404" y="0"/>
                  </a:lnTo>
                  <a:lnTo>
                    <a:pt x="6996683" y="0"/>
                  </a:lnTo>
                  <a:lnTo>
                    <a:pt x="7045797" y="6568"/>
                  </a:lnTo>
                  <a:lnTo>
                    <a:pt x="7089873" y="25117"/>
                  </a:lnTo>
                  <a:lnTo>
                    <a:pt x="7127176" y="53911"/>
                  </a:lnTo>
                  <a:lnTo>
                    <a:pt x="7155970" y="91214"/>
                  </a:lnTo>
                  <a:lnTo>
                    <a:pt x="7174519" y="135290"/>
                  </a:lnTo>
                  <a:lnTo>
                    <a:pt x="7181087" y="184404"/>
                  </a:lnTo>
                  <a:lnTo>
                    <a:pt x="7181087" y="565404"/>
                  </a:lnTo>
                  <a:lnTo>
                    <a:pt x="7174519" y="614517"/>
                  </a:lnTo>
                  <a:lnTo>
                    <a:pt x="7155970" y="658593"/>
                  </a:lnTo>
                  <a:lnTo>
                    <a:pt x="7127176" y="695896"/>
                  </a:lnTo>
                  <a:lnTo>
                    <a:pt x="7089873" y="724690"/>
                  </a:lnTo>
                  <a:lnTo>
                    <a:pt x="7045797" y="743239"/>
                  </a:lnTo>
                  <a:lnTo>
                    <a:pt x="6996683" y="749808"/>
                  </a:lnTo>
                  <a:lnTo>
                    <a:pt x="184404" y="749808"/>
                  </a:lnTo>
                  <a:lnTo>
                    <a:pt x="135290" y="743239"/>
                  </a:lnTo>
                  <a:lnTo>
                    <a:pt x="91214" y="724690"/>
                  </a:lnTo>
                  <a:lnTo>
                    <a:pt x="53911" y="695896"/>
                  </a:lnTo>
                  <a:lnTo>
                    <a:pt x="25117" y="658593"/>
                  </a:lnTo>
                  <a:lnTo>
                    <a:pt x="6568" y="614517"/>
                  </a:lnTo>
                  <a:lnTo>
                    <a:pt x="0" y="565404"/>
                  </a:lnTo>
                  <a:lnTo>
                    <a:pt x="0" y="184404"/>
                  </a:lnTo>
                  <a:close/>
                </a:path>
              </a:pathLst>
            </a:custGeom>
            <a:ln w="10668">
              <a:solidFill>
                <a:srgbClr val="38135E"/>
              </a:solidFill>
            </a:ln>
          </p:spPr>
          <p:txBody>
            <a:bodyPr wrap="square" lIns="0" tIns="0" rIns="0" bIns="0" rtlCol="0"/>
            <a:lstStyle/>
            <a:p>
              <a:endParaRPr sz="1630"/>
            </a:p>
          </p:txBody>
        </p:sp>
      </p:grpSp>
      <p:sp>
        <p:nvSpPr>
          <p:cNvPr id="8" name="object 8"/>
          <p:cNvSpPr txBox="1"/>
          <p:nvPr/>
        </p:nvSpPr>
        <p:spPr>
          <a:xfrm>
            <a:off x="3502978" y="4732338"/>
            <a:ext cx="7033260" cy="380365"/>
          </a:xfrm>
          <a:prstGeom prst="rect">
            <a:avLst/>
          </a:prstGeom>
        </p:spPr>
        <p:txBody>
          <a:bodyPr vert="horz" wrap="square" lIns="0" tIns="11516" rIns="0" bIns="0" rtlCol="0">
            <a:spAutoFit/>
          </a:bodyPr>
          <a:lstStyle/>
          <a:p>
            <a:pPr marL="12700" algn="ctr">
              <a:lnSpc>
                <a:spcPct val="100000"/>
              </a:lnSpc>
              <a:spcBef>
                <a:spcPts val="110"/>
              </a:spcBef>
              <a:buClrTx/>
              <a:buSzTx/>
              <a:buFontTx/>
            </a:pPr>
            <a:r>
              <a:rPr sz="2400" b="1" dirty="0">
                <a:solidFill>
                  <a:srgbClr val="FFFFFF"/>
                </a:solidFill>
                <a:latin typeface="Arial" panose="020B0604020202020204"/>
                <a:cs typeface="Arial" panose="020B0604020202020204"/>
              </a:rPr>
              <a:t>仅使用低质量训练集即可准确检测加密恶意流量。</a:t>
            </a:r>
            <a:endParaRPr sz="2400" b="1" dirty="0">
              <a:solidFill>
                <a:srgbClr val="FFFFFF"/>
              </a:solidFill>
              <a:latin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6146204" y="2514307"/>
            <a:ext cx="4945167" cy="1541281"/>
          </a:xfrm>
          <a:prstGeom prst="rect">
            <a:avLst/>
          </a:prstGeom>
        </p:spPr>
      </p:pic>
      <p:grpSp>
        <p:nvGrpSpPr>
          <p:cNvPr id="3" name="object 3"/>
          <p:cNvGrpSpPr/>
          <p:nvPr/>
        </p:nvGrpSpPr>
        <p:grpSpPr>
          <a:xfrm>
            <a:off x="2863850" y="4525010"/>
            <a:ext cx="8227695" cy="1053465"/>
            <a:chOff x="1782317" y="4517898"/>
            <a:chExt cx="8178165" cy="1161415"/>
          </a:xfrm>
        </p:grpSpPr>
        <p:sp>
          <p:nvSpPr>
            <p:cNvPr id="4" name="object 4"/>
            <p:cNvSpPr/>
            <p:nvPr/>
          </p:nvSpPr>
          <p:spPr>
            <a:xfrm>
              <a:off x="1787651" y="4523232"/>
              <a:ext cx="8167370" cy="1150620"/>
            </a:xfrm>
            <a:custGeom>
              <a:avLst/>
              <a:gdLst/>
              <a:ahLst/>
              <a:cxnLst/>
              <a:rect l="l" t="t" r="r" b="b"/>
              <a:pathLst>
                <a:path w="8167370" h="1150620">
                  <a:moveTo>
                    <a:pt x="7882128" y="1150620"/>
                  </a:moveTo>
                  <a:lnTo>
                    <a:pt x="283464" y="1150620"/>
                  </a:lnTo>
                  <a:lnTo>
                    <a:pt x="237753" y="1146921"/>
                  </a:lnTo>
                  <a:lnTo>
                    <a:pt x="194291" y="1136209"/>
                  </a:lnTo>
                  <a:lnTo>
                    <a:pt x="153683" y="1119059"/>
                  </a:lnTo>
                  <a:lnTo>
                    <a:pt x="116531" y="1096048"/>
                  </a:lnTo>
                  <a:lnTo>
                    <a:pt x="83438" y="1067752"/>
                  </a:lnTo>
                  <a:lnTo>
                    <a:pt x="55010" y="1034747"/>
                  </a:lnTo>
                  <a:lnTo>
                    <a:pt x="31848" y="997608"/>
                  </a:lnTo>
                  <a:lnTo>
                    <a:pt x="14557" y="956913"/>
                  </a:lnTo>
                  <a:lnTo>
                    <a:pt x="3739" y="913237"/>
                  </a:lnTo>
                  <a:lnTo>
                    <a:pt x="0" y="867155"/>
                  </a:lnTo>
                  <a:lnTo>
                    <a:pt x="0" y="283463"/>
                  </a:lnTo>
                  <a:lnTo>
                    <a:pt x="3739" y="237753"/>
                  </a:lnTo>
                  <a:lnTo>
                    <a:pt x="14557" y="194291"/>
                  </a:lnTo>
                  <a:lnTo>
                    <a:pt x="31848" y="153683"/>
                  </a:lnTo>
                  <a:lnTo>
                    <a:pt x="55010" y="116531"/>
                  </a:lnTo>
                  <a:lnTo>
                    <a:pt x="83439" y="83438"/>
                  </a:lnTo>
                  <a:lnTo>
                    <a:pt x="116531" y="55010"/>
                  </a:lnTo>
                  <a:lnTo>
                    <a:pt x="153683" y="31848"/>
                  </a:lnTo>
                  <a:lnTo>
                    <a:pt x="194291" y="14557"/>
                  </a:lnTo>
                  <a:lnTo>
                    <a:pt x="237753" y="3739"/>
                  </a:lnTo>
                  <a:lnTo>
                    <a:pt x="283464" y="0"/>
                  </a:lnTo>
                  <a:lnTo>
                    <a:pt x="7882128" y="0"/>
                  </a:lnTo>
                  <a:lnTo>
                    <a:pt x="7928251" y="3739"/>
                  </a:lnTo>
                  <a:lnTo>
                    <a:pt x="7972044" y="14557"/>
                  </a:lnTo>
                  <a:lnTo>
                    <a:pt x="8012910" y="31848"/>
                  </a:lnTo>
                  <a:lnTo>
                    <a:pt x="8050255" y="55010"/>
                  </a:lnTo>
                  <a:lnTo>
                    <a:pt x="8083486" y="83438"/>
                  </a:lnTo>
                  <a:lnTo>
                    <a:pt x="8112008" y="116531"/>
                  </a:lnTo>
                  <a:lnTo>
                    <a:pt x="8135226" y="153683"/>
                  </a:lnTo>
                  <a:lnTo>
                    <a:pt x="8152546" y="194291"/>
                  </a:lnTo>
                  <a:lnTo>
                    <a:pt x="8163374" y="237753"/>
                  </a:lnTo>
                  <a:lnTo>
                    <a:pt x="8167116" y="283463"/>
                  </a:lnTo>
                  <a:lnTo>
                    <a:pt x="8167116" y="867155"/>
                  </a:lnTo>
                  <a:lnTo>
                    <a:pt x="8163374" y="913237"/>
                  </a:lnTo>
                  <a:lnTo>
                    <a:pt x="8152546" y="956913"/>
                  </a:lnTo>
                  <a:lnTo>
                    <a:pt x="8135226" y="997608"/>
                  </a:lnTo>
                  <a:lnTo>
                    <a:pt x="8112008" y="1034747"/>
                  </a:lnTo>
                  <a:lnTo>
                    <a:pt x="8083486" y="1067752"/>
                  </a:lnTo>
                  <a:lnTo>
                    <a:pt x="8050255" y="1096048"/>
                  </a:lnTo>
                  <a:lnTo>
                    <a:pt x="8012910" y="1119059"/>
                  </a:lnTo>
                  <a:lnTo>
                    <a:pt x="7972044" y="1136209"/>
                  </a:lnTo>
                  <a:lnTo>
                    <a:pt x="7928251" y="1146921"/>
                  </a:lnTo>
                  <a:lnTo>
                    <a:pt x="7882128" y="1150620"/>
                  </a:lnTo>
                  <a:close/>
                </a:path>
              </a:pathLst>
            </a:custGeom>
            <a:solidFill>
              <a:srgbClr val="501D83"/>
            </a:solidFill>
          </p:spPr>
          <p:txBody>
            <a:bodyPr wrap="square" lIns="0" tIns="0" rIns="0" bIns="0" rtlCol="0"/>
            <a:lstStyle/>
            <a:p>
              <a:endParaRPr sz="1630"/>
            </a:p>
          </p:txBody>
        </p:sp>
        <p:sp>
          <p:nvSpPr>
            <p:cNvPr id="5" name="object 5"/>
            <p:cNvSpPr/>
            <p:nvPr/>
          </p:nvSpPr>
          <p:spPr>
            <a:xfrm>
              <a:off x="1787651" y="4523232"/>
              <a:ext cx="8167370" cy="1150620"/>
            </a:xfrm>
            <a:custGeom>
              <a:avLst/>
              <a:gdLst/>
              <a:ahLst/>
              <a:cxnLst/>
              <a:rect l="l" t="t" r="r" b="b"/>
              <a:pathLst>
                <a:path w="8167370" h="1150620">
                  <a:moveTo>
                    <a:pt x="0" y="283463"/>
                  </a:moveTo>
                  <a:lnTo>
                    <a:pt x="3739" y="237753"/>
                  </a:lnTo>
                  <a:lnTo>
                    <a:pt x="14557" y="194291"/>
                  </a:lnTo>
                  <a:lnTo>
                    <a:pt x="31848" y="153683"/>
                  </a:lnTo>
                  <a:lnTo>
                    <a:pt x="55010" y="116531"/>
                  </a:lnTo>
                  <a:lnTo>
                    <a:pt x="83439" y="83438"/>
                  </a:lnTo>
                  <a:lnTo>
                    <a:pt x="116531" y="55010"/>
                  </a:lnTo>
                  <a:lnTo>
                    <a:pt x="153683" y="31848"/>
                  </a:lnTo>
                  <a:lnTo>
                    <a:pt x="194291" y="14557"/>
                  </a:lnTo>
                  <a:lnTo>
                    <a:pt x="237753" y="3739"/>
                  </a:lnTo>
                  <a:lnTo>
                    <a:pt x="283464" y="0"/>
                  </a:lnTo>
                  <a:lnTo>
                    <a:pt x="7882128" y="0"/>
                  </a:lnTo>
                  <a:lnTo>
                    <a:pt x="7928251" y="3739"/>
                  </a:lnTo>
                  <a:lnTo>
                    <a:pt x="7972044" y="14557"/>
                  </a:lnTo>
                  <a:lnTo>
                    <a:pt x="8012910" y="31848"/>
                  </a:lnTo>
                  <a:lnTo>
                    <a:pt x="8050255" y="55010"/>
                  </a:lnTo>
                  <a:lnTo>
                    <a:pt x="8083486" y="83438"/>
                  </a:lnTo>
                  <a:lnTo>
                    <a:pt x="8112008" y="116531"/>
                  </a:lnTo>
                  <a:lnTo>
                    <a:pt x="8135226" y="153683"/>
                  </a:lnTo>
                  <a:lnTo>
                    <a:pt x="8152546" y="194291"/>
                  </a:lnTo>
                  <a:lnTo>
                    <a:pt x="8163374" y="237753"/>
                  </a:lnTo>
                  <a:lnTo>
                    <a:pt x="8167116" y="283463"/>
                  </a:lnTo>
                  <a:lnTo>
                    <a:pt x="8167116" y="867155"/>
                  </a:lnTo>
                  <a:lnTo>
                    <a:pt x="8163374" y="913237"/>
                  </a:lnTo>
                  <a:lnTo>
                    <a:pt x="8152546" y="956913"/>
                  </a:lnTo>
                  <a:lnTo>
                    <a:pt x="8135226" y="997608"/>
                  </a:lnTo>
                  <a:lnTo>
                    <a:pt x="8112008" y="1034747"/>
                  </a:lnTo>
                  <a:lnTo>
                    <a:pt x="8083486" y="1067752"/>
                  </a:lnTo>
                  <a:lnTo>
                    <a:pt x="8050255" y="1096048"/>
                  </a:lnTo>
                  <a:lnTo>
                    <a:pt x="8012910" y="1119059"/>
                  </a:lnTo>
                  <a:lnTo>
                    <a:pt x="7972044" y="1136209"/>
                  </a:lnTo>
                  <a:lnTo>
                    <a:pt x="7928251" y="1146921"/>
                  </a:lnTo>
                  <a:lnTo>
                    <a:pt x="7882128" y="1150620"/>
                  </a:lnTo>
                  <a:lnTo>
                    <a:pt x="283464" y="1150620"/>
                  </a:lnTo>
                  <a:lnTo>
                    <a:pt x="237753" y="1146921"/>
                  </a:lnTo>
                  <a:lnTo>
                    <a:pt x="194291" y="1136209"/>
                  </a:lnTo>
                  <a:lnTo>
                    <a:pt x="153683" y="1119059"/>
                  </a:lnTo>
                  <a:lnTo>
                    <a:pt x="116531" y="1096048"/>
                  </a:lnTo>
                  <a:lnTo>
                    <a:pt x="83438" y="1067752"/>
                  </a:lnTo>
                  <a:lnTo>
                    <a:pt x="55010" y="1034747"/>
                  </a:lnTo>
                  <a:lnTo>
                    <a:pt x="31848" y="997608"/>
                  </a:lnTo>
                  <a:lnTo>
                    <a:pt x="14557" y="956913"/>
                  </a:lnTo>
                  <a:lnTo>
                    <a:pt x="3739" y="913237"/>
                  </a:lnTo>
                  <a:lnTo>
                    <a:pt x="0" y="867155"/>
                  </a:lnTo>
                  <a:lnTo>
                    <a:pt x="0" y="283463"/>
                  </a:lnTo>
                  <a:close/>
                </a:path>
              </a:pathLst>
            </a:custGeom>
            <a:ln w="10668">
              <a:solidFill>
                <a:srgbClr val="38135E"/>
              </a:solidFill>
            </a:ln>
          </p:spPr>
          <p:txBody>
            <a:bodyPr wrap="square" lIns="0" tIns="0" rIns="0" bIns="0" rtlCol="0"/>
            <a:lstStyle/>
            <a:p>
              <a:endParaRPr sz="1630"/>
            </a:p>
          </p:txBody>
        </p:sp>
      </p:grpSp>
      <p:sp>
        <p:nvSpPr>
          <p:cNvPr id="6" name="object 6"/>
          <p:cNvSpPr txBox="1"/>
          <p:nvPr/>
        </p:nvSpPr>
        <p:spPr>
          <a:xfrm>
            <a:off x="3030220" y="4676775"/>
            <a:ext cx="7898130" cy="748665"/>
          </a:xfrm>
          <a:prstGeom prst="rect">
            <a:avLst/>
          </a:prstGeom>
        </p:spPr>
        <p:txBody>
          <a:bodyPr vert="horz" wrap="square" lIns="0" tIns="10364" rIns="0" bIns="0" rtlCol="0">
            <a:spAutoFit/>
          </a:bodyPr>
          <a:lstStyle/>
          <a:p>
            <a:pPr marL="12065" marR="5080" indent="-1270" algn="ctr">
              <a:lnSpc>
                <a:spcPct val="120000"/>
              </a:lnSpc>
              <a:spcBef>
                <a:spcPts val="90"/>
              </a:spcBef>
            </a:pPr>
            <a:r>
              <a:rPr lang="zh-CN" altLang="en-US" sz="2000" b="1">
                <a:solidFill>
                  <a:schemeClr val="bg1"/>
                </a:solidFill>
                <a:latin typeface="Arial" panose="020B0604020202020204"/>
                <a:cs typeface="Arial" panose="020B0604020202020204"/>
              </a:rPr>
              <a:t>利用良性流量数据和恶意流量数据分布的差异</a:t>
            </a:r>
            <a:r>
              <a:rPr lang="zh-CN" altLang="en-US" sz="2000">
                <a:solidFill>
                  <a:schemeClr val="bg1"/>
                </a:solidFill>
                <a:latin typeface="Arial" panose="020B0604020202020204"/>
                <a:cs typeface="Arial" panose="020B0604020202020204"/>
              </a:rPr>
              <a:t>来推断训练样本的真实标签，并生成能够代表新的加密恶意流量可能分布区域的新训练数据。</a:t>
            </a:r>
            <a:endParaRPr lang="zh-CN" altLang="en-US" sz="2000">
              <a:solidFill>
                <a:schemeClr val="bg1"/>
              </a:solidFill>
              <a:latin typeface="Arial" panose="020B0604020202020204"/>
              <a:cs typeface="Arial" panose="020B0604020202020204"/>
            </a:endParaRPr>
          </a:p>
        </p:txBody>
      </p:sp>
      <p:sp>
        <p:nvSpPr>
          <p:cNvPr id="7" name="object 7"/>
          <p:cNvSpPr txBox="1"/>
          <p:nvPr/>
        </p:nvSpPr>
        <p:spPr>
          <a:xfrm>
            <a:off x="1177290" y="4892040"/>
            <a:ext cx="1475740" cy="318770"/>
          </a:xfrm>
          <a:prstGeom prst="rect">
            <a:avLst/>
          </a:prstGeom>
        </p:spPr>
        <p:txBody>
          <a:bodyPr vert="horz" wrap="square" lIns="0" tIns="11516" rIns="0" bIns="0" rtlCol="0">
            <a:spAutoFit/>
          </a:bodyPr>
          <a:lstStyle/>
          <a:p>
            <a:pPr marL="213360" indent="-201295">
              <a:lnSpc>
                <a:spcPct val="100000"/>
              </a:lnSpc>
              <a:spcBef>
                <a:spcPts val="100"/>
              </a:spcBef>
              <a:buFont typeface="Arial" panose="020B0604020202020204"/>
              <a:buChar char="•"/>
              <a:tabLst>
                <a:tab pos="213995" algn="l"/>
              </a:tabLst>
            </a:pPr>
            <a:r>
              <a:rPr lang="zh-CN" altLang="en-US" sz="2000" b="1" spc="-20" dirty="0">
                <a:solidFill>
                  <a:srgbClr val="0C1C2B"/>
                </a:solidFill>
                <a:latin typeface="Arial" panose="020B0604020202020204"/>
                <a:cs typeface="Arial" panose="020B0604020202020204"/>
              </a:rPr>
              <a:t>核心思想</a:t>
            </a:r>
            <a:r>
              <a:rPr sz="2000" b="1" spc="-20" dirty="0">
                <a:solidFill>
                  <a:srgbClr val="0C1C2B"/>
                </a:solidFill>
                <a:latin typeface="Arial" panose="020B0604020202020204"/>
                <a:cs typeface="Arial" panose="020B0604020202020204"/>
              </a:rPr>
              <a:t>:</a:t>
            </a:r>
            <a:endParaRPr sz="2000" b="1" spc="-20" dirty="0">
              <a:solidFill>
                <a:srgbClr val="0C1C2B"/>
              </a:solidFill>
              <a:latin typeface="Arial" panose="020B0604020202020204"/>
              <a:cs typeface="Arial" panose="020B0604020202020204"/>
            </a:endParaRPr>
          </a:p>
        </p:txBody>
      </p:sp>
      <p:sp>
        <p:nvSpPr>
          <p:cNvPr id="8" name="object 8"/>
          <p:cNvSpPr txBox="1"/>
          <p:nvPr/>
        </p:nvSpPr>
        <p:spPr>
          <a:xfrm>
            <a:off x="511810" y="645795"/>
            <a:ext cx="4107815" cy="504190"/>
          </a:xfrm>
          <a:prstGeom prst="rect">
            <a:avLst/>
          </a:prstGeom>
        </p:spPr>
        <p:txBody>
          <a:bodyPr vert="horz" wrap="square" lIns="0" tIns="12092" rIns="0" bIns="0" rtlCol="0">
            <a:spAutoFit/>
          </a:bodyPr>
          <a:lstStyle/>
          <a:p>
            <a:pPr marL="12700">
              <a:lnSpc>
                <a:spcPct val="100000"/>
              </a:lnSpc>
              <a:spcBef>
                <a:spcPts val="105"/>
              </a:spcBef>
            </a:pPr>
            <a:r>
              <a:rPr sz="3200" b="1" dirty="0">
                <a:solidFill>
                  <a:srgbClr val="23366E"/>
                </a:solidFill>
                <a:latin typeface="Times New Roman" panose="02020603050405020304"/>
                <a:cs typeface="Times New Roman" panose="02020603050405020304"/>
              </a:rPr>
              <a:t>Key</a:t>
            </a:r>
            <a:r>
              <a:rPr sz="3200" b="1" spc="-10" dirty="0">
                <a:solidFill>
                  <a:srgbClr val="23366E"/>
                </a:solidFill>
                <a:latin typeface="Times New Roman" panose="02020603050405020304"/>
                <a:cs typeface="Times New Roman" panose="02020603050405020304"/>
              </a:rPr>
              <a:t> Observation</a:t>
            </a:r>
            <a:endParaRPr sz="3200" b="1" spc="-10" dirty="0">
              <a:solidFill>
                <a:srgbClr val="23366E"/>
              </a:solidFill>
              <a:latin typeface="Times New Roman" panose="02020603050405020304"/>
              <a:cs typeface="Times New Roman" panose="02020603050405020304"/>
            </a:endParaRPr>
          </a:p>
        </p:txBody>
      </p:sp>
      <p:sp>
        <p:nvSpPr>
          <p:cNvPr id="9" name="object 9"/>
          <p:cNvSpPr txBox="1"/>
          <p:nvPr/>
        </p:nvSpPr>
        <p:spPr>
          <a:xfrm>
            <a:off x="7099731" y="2047766"/>
            <a:ext cx="3038595" cy="402590"/>
          </a:xfrm>
          <a:prstGeom prst="rect">
            <a:avLst/>
          </a:prstGeom>
        </p:spPr>
        <p:txBody>
          <a:bodyPr vert="horz" wrap="square" lIns="0" tIns="51823" rIns="0" bIns="0" rtlCol="0">
            <a:spAutoFit/>
          </a:bodyPr>
          <a:lstStyle/>
          <a:p>
            <a:pPr algn="ctr">
              <a:lnSpc>
                <a:spcPct val="100000"/>
              </a:lnSpc>
              <a:spcBef>
                <a:spcPts val="450"/>
              </a:spcBef>
            </a:pPr>
            <a:r>
              <a:rPr sz="1090" dirty="0">
                <a:solidFill>
                  <a:srgbClr val="0C1C2B"/>
                </a:solidFill>
                <a:latin typeface="Arial" panose="020B0604020202020204"/>
                <a:cs typeface="Arial" panose="020B0604020202020204"/>
              </a:rPr>
              <a:t>Pre-experiments:</a:t>
            </a:r>
            <a:r>
              <a:rPr sz="1090" spc="50" dirty="0">
                <a:solidFill>
                  <a:srgbClr val="0C1C2B"/>
                </a:solidFill>
                <a:latin typeface="Arial" panose="020B0604020202020204"/>
                <a:cs typeface="Arial" panose="020B0604020202020204"/>
              </a:rPr>
              <a:t> </a:t>
            </a:r>
            <a:r>
              <a:rPr sz="1090" dirty="0">
                <a:solidFill>
                  <a:srgbClr val="0C1C2B"/>
                </a:solidFill>
                <a:latin typeface="Arial" panose="020B0604020202020204"/>
                <a:cs typeface="Arial" panose="020B0604020202020204"/>
              </a:rPr>
              <a:t>Data</a:t>
            </a:r>
            <a:r>
              <a:rPr sz="1090" spc="55" dirty="0">
                <a:solidFill>
                  <a:srgbClr val="0C1C2B"/>
                </a:solidFill>
                <a:latin typeface="Arial" panose="020B0604020202020204"/>
                <a:cs typeface="Arial" panose="020B0604020202020204"/>
              </a:rPr>
              <a:t> </a:t>
            </a:r>
            <a:r>
              <a:rPr sz="1090" dirty="0">
                <a:solidFill>
                  <a:srgbClr val="0C1C2B"/>
                </a:solidFill>
                <a:latin typeface="Arial" panose="020B0604020202020204"/>
                <a:cs typeface="Arial" panose="020B0604020202020204"/>
              </a:rPr>
              <a:t>distribution</a:t>
            </a:r>
            <a:r>
              <a:rPr sz="1090" spc="55" dirty="0">
                <a:solidFill>
                  <a:srgbClr val="0C1C2B"/>
                </a:solidFill>
                <a:latin typeface="Arial" panose="020B0604020202020204"/>
                <a:cs typeface="Arial" panose="020B0604020202020204"/>
              </a:rPr>
              <a:t> </a:t>
            </a:r>
            <a:r>
              <a:rPr sz="1090" dirty="0">
                <a:solidFill>
                  <a:srgbClr val="0C1C2B"/>
                </a:solidFill>
                <a:latin typeface="Arial" panose="020B0604020202020204"/>
                <a:cs typeface="Arial" panose="020B0604020202020204"/>
              </a:rPr>
              <a:t>on</a:t>
            </a:r>
            <a:r>
              <a:rPr sz="1090" spc="55" dirty="0">
                <a:solidFill>
                  <a:srgbClr val="0C1C2B"/>
                </a:solidFill>
                <a:latin typeface="Arial" panose="020B0604020202020204"/>
                <a:cs typeface="Arial" panose="020B0604020202020204"/>
              </a:rPr>
              <a:t> </a:t>
            </a:r>
            <a:r>
              <a:rPr sz="1090" dirty="0">
                <a:solidFill>
                  <a:srgbClr val="0C1C2B"/>
                </a:solidFill>
                <a:latin typeface="Arial" panose="020B0604020202020204"/>
                <a:cs typeface="Arial" panose="020B0604020202020204"/>
              </a:rPr>
              <a:t>3</a:t>
            </a:r>
            <a:r>
              <a:rPr sz="1090" spc="80" dirty="0">
                <a:solidFill>
                  <a:srgbClr val="0C1C2B"/>
                </a:solidFill>
                <a:latin typeface="Arial" panose="020B0604020202020204"/>
                <a:cs typeface="Arial" panose="020B0604020202020204"/>
              </a:rPr>
              <a:t> </a:t>
            </a:r>
            <a:r>
              <a:rPr sz="1090" spc="-10" dirty="0">
                <a:solidFill>
                  <a:srgbClr val="0C1C2B"/>
                </a:solidFill>
                <a:latin typeface="Arial" panose="020B0604020202020204"/>
                <a:cs typeface="Arial" panose="020B0604020202020204"/>
              </a:rPr>
              <a:t>datasets</a:t>
            </a:r>
            <a:endParaRPr sz="1090">
              <a:latin typeface="Arial" panose="020B0604020202020204"/>
              <a:cs typeface="Arial" panose="020B0604020202020204"/>
            </a:endParaRPr>
          </a:p>
          <a:p>
            <a:pPr algn="ctr">
              <a:lnSpc>
                <a:spcPct val="100000"/>
              </a:lnSpc>
              <a:spcBef>
                <a:spcPts val="295"/>
              </a:spcBef>
            </a:pPr>
            <a:r>
              <a:rPr sz="950" dirty="0">
                <a:solidFill>
                  <a:srgbClr val="0C1C2B"/>
                </a:solidFill>
                <a:latin typeface="Arial" panose="020B0604020202020204"/>
                <a:cs typeface="Arial" panose="020B0604020202020204"/>
              </a:rPr>
              <a:t>(utilizing</a:t>
            </a:r>
            <a:r>
              <a:rPr sz="950" spc="-45" dirty="0">
                <a:solidFill>
                  <a:srgbClr val="0C1C2B"/>
                </a:solidFill>
                <a:latin typeface="Arial" panose="020B0604020202020204"/>
                <a:cs typeface="Arial" panose="020B0604020202020204"/>
              </a:rPr>
              <a:t> </a:t>
            </a:r>
            <a:r>
              <a:rPr sz="950" spc="-10" dirty="0">
                <a:solidFill>
                  <a:srgbClr val="0C1C2B"/>
                </a:solidFill>
                <a:latin typeface="Arial" panose="020B0604020202020204"/>
                <a:cs typeface="Arial" panose="020B0604020202020204"/>
              </a:rPr>
              <a:t>t-</a:t>
            </a:r>
            <a:r>
              <a:rPr sz="950" dirty="0">
                <a:solidFill>
                  <a:srgbClr val="0C1C2B"/>
                </a:solidFill>
                <a:latin typeface="Arial" panose="020B0604020202020204"/>
                <a:cs typeface="Arial" panose="020B0604020202020204"/>
              </a:rPr>
              <a:t>SNE</a:t>
            </a:r>
            <a:r>
              <a:rPr sz="950" spc="-15" dirty="0">
                <a:solidFill>
                  <a:srgbClr val="0C1C2B"/>
                </a:solidFill>
                <a:latin typeface="Arial" panose="020B0604020202020204"/>
                <a:cs typeface="Arial" panose="020B0604020202020204"/>
              </a:rPr>
              <a:t> </a:t>
            </a:r>
            <a:r>
              <a:rPr sz="950" dirty="0">
                <a:solidFill>
                  <a:srgbClr val="0C1C2B"/>
                </a:solidFill>
                <a:latin typeface="Arial" panose="020B0604020202020204"/>
                <a:cs typeface="Arial" panose="020B0604020202020204"/>
              </a:rPr>
              <a:t>to</a:t>
            </a:r>
            <a:r>
              <a:rPr sz="950" spc="-25" dirty="0">
                <a:solidFill>
                  <a:srgbClr val="0C1C2B"/>
                </a:solidFill>
                <a:latin typeface="Arial" panose="020B0604020202020204"/>
                <a:cs typeface="Arial" panose="020B0604020202020204"/>
              </a:rPr>
              <a:t> </a:t>
            </a:r>
            <a:r>
              <a:rPr sz="950" dirty="0">
                <a:solidFill>
                  <a:srgbClr val="0C1C2B"/>
                </a:solidFill>
                <a:latin typeface="Arial" panose="020B0604020202020204"/>
                <a:cs typeface="Arial" panose="020B0604020202020204"/>
              </a:rPr>
              <a:t>reduce</a:t>
            </a:r>
            <a:r>
              <a:rPr sz="950" spc="-20" dirty="0">
                <a:solidFill>
                  <a:srgbClr val="0C1C2B"/>
                </a:solidFill>
                <a:latin typeface="Arial" panose="020B0604020202020204"/>
                <a:cs typeface="Arial" panose="020B0604020202020204"/>
              </a:rPr>
              <a:t> </a:t>
            </a:r>
            <a:r>
              <a:rPr sz="950" spc="-10" dirty="0">
                <a:solidFill>
                  <a:srgbClr val="0C1C2B"/>
                </a:solidFill>
                <a:latin typeface="Arial" panose="020B0604020202020204"/>
                <a:cs typeface="Arial" panose="020B0604020202020204"/>
              </a:rPr>
              <a:t>dimension)</a:t>
            </a:r>
            <a:endParaRPr sz="950">
              <a:latin typeface="Arial" panose="020B0604020202020204"/>
              <a:cs typeface="Arial" panose="020B0604020202020204"/>
            </a:endParaRPr>
          </a:p>
        </p:txBody>
      </p:sp>
      <p:grpSp>
        <p:nvGrpSpPr>
          <p:cNvPr id="33" name="object 33"/>
          <p:cNvGrpSpPr/>
          <p:nvPr/>
        </p:nvGrpSpPr>
        <p:grpSpPr>
          <a:xfrm>
            <a:off x="3870297" y="2110907"/>
            <a:ext cx="1968148" cy="1872562"/>
            <a:chOff x="2560319" y="2119883"/>
            <a:chExt cx="2170430" cy="2065020"/>
          </a:xfrm>
        </p:grpSpPr>
        <p:sp>
          <p:nvSpPr>
            <p:cNvPr id="34" name="object 34"/>
            <p:cNvSpPr/>
            <p:nvPr/>
          </p:nvSpPr>
          <p:spPr>
            <a:xfrm>
              <a:off x="2580131" y="4105655"/>
              <a:ext cx="59690" cy="59690"/>
            </a:xfrm>
            <a:custGeom>
              <a:avLst/>
              <a:gdLst/>
              <a:ahLst/>
              <a:cxnLst/>
              <a:rect l="l" t="t" r="r" b="b"/>
              <a:pathLst>
                <a:path w="59689" h="59689">
                  <a:moveTo>
                    <a:pt x="30480" y="59435"/>
                  </a:moveTo>
                  <a:lnTo>
                    <a:pt x="18645" y="57030"/>
                  </a:lnTo>
                  <a:lnTo>
                    <a:pt x="8953" y="50482"/>
                  </a:lnTo>
                  <a:lnTo>
                    <a:pt x="2405" y="40790"/>
                  </a:lnTo>
                  <a:lnTo>
                    <a:pt x="0" y="28955"/>
                  </a:lnTo>
                  <a:lnTo>
                    <a:pt x="2405" y="18002"/>
                  </a:lnTo>
                  <a:lnTo>
                    <a:pt x="8953" y="8762"/>
                  </a:lnTo>
                  <a:lnTo>
                    <a:pt x="18645" y="2381"/>
                  </a:lnTo>
                  <a:lnTo>
                    <a:pt x="30480" y="0"/>
                  </a:lnTo>
                  <a:lnTo>
                    <a:pt x="41433" y="2381"/>
                  </a:lnTo>
                  <a:lnTo>
                    <a:pt x="50673" y="8762"/>
                  </a:lnTo>
                  <a:lnTo>
                    <a:pt x="57054" y="18002"/>
                  </a:lnTo>
                  <a:lnTo>
                    <a:pt x="59436" y="28955"/>
                  </a:lnTo>
                  <a:lnTo>
                    <a:pt x="57054" y="40790"/>
                  </a:lnTo>
                  <a:lnTo>
                    <a:pt x="50672" y="50482"/>
                  </a:lnTo>
                  <a:lnTo>
                    <a:pt x="41433" y="57030"/>
                  </a:lnTo>
                  <a:lnTo>
                    <a:pt x="30480" y="59435"/>
                  </a:lnTo>
                  <a:close/>
                </a:path>
              </a:pathLst>
            </a:custGeom>
            <a:solidFill>
              <a:srgbClr val="0C1C2B"/>
            </a:solidFill>
          </p:spPr>
          <p:txBody>
            <a:bodyPr wrap="square" lIns="0" tIns="0" rIns="0" bIns="0" rtlCol="0"/>
            <a:lstStyle/>
            <a:p>
              <a:endParaRPr sz="1630"/>
            </a:p>
          </p:txBody>
        </p:sp>
        <p:sp>
          <p:nvSpPr>
            <p:cNvPr id="35" name="object 35"/>
            <p:cNvSpPr/>
            <p:nvPr/>
          </p:nvSpPr>
          <p:spPr>
            <a:xfrm>
              <a:off x="2606954" y="2275332"/>
              <a:ext cx="1645285" cy="1853564"/>
            </a:xfrm>
            <a:custGeom>
              <a:avLst/>
              <a:gdLst/>
              <a:ahLst/>
              <a:cxnLst/>
              <a:rect l="l" t="t" r="r" b="b"/>
              <a:pathLst>
                <a:path w="1645285" h="1853564">
                  <a:moveTo>
                    <a:pt x="130149" y="1853183"/>
                  </a:moveTo>
                  <a:lnTo>
                    <a:pt x="189442" y="1843268"/>
                  </a:lnTo>
                  <a:lnTo>
                    <a:pt x="247878" y="1833167"/>
                  </a:lnTo>
                  <a:lnTo>
                    <a:pt x="304599" y="1822632"/>
                  </a:lnTo>
                  <a:lnTo>
                    <a:pt x="358749" y="1811415"/>
                  </a:lnTo>
                  <a:lnTo>
                    <a:pt x="409470" y="1799266"/>
                  </a:lnTo>
                  <a:lnTo>
                    <a:pt x="455904" y="1785937"/>
                  </a:lnTo>
                  <a:lnTo>
                    <a:pt x="497195" y="1771179"/>
                  </a:lnTo>
                  <a:lnTo>
                    <a:pt x="532485" y="1754744"/>
                  </a:lnTo>
                  <a:lnTo>
                    <a:pt x="581634" y="1715847"/>
                  </a:lnTo>
                  <a:lnTo>
                    <a:pt x="596493" y="1667255"/>
                  </a:lnTo>
                  <a:lnTo>
                    <a:pt x="588865" y="1644419"/>
                  </a:lnTo>
                  <a:lnTo>
                    <a:pt x="543434" y="1590885"/>
                  </a:lnTo>
                  <a:lnTo>
                    <a:pt x="508707" y="1560952"/>
                  </a:lnTo>
                  <a:lnTo>
                    <a:pt x="468026" y="1529418"/>
                  </a:lnTo>
                  <a:lnTo>
                    <a:pt x="422928" y="1496665"/>
                  </a:lnTo>
                  <a:lnTo>
                    <a:pt x="374953" y="1463075"/>
                  </a:lnTo>
                  <a:lnTo>
                    <a:pt x="325639" y="1429029"/>
                  </a:lnTo>
                  <a:lnTo>
                    <a:pt x="276526" y="1394911"/>
                  </a:lnTo>
                  <a:lnTo>
                    <a:pt x="229153" y="1361101"/>
                  </a:lnTo>
                  <a:lnTo>
                    <a:pt x="185057" y="1327982"/>
                  </a:lnTo>
                  <a:lnTo>
                    <a:pt x="145779" y="1295936"/>
                  </a:lnTo>
                  <a:lnTo>
                    <a:pt x="112857" y="1265345"/>
                  </a:lnTo>
                  <a:lnTo>
                    <a:pt x="87830" y="1236591"/>
                  </a:lnTo>
                  <a:lnTo>
                    <a:pt x="59083" y="1173007"/>
                  </a:lnTo>
                  <a:lnTo>
                    <a:pt x="47919" y="1105951"/>
                  </a:lnTo>
                  <a:lnTo>
                    <a:pt x="52267" y="1075212"/>
                  </a:lnTo>
                  <a:lnTo>
                    <a:pt x="86721" y="1017483"/>
                  </a:lnTo>
                  <a:lnTo>
                    <a:pt x="119187" y="989761"/>
                  </a:lnTo>
                  <a:lnTo>
                    <a:pt x="163384" y="962314"/>
                  </a:lnTo>
                  <a:lnTo>
                    <a:pt x="220493" y="934775"/>
                  </a:lnTo>
                  <a:lnTo>
                    <a:pt x="291693" y="906779"/>
                  </a:lnTo>
                  <a:lnTo>
                    <a:pt x="359528" y="887040"/>
                  </a:lnTo>
                  <a:lnTo>
                    <a:pt x="401435" y="877299"/>
                  </a:lnTo>
                  <a:lnTo>
                    <a:pt x="447994" y="867640"/>
                  </a:lnTo>
                  <a:lnTo>
                    <a:pt x="498698" y="858057"/>
                  </a:lnTo>
                  <a:lnTo>
                    <a:pt x="553042" y="848546"/>
                  </a:lnTo>
                  <a:lnTo>
                    <a:pt x="610519" y="839104"/>
                  </a:lnTo>
                  <a:lnTo>
                    <a:pt x="670623" y="829726"/>
                  </a:lnTo>
                  <a:lnTo>
                    <a:pt x="732848" y="820408"/>
                  </a:lnTo>
                  <a:lnTo>
                    <a:pt x="796687" y="811146"/>
                  </a:lnTo>
                  <a:lnTo>
                    <a:pt x="861636" y="801936"/>
                  </a:lnTo>
                  <a:lnTo>
                    <a:pt x="927188" y="792773"/>
                  </a:lnTo>
                  <a:lnTo>
                    <a:pt x="992836" y="783653"/>
                  </a:lnTo>
                  <a:lnTo>
                    <a:pt x="1058075" y="774572"/>
                  </a:lnTo>
                  <a:lnTo>
                    <a:pt x="1122398" y="765527"/>
                  </a:lnTo>
                  <a:lnTo>
                    <a:pt x="1185299" y="756512"/>
                  </a:lnTo>
                  <a:lnTo>
                    <a:pt x="1246273" y="747524"/>
                  </a:lnTo>
                  <a:lnTo>
                    <a:pt x="1304813" y="738559"/>
                  </a:lnTo>
                  <a:lnTo>
                    <a:pt x="1360412" y="729611"/>
                  </a:lnTo>
                  <a:lnTo>
                    <a:pt x="1412566" y="720678"/>
                  </a:lnTo>
                  <a:lnTo>
                    <a:pt x="1460768" y="711755"/>
                  </a:lnTo>
                  <a:lnTo>
                    <a:pt x="1504511" y="702838"/>
                  </a:lnTo>
                  <a:lnTo>
                    <a:pt x="1543290" y="693922"/>
                  </a:lnTo>
                  <a:lnTo>
                    <a:pt x="1603930" y="676079"/>
                  </a:lnTo>
                  <a:lnTo>
                    <a:pt x="1638640" y="658193"/>
                  </a:lnTo>
                  <a:lnTo>
                    <a:pt x="1645005" y="649223"/>
                  </a:lnTo>
                  <a:lnTo>
                    <a:pt x="1643323" y="639539"/>
                  </a:lnTo>
                  <a:lnTo>
                    <a:pt x="1591091" y="610382"/>
                  </a:lnTo>
                  <a:lnTo>
                    <a:pt x="1522760" y="590913"/>
                  </a:lnTo>
                  <a:lnTo>
                    <a:pt x="1480284" y="581187"/>
                  </a:lnTo>
                  <a:lnTo>
                    <a:pt x="1433044" y="571474"/>
                  </a:lnTo>
                  <a:lnTo>
                    <a:pt x="1381619" y="561779"/>
                  </a:lnTo>
                  <a:lnTo>
                    <a:pt x="1326592" y="552109"/>
                  </a:lnTo>
                  <a:lnTo>
                    <a:pt x="1268543" y="542469"/>
                  </a:lnTo>
                  <a:lnTo>
                    <a:pt x="1208053" y="532865"/>
                  </a:lnTo>
                  <a:lnTo>
                    <a:pt x="1145705" y="523303"/>
                  </a:lnTo>
                  <a:lnTo>
                    <a:pt x="1082078" y="513788"/>
                  </a:lnTo>
                  <a:lnTo>
                    <a:pt x="1017753" y="504326"/>
                  </a:lnTo>
                  <a:lnTo>
                    <a:pt x="953313" y="494923"/>
                  </a:lnTo>
                  <a:lnTo>
                    <a:pt x="889338" y="485584"/>
                  </a:lnTo>
                  <a:lnTo>
                    <a:pt x="826409" y="476316"/>
                  </a:lnTo>
                  <a:lnTo>
                    <a:pt x="765107" y="467123"/>
                  </a:lnTo>
                  <a:lnTo>
                    <a:pt x="706014" y="458012"/>
                  </a:lnTo>
                  <a:lnTo>
                    <a:pt x="649711" y="448989"/>
                  </a:lnTo>
                  <a:lnTo>
                    <a:pt x="596778" y="440059"/>
                  </a:lnTo>
                  <a:lnTo>
                    <a:pt x="547797" y="431227"/>
                  </a:lnTo>
                  <a:lnTo>
                    <a:pt x="503349" y="422501"/>
                  </a:lnTo>
                  <a:lnTo>
                    <a:pt x="464016" y="413884"/>
                  </a:lnTo>
                  <a:lnTo>
                    <a:pt x="382692" y="388458"/>
                  </a:lnTo>
                  <a:lnTo>
                    <a:pt x="333828" y="369439"/>
                  </a:lnTo>
                  <a:lnTo>
                    <a:pt x="284863" y="348713"/>
                  </a:lnTo>
                  <a:lnTo>
                    <a:pt x="236877" y="326671"/>
                  </a:lnTo>
                  <a:lnTo>
                    <a:pt x="190948" y="303700"/>
                  </a:lnTo>
                  <a:lnTo>
                    <a:pt x="148155" y="280190"/>
                  </a:lnTo>
                  <a:lnTo>
                    <a:pt x="109576" y="256529"/>
                  </a:lnTo>
                  <a:lnTo>
                    <a:pt x="76291" y="233107"/>
                  </a:lnTo>
                  <a:lnTo>
                    <a:pt x="17800" y="169566"/>
                  </a:lnTo>
                  <a:lnTo>
                    <a:pt x="2682" y="127942"/>
                  </a:lnTo>
                  <a:lnTo>
                    <a:pt x="0" y="85660"/>
                  </a:lnTo>
                  <a:lnTo>
                    <a:pt x="5730" y="42940"/>
                  </a:lnTo>
                  <a:lnTo>
                    <a:pt x="15849" y="0"/>
                  </a:lnTo>
                </a:path>
              </a:pathLst>
            </a:custGeom>
            <a:ln w="50292">
              <a:solidFill>
                <a:srgbClr val="89D4CA"/>
              </a:solidFill>
            </a:ln>
          </p:spPr>
          <p:txBody>
            <a:bodyPr wrap="square" lIns="0" tIns="0" rIns="0" bIns="0" rtlCol="0"/>
            <a:lstStyle/>
            <a:p>
              <a:endParaRPr sz="1630"/>
            </a:p>
          </p:txBody>
        </p:sp>
        <p:sp>
          <p:nvSpPr>
            <p:cNvPr id="36" name="object 36"/>
            <p:cNvSpPr/>
            <p:nvPr/>
          </p:nvSpPr>
          <p:spPr>
            <a:xfrm>
              <a:off x="2560307" y="2119883"/>
              <a:ext cx="2170430" cy="2065020"/>
            </a:xfrm>
            <a:custGeom>
              <a:avLst/>
              <a:gdLst/>
              <a:ahLst/>
              <a:cxnLst/>
              <a:rect l="l" t="t" r="r" b="b"/>
              <a:pathLst>
                <a:path w="2170429" h="2065020">
                  <a:moveTo>
                    <a:pt x="2170188" y="2014728"/>
                  </a:moveTo>
                  <a:lnTo>
                    <a:pt x="2135606" y="1997964"/>
                  </a:lnTo>
                  <a:lnTo>
                    <a:pt x="2069604" y="1965960"/>
                  </a:lnTo>
                  <a:lnTo>
                    <a:pt x="2069604" y="1997964"/>
                  </a:lnTo>
                  <a:lnTo>
                    <a:pt x="67056" y="1997964"/>
                  </a:lnTo>
                  <a:lnTo>
                    <a:pt x="67056" y="100584"/>
                  </a:lnTo>
                  <a:lnTo>
                    <a:pt x="100584" y="100584"/>
                  </a:lnTo>
                  <a:lnTo>
                    <a:pt x="92202" y="83820"/>
                  </a:lnTo>
                  <a:lnTo>
                    <a:pt x="50292" y="0"/>
                  </a:lnTo>
                  <a:lnTo>
                    <a:pt x="0" y="100584"/>
                  </a:lnTo>
                  <a:lnTo>
                    <a:pt x="33528" y="100584"/>
                  </a:lnTo>
                  <a:lnTo>
                    <a:pt x="33528" y="2014728"/>
                  </a:lnTo>
                  <a:lnTo>
                    <a:pt x="44208" y="2014728"/>
                  </a:lnTo>
                  <a:lnTo>
                    <a:pt x="44208" y="2031492"/>
                  </a:lnTo>
                  <a:lnTo>
                    <a:pt x="2069604" y="2031492"/>
                  </a:lnTo>
                  <a:lnTo>
                    <a:pt x="2069604" y="2065020"/>
                  </a:lnTo>
                  <a:lnTo>
                    <a:pt x="2136660" y="2031492"/>
                  </a:lnTo>
                  <a:lnTo>
                    <a:pt x="2170188" y="2014728"/>
                  </a:lnTo>
                  <a:close/>
                </a:path>
              </a:pathLst>
            </a:custGeom>
            <a:solidFill>
              <a:srgbClr val="0C1C2B"/>
            </a:solidFill>
          </p:spPr>
          <p:txBody>
            <a:bodyPr wrap="square" lIns="0" tIns="0" rIns="0" bIns="0" rtlCol="0"/>
            <a:lstStyle/>
            <a:p>
              <a:endParaRPr sz="1630"/>
            </a:p>
          </p:txBody>
        </p:sp>
        <p:sp>
          <p:nvSpPr>
            <p:cNvPr id="37" name="object 37"/>
            <p:cNvSpPr/>
            <p:nvPr/>
          </p:nvSpPr>
          <p:spPr>
            <a:xfrm>
              <a:off x="3505961" y="2275332"/>
              <a:ext cx="0" cy="1850389"/>
            </a:xfrm>
            <a:custGeom>
              <a:avLst/>
              <a:gdLst/>
              <a:ahLst/>
              <a:cxnLst/>
              <a:rect l="l" t="t" r="r" b="b"/>
              <a:pathLst>
                <a:path h="1850389">
                  <a:moveTo>
                    <a:pt x="0" y="0"/>
                  </a:moveTo>
                  <a:lnTo>
                    <a:pt x="0" y="1850136"/>
                  </a:lnTo>
                </a:path>
              </a:pathLst>
            </a:custGeom>
            <a:ln w="25908">
              <a:solidFill>
                <a:srgbClr val="0C1C2B"/>
              </a:solidFill>
              <a:prstDash val="sysDash"/>
            </a:ln>
          </p:spPr>
          <p:txBody>
            <a:bodyPr wrap="square" lIns="0" tIns="0" rIns="0" bIns="0" rtlCol="0"/>
            <a:lstStyle/>
            <a:p>
              <a:endParaRPr sz="1630"/>
            </a:p>
          </p:txBody>
        </p:sp>
        <p:pic>
          <p:nvPicPr>
            <p:cNvPr id="38" name="object 38"/>
            <p:cNvPicPr/>
            <p:nvPr/>
          </p:nvPicPr>
          <p:blipFill>
            <a:blip r:embed="rId2" cstate="print"/>
            <a:stretch>
              <a:fillRect/>
            </a:stretch>
          </p:blipFill>
          <p:spPr>
            <a:xfrm>
              <a:off x="2686811" y="3235451"/>
              <a:ext cx="82295" cy="76200"/>
            </a:xfrm>
            <a:prstGeom prst="rect">
              <a:avLst/>
            </a:prstGeom>
          </p:spPr>
        </p:pic>
        <p:pic>
          <p:nvPicPr>
            <p:cNvPr id="39" name="object 39"/>
            <p:cNvPicPr/>
            <p:nvPr/>
          </p:nvPicPr>
          <p:blipFill>
            <a:blip r:embed="rId3" cstate="print"/>
            <a:stretch>
              <a:fillRect/>
            </a:stretch>
          </p:blipFill>
          <p:spPr>
            <a:xfrm>
              <a:off x="2686811" y="2497835"/>
              <a:ext cx="82295" cy="77724"/>
            </a:xfrm>
            <a:prstGeom prst="rect">
              <a:avLst/>
            </a:prstGeom>
          </p:spPr>
        </p:pic>
        <p:pic>
          <p:nvPicPr>
            <p:cNvPr id="40" name="object 40"/>
            <p:cNvPicPr/>
            <p:nvPr/>
          </p:nvPicPr>
          <p:blipFill>
            <a:blip r:embed="rId4" cstate="print"/>
            <a:stretch>
              <a:fillRect/>
            </a:stretch>
          </p:blipFill>
          <p:spPr>
            <a:xfrm>
              <a:off x="3011423" y="3768851"/>
              <a:ext cx="82295" cy="77724"/>
            </a:xfrm>
            <a:prstGeom prst="rect">
              <a:avLst/>
            </a:prstGeom>
          </p:spPr>
        </p:pic>
        <p:pic>
          <p:nvPicPr>
            <p:cNvPr id="41" name="object 41"/>
            <p:cNvPicPr/>
            <p:nvPr/>
          </p:nvPicPr>
          <p:blipFill>
            <a:blip r:embed="rId5" cstate="print"/>
            <a:stretch>
              <a:fillRect/>
            </a:stretch>
          </p:blipFill>
          <p:spPr>
            <a:xfrm>
              <a:off x="3168396" y="3928872"/>
              <a:ext cx="80772" cy="76200"/>
            </a:xfrm>
            <a:prstGeom prst="rect">
              <a:avLst/>
            </a:prstGeom>
          </p:spPr>
        </p:pic>
        <p:pic>
          <p:nvPicPr>
            <p:cNvPr id="42" name="object 42"/>
            <p:cNvPicPr/>
            <p:nvPr/>
          </p:nvPicPr>
          <p:blipFill>
            <a:blip r:embed="rId6" cstate="print"/>
            <a:stretch>
              <a:fillRect/>
            </a:stretch>
          </p:blipFill>
          <p:spPr>
            <a:xfrm>
              <a:off x="4184903" y="2895600"/>
              <a:ext cx="82296" cy="77724"/>
            </a:xfrm>
            <a:prstGeom prst="rect">
              <a:avLst/>
            </a:prstGeom>
          </p:spPr>
        </p:pic>
        <p:pic>
          <p:nvPicPr>
            <p:cNvPr id="43" name="object 43"/>
            <p:cNvPicPr/>
            <p:nvPr/>
          </p:nvPicPr>
          <p:blipFill>
            <a:blip r:embed="rId7" cstate="print"/>
            <a:stretch>
              <a:fillRect/>
            </a:stretch>
          </p:blipFill>
          <p:spPr>
            <a:xfrm>
              <a:off x="3768851" y="2761488"/>
              <a:ext cx="82296" cy="77724"/>
            </a:xfrm>
            <a:prstGeom prst="rect">
              <a:avLst/>
            </a:prstGeom>
          </p:spPr>
        </p:pic>
        <p:pic>
          <p:nvPicPr>
            <p:cNvPr id="44" name="object 44"/>
            <p:cNvPicPr/>
            <p:nvPr/>
          </p:nvPicPr>
          <p:blipFill>
            <a:blip r:embed="rId8" cstate="print"/>
            <a:stretch>
              <a:fillRect/>
            </a:stretch>
          </p:blipFill>
          <p:spPr>
            <a:xfrm>
              <a:off x="3936491" y="2955035"/>
              <a:ext cx="82296" cy="76200"/>
            </a:xfrm>
            <a:prstGeom prst="rect">
              <a:avLst/>
            </a:prstGeom>
          </p:spPr>
        </p:pic>
        <p:pic>
          <p:nvPicPr>
            <p:cNvPr id="45" name="object 45"/>
            <p:cNvPicPr/>
            <p:nvPr/>
          </p:nvPicPr>
          <p:blipFill>
            <a:blip r:embed="rId9" cstate="print"/>
            <a:stretch>
              <a:fillRect/>
            </a:stretch>
          </p:blipFill>
          <p:spPr>
            <a:xfrm>
              <a:off x="4061459" y="2814827"/>
              <a:ext cx="82296" cy="76200"/>
            </a:xfrm>
            <a:prstGeom prst="rect">
              <a:avLst/>
            </a:prstGeom>
          </p:spPr>
        </p:pic>
        <p:pic>
          <p:nvPicPr>
            <p:cNvPr id="46" name="object 46"/>
            <p:cNvPicPr/>
            <p:nvPr/>
          </p:nvPicPr>
          <p:blipFill>
            <a:blip r:embed="rId10" cstate="print"/>
            <a:stretch>
              <a:fillRect/>
            </a:stretch>
          </p:blipFill>
          <p:spPr>
            <a:xfrm>
              <a:off x="3718559" y="2983991"/>
              <a:ext cx="80772" cy="77724"/>
            </a:xfrm>
            <a:prstGeom prst="rect">
              <a:avLst/>
            </a:prstGeom>
          </p:spPr>
        </p:pic>
      </p:grpSp>
      <p:sp>
        <p:nvSpPr>
          <p:cNvPr id="47" name="object 47"/>
          <p:cNvSpPr txBox="1"/>
          <p:nvPr/>
        </p:nvSpPr>
        <p:spPr>
          <a:xfrm>
            <a:off x="1667510" y="3965575"/>
            <a:ext cx="943610" cy="206375"/>
          </a:xfrm>
          <a:prstGeom prst="rect">
            <a:avLst/>
          </a:prstGeom>
        </p:spPr>
        <p:txBody>
          <a:bodyPr vert="horz" wrap="square" lIns="0" tIns="12092" rIns="0" bIns="0" rtlCol="0">
            <a:spAutoFit/>
          </a:bodyPr>
          <a:lstStyle/>
          <a:p>
            <a:pPr marL="12700">
              <a:lnSpc>
                <a:spcPct val="100000"/>
              </a:lnSpc>
              <a:spcBef>
                <a:spcPts val="105"/>
              </a:spcBef>
              <a:tabLst>
                <a:tab pos="2049780" algn="l"/>
              </a:tabLst>
            </a:pPr>
            <a:r>
              <a:rPr sz="1270" dirty="0">
                <a:solidFill>
                  <a:srgbClr val="0C1C2B"/>
                </a:solidFill>
                <a:latin typeface="Times New Roman" panose="02020603050405020304"/>
                <a:cs typeface="Times New Roman" panose="02020603050405020304"/>
              </a:rPr>
              <a:t>Feature</a:t>
            </a:r>
            <a:r>
              <a:rPr sz="1270" spc="-10" dirty="0">
                <a:solidFill>
                  <a:srgbClr val="0C1C2B"/>
                </a:solidFill>
                <a:latin typeface="Times New Roman" panose="02020603050405020304"/>
                <a:cs typeface="Times New Roman" panose="02020603050405020304"/>
              </a:rPr>
              <a:t> </a:t>
            </a:r>
            <a:r>
              <a:rPr sz="1270" spc="-20" dirty="0">
                <a:solidFill>
                  <a:srgbClr val="0C1C2B"/>
                </a:solidFill>
                <a:latin typeface="Times New Roman" panose="02020603050405020304"/>
                <a:cs typeface="Times New Roman" panose="02020603050405020304"/>
              </a:rPr>
              <a:t>Space</a:t>
            </a:r>
            <a:endParaRPr sz="1270">
              <a:latin typeface="Times New Roman" panose="02020603050405020304"/>
              <a:cs typeface="Times New Roman" panose="02020603050405020304"/>
            </a:endParaRPr>
          </a:p>
        </p:txBody>
      </p:sp>
      <p:sp>
        <p:nvSpPr>
          <p:cNvPr id="49" name="object 49"/>
          <p:cNvSpPr txBox="1"/>
          <p:nvPr/>
        </p:nvSpPr>
        <p:spPr>
          <a:xfrm>
            <a:off x="4577453" y="2063468"/>
            <a:ext cx="525722" cy="180975"/>
          </a:xfrm>
          <a:prstGeom prst="rect">
            <a:avLst/>
          </a:prstGeom>
        </p:spPr>
        <p:txBody>
          <a:bodyPr vert="horz" wrap="square" lIns="0" tIns="14395" rIns="0" bIns="0" rtlCol="0">
            <a:spAutoFit/>
          </a:bodyPr>
          <a:lstStyle/>
          <a:p>
            <a:pPr marL="12700">
              <a:lnSpc>
                <a:spcPct val="100000"/>
              </a:lnSpc>
              <a:spcBef>
                <a:spcPts val="125"/>
              </a:spcBef>
            </a:pPr>
            <a:r>
              <a:rPr sz="1090" dirty="0">
                <a:solidFill>
                  <a:srgbClr val="0C1C2B"/>
                </a:solidFill>
                <a:latin typeface="Times New Roman" panose="02020603050405020304"/>
                <a:cs typeface="Times New Roman" panose="02020603050405020304"/>
              </a:rPr>
              <a:t>1D</a:t>
            </a:r>
            <a:r>
              <a:rPr sz="1090" spc="15" dirty="0">
                <a:solidFill>
                  <a:srgbClr val="0C1C2B"/>
                </a:solidFill>
                <a:latin typeface="Times New Roman" panose="02020603050405020304"/>
                <a:cs typeface="Times New Roman" panose="02020603050405020304"/>
              </a:rPr>
              <a:t> </a:t>
            </a:r>
            <a:r>
              <a:rPr sz="1090" spc="-20" dirty="0">
                <a:solidFill>
                  <a:srgbClr val="0C1C2B"/>
                </a:solidFill>
                <a:latin typeface="Times New Roman" panose="02020603050405020304"/>
                <a:cs typeface="Times New Roman" panose="02020603050405020304"/>
              </a:rPr>
              <a:t>View</a:t>
            </a:r>
            <a:endParaRPr sz="1090">
              <a:latin typeface="Times New Roman" panose="02020603050405020304"/>
              <a:cs typeface="Times New Roman" panose="02020603050405020304"/>
            </a:endParaRPr>
          </a:p>
        </p:txBody>
      </p:sp>
      <p:sp>
        <p:nvSpPr>
          <p:cNvPr id="50" name="object 50"/>
          <p:cNvSpPr txBox="1">
            <a:spLocks noGrp="1"/>
          </p:cNvSpPr>
          <p:nvPr>
            <p:ph type="title"/>
          </p:nvPr>
        </p:nvSpPr>
        <p:spPr>
          <a:xfrm>
            <a:off x="1023620" y="1294130"/>
            <a:ext cx="8994775" cy="380365"/>
          </a:xfrm>
          <a:prstGeom prst="rect">
            <a:avLst/>
          </a:prstGeom>
        </p:spPr>
        <p:txBody>
          <a:bodyPr vert="horz" wrap="square" lIns="0" tIns="11516" rIns="0" bIns="0" rtlCol="0">
            <a:spAutoFit/>
          </a:bodyPr>
          <a:lstStyle/>
          <a:p>
            <a:pPr marL="12700" marR="5080">
              <a:lnSpc>
                <a:spcPct val="120000"/>
              </a:lnSpc>
              <a:spcBef>
                <a:spcPts val="100"/>
              </a:spcBef>
            </a:pPr>
            <a:r>
              <a:rPr lang="zh-CN" altLang="en-US" sz="2000" spc="0">
                <a:solidFill>
                  <a:schemeClr val="tx1"/>
                </a:solidFill>
                <a:latin typeface="Arial" panose="020B0604020202020204"/>
                <a:ea typeface="+mn-ea"/>
                <a:cs typeface="Arial" panose="020B0604020202020204"/>
              </a:rPr>
              <a:t>良性数据的分布较为密集，而恶意数据的分布则较为稀疏</a:t>
            </a:r>
            <a:r>
              <a:rPr lang="zh-CN" altLang="en-US" sz="1405">
                <a:latin typeface="Arial" panose="020B0604020202020204"/>
                <a:cs typeface="Arial" panose="020B0604020202020204"/>
              </a:rPr>
              <a:t>。</a:t>
            </a:r>
            <a:endParaRPr lang="zh-CN" altLang="en-US" sz="1405">
              <a:latin typeface="Arial" panose="020B0604020202020204"/>
              <a:cs typeface="Arial" panose="020B0604020202020204"/>
            </a:endParaRPr>
          </a:p>
        </p:txBody>
      </p:sp>
      <p:sp>
        <p:nvSpPr>
          <p:cNvPr id="52" name="文本框 51"/>
          <p:cNvSpPr txBox="1"/>
          <p:nvPr/>
        </p:nvSpPr>
        <p:spPr>
          <a:xfrm>
            <a:off x="4187190" y="4055745"/>
            <a:ext cx="1306195" cy="285750"/>
          </a:xfrm>
          <a:prstGeom prst="rect">
            <a:avLst/>
          </a:prstGeom>
          <a:noFill/>
        </p:spPr>
        <p:txBody>
          <a:bodyPr wrap="square" rtlCol="0" anchor="t">
            <a:spAutoFit/>
          </a:bodyPr>
          <a:p>
            <a:pPr marL="12700">
              <a:lnSpc>
                <a:spcPct val="100000"/>
              </a:lnSpc>
              <a:spcBef>
                <a:spcPts val="105"/>
              </a:spcBef>
              <a:tabLst>
                <a:tab pos="2049780" algn="l"/>
              </a:tabLst>
            </a:pPr>
            <a:r>
              <a:rPr sz="1270" dirty="0">
                <a:solidFill>
                  <a:srgbClr val="0C1C2B"/>
                </a:solidFill>
                <a:latin typeface="Times New Roman" panose="02020603050405020304"/>
                <a:cs typeface="Times New Roman" panose="02020603050405020304"/>
                <a:sym typeface="+mn-ea"/>
              </a:rPr>
              <a:t>Sample</a:t>
            </a:r>
            <a:r>
              <a:rPr sz="1270" spc="5" dirty="0">
                <a:solidFill>
                  <a:srgbClr val="0C1C2B"/>
                </a:solidFill>
                <a:latin typeface="Times New Roman" panose="02020603050405020304"/>
                <a:cs typeface="Times New Roman" panose="02020603050405020304"/>
                <a:sym typeface="+mn-ea"/>
              </a:rPr>
              <a:t> </a:t>
            </a:r>
            <a:r>
              <a:rPr sz="1270" spc="-10" dirty="0">
                <a:solidFill>
                  <a:srgbClr val="0C1C2B"/>
                </a:solidFill>
                <a:latin typeface="Times New Roman" panose="02020603050405020304"/>
                <a:cs typeface="Times New Roman" panose="02020603050405020304"/>
                <a:sym typeface="+mn-ea"/>
              </a:rPr>
              <a:t>Density</a:t>
            </a:r>
            <a:endParaRPr lang="zh-CN" altLang="en-US" sz="1270" spc="-10" dirty="0">
              <a:solidFill>
                <a:srgbClr val="0C1C2B"/>
              </a:solidFill>
              <a:latin typeface="Times New Roman" panose="02020603050405020304"/>
              <a:cs typeface="Times New Roman" panose="02020603050405020304"/>
              <a:sym typeface="+mn-ea"/>
            </a:endParaRPr>
          </a:p>
        </p:txBody>
      </p:sp>
      <p:grpSp>
        <p:nvGrpSpPr>
          <p:cNvPr id="77" name="组合 76"/>
          <p:cNvGrpSpPr/>
          <p:nvPr/>
        </p:nvGrpSpPr>
        <p:grpSpPr>
          <a:xfrm>
            <a:off x="1150620" y="1856740"/>
            <a:ext cx="1827530" cy="2073275"/>
            <a:chOff x="878" y="3239"/>
            <a:chExt cx="2878" cy="3265"/>
          </a:xfrm>
        </p:grpSpPr>
        <p:pic>
          <p:nvPicPr>
            <p:cNvPr id="53" name="object 10"/>
            <p:cNvPicPr/>
            <p:nvPr/>
          </p:nvPicPr>
          <p:blipFill>
            <a:blip r:embed="rId11" cstate="print"/>
            <a:stretch>
              <a:fillRect/>
            </a:stretch>
          </p:blipFill>
          <p:spPr>
            <a:xfrm>
              <a:off x="2760" y="6161"/>
              <a:ext cx="187" cy="190"/>
            </a:xfrm>
            <a:prstGeom prst="rect">
              <a:avLst/>
            </a:prstGeom>
          </p:spPr>
        </p:pic>
        <p:grpSp>
          <p:nvGrpSpPr>
            <p:cNvPr id="54" name="object 11"/>
            <p:cNvGrpSpPr/>
            <p:nvPr/>
          </p:nvGrpSpPr>
          <p:grpSpPr>
            <a:xfrm>
              <a:off x="962" y="3706"/>
              <a:ext cx="1265" cy="1246"/>
              <a:chOff x="611124" y="2353055"/>
              <a:chExt cx="803275" cy="791210"/>
            </a:xfrm>
          </p:grpSpPr>
          <p:pic>
            <p:nvPicPr>
              <p:cNvPr id="55" name="object 12"/>
              <p:cNvPicPr/>
              <p:nvPr/>
            </p:nvPicPr>
            <p:blipFill>
              <a:blip r:embed="rId12" cstate="print"/>
              <a:stretch>
                <a:fillRect/>
              </a:stretch>
            </p:blipFill>
            <p:spPr>
              <a:xfrm>
                <a:off x="1030224" y="2892552"/>
                <a:ext cx="120396" cy="120396"/>
              </a:xfrm>
              <a:prstGeom prst="rect">
                <a:avLst/>
              </a:prstGeom>
            </p:spPr>
          </p:pic>
          <p:pic>
            <p:nvPicPr>
              <p:cNvPr id="56" name="object 13"/>
              <p:cNvPicPr/>
              <p:nvPr/>
            </p:nvPicPr>
            <p:blipFill>
              <a:blip r:embed="rId13" cstate="print"/>
              <a:stretch>
                <a:fillRect/>
              </a:stretch>
            </p:blipFill>
            <p:spPr>
              <a:xfrm>
                <a:off x="1179575" y="3023616"/>
                <a:ext cx="120396" cy="120396"/>
              </a:xfrm>
              <a:prstGeom prst="rect">
                <a:avLst/>
              </a:prstGeom>
            </p:spPr>
          </p:pic>
          <p:pic>
            <p:nvPicPr>
              <p:cNvPr id="57" name="object 14"/>
              <p:cNvPicPr/>
              <p:nvPr/>
            </p:nvPicPr>
            <p:blipFill>
              <a:blip r:embed="rId14" cstate="print"/>
              <a:stretch>
                <a:fillRect/>
              </a:stretch>
            </p:blipFill>
            <p:spPr>
              <a:xfrm>
                <a:off x="1293875" y="2814828"/>
                <a:ext cx="120396" cy="120396"/>
              </a:xfrm>
              <a:prstGeom prst="rect">
                <a:avLst/>
              </a:prstGeom>
            </p:spPr>
          </p:pic>
          <p:sp>
            <p:nvSpPr>
              <p:cNvPr id="58" name="object 15"/>
              <p:cNvSpPr/>
              <p:nvPr/>
            </p:nvSpPr>
            <p:spPr>
              <a:xfrm>
                <a:off x="611124" y="2353055"/>
                <a:ext cx="751840" cy="381000"/>
              </a:xfrm>
              <a:custGeom>
                <a:avLst/>
                <a:gdLst/>
                <a:ahLst/>
                <a:cxnLst/>
                <a:rect l="l" t="t" r="r" b="b"/>
                <a:pathLst>
                  <a:path w="751840" h="381000">
                    <a:moveTo>
                      <a:pt x="751331" y="381000"/>
                    </a:moveTo>
                    <a:lnTo>
                      <a:pt x="0" y="381000"/>
                    </a:lnTo>
                    <a:lnTo>
                      <a:pt x="0" y="0"/>
                    </a:lnTo>
                    <a:lnTo>
                      <a:pt x="751331" y="0"/>
                    </a:lnTo>
                    <a:lnTo>
                      <a:pt x="751331" y="381000"/>
                    </a:lnTo>
                    <a:close/>
                  </a:path>
                </a:pathLst>
              </a:custGeom>
              <a:solidFill>
                <a:srgbClr val="F2F2F2"/>
              </a:solidFill>
            </p:spPr>
            <p:txBody>
              <a:bodyPr wrap="square" lIns="0" tIns="0" rIns="0" bIns="0" rtlCol="0"/>
              <a:lstStyle/>
              <a:p/>
            </p:txBody>
          </p:sp>
          <p:pic>
            <p:nvPicPr>
              <p:cNvPr id="59" name="object 16"/>
              <p:cNvPicPr/>
              <p:nvPr/>
            </p:nvPicPr>
            <p:blipFill>
              <a:blip r:embed="rId15" cstate="print"/>
              <a:stretch>
                <a:fillRect/>
              </a:stretch>
            </p:blipFill>
            <p:spPr>
              <a:xfrm>
                <a:off x="676656" y="2391156"/>
                <a:ext cx="118872" cy="120396"/>
              </a:xfrm>
              <a:prstGeom prst="rect">
                <a:avLst/>
              </a:prstGeom>
            </p:spPr>
          </p:pic>
        </p:grpSp>
        <p:sp>
          <p:nvSpPr>
            <p:cNvPr id="60" name="object 17"/>
            <p:cNvSpPr txBox="1"/>
            <p:nvPr/>
          </p:nvSpPr>
          <p:spPr>
            <a:xfrm>
              <a:off x="962" y="3706"/>
              <a:ext cx="1184" cy="600"/>
            </a:xfrm>
            <a:prstGeom prst="rect">
              <a:avLst/>
            </a:prstGeom>
            <a:ln w="7619">
              <a:solidFill>
                <a:srgbClr val="0C1C2B"/>
              </a:solidFill>
            </a:ln>
          </p:spPr>
          <p:txBody>
            <a:bodyPr vert="horz" wrap="square" lIns="0" tIns="6350" rIns="0" bIns="0" rtlCol="0">
              <a:spAutoFit/>
            </a:bodyPr>
            <a:lstStyle/>
            <a:p>
              <a:pPr marL="272415" marR="24765" indent="1270">
                <a:lnSpc>
                  <a:spcPts val="1450"/>
                </a:lnSpc>
                <a:spcBef>
                  <a:spcPts val="50"/>
                </a:spcBef>
              </a:pPr>
              <a:r>
                <a:rPr sz="850" i="1" spc="-10" dirty="0">
                  <a:solidFill>
                    <a:srgbClr val="0C1C2B"/>
                  </a:solidFill>
                  <a:latin typeface="Times New Roman" panose="02020603050405020304"/>
                  <a:cs typeface="Times New Roman" panose="02020603050405020304"/>
                </a:rPr>
                <a:t>Normal</a:t>
              </a:r>
              <a:r>
                <a:rPr sz="850" i="1" spc="-10" dirty="0">
                  <a:solidFill>
                    <a:srgbClr val="0C1C2B"/>
                  </a:solidFill>
                  <a:latin typeface="Times New Roman" panose="02020603050405020304"/>
                  <a:cs typeface="Times New Roman" panose="02020603050405020304"/>
                </a:rPr>
                <a:t> Malicious</a:t>
              </a:r>
              <a:endParaRPr sz="850">
                <a:latin typeface="Times New Roman" panose="02020603050405020304"/>
                <a:cs typeface="Times New Roman" panose="02020603050405020304"/>
              </a:endParaRPr>
            </a:p>
          </p:txBody>
        </p:sp>
        <p:pic>
          <p:nvPicPr>
            <p:cNvPr id="61" name="object 18"/>
            <p:cNvPicPr/>
            <p:nvPr/>
          </p:nvPicPr>
          <p:blipFill>
            <a:blip r:embed="rId16" cstate="print"/>
            <a:stretch>
              <a:fillRect/>
            </a:stretch>
          </p:blipFill>
          <p:spPr>
            <a:xfrm>
              <a:off x="3343" y="3967"/>
              <a:ext cx="187" cy="190"/>
            </a:xfrm>
            <a:prstGeom prst="rect">
              <a:avLst/>
            </a:prstGeom>
          </p:spPr>
        </p:pic>
        <p:pic>
          <p:nvPicPr>
            <p:cNvPr id="62" name="object 19"/>
            <p:cNvPicPr/>
            <p:nvPr/>
          </p:nvPicPr>
          <p:blipFill>
            <a:blip r:embed="rId17" cstate="print"/>
            <a:stretch>
              <a:fillRect/>
            </a:stretch>
          </p:blipFill>
          <p:spPr>
            <a:xfrm>
              <a:off x="3410" y="5155"/>
              <a:ext cx="190" cy="190"/>
            </a:xfrm>
            <a:prstGeom prst="rect">
              <a:avLst/>
            </a:prstGeom>
          </p:spPr>
        </p:pic>
        <p:pic>
          <p:nvPicPr>
            <p:cNvPr id="63" name="object 20"/>
            <p:cNvPicPr/>
            <p:nvPr/>
          </p:nvPicPr>
          <p:blipFill>
            <a:blip r:embed="rId18" cstate="print"/>
            <a:stretch>
              <a:fillRect/>
            </a:stretch>
          </p:blipFill>
          <p:spPr>
            <a:xfrm>
              <a:off x="1342" y="5926"/>
              <a:ext cx="187" cy="187"/>
            </a:xfrm>
            <a:prstGeom prst="rect">
              <a:avLst/>
            </a:prstGeom>
          </p:spPr>
        </p:pic>
        <p:grpSp>
          <p:nvGrpSpPr>
            <p:cNvPr id="64" name="object 21"/>
            <p:cNvGrpSpPr/>
            <p:nvPr/>
          </p:nvGrpSpPr>
          <p:grpSpPr>
            <a:xfrm>
              <a:off x="1066" y="4056"/>
              <a:ext cx="1678" cy="1352"/>
              <a:chOff x="676656" y="2575560"/>
              <a:chExt cx="1065530" cy="858519"/>
            </a:xfrm>
          </p:grpSpPr>
          <p:pic>
            <p:nvPicPr>
              <p:cNvPr id="65" name="object 22"/>
              <p:cNvPicPr/>
              <p:nvPr/>
            </p:nvPicPr>
            <p:blipFill>
              <a:blip r:embed="rId19" cstate="print"/>
              <a:stretch>
                <a:fillRect/>
              </a:stretch>
            </p:blipFill>
            <p:spPr>
              <a:xfrm>
                <a:off x="1388363" y="2868167"/>
                <a:ext cx="249936" cy="254508"/>
              </a:xfrm>
              <a:prstGeom prst="rect">
                <a:avLst/>
              </a:prstGeom>
            </p:spPr>
          </p:pic>
          <p:sp>
            <p:nvSpPr>
              <p:cNvPr id="66" name="object 23"/>
              <p:cNvSpPr/>
              <p:nvPr/>
            </p:nvSpPr>
            <p:spPr>
              <a:xfrm>
                <a:off x="980694" y="2996184"/>
                <a:ext cx="0" cy="317500"/>
              </a:xfrm>
              <a:custGeom>
                <a:avLst/>
                <a:gdLst/>
                <a:ahLst/>
                <a:cxnLst/>
                <a:rect l="l" t="t" r="r" b="b"/>
                <a:pathLst>
                  <a:path h="317500">
                    <a:moveTo>
                      <a:pt x="0" y="0"/>
                    </a:moveTo>
                    <a:lnTo>
                      <a:pt x="0" y="316991"/>
                    </a:lnTo>
                  </a:path>
                </a:pathLst>
              </a:custGeom>
              <a:ln w="16764">
                <a:solidFill>
                  <a:srgbClr val="38135E"/>
                </a:solidFill>
                <a:prstDash val="sysDash"/>
              </a:ln>
            </p:spPr>
            <p:txBody>
              <a:bodyPr wrap="square" lIns="0" tIns="0" rIns="0" bIns="0" rtlCol="0"/>
              <a:lstStyle/>
              <a:p/>
            </p:txBody>
          </p:sp>
          <p:pic>
            <p:nvPicPr>
              <p:cNvPr id="67" name="object 24"/>
              <p:cNvPicPr/>
              <p:nvPr/>
            </p:nvPicPr>
            <p:blipFill>
              <a:blip r:embed="rId16" cstate="print"/>
              <a:stretch>
                <a:fillRect/>
              </a:stretch>
            </p:blipFill>
            <p:spPr>
              <a:xfrm>
                <a:off x="676656" y="2575560"/>
                <a:ext cx="118872" cy="120396"/>
              </a:xfrm>
              <a:prstGeom prst="rect">
                <a:avLst/>
              </a:prstGeom>
            </p:spPr>
          </p:pic>
          <p:pic>
            <p:nvPicPr>
              <p:cNvPr id="68" name="object 25"/>
              <p:cNvPicPr/>
              <p:nvPr/>
            </p:nvPicPr>
            <p:blipFill>
              <a:blip r:embed="rId20" cstate="print"/>
              <a:stretch>
                <a:fillRect/>
              </a:stretch>
            </p:blipFill>
            <p:spPr>
              <a:xfrm>
                <a:off x="972312" y="2744723"/>
                <a:ext cx="149352" cy="234695"/>
              </a:xfrm>
              <a:prstGeom prst="rect">
                <a:avLst/>
              </a:prstGeom>
            </p:spPr>
          </p:pic>
          <p:sp>
            <p:nvSpPr>
              <p:cNvPr id="69" name="object 26"/>
              <p:cNvSpPr/>
              <p:nvPr/>
            </p:nvSpPr>
            <p:spPr>
              <a:xfrm>
                <a:off x="1138427" y="2753106"/>
                <a:ext cx="317500" cy="0"/>
              </a:xfrm>
              <a:custGeom>
                <a:avLst/>
                <a:gdLst/>
                <a:ahLst/>
                <a:cxnLst/>
                <a:rect l="l" t="t" r="r" b="b"/>
                <a:pathLst>
                  <a:path w="317500">
                    <a:moveTo>
                      <a:pt x="0" y="0"/>
                    </a:moveTo>
                    <a:lnTo>
                      <a:pt x="316991" y="0"/>
                    </a:lnTo>
                  </a:path>
                </a:pathLst>
              </a:custGeom>
              <a:ln w="16764">
                <a:solidFill>
                  <a:srgbClr val="38135E"/>
                </a:solidFill>
                <a:prstDash val="sysDash"/>
              </a:ln>
            </p:spPr>
            <p:txBody>
              <a:bodyPr wrap="square" lIns="0" tIns="0" rIns="0" bIns="0" rtlCol="0"/>
              <a:lstStyle/>
              <a:p/>
            </p:txBody>
          </p:sp>
          <p:sp>
            <p:nvSpPr>
              <p:cNvPr id="70" name="object 27"/>
              <p:cNvSpPr/>
              <p:nvPr/>
            </p:nvSpPr>
            <p:spPr>
              <a:xfrm>
                <a:off x="1472184" y="2744724"/>
                <a:ext cx="269875" cy="114300"/>
              </a:xfrm>
              <a:custGeom>
                <a:avLst/>
                <a:gdLst/>
                <a:ahLst/>
                <a:cxnLst/>
                <a:rect l="l" t="t" r="r" b="b"/>
                <a:pathLst>
                  <a:path w="269875" h="114300">
                    <a:moveTo>
                      <a:pt x="50292" y="16764"/>
                    </a:moveTo>
                    <a:lnTo>
                      <a:pt x="0" y="16764"/>
                    </a:lnTo>
                    <a:lnTo>
                      <a:pt x="0" y="0"/>
                    </a:lnTo>
                    <a:lnTo>
                      <a:pt x="50292" y="0"/>
                    </a:lnTo>
                    <a:lnTo>
                      <a:pt x="50292" y="16764"/>
                    </a:lnTo>
                    <a:close/>
                  </a:path>
                  <a:path w="269875" h="114300">
                    <a:moveTo>
                      <a:pt x="117348" y="16764"/>
                    </a:moveTo>
                    <a:lnTo>
                      <a:pt x="67056" y="16764"/>
                    </a:lnTo>
                    <a:lnTo>
                      <a:pt x="67056" y="0"/>
                    </a:lnTo>
                    <a:lnTo>
                      <a:pt x="117348" y="0"/>
                    </a:lnTo>
                    <a:lnTo>
                      <a:pt x="117348" y="16764"/>
                    </a:lnTo>
                    <a:close/>
                  </a:path>
                  <a:path w="269875" h="114300">
                    <a:moveTo>
                      <a:pt x="181356" y="22860"/>
                    </a:moveTo>
                    <a:lnTo>
                      <a:pt x="170688" y="19812"/>
                    </a:lnTo>
                    <a:lnTo>
                      <a:pt x="149352" y="16764"/>
                    </a:lnTo>
                    <a:lnTo>
                      <a:pt x="134112" y="16764"/>
                    </a:lnTo>
                    <a:lnTo>
                      <a:pt x="134112" y="0"/>
                    </a:lnTo>
                    <a:lnTo>
                      <a:pt x="149352" y="0"/>
                    </a:lnTo>
                    <a:lnTo>
                      <a:pt x="173736" y="3048"/>
                    </a:lnTo>
                    <a:lnTo>
                      <a:pt x="185928" y="6096"/>
                    </a:lnTo>
                    <a:lnTo>
                      <a:pt x="181771" y="21336"/>
                    </a:lnTo>
                    <a:lnTo>
                      <a:pt x="179831" y="21336"/>
                    </a:lnTo>
                    <a:lnTo>
                      <a:pt x="181356" y="22860"/>
                    </a:lnTo>
                    <a:close/>
                  </a:path>
                  <a:path w="269875" h="114300">
                    <a:moveTo>
                      <a:pt x="181356" y="22860"/>
                    </a:moveTo>
                    <a:lnTo>
                      <a:pt x="179831" y="21336"/>
                    </a:lnTo>
                    <a:lnTo>
                      <a:pt x="181771" y="21336"/>
                    </a:lnTo>
                    <a:lnTo>
                      <a:pt x="181356" y="22860"/>
                    </a:lnTo>
                    <a:close/>
                  </a:path>
                  <a:path w="269875" h="114300">
                    <a:moveTo>
                      <a:pt x="199643" y="30480"/>
                    </a:moveTo>
                    <a:lnTo>
                      <a:pt x="195072" y="27432"/>
                    </a:lnTo>
                    <a:lnTo>
                      <a:pt x="202692" y="13716"/>
                    </a:lnTo>
                    <a:lnTo>
                      <a:pt x="207264" y="15240"/>
                    </a:lnTo>
                    <a:lnTo>
                      <a:pt x="225552" y="27432"/>
                    </a:lnTo>
                    <a:lnTo>
                      <a:pt x="227076" y="28956"/>
                    </a:lnTo>
                    <a:lnTo>
                      <a:pt x="198119" y="28956"/>
                    </a:lnTo>
                    <a:lnTo>
                      <a:pt x="199643" y="30480"/>
                    </a:lnTo>
                    <a:close/>
                  </a:path>
                  <a:path w="269875" h="114300">
                    <a:moveTo>
                      <a:pt x="231648" y="56388"/>
                    </a:moveTo>
                    <a:lnTo>
                      <a:pt x="228600" y="54864"/>
                    </a:lnTo>
                    <a:lnTo>
                      <a:pt x="230124" y="54864"/>
                    </a:lnTo>
                    <a:lnTo>
                      <a:pt x="222504" y="47244"/>
                    </a:lnTo>
                    <a:lnTo>
                      <a:pt x="214883" y="41148"/>
                    </a:lnTo>
                    <a:lnTo>
                      <a:pt x="216407" y="41148"/>
                    </a:lnTo>
                    <a:lnTo>
                      <a:pt x="198119" y="28956"/>
                    </a:lnTo>
                    <a:lnTo>
                      <a:pt x="227076" y="28956"/>
                    </a:lnTo>
                    <a:lnTo>
                      <a:pt x="242316" y="44196"/>
                    </a:lnTo>
                    <a:lnTo>
                      <a:pt x="243840" y="47244"/>
                    </a:lnTo>
                    <a:lnTo>
                      <a:pt x="231648" y="56388"/>
                    </a:lnTo>
                    <a:close/>
                  </a:path>
                  <a:path w="269875" h="114300">
                    <a:moveTo>
                      <a:pt x="251460" y="100584"/>
                    </a:moveTo>
                    <a:lnTo>
                      <a:pt x="248412" y="89916"/>
                    </a:lnTo>
                    <a:lnTo>
                      <a:pt x="245364" y="80772"/>
                    </a:lnTo>
                    <a:lnTo>
                      <a:pt x="240792" y="71628"/>
                    </a:lnTo>
                    <a:lnTo>
                      <a:pt x="239268" y="70104"/>
                    </a:lnTo>
                    <a:lnTo>
                      <a:pt x="254507" y="60960"/>
                    </a:lnTo>
                    <a:lnTo>
                      <a:pt x="256031" y="64008"/>
                    </a:lnTo>
                    <a:lnTo>
                      <a:pt x="265176" y="85344"/>
                    </a:lnTo>
                    <a:lnTo>
                      <a:pt x="266700" y="96012"/>
                    </a:lnTo>
                    <a:lnTo>
                      <a:pt x="267462" y="99060"/>
                    </a:lnTo>
                    <a:lnTo>
                      <a:pt x="251460" y="99060"/>
                    </a:lnTo>
                    <a:lnTo>
                      <a:pt x="251460" y="100584"/>
                    </a:lnTo>
                    <a:close/>
                  </a:path>
                  <a:path w="269875" h="114300">
                    <a:moveTo>
                      <a:pt x="252983" y="111252"/>
                    </a:moveTo>
                    <a:lnTo>
                      <a:pt x="251460" y="99060"/>
                    </a:lnTo>
                    <a:lnTo>
                      <a:pt x="267462" y="99060"/>
                    </a:lnTo>
                    <a:lnTo>
                      <a:pt x="269748" y="108204"/>
                    </a:lnTo>
                    <a:lnTo>
                      <a:pt x="269748" y="109728"/>
                    </a:lnTo>
                    <a:lnTo>
                      <a:pt x="252983" y="109728"/>
                    </a:lnTo>
                    <a:lnTo>
                      <a:pt x="252983" y="111252"/>
                    </a:lnTo>
                    <a:close/>
                  </a:path>
                  <a:path w="269875" h="114300">
                    <a:moveTo>
                      <a:pt x="252983" y="114300"/>
                    </a:moveTo>
                    <a:lnTo>
                      <a:pt x="252983" y="109728"/>
                    </a:lnTo>
                    <a:lnTo>
                      <a:pt x="269748" y="109728"/>
                    </a:lnTo>
                    <a:lnTo>
                      <a:pt x="269748" y="112776"/>
                    </a:lnTo>
                    <a:lnTo>
                      <a:pt x="252983" y="114300"/>
                    </a:lnTo>
                    <a:close/>
                  </a:path>
                </a:pathLst>
              </a:custGeom>
              <a:solidFill>
                <a:srgbClr val="38135E"/>
              </a:solidFill>
            </p:spPr>
            <p:txBody>
              <a:bodyPr wrap="square" lIns="0" tIns="0" rIns="0" bIns="0" rtlCol="0"/>
              <a:lstStyle/>
              <a:p/>
            </p:txBody>
          </p:sp>
          <p:sp>
            <p:nvSpPr>
              <p:cNvPr id="71" name="object 28"/>
              <p:cNvSpPr/>
              <p:nvPr/>
            </p:nvSpPr>
            <p:spPr>
              <a:xfrm>
                <a:off x="1733550" y="2874264"/>
                <a:ext cx="0" cy="318770"/>
              </a:xfrm>
              <a:custGeom>
                <a:avLst/>
                <a:gdLst/>
                <a:ahLst/>
                <a:cxnLst/>
                <a:rect l="l" t="t" r="r" b="b"/>
                <a:pathLst>
                  <a:path h="318769">
                    <a:moveTo>
                      <a:pt x="0" y="0"/>
                    </a:moveTo>
                    <a:lnTo>
                      <a:pt x="0" y="318515"/>
                    </a:lnTo>
                  </a:path>
                </a:pathLst>
              </a:custGeom>
              <a:ln w="16764">
                <a:solidFill>
                  <a:srgbClr val="38135E"/>
                </a:solidFill>
                <a:prstDash val="sysDash"/>
              </a:ln>
            </p:spPr>
            <p:txBody>
              <a:bodyPr wrap="square" lIns="0" tIns="0" rIns="0" bIns="0" rtlCol="0"/>
              <a:lstStyle/>
              <a:p/>
            </p:txBody>
          </p:sp>
          <p:pic>
            <p:nvPicPr>
              <p:cNvPr id="72" name="object 29"/>
              <p:cNvPicPr/>
              <p:nvPr/>
            </p:nvPicPr>
            <p:blipFill>
              <a:blip r:embed="rId21" cstate="print"/>
              <a:stretch>
                <a:fillRect/>
              </a:stretch>
            </p:blipFill>
            <p:spPr>
              <a:xfrm>
                <a:off x="1583436" y="3209544"/>
                <a:ext cx="158495" cy="224028"/>
              </a:xfrm>
              <a:prstGeom prst="rect">
                <a:avLst/>
              </a:prstGeom>
            </p:spPr>
          </p:pic>
          <p:sp>
            <p:nvSpPr>
              <p:cNvPr id="73" name="object 30"/>
              <p:cNvSpPr/>
              <p:nvPr/>
            </p:nvSpPr>
            <p:spPr>
              <a:xfrm>
                <a:off x="1249679" y="3425190"/>
                <a:ext cx="317500" cy="0"/>
              </a:xfrm>
              <a:custGeom>
                <a:avLst/>
                <a:gdLst/>
                <a:ahLst/>
                <a:cxnLst/>
                <a:rect l="l" t="t" r="r" b="b"/>
                <a:pathLst>
                  <a:path w="317500">
                    <a:moveTo>
                      <a:pt x="0" y="0"/>
                    </a:moveTo>
                    <a:lnTo>
                      <a:pt x="316991" y="0"/>
                    </a:lnTo>
                  </a:path>
                </a:pathLst>
              </a:custGeom>
              <a:ln w="16764">
                <a:solidFill>
                  <a:srgbClr val="38135E"/>
                </a:solidFill>
                <a:prstDash val="sysDash"/>
              </a:ln>
            </p:spPr>
            <p:txBody>
              <a:bodyPr wrap="square" lIns="0" tIns="0" rIns="0" bIns="0" rtlCol="0"/>
              <a:lstStyle/>
              <a:p/>
            </p:txBody>
          </p:sp>
          <p:sp>
            <p:nvSpPr>
              <p:cNvPr id="74" name="object 31"/>
              <p:cNvSpPr/>
              <p:nvPr/>
            </p:nvSpPr>
            <p:spPr>
              <a:xfrm>
                <a:off x="972312" y="3313176"/>
                <a:ext cx="260985" cy="120650"/>
              </a:xfrm>
              <a:custGeom>
                <a:avLst/>
                <a:gdLst/>
                <a:ahLst/>
                <a:cxnLst/>
                <a:rect l="l" t="t" r="r" b="b"/>
                <a:pathLst>
                  <a:path w="260984" h="120650">
                    <a:moveTo>
                      <a:pt x="260604" y="120396"/>
                    </a:moveTo>
                    <a:lnTo>
                      <a:pt x="210312" y="120396"/>
                    </a:lnTo>
                    <a:lnTo>
                      <a:pt x="210312" y="103632"/>
                    </a:lnTo>
                    <a:lnTo>
                      <a:pt x="260604" y="103632"/>
                    </a:lnTo>
                    <a:lnTo>
                      <a:pt x="260604" y="120396"/>
                    </a:lnTo>
                    <a:close/>
                  </a:path>
                  <a:path w="260984" h="120650">
                    <a:moveTo>
                      <a:pt x="193548" y="120396"/>
                    </a:moveTo>
                    <a:lnTo>
                      <a:pt x="143256" y="120396"/>
                    </a:lnTo>
                    <a:lnTo>
                      <a:pt x="143256" y="103632"/>
                    </a:lnTo>
                    <a:lnTo>
                      <a:pt x="193548" y="103632"/>
                    </a:lnTo>
                    <a:lnTo>
                      <a:pt x="193548" y="120396"/>
                    </a:lnTo>
                    <a:close/>
                  </a:path>
                  <a:path w="260984" h="120650">
                    <a:moveTo>
                      <a:pt x="126492" y="120396"/>
                    </a:moveTo>
                    <a:lnTo>
                      <a:pt x="120396" y="120396"/>
                    </a:lnTo>
                    <a:lnTo>
                      <a:pt x="96012" y="117348"/>
                    </a:lnTo>
                    <a:lnTo>
                      <a:pt x="74676" y="111252"/>
                    </a:lnTo>
                    <a:lnTo>
                      <a:pt x="80772" y="94488"/>
                    </a:lnTo>
                    <a:lnTo>
                      <a:pt x="89916" y="99060"/>
                    </a:lnTo>
                    <a:lnTo>
                      <a:pt x="100584" y="100584"/>
                    </a:lnTo>
                    <a:lnTo>
                      <a:pt x="99060" y="100584"/>
                    </a:lnTo>
                    <a:lnTo>
                      <a:pt x="111252" y="102108"/>
                    </a:lnTo>
                    <a:lnTo>
                      <a:pt x="109728" y="102108"/>
                    </a:lnTo>
                    <a:lnTo>
                      <a:pt x="121920" y="103632"/>
                    </a:lnTo>
                    <a:lnTo>
                      <a:pt x="126492" y="103632"/>
                    </a:lnTo>
                    <a:lnTo>
                      <a:pt x="126492" y="120396"/>
                    </a:lnTo>
                    <a:close/>
                  </a:path>
                  <a:path w="260984" h="120650">
                    <a:moveTo>
                      <a:pt x="59436" y="102108"/>
                    </a:moveTo>
                    <a:lnTo>
                      <a:pt x="53340" y="99060"/>
                    </a:lnTo>
                    <a:lnTo>
                      <a:pt x="44196" y="92964"/>
                    </a:lnTo>
                    <a:lnTo>
                      <a:pt x="27432" y="76200"/>
                    </a:lnTo>
                    <a:lnTo>
                      <a:pt x="21336" y="67056"/>
                    </a:lnTo>
                    <a:lnTo>
                      <a:pt x="19812" y="65532"/>
                    </a:lnTo>
                    <a:lnTo>
                      <a:pt x="35052" y="56388"/>
                    </a:lnTo>
                    <a:lnTo>
                      <a:pt x="35052" y="57912"/>
                    </a:lnTo>
                    <a:lnTo>
                      <a:pt x="41148" y="65532"/>
                    </a:lnTo>
                    <a:lnTo>
                      <a:pt x="48768" y="73152"/>
                    </a:lnTo>
                    <a:lnTo>
                      <a:pt x="47244" y="73152"/>
                    </a:lnTo>
                    <a:lnTo>
                      <a:pt x="54864" y="79248"/>
                    </a:lnTo>
                    <a:lnTo>
                      <a:pt x="64008" y="85344"/>
                    </a:lnTo>
                    <a:lnTo>
                      <a:pt x="62484" y="85344"/>
                    </a:lnTo>
                    <a:lnTo>
                      <a:pt x="67056" y="88392"/>
                    </a:lnTo>
                    <a:lnTo>
                      <a:pt x="59436" y="102108"/>
                    </a:lnTo>
                    <a:close/>
                  </a:path>
                  <a:path w="260984" h="120650">
                    <a:moveTo>
                      <a:pt x="12192" y="50292"/>
                    </a:moveTo>
                    <a:lnTo>
                      <a:pt x="10668" y="45720"/>
                    </a:lnTo>
                    <a:lnTo>
                      <a:pt x="6096" y="35052"/>
                    </a:lnTo>
                    <a:lnTo>
                      <a:pt x="3048" y="24384"/>
                    </a:lnTo>
                    <a:lnTo>
                      <a:pt x="0" y="0"/>
                    </a:lnTo>
                    <a:lnTo>
                      <a:pt x="16764" y="0"/>
                    </a:lnTo>
                    <a:lnTo>
                      <a:pt x="18288" y="10668"/>
                    </a:lnTo>
                    <a:lnTo>
                      <a:pt x="18478" y="10668"/>
                    </a:lnTo>
                    <a:lnTo>
                      <a:pt x="19812" y="21336"/>
                    </a:lnTo>
                    <a:lnTo>
                      <a:pt x="20247" y="21336"/>
                    </a:lnTo>
                    <a:lnTo>
                      <a:pt x="22860" y="30480"/>
                    </a:lnTo>
                    <a:lnTo>
                      <a:pt x="21336" y="30480"/>
                    </a:lnTo>
                    <a:lnTo>
                      <a:pt x="27432" y="42672"/>
                    </a:lnTo>
                    <a:lnTo>
                      <a:pt x="12192" y="50292"/>
                    </a:lnTo>
                    <a:close/>
                  </a:path>
                  <a:path w="260984" h="120650">
                    <a:moveTo>
                      <a:pt x="18478" y="10668"/>
                    </a:moveTo>
                    <a:lnTo>
                      <a:pt x="18288" y="10668"/>
                    </a:lnTo>
                    <a:lnTo>
                      <a:pt x="18288" y="9144"/>
                    </a:lnTo>
                    <a:lnTo>
                      <a:pt x="18478" y="10668"/>
                    </a:lnTo>
                    <a:close/>
                  </a:path>
                  <a:path w="260984" h="120650">
                    <a:moveTo>
                      <a:pt x="20247" y="21336"/>
                    </a:moveTo>
                    <a:lnTo>
                      <a:pt x="19812" y="21336"/>
                    </a:lnTo>
                    <a:lnTo>
                      <a:pt x="19812" y="19812"/>
                    </a:lnTo>
                    <a:lnTo>
                      <a:pt x="20247" y="21336"/>
                    </a:lnTo>
                    <a:close/>
                  </a:path>
                </a:pathLst>
              </a:custGeom>
              <a:solidFill>
                <a:srgbClr val="38135E"/>
              </a:solidFill>
            </p:spPr>
            <p:txBody>
              <a:bodyPr wrap="square" lIns="0" tIns="0" rIns="0" bIns="0" rtlCol="0"/>
              <a:lstStyle/>
              <a:p/>
            </p:txBody>
          </p:sp>
        </p:grpSp>
        <p:sp>
          <p:nvSpPr>
            <p:cNvPr id="75" name="object 32"/>
            <p:cNvSpPr txBox="1"/>
            <p:nvPr/>
          </p:nvSpPr>
          <p:spPr>
            <a:xfrm>
              <a:off x="878" y="3614"/>
              <a:ext cx="2878" cy="2890"/>
            </a:xfrm>
            <a:prstGeom prst="rect">
              <a:avLst/>
            </a:prstGeom>
            <a:ln w="33527">
              <a:solidFill>
                <a:srgbClr val="0C1C2B"/>
              </a:solidFill>
            </a:ln>
          </p:spPr>
          <p:txBody>
            <a:bodyPr vert="horz" wrap="square" lIns="0" tIns="0" rIns="0" bIns="0" rtlCol="0">
              <a:spAutoFit/>
            </a:bodyPr>
            <a:lstStyle/>
            <a:p>
              <a:pPr>
                <a:lnSpc>
                  <a:spcPct val="100000"/>
                </a:lnSpc>
              </a:pPr>
              <a:endParaRPr sz="1300">
                <a:latin typeface="Times New Roman" panose="02020603050405020304"/>
                <a:cs typeface="Times New Roman" panose="02020603050405020304"/>
              </a:endParaRPr>
            </a:p>
            <a:p>
              <a:pPr>
                <a:lnSpc>
                  <a:spcPct val="100000"/>
                </a:lnSpc>
              </a:pPr>
              <a:endParaRPr sz="1300">
                <a:latin typeface="Times New Roman" panose="02020603050405020304"/>
                <a:cs typeface="Times New Roman" panose="02020603050405020304"/>
              </a:endParaRPr>
            </a:p>
            <a:p>
              <a:pPr>
                <a:lnSpc>
                  <a:spcPct val="100000"/>
                </a:lnSpc>
              </a:pPr>
              <a:endParaRPr sz="1300">
                <a:latin typeface="Times New Roman" panose="02020603050405020304"/>
                <a:cs typeface="Times New Roman" panose="02020603050405020304"/>
              </a:endParaRPr>
            </a:p>
            <a:p>
              <a:pPr>
                <a:lnSpc>
                  <a:spcPct val="100000"/>
                </a:lnSpc>
              </a:pPr>
              <a:endParaRPr sz="1300">
                <a:latin typeface="Times New Roman" panose="02020603050405020304"/>
                <a:cs typeface="Times New Roman" panose="02020603050405020304"/>
              </a:endParaRPr>
            </a:p>
            <a:p>
              <a:pPr marL="532765">
                <a:lnSpc>
                  <a:spcPct val="100000"/>
                </a:lnSpc>
                <a:spcBef>
                  <a:spcPts val="1015"/>
                </a:spcBef>
              </a:pPr>
              <a:r>
                <a:rPr sz="1200" b="1" spc="-10" dirty="0">
                  <a:solidFill>
                    <a:srgbClr val="1F4D79"/>
                  </a:solidFill>
                  <a:latin typeface="Arial" panose="020B0604020202020204"/>
                  <a:cs typeface="Arial" panose="020B0604020202020204"/>
                </a:rPr>
                <a:t>Denser</a:t>
              </a:r>
              <a:endParaRPr sz="1200">
                <a:latin typeface="Arial" panose="020B0604020202020204"/>
                <a:cs typeface="Arial" panose="020B0604020202020204"/>
              </a:endParaRPr>
            </a:p>
            <a:p>
              <a:pPr>
                <a:lnSpc>
                  <a:spcPct val="100000"/>
                </a:lnSpc>
                <a:spcBef>
                  <a:spcPts val="45"/>
                </a:spcBef>
              </a:pPr>
              <a:endParaRPr sz="1600">
                <a:latin typeface="Arial" panose="020B0604020202020204"/>
                <a:cs typeface="Arial" panose="020B0604020202020204"/>
              </a:endParaRPr>
            </a:p>
            <a:p>
              <a:pPr marL="1057275">
                <a:lnSpc>
                  <a:spcPct val="100000"/>
                </a:lnSpc>
              </a:pPr>
              <a:r>
                <a:rPr sz="1200" b="1" spc="-10" dirty="0">
                  <a:solidFill>
                    <a:srgbClr val="FF0000"/>
                  </a:solidFill>
                  <a:latin typeface="Arial" panose="020B0604020202020204"/>
                  <a:cs typeface="Arial" panose="020B0604020202020204"/>
                </a:rPr>
                <a:t>Sparser</a:t>
              </a:r>
              <a:endParaRPr sz="1200">
                <a:latin typeface="Arial" panose="020B0604020202020204"/>
                <a:cs typeface="Arial" panose="020B0604020202020204"/>
              </a:endParaRPr>
            </a:p>
          </p:txBody>
        </p:sp>
        <p:sp>
          <p:nvSpPr>
            <p:cNvPr id="76" name="object 48"/>
            <p:cNvSpPr txBox="1"/>
            <p:nvPr/>
          </p:nvSpPr>
          <p:spPr>
            <a:xfrm>
              <a:off x="1979" y="3239"/>
              <a:ext cx="913" cy="334"/>
            </a:xfrm>
            <a:prstGeom prst="rect">
              <a:avLst/>
            </a:prstGeom>
          </p:spPr>
          <p:txBody>
            <a:bodyPr vert="horz" wrap="square" lIns="0" tIns="15875" rIns="0" bIns="0" rtlCol="0">
              <a:spAutoFit/>
            </a:bodyPr>
            <a:lstStyle/>
            <a:p>
              <a:pPr marL="12700">
                <a:lnSpc>
                  <a:spcPct val="100000"/>
                </a:lnSpc>
                <a:spcBef>
                  <a:spcPts val="125"/>
                </a:spcBef>
              </a:pPr>
              <a:r>
                <a:rPr sz="1200" dirty="0">
                  <a:solidFill>
                    <a:srgbClr val="0C1C2B"/>
                  </a:solidFill>
                  <a:latin typeface="Times New Roman" panose="02020603050405020304"/>
                  <a:cs typeface="Times New Roman" panose="02020603050405020304"/>
                </a:rPr>
                <a:t>2D</a:t>
              </a:r>
              <a:r>
                <a:rPr sz="1200" spc="15" dirty="0">
                  <a:solidFill>
                    <a:srgbClr val="0C1C2B"/>
                  </a:solidFill>
                  <a:latin typeface="Times New Roman" panose="02020603050405020304"/>
                  <a:cs typeface="Times New Roman" panose="02020603050405020304"/>
                </a:rPr>
                <a:t> </a:t>
              </a:r>
              <a:r>
                <a:rPr sz="1200" spc="-20" dirty="0">
                  <a:solidFill>
                    <a:srgbClr val="0C1C2B"/>
                  </a:solidFill>
                  <a:latin typeface="Times New Roman" panose="02020603050405020304"/>
                  <a:cs typeface="Times New Roman" panose="02020603050405020304"/>
                </a:rPr>
                <a:t>View</a:t>
              </a:r>
              <a:endParaRPr sz="1200">
                <a:latin typeface="Times New Roman" panose="02020603050405020304"/>
                <a:cs typeface="Times New Roman" panose="020206030504050203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组合 179"/>
          <p:cNvGrpSpPr/>
          <p:nvPr/>
        </p:nvGrpSpPr>
        <p:grpSpPr>
          <a:xfrm>
            <a:off x="927355" y="1867357"/>
            <a:ext cx="9589513" cy="3004937"/>
            <a:chOff x="3456" y="3330"/>
            <a:chExt cx="12229" cy="3832"/>
          </a:xfrm>
        </p:grpSpPr>
        <p:grpSp>
          <p:nvGrpSpPr>
            <p:cNvPr id="2" name="object 2"/>
            <p:cNvGrpSpPr/>
            <p:nvPr/>
          </p:nvGrpSpPr>
          <p:grpSpPr>
            <a:xfrm>
              <a:off x="3458" y="3330"/>
              <a:ext cx="12216" cy="3182"/>
              <a:chOff x="1045464" y="2331720"/>
              <a:chExt cx="8554720" cy="2228215"/>
            </a:xfrm>
          </p:grpSpPr>
          <p:sp>
            <p:nvSpPr>
              <p:cNvPr id="3" name="object 3"/>
              <p:cNvSpPr/>
              <p:nvPr/>
            </p:nvSpPr>
            <p:spPr>
              <a:xfrm>
                <a:off x="1045464" y="2409456"/>
                <a:ext cx="8554720" cy="1990725"/>
              </a:xfrm>
              <a:custGeom>
                <a:avLst/>
                <a:gdLst/>
                <a:ahLst/>
                <a:cxnLst/>
                <a:rect l="l" t="t" r="r" b="b"/>
                <a:pathLst>
                  <a:path w="8554720" h="1990725">
                    <a:moveTo>
                      <a:pt x="926579" y="1423403"/>
                    </a:moveTo>
                    <a:lnTo>
                      <a:pt x="0" y="1423403"/>
                    </a:lnTo>
                    <a:lnTo>
                      <a:pt x="0" y="1990344"/>
                    </a:lnTo>
                    <a:lnTo>
                      <a:pt x="926579" y="1990344"/>
                    </a:lnTo>
                    <a:lnTo>
                      <a:pt x="926579" y="1423403"/>
                    </a:lnTo>
                    <a:close/>
                  </a:path>
                  <a:path w="8554720" h="1990725">
                    <a:moveTo>
                      <a:pt x="932675" y="0"/>
                    </a:moveTo>
                    <a:lnTo>
                      <a:pt x="6096" y="0"/>
                    </a:lnTo>
                    <a:lnTo>
                      <a:pt x="6096" y="1295387"/>
                    </a:lnTo>
                    <a:lnTo>
                      <a:pt x="932675" y="1295387"/>
                    </a:lnTo>
                    <a:lnTo>
                      <a:pt x="932675" y="0"/>
                    </a:lnTo>
                    <a:close/>
                  </a:path>
                  <a:path w="8554720" h="1990725">
                    <a:moveTo>
                      <a:pt x="8554212" y="19799"/>
                    </a:moveTo>
                    <a:lnTo>
                      <a:pt x="6972300" y="19799"/>
                    </a:lnTo>
                    <a:lnTo>
                      <a:pt x="6972300" y="890003"/>
                    </a:lnTo>
                    <a:lnTo>
                      <a:pt x="8554212" y="890003"/>
                    </a:lnTo>
                    <a:lnTo>
                      <a:pt x="8554212" y="19799"/>
                    </a:lnTo>
                    <a:close/>
                  </a:path>
                </a:pathLst>
              </a:custGeom>
              <a:solidFill>
                <a:srgbClr val="F2F2F2"/>
              </a:solidFill>
            </p:spPr>
            <p:txBody>
              <a:bodyPr wrap="square" lIns="0" tIns="0" rIns="0" bIns="0" rtlCol="0"/>
              <a:lstStyle/>
              <a:p>
                <a:endParaRPr sz="1630"/>
              </a:p>
            </p:txBody>
          </p:sp>
          <p:pic>
            <p:nvPicPr>
              <p:cNvPr id="4" name="object 4"/>
              <p:cNvPicPr/>
              <p:nvPr/>
            </p:nvPicPr>
            <p:blipFill>
              <a:blip r:embed="rId1" cstate="print"/>
              <a:stretch>
                <a:fillRect/>
              </a:stretch>
            </p:blipFill>
            <p:spPr>
              <a:xfrm>
                <a:off x="1202436" y="3226308"/>
                <a:ext cx="534923" cy="315467"/>
              </a:xfrm>
              <a:prstGeom prst="rect">
                <a:avLst/>
              </a:prstGeom>
            </p:spPr>
          </p:pic>
          <p:pic>
            <p:nvPicPr>
              <p:cNvPr id="5" name="object 5"/>
              <p:cNvPicPr/>
              <p:nvPr/>
            </p:nvPicPr>
            <p:blipFill>
              <a:blip r:embed="rId2" cstate="print"/>
              <a:stretch>
                <a:fillRect/>
              </a:stretch>
            </p:blipFill>
            <p:spPr>
              <a:xfrm>
                <a:off x="1205484" y="2738627"/>
                <a:ext cx="553212" cy="316991"/>
              </a:xfrm>
              <a:prstGeom prst="rect">
                <a:avLst/>
              </a:prstGeom>
            </p:spPr>
          </p:pic>
          <p:pic>
            <p:nvPicPr>
              <p:cNvPr id="6" name="object 6"/>
              <p:cNvPicPr/>
              <p:nvPr/>
            </p:nvPicPr>
            <p:blipFill>
              <a:blip r:embed="rId3" cstate="print"/>
              <a:stretch>
                <a:fillRect/>
              </a:stretch>
            </p:blipFill>
            <p:spPr>
              <a:xfrm>
                <a:off x="1978151" y="3159252"/>
                <a:ext cx="239268" cy="96012"/>
              </a:xfrm>
              <a:prstGeom prst="rect">
                <a:avLst/>
              </a:prstGeom>
            </p:spPr>
          </p:pic>
          <p:sp>
            <p:nvSpPr>
              <p:cNvPr id="7" name="object 7"/>
              <p:cNvSpPr/>
              <p:nvPr/>
            </p:nvSpPr>
            <p:spPr>
              <a:xfrm>
                <a:off x="2216658" y="3348228"/>
                <a:ext cx="0" cy="896619"/>
              </a:xfrm>
              <a:custGeom>
                <a:avLst/>
                <a:gdLst/>
                <a:ahLst/>
                <a:cxnLst/>
                <a:rect l="l" t="t" r="r" b="b"/>
                <a:pathLst>
                  <a:path h="896620">
                    <a:moveTo>
                      <a:pt x="0" y="0"/>
                    </a:moveTo>
                    <a:lnTo>
                      <a:pt x="0" y="896112"/>
                    </a:lnTo>
                  </a:path>
                </a:pathLst>
              </a:custGeom>
              <a:ln w="13716">
                <a:solidFill>
                  <a:srgbClr val="0C1C2B"/>
                </a:solidFill>
                <a:prstDash val="sysDash"/>
              </a:ln>
            </p:spPr>
            <p:txBody>
              <a:bodyPr wrap="square" lIns="0" tIns="0" rIns="0" bIns="0" rtlCol="0"/>
              <a:lstStyle/>
              <a:p>
                <a:endParaRPr sz="1630"/>
              </a:p>
            </p:txBody>
          </p:sp>
          <p:sp>
            <p:nvSpPr>
              <p:cNvPr id="8" name="object 8"/>
              <p:cNvSpPr/>
              <p:nvPr/>
            </p:nvSpPr>
            <p:spPr>
              <a:xfrm>
                <a:off x="2209800" y="2397251"/>
                <a:ext cx="1865630" cy="2162810"/>
              </a:xfrm>
              <a:custGeom>
                <a:avLst/>
                <a:gdLst/>
                <a:ahLst/>
                <a:cxnLst/>
                <a:rect l="l" t="t" r="r" b="b"/>
                <a:pathLst>
                  <a:path w="1865629" h="2162810">
                    <a:moveTo>
                      <a:pt x="13716" y="858012"/>
                    </a:moveTo>
                    <a:lnTo>
                      <a:pt x="0" y="858012"/>
                    </a:lnTo>
                    <a:lnTo>
                      <a:pt x="0" y="911352"/>
                    </a:lnTo>
                    <a:lnTo>
                      <a:pt x="13716" y="911352"/>
                    </a:lnTo>
                    <a:lnTo>
                      <a:pt x="13716" y="858012"/>
                    </a:lnTo>
                    <a:close/>
                  </a:path>
                  <a:path w="1865629" h="2162810">
                    <a:moveTo>
                      <a:pt x="13716" y="763524"/>
                    </a:moveTo>
                    <a:lnTo>
                      <a:pt x="0" y="763524"/>
                    </a:lnTo>
                    <a:lnTo>
                      <a:pt x="0" y="816864"/>
                    </a:lnTo>
                    <a:lnTo>
                      <a:pt x="13716" y="816864"/>
                    </a:lnTo>
                    <a:lnTo>
                      <a:pt x="13716" y="763524"/>
                    </a:lnTo>
                    <a:close/>
                  </a:path>
                  <a:path w="1865629" h="2162810">
                    <a:moveTo>
                      <a:pt x="13716" y="670560"/>
                    </a:moveTo>
                    <a:lnTo>
                      <a:pt x="0" y="670560"/>
                    </a:lnTo>
                    <a:lnTo>
                      <a:pt x="0" y="723900"/>
                    </a:lnTo>
                    <a:lnTo>
                      <a:pt x="13716" y="723900"/>
                    </a:lnTo>
                    <a:lnTo>
                      <a:pt x="13716" y="670560"/>
                    </a:lnTo>
                    <a:close/>
                  </a:path>
                  <a:path w="1865629" h="2162810">
                    <a:moveTo>
                      <a:pt x="13716" y="576072"/>
                    </a:moveTo>
                    <a:lnTo>
                      <a:pt x="0" y="576072"/>
                    </a:lnTo>
                    <a:lnTo>
                      <a:pt x="0" y="630936"/>
                    </a:lnTo>
                    <a:lnTo>
                      <a:pt x="13716" y="630936"/>
                    </a:lnTo>
                    <a:lnTo>
                      <a:pt x="13716" y="576072"/>
                    </a:lnTo>
                    <a:close/>
                  </a:path>
                  <a:path w="1865629" h="2162810">
                    <a:moveTo>
                      <a:pt x="13716" y="483108"/>
                    </a:moveTo>
                    <a:lnTo>
                      <a:pt x="0" y="483108"/>
                    </a:lnTo>
                    <a:lnTo>
                      <a:pt x="0" y="536448"/>
                    </a:lnTo>
                    <a:lnTo>
                      <a:pt x="13716" y="536448"/>
                    </a:lnTo>
                    <a:lnTo>
                      <a:pt x="13716" y="483108"/>
                    </a:lnTo>
                    <a:close/>
                  </a:path>
                  <a:path w="1865629" h="2162810">
                    <a:moveTo>
                      <a:pt x="13716" y="390144"/>
                    </a:moveTo>
                    <a:lnTo>
                      <a:pt x="0" y="390144"/>
                    </a:lnTo>
                    <a:lnTo>
                      <a:pt x="0" y="443484"/>
                    </a:lnTo>
                    <a:lnTo>
                      <a:pt x="13716" y="443484"/>
                    </a:lnTo>
                    <a:lnTo>
                      <a:pt x="13716" y="390144"/>
                    </a:lnTo>
                    <a:close/>
                  </a:path>
                  <a:path w="1865629" h="2162810">
                    <a:moveTo>
                      <a:pt x="15240" y="297180"/>
                    </a:moveTo>
                    <a:lnTo>
                      <a:pt x="1524" y="295656"/>
                    </a:lnTo>
                    <a:lnTo>
                      <a:pt x="1524" y="298704"/>
                    </a:lnTo>
                    <a:lnTo>
                      <a:pt x="0" y="315468"/>
                    </a:lnTo>
                    <a:lnTo>
                      <a:pt x="0" y="348996"/>
                    </a:lnTo>
                    <a:lnTo>
                      <a:pt x="13716" y="348996"/>
                    </a:lnTo>
                    <a:lnTo>
                      <a:pt x="13716" y="300228"/>
                    </a:lnTo>
                    <a:lnTo>
                      <a:pt x="15240" y="297180"/>
                    </a:lnTo>
                    <a:close/>
                  </a:path>
                  <a:path w="1865629" h="2162810">
                    <a:moveTo>
                      <a:pt x="24384" y="1923288"/>
                    </a:moveTo>
                    <a:lnTo>
                      <a:pt x="22860" y="1921764"/>
                    </a:lnTo>
                    <a:lnTo>
                      <a:pt x="20116" y="1908048"/>
                    </a:lnTo>
                    <a:lnTo>
                      <a:pt x="19812" y="1906524"/>
                    </a:lnTo>
                    <a:lnTo>
                      <a:pt x="19812" y="1908048"/>
                    </a:lnTo>
                    <a:lnTo>
                      <a:pt x="16764" y="1892808"/>
                    </a:lnTo>
                    <a:lnTo>
                      <a:pt x="18288" y="1892808"/>
                    </a:lnTo>
                    <a:lnTo>
                      <a:pt x="15240" y="1877568"/>
                    </a:lnTo>
                    <a:lnTo>
                      <a:pt x="15240" y="1872996"/>
                    </a:lnTo>
                    <a:lnTo>
                      <a:pt x="1524" y="1872996"/>
                    </a:lnTo>
                    <a:lnTo>
                      <a:pt x="3048" y="1879092"/>
                    </a:lnTo>
                    <a:lnTo>
                      <a:pt x="4572" y="1894332"/>
                    </a:lnTo>
                    <a:lnTo>
                      <a:pt x="10668" y="1924812"/>
                    </a:lnTo>
                    <a:lnTo>
                      <a:pt x="10668" y="1927860"/>
                    </a:lnTo>
                    <a:lnTo>
                      <a:pt x="24384" y="1923288"/>
                    </a:lnTo>
                    <a:close/>
                  </a:path>
                  <a:path w="1865629" h="2162810">
                    <a:moveTo>
                      <a:pt x="33528" y="207264"/>
                    </a:moveTo>
                    <a:lnTo>
                      <a:pt x="21336" y="202692"/>
                    </a:lnTo>
                    <a:lnTo>
                      <a:pt x="15240" y="220980"/>
                    </a:lnTo>
                    <a:lnTo>
                      <a:pt x="10668" y="236220"/>
                    </a:lnTo>
                    <a:lnTo>
                      <a:pt x="7620" y="251460"/>
                    </a:lnTo>
                    <a:lnTo>
                      <a:pt x="6096" y="254508"/>
                    </a:lnTo>
                    <a:lnTo>
                      <a:pt x="19812" y="257556"/>
                    </a:lnTo>
                    <a:lnTo>
                      <a:pt x="19812" y="254508"/>
                    </a:lnTo>
                    <a:lnTo>
                      <a:pt x="22860" y="239268"/>
                    </a:lnTo>
                    <a:lnTo>
                      <a:pt x="22860" y="240792"/>
                    </a:lnTo>
                    <a:lnTo>
                      <a:pt x="23304" y="239268"/>
                    </a:lnTo>
                    <a:lnTo>
                      <a:pt x="27432" y="225552"/>
                    </a:lnTo>
                    <a:lnTo>
                      <a:pt x="33528" y="207264"/>
                    </a:lnTo>
                    <a:close/>
                  </a:path>
                  <a:path w="1865629" h="2162810">
                    <a:moveTo>
                      <a:pt x="60960" y="2007108"/>
                    </a:moveTo>
                    <a:lnTo>
                      <a:pt x="57912" y="2002536"/>
                    </a:lnTo>
                    <a:lnTo>
                      <a:pt x="50292" y="1990344"/>
                    </a:lnTo>
                    <a:lnTo>
                      <a:pt x="44869" y="1978152"/>
                    </a:lnTo>
                    <a:lnTo>
                      <a:pt x="44196" y="1976628"/>
                    </a:lnTo>
                    <a:lnTo>
                      <a:pt x="44196" y="1978152"/>
                    </a:lnTo>
                    <a:lnTo>
                      <a:pt x="38100" y="1964436"/>
                    </a:lnTo>
                    <a:lnTo>
                      <a:pt x="36576" y="1961388"/>
                    </a:lnTo>
                    <a:lnTo>
                      <a:pt x="24384" y="1965960"/>
                    </a:lnTo>
                    <a:lnTo>
                      <a:pt x="25908" y="1969008"/>
                    </a:lnTo>
                    <a:lnTo>
                      <a:pt x="38100" y="1996440"/>
                    </a:lnTo>
                    <a:lnTo>
                      <a:pt x="45720" y="2010156"/>
                    </a:lnTo>
                    <a:lnTo>
                      <a:pt x="48768" y="2014728"/>
                    </a:lnTo>
                    <a:lnTo>
                      <a:pt x="60960" y="2007108"/>
                    </a:lnTo>
                    <a:close/>
                  </a:path>
                  <a:path w="1865629" h="2162810">
                    <a:moveTo>
                      <a:pt x="79248" y="128016"/>
                    </a:moveTo>
                    <a:lnTo>
                      <a:pt x="68580" y="120396"/>
                    </a:lnTo>
                    <a:lnTo>
                      <a:pt x="54864" y="138684"/>
                    </a:lnTo>
                    <a:lnTo>
                      <a:pt x="45720" y="152400"/>
                    </a:lnTo>
                    <a:lnTo>
                      <a:pt x="38100" y="164592"/>
                    </a:lnTo>
                    <a:lnTo>
                      <a:pt x="38100" y="166116"/>
                    </a:lnTo>
                    <a:lnTo>
                      <a:pt x="50292" y="172212"/>
                    </a:lnTo>
                    <a:lnTo>
                      <a:pt x="51130" y="170688"/>
                    </a:lnTo>
                    <a:lnTo>
                      <a:pt x="57912" y="158496"/>
                    </a:lnTo>
                    <a:lnTo>
                      <a:pt x="65532" y="146304"/>
                    </a:lnTo>
                    <a:lnTo>
                      <a:pt x="79248" y="128016"/>
                    </a:lnTo>
                    <a:close/>
                  </a:path>
                  <a:path w="1865629" h="2162810">
                    <a:moveTo>
                      <a:pt x="120396" y="2077212"/>
                    </a:moveTo>
                    <a:lnTo>
                      <a:pt x="102108" y="2060448"/>
                    </a:lnTo>
                    <a:lnTo>
                      <a:pt x="83820" y="2039112"/>
                    </a:lnTo>
                    <a:lnTo>
                      <a:pt x="73152" y="2048256"/>
                    </a:lnTo>
                    <a:lnTo>
                      <a:pt x="92964" y="2069592"/>
                    </a:lnTo>
                    <a:lnTo>
                      <a:pt x="111252" y="2086356"/>
                    </a:lnTo>
                    <a:lnTo>
                      <a:pt x="120396" y="2077212"/>
                    </a:lnTo>
                    <a:close/>
                  </a:path>
                  <a:path w="1865629" h="2162810">
                    <a:moveTo>
                      <a:pt x="146304" y="65532"/>
                    </a:moveTo>
                    <a:lnTo>
                      <a:pt x="138684" y="54864"/>
                    </a:lnTo>
                    <a:lnTo>
                      <a:pt x="128016" y="62484"/>
                    </a:lnTo>
                    <a:lnTo>
                      <a:pt x="115824" y="71628"/>
                    </a:lnTo>
                    <a:lnTo>
                      <a:pt x="96012" y="89916"/>
                    </a:lnTo>
                    <a:lnTo>
                      <a:pt x="105156" y="99060"/>
                    </a:lnTo>
                    <a:lnTo>
                      <a:pt x="123444" y="82296"/>
                    </a:lnTo>
                    <a:lnTo>
                      <a:pt x="135636" y="73152"/>
                    </a:lnTo>
                    <a:lnTo>
                      <a:pt x="146304" y="65532"/>
                    </a:lnTo>
                    <a:close/>
                  </a:path>
                  <a:path w="1865629" h="2162810">
                    <a:moveTo>
                      <a:pt x="198120" y="2124456"/>
                    </a:moveTo>
                    <a:lnTo>
                      <a:pt x="184404" y="2118360"/>
                    </a:lnTo>
                    <a:lnTo>
                      <a:pt x="185928" y="2118360"/>
                    </a:lnTo>
                    <a:lnTo>
                      <a:pt x="172212" y="2112264"/>
                    </a:lnTo>
                    <a:lnTo>
                      <a:pt x="160020" y="2104644"/>
                    </a:lnTo>
                    <a:lnTo>
                      <a:pt x="152400" y="2100072"/>
                    </a:lnTo>
                    <a:lnTo>
                      <a:pt x="144780" y="2110740"/>
                    </a:lnTo>
                    <a:lnTo>
                      <a:pt x="152400" y="2116836"/>
                    </a:lnTo>
                    <a:lnTo>
                      <a:pt x="166116" y="2124456"/>
                    </a:lnTo>
                    <a:lnTo>
                      <a:pt x="179832" y="2130552"/>
                    </a:lnTo>
                    <a:lnTo>
                      <a:pt x="192024" y="2136648"/>
                    </a:lnTo>
                    <a:lnTo>
                      <a:pt x="198120" y="2124456"/>
                    </a:lnTo>
                    <a:close/>
                  </a:path>
                  <a:path w="1865629" h="2162810">
                    <a:moveTo>
                      <a:pt x="227076" y="25908"/>
                    </a:moveTo>
                    <a:lnTo>
                      <a:pt x="224028" y="13716"/>
                    </a:lnTo>
                    <a:lnTo>
                      <a:pt x="222504" y="13716"/>
                    </a:lnTo>
                    <a:lnTo>
                      <a:pt x="207264" y="19812"/>
                    </a:lnTo>
                    <a:lnTo>
                      <a:pt x="193548" y="24384"/>
                    </a:lnTo>
                    <a:lnTo>
                      <a:pt x="179832" y="30480"/>
                    </a:lnTo>
                    <a:lnTo>
                      <a:pt x="173736" y="33528"/>
                    </a:lnTo>
                    <a:lnTo>
                      <a:pt x="179832" y="45720"/>
                    </a:lnTo>
                    <a:lnTo>
                      <a:pt x="185928" y="42672"/>
                    </a:lnTo>
                    <a:lnTo>
                      <a:pt x="184404" y="42672"/>
                    </a:lnTo>
                    <a:lnTo>
                      <a:pt x="198120" y="36576"/>
                    </a:lnTo>
                    <a:lnTo>
                      <a:pt x="211836" y="32004"/>
                    </a:lnTo>
                    <a:lnTo>
                      <a:pt x="227076" y="27432"/>
                    </a:lnTo>
                    <a:lnTo>
                      <a:pt x="225552" y="27432"/>
                    </a:lnTo>
                    <a:lnTo>
                      <a:pt x="227076" y="25908"/>
                    </a:lnTo>
                    <a:close/>
                  </a:path>
                  <a:path w="1865629" h="2162810">
                    <a:moveTo>
                      <a:pt x="286512" y="2147316"/>
                    </a:moveTo>
                    <a:lnTo>
                      <a:pt x="284988" y="2147316"/>
                    </a:lnTo>
                    <a:lnTo>
                      <a:pt x="277368" y="2145792"/>
                    </a:lnTo>
                    <a:lnTo>
                      <a:pt x="269748" y="2144268"/>
                    </a:lnTo>
                    <a:lnTo>
                      <a:pt x="269748" y="2145792"/>
                    </a:lnTo>
                    <a:lnTo>
                      <a:pt x="254508" y="2142744"/>
                    </a:lnTo>
                    <a:lnTo>
                      <a:pt x="256032" y="2142744"/>
                    </a:lnTo>
                    <a:lnTo>
                      <a:pt x="240792" y="2139696"/>
                    </a:lnTo>
                    <a:lnTo>
                      <a:pt x="234696" y="2136648"/>
                    </a:lnTo>
                    <a:lnTo>
                      <a:pt x="231648" y="2150364"/>
                    </a:lnTo>
                    <a:lnTo>
                      <a:pt x="237744" y="2151888"/>
                    </a:lnTo>
                    <a:lnTo>
                      <a:pt x="268224" y="2157984"/>
                    </a:lnTo>
                    <a:lnTo>
                      <a:pt x="283464" y="2159508"/>
                    </a:lnTo>
                    <a:lnTo>
                      <a:pt x="284988" y="2161032"/>
                    </a:lnTo>
                    <a:lnTo>
                      <a:pt x="286512" y="2147316"/>
                    </a:lnTo>
                    <a:close/>
                  </a:path>
                  <a:path w="1865629" h="2162810">
                    <a:moveTo>
                      <a:pt x="318516" y="0"/>
                    </a:moveTo>
                    <a:lnTo>
                      <a:pt x="300228" y="0"/>
                    </a:lnTo>
                    <a:lnTo>
                      <a:pt x="268224" y="3048"/>
                    </a:lnTo>
                    <a:lnTo>
                      <a:pt x="263652" y="4572"/>
                    </a:lnTo>
                    <a:lnTo>
                      <a:pt x="266700" y="18288"/>
                    </a:lnTo>
                    <a:lnTo>
                      <a:pt x="269748" y="16764"/>
                    </a:lnTo>
                    <a:lnTo>
                      <a:pt x="300228" y="13716"/>
                    </a:lnTo>
                    <a:lnTo>
                      <a:pt x="318516" y="13716"/>
                    </a:lnTo>
                    <a:lnTo>
                      <a:pt x="318516" y="0"/>
                    </a:lnTo>
                    <a:close/>
                  </a:path>
                  <a:path w="1865629" h="2162810">
                    <a:moveTo>
                      <a:pt x="379476" y="2148840"/>
                    </a:moveTo>
                    <a:lnTo>
                      <a:pt x="326136" y="2148840"/>
                    </a:lnTo>
                    <a:lnTo>
                      <a:pt x="326136" y="2162556"/>
                    </a:lnTo>
                    <a:lnTo>
                      <a:pt x="379476" y="2162556"/>
                    </a:lnTo>
                    <a:lnTo>
                      <a:pt x="379476" y="2148840"/>
                    </a:lnTo>
                    <a:close/>
                  </a:path>
                  <a:path w="1865629" h="2162810">
                    <a:moveTo>
                      <a:pt x="411480" y="0"/>
                    </a:moveTo>
                    <a:lnTo>
                      <a:pt x="358140" y="0"/>
                    </a:lnTo>
                    <a:lnTo>
                      <a:pt x="358140" y="13716"/>
                    </a:lnTo>
                    <a:lnTo>
                      <a:pt x="411480" y="13716"/>
                    </a:lnTo>
                    <a:lnTo>
                      <a:pt x="411480" y="0"/>
                    </a:lnTo>
                    <a:close/>
                  </a:path>
                  <a:path w="1865629" h="2162810">
                    <a:moveTo>
                      <a:pt x="472440" y="2148840"/>
                    </a:moveTo>
                    <a:lnTo>
                      <a:pt x="419100" y="2148840"/>
                    </a:lnTo>
                    <a:lnTo>
                      <a:pt x="419100" y="2162556"/>
                    </a:lnTo>
                    <a:lnTo>
                      <a:pt x="472440" y="2162556"/>
                    </a:lnTo>
                    <a:lnTo>
                      <a:pt x="472440" y="2148840"/>
                    </a:lnTo>
                    <a:close/>
                  </a:path>
                  <a:path w="1865629" h="2162810">
                    <a:moveTo>
                      <a:pt x="505968" y="0"/>
                    </a:moveTo>
                    <a:lnTo>
                      <a:pt x="451104" y="0"/>
                    </a:lnTo>
                    <a:lnTo>
                      <a:pt x="451104" y="13716"/>
                    </a:lnTo>
                    <a:lnTo>
                      <a:pt x="505968" y="13716"/>
                    </a:lnTo>
                    <a:lnTo>
                      <a:pt x="505968" y="0"/>
                    </a:lnTo>
                    <a:close/>
                  </a:path>
                  <a:path w="1865629" h="2162810">
                    <a:moveTo>
                      <a:pt x="566928" y="2148840"/>
                    </a:moveTo>
                    <a:lnTo>
                      <a:pt x="512064" y="2148840"/>
                    </a:lnTo>
                    <a:lnTo>
                      <a:pt x="512064" y="2162556"/>
                    </a:lnTo>
                    <a:lnTo>
                      <a:pt x="566928" y="2162556"/>
                    </a:lnTo>
                    <a:lnTo>
                      <a:pt x="566928" y="2148840"/>
                    </a:lnTo>
                    <a:close/>
                  </a:path>
                  <a:path w="1865629" h="2162810">
                    <a:moveTo>
                      <a:pt x="598932" y="0"/>
                    </a:moveTo>
                    <a:lnTo>
                      <a:pt x="545592" y="0"/>
                    </a:lnTo>
                    <a:lnTo>
                      <a:pt x="545592" y="13716"/>
                    </a:lnTo>
                    <a:lnTo>
                      <a:pt x="598932" y="13716"/>
                    </a:lnTo>
                    <a:lnTo>
                      <a:pt x="598932" y="0"/>
                    </a:lnTo>
                    <a:close/>
                  </a:path>
                  <a:path w="1865629" h="2162810">
                    <a:moveTo>
                      <a:pt x="659892" y="2148840"/>
                    </a:moveTo>
                    <a:lnTo>
                      <a:pt x="606552" y="2148840"/>
                    </a:lnTo>
                    <a:lnTo>
                      <a:pt x="606552" y="2162556"/>
                    </a:lnTo>
                    <a:lnTo>
                      <a:pt x="659892" y="2162556"/>
                    </a:lnTo>
                    <a:lnTo>
                      <a:pt x="659892" y="2148840"/>
                    </a:lnTo>
                    <a:close/>
                  </a:path>
                  <a:path w="1865629" h="2162810">
                    <a:moveTo>
                      <a:pt x="691896" y="0"/>
                    </a:moveTo>
                    <a:lnTo>
                      <a:pt x="638556" y="0"/>
                    </a:lnTo>
                    <a:lnTo>
                      <a:pt x="638556" y="13716"/>
                    </a:lnTo>
                    <a:lnTo>
                      <a:pt x="691896" y="13716"/>
                    </a:lnTo>
                    <a:lnTo>
                      <a:pt x="691896" y="0"/>
                    </a:lnTo>
                    <a:close/>
                  </a:path>
                  <a:path w="1865629" h="2162810">
                    <a:moveTo>
                      <a:pt x="752856" y="2148840"/>
                    </a:moveTo>
                    <a:lnTo>
                      <a:pt x="699516" y="2148840"/>
                    </a:lnTo>
                    <a:lnTo>
                      <a:pt x="699516" y="2162556"/>
                    </a:lnTo>
                    <a:lnTo>
                      <a:pt x="752856" y="2162556"/>
                    </a:lnTo>
                    <a:lnTo>
                      <a:pt x="752856" y="2148840"/>
                    </a:lnTo>
                    <a:close/>
                  </a:path>
                  <a:path w="1865629" h="2162810">
                    <a:moveTo>
                      <a:pt x="786384" y="0"/>
                    </a:moveTo>
                    <a:lnTo>
                      <a:pt x="733044" y="0"/>
                    </a:lnTo>
                    <a:lnTo>
                      <a:pt x="733044" y="13716"/>
                    </a:lnTo>
                    <a:lnTo>
                      <a:pt x="786384" y="13716"/>
                    </a:lnTo>
                    <a:lnTo>
                      <a:pt x="786384" y="0"/>
                    </a:lnTo>
                    <a:close/>
                  </a:path>
                  <a:path w="1865629" h="2162810">
                    <a:moveTo>
                      <a:pt x="847331" y="2148840"/>
                    </a:moveTo>
                    <a:lnTo>
                      <a:pt x="793991" y="2148840"/>
                    </a:lnTo>
                    <a:lnTo>
                      <a:pt x="793991" y="2162556"/>
                    </a:lnTo>
                    <a:lnTo>
                      <a:pt x="847331" y="2162556"/>
                    </a:lnTo>
                    <a:lnTo>
                      <a:pt x="847331" y="2148840"/>
                    </a:lnTo>
                    <a:close/>
                  </a:path>
                  <a:path w="1865629" h="2162810">
                    <a:moveTo>
                      <a:pt x="879348" y="0"/>
                    </a:moveTo>
                    <a:lnTo>
                      <a:pt x="826008" y="0"/>
                    </a:lnTo>
                    <a:lnTo>
                      <a:pt x="826008" y="13716"/>
                    </a:lnTo>
                    <a:lnTo>
                      <a:pt x="879348" y="13716"/>
                    </a:lnTo>
                    <a:lnTo>
                      <a:pt x="879348" y="0"/>
                    </a:lnTo>
                    <a:close/>
                  </a:path>
                  <a:path w="1865629" h="2162810">
                    <a:moveTo>
                      <a:pt x="940295" y="2148840"/>
                    </a:moveTo>
                    <a:lnTo>
                      <a:pt x="886955" y="2148840"/>
                    </a:lnTo>
                    <a:lnTo>
                      <a:pt x="886955" y="2162556"/>
                    </a:lnTo>
                    <a:lnTo>
                      <a:pt x="940295" y="2162556"/>
                    </a:lnTo>
                    <a:lnTo>
                      <a:pt x="940295" y="2148840"/>
                    </a:lnTo>
                    <a:close/>
                  </a:path>
                  <a:path w="1865629" h="2162810">
                    <a:moveTo>
                      <a:pt x="972312" y="0"/>
                    </a:moveTo>
                    <a:lnTo>
                      <a:pt x="918972" y="0"/>
                    </a:lnTo>
                    <a:lnTo>
                      <a:pt x="918972" y="13716"/>
                    </a:lnTo>
                    <a:lnTo>
                      <a:pt x="972312" y="13716"/>
                    </a:lnTo>
                    <a:lnTo>
                      <a:pt x="972312" y="0"/>
                    </a:lnTo>
                    <a:close/>
                  </a:path>
                  <a:path w="1865629" h="2162810">
                    <a:moveTo>
                      <a:pt x="1033259" y="2148840"/>
                    </a:moveTo>
                    <a:lnTo>
                      <a:pt x="979919" y="2148840"/>
                    </a:lnTo>
                    <a:lnTo>
                      <a:pt x="979919" y="2162556"/>
                    </a:lnTo>
                    <a:lnTo>
                      <a:pt x="1033259" y="2162556"/>
                    </a:lnTo>
                    <a:lnTo>
                      <a:pt x="1033259" y="2148840"/>
                    </a:lnTo>
                    <a:close/>
                  </a:path>
                  <a:path w="1865629" h="2162810">
                    <a:moveTo>
                      <a:pt x="1066800" y="0"/>
                    </a:moveTo>
                    <a:lnTo>
                      <a:pt x="1013460" y="0"/>
                    </a:lnTo>
                    <a:lnTo>
                      <a:pt x="1013460" y="13716"/>
                    </a:lnTo>
                    <a:lnTo>
                      <a:pt x="1066800" y="13716"/>
                    </a:lnTo>
                    <a:lnTo>
                      <a:pt x="1066800" y="0"/>
                    </a:lnTo>
                    <a:close/>
                  </a:path>
                  <a:path w="1865629" h="2162810">
                    <a:moveTo>
                      <a:pt x="1127747" y="2148840"/>
                    </a:moveTo>
                    <a:lnTo>
                      <a:pt x="1074407" y="2148840"/>
                    </a:lnTo>
                    <a:lnTo>
                      <a:pt x="1074407" y="2162556"/>
                    </a:lnTo>
                    <a:lnTo>
                      <a:pt x="1127747" y="2162556"/>
                    </a:lnTo>
                    <a:lnTo>
                      <a:pt x="1127747" y="2148840"/>
                    </a:lnTo>
                    <a:close/>
                  </a:path>
                  <a:path w="1865629" h="2162810">
                    <a:moveTo>
                      <a:pt x="1159764" y="0"/>
                    </a:moveTo>
                    <a:lnTo>
                      <a:pt x="1106424" y="0"/>
                    </a:lnTo>
                    <a:lnTo>
                      <a:pt x="1106424" y="13716"/>
                    </a:lnTo>
                    <a:lnTo>
                      <a:pt x="1159764" y="13716"/>
                    </a:lnTo>
                    <a:lnTo>
                      <a:pt x="1159764" y="0"/>
                    </a:lnTo>
                    <a:close/>
                  </a:path>
                  <a:path w="1865629" h="2162810">
                    <a:moveTo>
                      <a:pt x="1220711" y="2148840"/>
                    </a:moveTo>
                    <a:lnTo>
                      <a:pt x="1167371" y="2148840"/>
                    </a:lnTo>
                    <a:lnTo>
                      <a:pt x="1167371" y="2162556"/>
                    </a:lnTo>
                    <a:lnTo>
                      <a:pt x="1220711" y="2162556"/>
                    </a:lnTo>
                    <a:lnTo>
                      <a:pt x="1220711" y="2148840"/>
                    </a:lnTo>
                    <a:close/>
                  </a:path>
                  <a:path w="1865629" h="2162810">
                    <a:moveTo>
                      <a:pt x="1254252" y="0"/>
                    </a:moveTo>
                    <a:lnTo>
                      <a:pt x="1200912" y="0"/>
                    </a:lnTo>
                    <a:lnTo>
                      <a:pt x="1200912" y="13716"/>
                    </a:lnTo>
                    <a:lnTo>
                      <a:pt x="1254252" y="13716"/>
                    </a:lnTo>
                    <a:lnTo>
                      <a:pt x="1254252" y="0"/>
                    </a:lnTo>
                    <a:close/>
                  </a:path>
                  <a:path w="1865629" h="2162810">
                    <a:moveTo>
                      <a:pt x="1315199" y="2148840"/>
                    </a:moveTo>
                    <a:lnTo>
                      <a:pt x="1261859" y="2148840"/>
                    </a:lnTo>
                    <a:lnTo>
                      <a:pt x="1261859" y="2162556"/>
                    </a:lnTo>
                    <a:lnTo>
                      <a:pt x="1315199" y="2162556"/>
                    </a:lnTo>
                    <a:lnTo>
                      <a:pt x="1315199" y="2148840"/>
                    </a:lnTo>
                    <a:close/>
                  </a:path>
                  <a:path w="1865629" h="2162810">
                    <a:moveTo>
                      <a:pt x="1347216" y="0"/>
                    </a:moveTo>
                    <a:lnTo>
                      <a:pt x="1293876" y="0"/>
                    </a:lnTo>
                    <a:lnTo>
                      <a:pt x="1293876" y="13716"/>
                    </a:lnTo>
                    <a:lnTo>
                      <a:pt x="1347216" y="13716"/>
                    </a:lnTo>
                    <a:lnTo>
                      <a:pt x="1347216" y="0"/>
                    </a:lnTo>
                    <a:close/>
                  </a:path>
                  <a:path w="1865629" h="2162810">
                    <a:moveTo>
                      <a:pt x="1408163" y="2148840"/>
                    </a:moveTo>
                    <a:lnTo>
                      <a:pt x="1354823" y="2148840"/>
                    </a:lnTo>
                    <a:lnTo>
                      <a:pt x="1354823" y="2162556"/>
                    </a:lnTo>
                    <a:lnTo>
                      <a:pt x="1408163" y="2162556"/>
                    </a:lnTo>
                    <a:lnTo>
                      <a:pt x="1408163" y="2148840"/>
                    </a:lnTo>
                    <a:close/>
                  </a:path>
                  <a:path w="1865629" h="2162810">
                    <a:moveTo>
                      <a:pt x="1440180" y="0"/>
                    </a:moveTo>
                    <a:lnTo>
                      <a:pt x="1386840" y="0"/>
                    </a:lnTo>
                    <a:lnTo>
                      <a:pt x="1386840" y="13716"/>
                    </a:lnTo>
                    <a:lnTo>
                      <a:pt x="1440180" y="13716"/>
                    </a:lnTo>
                    <a:lnTo>
                      <a:pt x="1440180" y="0"/>
                    </a:lnTo>
                    <a:close/>
                  </a:path>
                  <a:path w="1865629" h="2162810">
                    <a:moveTo>
                      <a:pt x="1501127" y="2148840"/>
                    </a:moveTo>
                    <a:lnTo>
                      <a:pt x="1447787" y="2148840"/>
                    </a:lnTo>
                    <a:lnTo>
                      <a:pt x="1447787" y="2162556"/>
                    </a:lnTo>
                    <a:lnTo>
                      <a:pt x="1501127" y="2162556"/>
                    </a:lnTo>
                    <a:lnTo>
                      <a:pt x="1501127" y="2148840"/>
                    </a:lnTo>
                    <a:close/>
                  </a:path>
                  <a:path w="1865629" h="2162810">
                    <a:moveTo>
                      <a:pt x="1534668" y="0"/>
                    </a:moveTo>
                    <a:lnTo>
                      <a:pt x="1481328" y="0"/>
                    </a:lnTo>
                    <a:lnTo>
                      <a:pt x="1481328" y="13716"/>
                    </a:lnTo>
                    <a:lnTo>
                      <a:pt x="1534668" y="13716"/>
                    </a:lnTo>
                    <a:lnTo>
                      <a:pt x="1534668" y="0"/>
                    </a:lnTo>
                    <a:close/>
                  </a:path>
                  <a:path w="1865629" h="2162810">
                    <a:moveTo>
                      <a:pt x="1595615" y="2157984"/>
                    </a:moveTo>
                    <a:lnTo>
                      <a:pt x="1594091" y="2145792"/>
                    </a:lnTo>
                    <a:lnTo>
                      <a:pt x="1581899" y="2147316"/>
                    </a:lnTo>
                    <a:lnTo>
                      <a:pt x="1566659" y="2148840"/>
                    </a:lnTo>
                    <a:lnTo>
                      <a:pt x="1542275" y="2148840"/>
                    </a:lnTo>
                    <a:lnTo>
                      <a:pt x="1542275" y="2162556"/>
                    </a:lnTo>
                    <a:lnTo>
                      <a:pt x="1551419" y="2162556"/>
                    </a:lnTo>
                    <a:lnTo>
                      <a:pt x="1583423" y="2159508"/>
                    </a:lnTo>
                    <a:lnTo>
                      <a:pt x="1595615" y="2157984"/>
                    </a:lnTo>
                    <a:close/>
                  </a:path>
                  <a:path w="1865629" h="2162810">
                    <a:moveTo>
                      <a:pt x="1629156" y="9144"/>
                    </a:moveTo>
                    <a:lnTo>
                      <a:pt x="1598676" y="3048"/>
                    </a:lnTo>
                    <a:lnTo>
                      <a:pt x="1583436" y="1524"/>
                    </a:lnTo>
                    <a:lnTo>
                      <a:pt x="1574292" y="1524"/>
                    </a:lnTo>
                    <a:lnTo>
                      <a:pt x="1574292" y="13716"/>
                    </a:lnTo>
                    <a:lnTo>
                      <a:pt x="1581912" y="15240"/>
                    </a:lnTo>
                    <a:lnTo>
                      <a:pt x="1597152" y="16764"/>
                    </a:lnTo>
                    <a:lnTo>
                      <a:pt x="1610868" y="19812"/>
                    </a:lnTo>
                    <a:lnTo>
                      <a:pt x="1626108" y="22860"/>
                    </a:lnTo>
                    <a:lnTo>
                      <a:pt x="1629156" y="9144"/>
                    </a:lnTo>
                    <a:close/>
                  </a:path>
                  <a:path w="1865629" h="2162810">
                    <a:moveTo>
                      <a:pt x="1687055" y="2130552"/>
                    </a:moveTo>
                    <a:lnTo>
                      <a:pt x="1680959" y="2118360"/>
                    </a:lnTo>
                    <a:lnTo>
                      <a:pt x="1668767" y="2124456"/>
                    </a:lnTo>
                    <a:lnTo>
                      <a:pt x="1653527" y="2130552"/>
                    </a:lnTo>
                    <a:lnTo>
                      <a:pt x="1655051" y="2130552"/>
                    </a:lnTo>
                    <a:lnTo>
                      <a:pt x="1639811" y="2135124"/>
                    </a:lnTo>
                    <a:lnTo>
                      <a:pt x="1641335" y="2135124"/>
                    </a:lnTo>
                    <a:lnTo>
                      <a:pt x="1632191" y="2136648"/>
                    </a:lnTo>
                    <a:lnTo>
                      <a:pt x="1636763" y="2150364"/>
                    </a:lnTo>
                    <a:lnTo>
                      <a:pt x="1644383" y="2147316"/>
                    </a:lnTo>
                    <a:lnTo>
                      <a:pt x="1659623" y="2142744"/>
                    </a:lnTo>
                    <a:lnTo>
                      <a:pt x="1687055" y="2130552"/>
                    </a:lnTo>
                    <a:close/>
                  </a:path>
                  <a:path w="1865629" h="2162810">
                    <a:moveTo>
                      <a:pt x="1716024" y="47244"/>
                    </a:moveTo>
                    <a:lnTo>
                      <a:pt x="1714500" y="45720"/>
                    </a:lnTo>
                    <a:lnTo>
                      <a:pt x="1687068" y="30480"/>
                    </a:lnTo>
                    <a:lnTo>
                      <a:pt x="1673352" y="24384"/>
                    </a:lnTo>
                    <a:lnTo>
                      <a:pt x="1667256" y="22860"/>
                    </a:lnTo>
                    <a:lnTo>
                      <a:pt x="1662684" y="35052"/>
                    </a:lnTo>
                    <a:lnTo>
                      <a:pt x="1668780" y="36576"/>
                    </a:lnTo>
                    <a:lnTo>
                      <a:pt x="1680972" y="42672"/>
                    </a:lnTo>
                    <a:lnTo>
                      <a:pt x="1694688" y="50292"/>
                    </a:lnTo>
                    <a:lnTo>
                      <a:pt x="1706880" y="57912"/>
                    </a:lnTo>
                    <a:lnTo>
                      <a:pt x="1706880" y="56388"/>
                    </a:lnTo>
                    <a:lnTo>
                      <a:pt x="1709928" y="57912"/>
                    </a:lnTo>
                    <a:lnTo>
                      <a:pt x="1710791" y="56388"/>
                    </a:lnTo>
                    <a:lnTo>
                      <a:pt x="1716024" y="47244"/>
                    </a:lnTo>
                    <a:close/>
                  </a:path>
                  <a:path w="1865629" h="2162810">
                    <a:moveTo>
                      <a:pt x="1764779" y="2077212"/>
                    </a:moveTo>
                    <a:lnTo>
                      <a:pt x="1757159" y="2066544"/>
                    </a:lnTo>
                    <a:lnTo>
                      <a:pt x="1741919" y="2080260"/>
                    </a:lnTo>
                    <a:lnTo>
                      <a:pt x="1743443" y="2078736"/>
                    </a:lnTo>
                    <a:lnTo>
                      <a:pt x="1719059" y="2097024"/>
                    </a:lnTo>
                    <a:lnTo>
                      <a:pt x="1716011" y="2100072"/>
                    </a:lnTo>
                    <a:lnTo>
                      <a:pt x="1722107" y="2110740"/>
                    </a:lnTo>
                    <a:lnTo>
                      <a:pt x="1726679" y="2107692"/>
                    </a:lnTo>
                    <a:lnTo>
                      <a:pt x="1751063" y="2089404"/>
                    </a:lnTo>
                    <a:lnTo>
                      <a:pt x="1761350" y="2080260"/>
                    </a:lnTo>
                    <a:lnTo>
                      <a:pt x="1764779" y="2077212"/>
                    </a:lnTo>
                    <a:close/>
                  </a:path>
                  <a:path w="1865629" h="2162810">
                    <a:moveTo>
                      <a:pt x="1789176" y="108204"/>
                    </a:moveTo>
                    <a:lnTo>
                      <a:pt x="1773936" y="92964"/>
                    </a:lnTo>
                    <a:lnTo>
                      <a:pt x="1751076" y="71628"/>
                    </a:lnTo>
                    <a:lnTo>
                      <a:pt x="1749552" y="70104"/>
                    </a:lnTo>
                    <a:lnTo>
                      <a:pt x="1741932" y="80772"/>
                    </a:lnTo>
                    <a:lnTo>
                      <a:pt x="1743456" y="82296"/>
                    </a:lnTo>
                    <a:lnTo>
                      <a:pt x="1741932" y="82296"/>
                    </a:lnTo>
                    <a:lnTo>
                      <a:pt x="1764792" y="102108"/>
                    </a:lnTo>
                    <a:lnTo>
                      <a:pt x="1763268" y="102108"/>
                    </a:lnTo>
                    <a:lnTo>
                      <a:pt x="1778508" y="117348"/>
                    </a:lnTo>
                    <a:lnTo>
                      <a:pt x="1789176" y="108204"/>
                    </a:lnTo>
                    <a:close/>
                  </a:path>
                  <a:path w="1865629" h="2162810">
                    <a:moveTo>
                      <a:pt x="1824215" y="2002536"/>
                    </a:moveTo>
                    <a:lnTo>
                      <a:pt x="1813547" y="1996440"/>
                    </a:lnTo>
                    <a:lnTo>
                      <a:pt x="1808975" y="2002536"/>
                    </a:lnTo>
                    <a:lnTo>
                      <a:pt x="1801355" y="2014728"/>
                    </a:lnTo>
                    <a:lnTo>
                      <a:pt x="1783067" y="2039112"/>
                    </a:lnTo>
                    <a:lnTo>
                      <a:pt x="1793735" y="2048256"/>
                    </a:lnTo>
                    <a:lnTo>
                      <a:pt x="1793735" y="2046732"/>
                    </a:lnTo>
                    <a:lnTo>
                      <a:pt x="1812023" y="2022348"/>
                    </a:lnTo>
                    <a:lnTo>
                      <a:pt x="1819643" y="2010156"/>
                    </a:lnTo>
                    <a:lnTo>
                      <a:pt x="1824215" y="2002536"/>
                    </a:lnTo>
                    <a:close/>
                  </a:path>
                  <a:path w="1865629" h="2162810">
                    <a:moveTo>
                      <a:pt x="1839468" y="188976"/>
                    </a:moveTo>
                    <a:lnTo>
                      <a:pt x="1834896" y="178308"/>
                    </a:lnTo>
                    <a:lnTo>
                      <a:pt x="1830654" y="170688"/>
                    </a:lnTo>
                    <a:lnTo>
                      <a:pt x="1827276" y="164592"/>
                    </a:lnTo>
                    <a:lnTo>
                      <a:pt x="1819656" y="152400"/>
                    </a:lnTo>
                    <a:lnTo>
                      <a:pt x="1813560" y="141732"/>
                    </a:lnTo>
                    <a:lnTo>
                      <a:pt x="1802892" y="149352"/>
                    </a:lnTo>
                    <a:lnTo>
                      <a:pt x="1808988" y="158496"/>
                    </a:lnTo>
                    <a:lnTo>
                      <a:pt x="1816608" y="172212"/>
                    </a:lnTo>
                    <a:lnTo>
                      <a:pt x="1816608" y="170688"/>
                    </a:lnTo>
                    <a:lnTo>
                      <a:pt x="1822704" y="184404"/>
                    </a:lnTo>
                    <a:lnTo>
                      <a:pt x="1827276" y="195072"/>
                    </a:lnTo>
                    <a:lnTo>
                      <a:pt x="1839468" y="188976"/>
                    </a:lnTo>
                    <a:close/>
                  </a:path>
                  <a:path w="1865629" h="2162810">
                    <a:moveTo>
                      <a:pt x="1859267" y="1914144"/>
                    </a:moveTo>
                    <a:lnTo>
                      <a:pt x="1845551" y="1911096"/>
                    </a:lnTo>
                    <a:lnTo>
                      <a:pt x="1842503" y="1921764"/>
                    </a:lnTo>
                    <a:lnTo>
                      <a:pt x="1839455" y="1937004"/>
                    </a:lnTo>
                    <a:lnTo>
                      <a:pt x="1839455" y="1935480"/>
                    </a:lnTo>
                    <a:lnTo>
                      <a:pt x="1834883" y="1950720"/>
                    </a:lnTo>
                    <a:lnTo>
                      <a:pt x="1830311" y="1959864"/>
                    </a:lnTo>
                    <a:lnTo>
                      <a:pt x="1842503" y="1965960"/>
                    </a:lnTo>
                    <a:lnTo>
                      <a:pt x="1847075" y="1955292"/>
                    </a:lnTo>
                    <a:lnTo>
                      <a:pt x="1852561" y="1937004"/>
                    </a:lnTo>
                    <a:lnTo>
                      <a:pt x="1856219" y="1924812"/>
                    </a:lnTo>
                    <a:lnTo>
                      <a:pt x="1859267" y="1914144"/>
                    </a:lnTo>
                    <a:close/>
                  </a:path>
                  <a:path w="1865629" h="2162810">
                    <a:moveTo>
                      <a:pt x="1863852" y="281940"/>
                    </a:moveTo>
                    <a:lnTo>
                      <a:pt x="1862328" y="266700"/>
                    </a:lnTo>
                    <a:lnTo>
                      <a:pt x="1856841" y="239268"/>
                    </a:lnTo>
                    <a:lnTo>
                      <a:pt x="1856232" y="236220"/>
                    </a:lnTo>
                    <a:lnTo>
                      <a:pt x="1853184" y="228600"/>
                    </a:lnTo>
                    <a:lnTo>
                      <a:pt x="1840992" y="231648"/>
                    </a:lnTo>
                    <a:lnTo>
                      <a:pt x="1842516" y="240792"/>
                    </a:lnTo>
                    <a:lnTo>
                      <a:pt x="1842516" y="239268"/>
                    </a:lnTo>
                    <a:lnTo>
                      <a:pt x="1847088" y="254508"/>
                    </a:lnTo>
                    <a:lnTo>
                      <a:pt x="1848612" y="269748"/>
                    </a:lnTo>
                    <a:lnTo>
                      <a:pt x="1850136" y="283464"/>
                    </a:lnTo>
                    <a:lnTo>
                      <a:pt x="1863852" y="281940"/>
                    </a:lnTo>
                    <a:close/>
                  </a:path>
                  <a:path w="1865629" h="2162810">
                    <a:moveTo>
                      <a:pt x="1865363" y="1819656"/>
                    </a:moveTo>
                    <a:lnTo>
                      <a:pt x="1853171" y="1819656"/>
                    </a:lnTo>
                    <a:lnTo>
                      <a:pt x="1853171" y="1845564"/>
                    </a:lnTo>
                    <a:lnTo>
                      <a:pt x="1851647" y="1862328"/>
                    </a:lnTo>
                    <a:lnTo>
                      <a:pt x="1851647" y="1871472"/>
                    </a:lnTo>
                    <a:lnTo>
                      <a:pt x="1865363" y="1872996"/>
                    </a:lnTo>
                    <a:lnTo>
                      <a:pt x="1865363" y="1847088"/>
                    </a:lnTo>
                    <a:lnTo>
                      <a:pt x="1865363" y="1819656"/>
                    </a:lnTo>
                    <a:close/>
                  </a:path>
                  <a:path w="1865629" h="2162810">
                    <a:moveTo>
                      <a:pt x="1865363" y="1725168"/>
                    </a:moveTo>
                    <a:lnTo>
                      <a:pt x="1853171" y="1725168"/>
                    </a:lnTo>
                    <a:lnTo>
                      <a:pt x="1853171" y="1778508"/>
                    </a:lnTo>
                    <a:lnTo>
                      <a:pt x="1865363" y="1778508"/>
                    </a:lnTo>
                    <a:lnTo>
                      <a:pt x="1865363" y="1725168"/>
                    </a:lnTo>
                    <a:close/>
                  </a:path>
                  <a:path w="1865629" h="2162810">
                    <a:moveTo>
                      <a:pt x="1865363" y="1632204"/>
                    </a:moveTo>
                    <a:lnTo>
                      <a:pt x="1853171" y="1632204"/>
                    </a:lnTo>
                    <a:lnTo>
                      <a:pt x="1853171" y="1685544"/>
                    </a:lnTo>
                    <a:lnTo>
                      <a:pt x="1865363" y="1685544"/>
                    </a:lnTo>
                    <a:lnTo>
                      <a:pt x="1865363" y="1632204"/>
                    </a:lnTo>
                    <a:close/>
                  </a:path>
                  <a:path w="1865629" h="2162810">
                    <a:moveTo>
                      <a:pt x="1865363" y="1537716"/>
                    </a:moveTo>
                    <a:lnTo>
                      <a:pt x="1853171" y="1537716"/>
                    </a:lnTo>
                    <a:lnTo>
                      <a:pt x="1853171" y="1591056"/>
                    </a:lnTo>
                    <a:lnTo>
                      <a:pt x="1865363" y="1591056"/>
                    </a:lnTo>
                    <a:lnTo>
                      <a:pt x="1865363" y="1537716"/>
                    </a:lnTo>
                    <a:close/>
                  </a:path>
                  <a:path w="1865629" h="2162810">
                    <a:moveTo>
                      <a:pt x="1865363" y="1444752"/>
                    </a:moveTo>
                    <a:lnTo>
                      <a:pt x="1853171" y="1444752"/>
                    </a:lnTo>
                    <a:lnTo>
                      <a:pt x="1853171" y="1498092"/>
                    </a:lnTo>
                    <a:lnTo>
                      <a:pt x="1865363" y="1498092"/>
                    </a:lnTo>
                    <a:lnTo>
                      <a:pt x="1865363" y="1444752"/>
                    </a:lnTo>
                    <a:close/>
                  </a:path>
                  <a:path w="1865629" h="2162810">
                    <a:moveTo>
                      <a:pt x="1865363" y="1351788"/>
                    </a:moveTo>
                    <a:lnTo>
                      <a:pt x="1853171" y="1351788"/>
                    </a:lnTo>
                    <a:lnTo>
                      <a:pt x="1853171" y="1405128"/>
                    </a:lnTo>
                    <a:lnTo>
                      <a:pt x="1865363" y="1405128"/>
                    </a:lnTo>
                    <a:lnTo>
                      <a:pt x="1865363" y="1351788"/>
                    </a:lnTo>
                    <a:close/>
                  </a:path>
                  <a:path w="1865629" h="2162810">
                    <a:moveTo>
                      <a:pt x="1865363" y="1257300"/>
                    </a:moveTo>
                    <a:lnTo>
                      <a:pt x="1853171" y="1257300"/>
                    </a:lnTo>
                    <a:lnTo>
                      <a:pt x="1853171" y="1310640"/>
                    </a:lnTo>
                    <a:lnTo>
                      <a:pt x="1865363" y="1310640"/>
                    </a:lnTo>
                    <a:lnTo>
                      <a:pt x="1865363" y="1257300"/>
                    </a:lnTo>
                    <a:close/>
                  </a:path>
                </a:pathLst>
              </a:custGeom>
              <a:solidFill>
                <a:srgbClr val="0C1C2B"/>
              </a:solidFill>
            </p:spPr>
            <p:txBody>
              <a:bodyPr wrap="square" lIns="0" tIns="0" rIns="0" bIns="0" rtlCol="0"/>
              <a:lstStyle/>
              <a:p>
                <a:endParaRPr sz="1630"/>
              </a:p>
            </p:txBody>
          </p:sp>
          <p:pic>
            <p:nvPicPr>
              <p:cNvPr id="9" name="object 9"/>
              <p:cNvPicPr/>
              <p:nvPr/>
            </p:nvPicPr>
            <p:blipFill>
              <a:blip r:embed="rId4" cstate="print"/>
              <a:stretch>
                <a:fillRect/>
              </a:stretch>
            </p:blipFill>
            <p:spPr>
              <a:xfrm>
                <a:off x="2226563" y="2331720"/>
                <a:ext cx="201168" cy="201168"/>
              </a:xfrm>
              <a:prstGeom prst="rect">
                <a:avLst/>
              </a:prstGeom>
            </p:spPr>
          </p:pic>
        </p:grpSp>
        <p:sp>
          <p:nvSpPr>
            <p:cNvPr id="10" name="object 10"/>
            <p:cNvSpPr/>
            <p:nvPr/>
          </p:nvSpPr>
          <p:spPr>
            <a:xfrm>
              <a:off x="7776" y="3883"/>
              <a:ext cx="0" cy="1280"/>
            </a:xfrm>
            <a:custGeom>
              <a:avLst/>
              <a:gdLst/>
              <a:ahLst/>
              <a:cxnLst/>
              <a:rect l="l" t="t" r="r" b="b"/>
              <a:pathLst>
                <a:path h="896620">
                  <a:moveTo>
                    <a:pt x="0" y="0"/>
                  </a:moveTo>
                  <a:lnTo>
                    <a:pt x="0" y="896112"/>
                  </a:lnTo>
                </a:path>
              </a:pathLst>
            </a:custGeom>
            <a:ln w="12192">
              <a:solidFill>
                <a:srgbClr val="0C1C2B"/>
              </a:solidFill>
              <a:prstDash val="sysDash"/>
            </a:ln>
          </p:spPr>
          <p:txBody>
            <a:bodyPr wrap="square" lIns="0" tIns="0" rIns="0" bIns="0" rtlCol="0"/>
            <a:lstStyle/>
            <a:p>
              <a:endParaRPr sz="1630"/>
            </a:p>
          </p:txBody>
        </p:sp>
        <p:sp>
          <p:nvSpPr>
            <p:cNvPr id="11" name="object 11"/>
            <p:cNvSpPr txBox="1"/>
            <p:nvPr/>
          </p:nvSpPr>
          <p:spPr>
            <a:xfrm>
              <a:off x="5250" y="3364"/>
              <a:ext cx="109" cy="155"/>
            </a:xfrm>
            <a:prstGeom prst="rect">
              <a:avLst/>
            </a:prstGeom>
          </p:spPr>
          <p:txBody>
            <a:bodyPr vert="horz" wrap="square" lIns="0" tIns="10364" rIns="0" bIns="0" rtlCol="0">
              <a:spAutoFit/>
            </a:bodyPr>
            <a:lstStyle/>
            <a:p>
              <a:pPr marL="12700">
                <a:lnSpc>
                  <a:spcPct val="100000"/>
                </a:lnSpc>
                <a:spcBef>
                  <a:spcPts val="90"/>
                </a:spcBef>
              </a:pPr>
              <a:r>
                <a:rPr sz="725" b="1" spc="-5" dirty="0">
                  <a:solidFill>
                    <a:srgbClr val="FFFFFF"/>
                  </a:solidFill>
                  <a:latin typeface="Times New Roman" panose="02020603050405020304"/>
                  <a:cs typeface="Times New Roman" panose="02020603050405020304"/>
                </a:rPr>
                <a:t>1</a:t>
              </a:r>
              <a:endParaRPr sz="725">
                <a:latin typeface="Times New Roman" panose="02020603050405020304"/>
                <a:cs typeface="Times New Roman" panose="02020603050405020304"/>
              </a:endParaRPr>
            </a:p>
          </p:txBody>
        </p:sp>
        <p:sp>
          <p:nvSpPr>
            <p:cNvPr id="12" name="object 12"/>
            <p:cNvSpPr txBox="1"/>
            <p:nvPr/>
          </p:nvSpPr>
          <p:spPr>
            <a:xfrm>
              <a:off x="5179" y="4103"/>
              <a:ext cx="143" cy="1604"/>
            </a:xfrm>
            <a:prstGeom prst="rect">
              <a:avLst/>
            </a:prstGeom>
          </p:spPr>
          <p:txBody>
            <a:bodyPr vert="vert270" wrap="square" lIns="0" tIns="575" rIns="0" bIns="0" rtlCol="0">
              <a:spAutoFit/>
            </a:bodyPr>
            <a:lstStyle/>
            <a:p>
              <a:pPr marL="12700">
                <a:lnSpc>
                  <a:spcPct val="100000"/>
                </a:lnSpc>
                <a:spcBef>
                  <a:spcPts val="5"/>
                </a:spcBef>
              </a:pPr>
              <a:r>
                <a:rPr sz="725" i="1" dirty="0">
                  <a:solidFill>
                    <a:srgbClr val="0C1C2B"/>
                  </a:solidFill>
                  <a:latin typeface="Times New Roman" panose="02020603050405020304"/>
                  <a:cs typeface="Times New Roman" panose="02020603050405020304"/>
                </a:rPr>
                <a:t>Feature</a:t>
              </a:r>
              <a:r>
                <a:rPr sz="725" i="1" spc="-10" dirty="0">
                  <a:solidFill>
                    <a:srgbClr val="0C1C2B"/>
                  </a:solidFill>
                  <a:latin typeface="Times New Roman" panose="02020603050405020304"/>
                  <a:cs typeface="Times New Roman" panose="02020603050405020304"/>
                </a:rPr>
                <a:t> Extraction Module</a:t>
              </a:r>
              <a:endParaRPr sz="725">
                <a:latin typeface="Times New Roman" panose="02020603050405020304"/>
                <a:cs typeface="Times New Roman" panose="02020603050405020304"/>
              </a:endParaRPr>
            </a:p>
          </p:txBody>
        </p:sp>
        <p:grpSp>
          <p:nvGrpSpPr>
            <p:cNvPr id="13" name="object 13"/>
            <p:cNvGrpSpPr/>
            <p:nvPr/>
          </p:nvGrpSpPr>
          <p:grpSpPr>
            <a:xfrm>
              <a:off x="5468" y="4099"/>
              <a:ext cx="4150" cy="1859"/>
              <a:chOff x="2452878" y="2870454"/>
              <a:chExt cx="2905760" cy="1301750"/>
            </a:xfrm>
          </p:grpSpPr>
          <p:sp>
            <p:nvSpPr>
              <p:cNvPr id="14" name="object 14"/>
              <p:cNvSpPr/>
              <p:nvPr/>
            </p:nvSpPr>
            <p:spPr>
              <a:xfrm>
                <a:off x="2456688" y="2874264"/>
                <a:ext cx="1198245" cy="1294130"/>
              </a:xfrm>
              <a:custGeom>
                <a:avLst/>
                <a:gdLst/>
                <a:ahLst/>
                <a:cxnLst/>
                <a:rect l="l" t="t" r="r" b="b"/>
                <a:pathLst>
                  <a:path w="1198245" h="1294129">
                    <a:moveTo>
                      <a:pt x="0" y="199643"/>
                    </a:moveTo>
                    <a:lnTo>
                      <a:pt x="5220" y="153555"/>
                    </a:lnTo>
                    <a:lnTo>
                      <a:pt x="20118" y="111411"/>
                    </a:lnTo>
                    <a:lnTo>
                      <a:pt x="43547" y="74360"/>
                    </a:lnTo>
                    <a:lnTo>
                      <a:pt x="74360" y="43547"/>
                    </a:lnTo>
                    <a:lnTo>
                      <a:pt x="111411" y="20118"/>
                    </a:lnTo>
                    <a:lnTo>
                      <a:pt x="153555" y="5220"/>
                    </a:lnTo>
                    <a:lnTo>
                      <a:pt x="199643" y="0"/>
                    </a:lnTo>
                    <a:lnTo>
                      <a:pt x="998220" y="0"/>
                    </a:lnTo>
                    <a:lnTo>
                      <a:pt x="1043828" y="5220"/>
                    </a:lnTo>
                    <a:lnTo>
                      <a:pt x="1085785" y="20118"/>
                    </a:lnTo>
                    <a:lnTo>
                      <a:pt x="1122863" y="43547"/>
                    </a:lnTo>
                    <a:lnTo>
                      <a:pt x="1153836" y="74360"/>
                    </a:lnTo>
                    <a:lnTo>
                      <a:pt x="1177478" y="111411"/>
                    </a:lnTo>
                    <a:lnTo>
                      <a:pt x="1192563" y="153555"/>
                    </a:lnTo>
                    <a:lnTo>
                      <a:pt x="1197864" y="199643"/>
                    </a:lnTo>
                    <a:lnTo>
                      <a:pt x="1197864" y="1094231"/>
                    </a:lnTo>
                    <a:lnTo>
                      <a:pt x="1192563" y="1139840"/>
                    </a:lnTo>
                    <a:lnTo>
                      <a:pt x="1177478" y="1181797"/>
                    </a:lnTo>
                    <a:lnTo>
                      <a:pt x="1153836" y="1218875"/>
                    </a:lnTo>
                    <a:lnTo>
                      <a:pt x="1122863" y="1249848"/>
                    </a:lnTo>
                    <a:lnTo>
                      <a:pt x="1085785" y="1273490"/>
                    </a:lnTo>
                    <a:lnTo>
                      <a:pt x="1043828" y="1288575"/>
                    </a:lnTo>
                    <a:lnTo>
                      <a:pt x="998220" y="1293875"/>
                    </a:lnTo>
                    <a:lnTo>
                      <a:pt x="199643" y="1293875"/>
                    </a:lnTo>
                    <a:lnTo>
                      <a:pt x="153555" y="1288575"/>
                    </a:lnTo>
                    <a:lnTo>
                      <a:pt x="111411" y="1273490"/>
                    </a:lnTo>
                    <a:lnTo>
                      <a:pt x="74360" y="1249848"/>
                    </a:lnTo>
                    <a:lnTo>
                      <a:pt x="43547" y="1218875"/>
                    </a:lnTo>
                    <a:lnTo>
                      <a:pt x="20118" y="1181797"/>
                    </a:lnTo>
                    <a:lnTo>
                      <a:pt x="5220" y="1139840"/>
                    </a:lnTo>
                    <a:lnTo>
                      <a:pt x="0" y="1094231"/>
                    </a:lnTo>
                    <a:lnTo>
                      <a:pt x="0" y="199643"/>
                    </a:lnTo>
                    <a:close/>
                  </a:path>
                </a:pathLst>
              </a:custGeom>
              <a:ln w="7620">
                <a:solidFill>
                  <a:srgbClr val="0C1C2B"/>
                </a:solidFill>
              </a:ln>
            </p:spPr>
            <p:txBody>
              <a:bodyPr wrap="square" lIns="0" tIns="0" rIns="0" bIns="0" rtlCol="0"/>
              <a:lstStyle/>
              <a:p>
                <a:endParaRPr sz="1630"/>
              </a:p>
            </p:txBody>
          </p:sp>
          <p:pic>
            <p:nvPicPr>
              <p:cNvPr id="15" name="object 15"/>
              <p:cNvPicPr/>
              <p:nvPr/>
            </p:nvPicPr>
            <p:blipFill>
              <a:blip r:embed="rId5" cstate="print"/>
              <a:stretch>
                <a:fillRect/>
              </a:stretch>
            </p:blipFill>
            <p:spPr>
              <a:xfrm>
                <a:off x="4588764" y="2955036"/>
                <a:ext cx="769619" cy="158495"/>
              </a:xfrm>
              <a:prstGeom prst="rect">
                <a:avLst/>
              </a:prstGeom>
            </p:spPr>
          </p:pic>
        </p:grpSp>
        <p:sp>
          <p:nvSpPr>
            <p:cNvPr id="16" name="object 16"/>
            <p:cNvSpPr txBox="1"/>
            <p:nvPr/>
          </p:nvSpPr>
          <p:spPr>
            <a:xfrm>
              <a:off x="3466" y="3441"/>
              <a:ext cx="1324" cy="1498"/>
            </a:xfrm>
            <a:prstGeom prst="rect">
              <a:avLst/>
            </a:prstGeom>
          </p:spPr>
          <p:txBody>
            <a:bodyPr vert="horz" wrap="square" lIns="0" tIns="40883" rIns="0" bIns="0" rtlCol="0">
              <a:spAutoFit/>
            </a:bodyPr>
            <a:lstStyle/>
            <a:p>
              <a:pPr marL="120015" marR="108585" indent="101600">
                <a:lnSpc>
                  <a:spcPts val="950"/>
                </a:lnSpc>
                <a:spcBef>
                  <a:spcPts val="355"/>
                </a:spcBef>
              </a:pPr>
              <a:r>
                <a:rPr sz="725" i="1" spc="-10" dirty="0">
                  <a:solidFill>
                    <a:srgbClr val="0C1C2B"/>
                  </a:solidFill>
                  <a:latin typeface="Times New Roman" panose="02020603050405020304"/>
                  <a:cs typeface="Times New Roman" panose="02020603050405020304"/>
                </a:rPr>
                <a:t>Low-quality</a:t>
              </a:r>
              <a:r>
                <a:rPr sz="725" i="1" spc="500" dirty="0">
                  <a:solidFill>
                    <a:srgbClr val="0C1C2B"/>
                  </a:solidFill>
                  <a:latin typeface="Times New Roman" panose="02020603050405020304"/>
                  <a:cs typeface="Times New Roman" panose="02020603050405020304"/>
                </a:rPr>
                <a:t> </a:t>
              </a:r>
              <a:r>
                <a:rPr sz="725" i="1" dirty="0">
                  <a:solidFill>
                    <a:srgbClr val="0C1C2B"/>
                  </a:solidFill>
                  <a:latin typeface="Times New Roman" panose="02020603050405020304"/>
                  <a:cs typeface="Times New Roman" panose="02020603050405020304"/>
                </a:rPr>
                <a:t>Training</a:t>
              </a:r>
              <a:r>
                <a:rPr sz="725" i="1" spc="-50"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Dataset</a:t>
              </a:r>
              <a:endParaRPr sz="725">
                <a:latin typeface="Times New Roman" panose="02020603050405020304"/>
                <a:cs typeface="Times New Roman" panose="02020603050405020304"/>
              </a:endParaRPr>
            </a:p>
            <a:p>
              <a:pPr marL="135255" marR="113665" indent="27305">
                <a:lnSpc>
                  <a:spcPct val="389000"/>
                </a:lnSpc>
                <a:spcBef>
                  <a:spcPts val="135"/>
                </a:spcBef>
              </a:pPr>
              <a:r>
                <a:rPr sz="725" dirty="0">
                  <a:solidFill>
                    <a:srgbClr val="0C1C2B"/>
                  </a:solidFill>
                  <a:latin typeface="Times New Roman" panose="02020603050405020304"/>
                  <a:cs typeface="Times New Roman" panose="02020603050405020304"/>
                </a:rPr>
                <a:t>Normal</a:t>
              </a:r>
              <a:r>
                <a:rPr sz="725" spc="-5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traffic</a:t>
              </a:r>
              <a:r>
                <a:rPr sz="725" spc="50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Malicious</a:t>
              </a:r>
              <a:r>
                <a:rPr sz="725" spc="2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traffic</a:t>
              </a:r>
              <a:endParaRPr sz="725">
                <a:latin typeface="Times New Roman" panose="02020603050405020304"/>
                <a:cs typeface="Times New Roman" panose="02020603050405020304"/>
              </a:endParaRPr>
            </a:p>
          </p:txBody>
        </p:sp>
        <p:sp>
          <p:nvSpPr>
            <p:cNvPr id="17" name="object 17"/>
            <p:cNvSpPr txBox="1"/>
            <p:nvPr/>
          </p:nvSpPr>
          <p:spPr>
            <a:xfrm>
              <a:off x="5538" y="4721"/>
              <a:ext cx="143" cy="576"/>
            </a:xfrm>
            <a:prstGeom prst="rect">
              <a:avLst/>
            </a:prstGeom>
          </p:spPr>
          <p:txBody>
            <a:bodyPr vert="vert270" wrap="square" lIns="0" tIns="575" rIns="0" bIns="0" rtlCol="0">
              <a:spAutoFit/>
            </a:bodyPr>
            <a:lstStyle/>
            <a:p>
              <a:pPr marL="12700">
                <a:lnSpc>
                  <a:spcPct val="100000"/>
                </a:lnSpc>
                <a:spcBef>
                  <a:spcPts val="5"/>
                </a:spcBef>
              </a:pPr>
              <a:r>
                <a:rPr sz="725" spc="-20" dirty="0">
                  <a:solidFill>
                    <a:srgbClr val="0C1C2B"/>
                  </a:solidFill>
                  <a:latin typeface="Times New Roman" panose="02020603050405020304"/>
                  <a:cs typeface="Times New Roman" panose="02020603050405020304"/>
                </a:rPr>
                <a:t>GRU-</a:t>
              </a:r>
              <a:r>
                <a:rPr sz="725" spc="-25" dirty="0">
                  <a:solidFill>
                    <a:srgbClr val="0C1C2B"/>
                  </a:solidFill>
                  <a:latin typeface="Times New Roman" panose="02020603050405020304"/>
                  <a:cs typeface="Times New Roman" panose="02020603050405020304"/>
                </a:rPr>
                <a:t>AE</a:t>
              </a:r>
              <a:endParaRPr sz="725">
                <a:latin typeface="Times New Roman" panose="02020603050405020304"/>
                <a:cs typeface="Times New Roman" panose="02020603050405020304"/>
              </a:endParaRPr>
            </a:p>
          </p:txBody>
        </p:sp>
        <p:grpSp>
          <p:nvGrpSpPr>
            <p:cNvPr id="18" name="object 18"/>
            <p:cNvGrpSpPr/>
            <p:nvPr/>
          </p:nvGrpSpPr>
          <p:grpSpPr>
            <a:xfrm>
              <a:off x="5861" y="4199"/>
              <a:ext cx="1158" cy="297"/>
              <a:chOff x="2728722" y="2940558"/>
              <a:chExt cx="810895" cy="207645"/>
            </a:xfrm>
          </p:grpSpPr>
          <p:sp>
            <p:nvSpPr>
              <p:cNvPr id="19" name="object 19"/>
              <p:cNvSpPr/>
              <p:nvPr/>
            </p:nvSpPr>
            <p:spPr>
              <a:xfrm>
                <a:off x="2732532" y="2944368"/>
                <a:ext cx="803275" cy="200025"/>
              </a:xfrm>
              <a:custGeom>
                <a:avLst/>
                <a:gdLst/>
                <a:ahLst/>
                <a:cxnLst/>
                <a:rect l="l" t="t" r="r" b="b"/>
                <a:pathLst>
                  <a:path w="803275" h="200025">
                    <a:moveTo>
                      <a:pt x="769620" y="199643"/>
                    </a:moveTo>
                    <a:lnTo>
                      <a:pt x="33528" y="199643"/>
                    </a:lnTo>
                    <a:lnTo>
                      <a:pt x="20573" y="196976"/>
                    </a:lnTo>
                    <a:lnTo>
                      <a:pt x="9905" y="189737"/>
                    </a:lnTo>
                    <a:lnTo>
                      <a:pt x="2666" y="179069"/>
                    </a:lnTo>
                    <a:lnTo>
                      <a:pt x="0" y="166115"/>
                    </a:lnTo>
                    <a:lnTo>
                      <a:pt x="0" y="32003"/>
                    </a:lnTo>
                    <a:lnTo>
                      <a:pt x="2667" y="19288"/>
                    </a:lnTo>
                    <a:lnTo>
                      <a:pt x="9906" y="9143"/>
                    </a:lnTo>
                    <a:lnTo>
                      <a:pt x="20574" y="2428"/>
                    </a:lnTo>
                    <a:lnTo>
                      <a:pt x="33528" y="0"/>
                    </a:lnTo>
                    <a:lnTo>
                      <a:pt x="769620" y="0"/>
                    </a:lnTo>
                    <a:lnTo>
                      <a:pt x="782574" y="2428"/>
                    </a:lnTo>
                    <a:lnTo>
                      <a:pt x="793242" y="9143"/>
                    </a:lnTo>
                    <a:lnTo>
                      <a:pt x="800481" y="19288"/>
                    </a:lnTo>
                    <a:lnTo>
                      <a:pt x="803147" y="32003"/>
                    </a:lnTo>
                    <a:lnTo>
                      <a:pt x="803147" y="166115"/>
                    </a:lnTo>
                    <a:lnTo>
                      <a:pt x="800481" y="179069"/>
                    </a:lnTo>
                    <a:lnTo>
                      <a:pt x="793242" y="189737"/>
                    </a:lnTo>
                    <a:lnTo>
                      <a:pt x="782574" y="196976"/>
                    </a:lnTo>
                    <a:lnTo>
                      <a:pt x="769620" y="199643"/>
                    </a:lnTo>
                    <a:close/>
                  </a:path>
                </a:pathLst>
              </a:custGeom>
              <a:solidFill>
                <a:srgbClr val="D8E6F9"/>
              </a:solidFill>
            </p:spPr>
            <p:txBody>
              <a:bodyPr wrap="square" lIns="0" tIns="0" rIns="0" bIns="0" rtlCol="0"/>
              <a:lstStyle/>
              <a:p>
                <a:endParaRPr sz="1630"/>
              </a:p>
            </p:txBody>
          </p:sp>
          <p:sp>
            <p:nvSpPr>
              <p:cNvPr id="20" name="object 20"/>
              <p:cNvSpPr/>
              <p:nvPr/>
            </p:nvSpPr>
            <p:spPr>
              <a:xfrm>
                <a:off x="2732532" y="2944368"/>
                <a:ext cx="803275" cy="200025"/>
              </a:xfrm>
              <a:custGeom>
                <a:avLst/>
                <a:gdLst/>
                <a:ahLst/>
                <a:cxnLst/>
                <a:rect l="l" t="t" r="r" b="b"/>
                <a:pathLst>
                  <a:path w="803275" h="200025">
                    <a:moveTo>
                      <a:pt x="0" y="32003"/>
                    </a:moveTo>
                    <a:lnTo>
                      <a:pt x="2667" y="19288"/>
                    </a:lnTo>
                    <a:lnTo>
                      <a:pt x="9906" y="9143"/>
                    </a:lnTo>
                    <a:lnTo>
                      <a:pt x="20574" y="2428"/>
                    </a:lnTo>
                    <a:lnTo>
                      <a:pt x="33528" y="0"/>
                    </a:lnTo>
                    <a:lnTo>
                      <a:pt x="769620" y="0"/>
                    </a:lnTo>
                    <a:lnTo>
                      <a:pt x="782574" y="2428"/>
                    </a:lnTo>
                    <a:lnTo>
                      <a:pt x="793242" y="9143"/>
                    </a:lnTo>
                    <a:lnTo>
                      <a:pt x="800481" y="19288"/>
                    </a:lnTo>
                    <a:lnTo>
                      <a:pt x="803147" y="32003"/>
                    </a:lnTo>
                    <a:lnTo>
                      <a:pt x="803147" y="166115"/>
                    </a:lnTo>
                    <a:lnTo>
                      <a:pt x="800481" y="179069"/>
                    </a:lnTo>
                    <a:lnTo>
                      <a:pt x="793242" y="189737"/>
                    </a:lnTo>
                    <a:lnTo>
                      <a:pt x="782574" y="196976"/>
                    </a:lnTo>
                    <a:lnTo>
                      <a:pt x="769620" y="199643"/>
                    </a:lnTo>
                    <a:lnTo>
                      <a:pt x="33528" y="199643"/>
                    </a:lnTo>
                    <a:lnTo>
                      <a:pt x="20573" y="196976"/>
                    </a:lnTo>
                    <a:lnTo>
                      <a:pt x="9905" y="189737"/>
                    </a:lnTo>
                    <a:lnTo>
                      <a:pt x="2666" y="179069"/>
                    </a:lnTo>
                    <a:lnTo>
                      <a:pt x="0" y="166115"/>
                    </a:lnTo>
                    <a:lnTo>
                      <a:pt x="0" y="32003"/>
                    </a:lnTo>
                    <a:close/>
                  </a:path>
                </a:pathLst>
              </a:custGeom>
              <a:ln w="7620">
                <a:solidFill>
                  <a:srgbClr val="0C1C2B"/>
                </a:solidFill>
              </a:ln>
            </p:spPr>
            <p:txBody>
              <a:bodyPr wrap="square" lIns="0" tIns="0" rIns="0" bIns="0" rtlCol="0"/>
              <a:lstStyle/>
              <a:p>
                <a:endParaRPr sz="1630"/>
              </a:p>
            </p:txBody>
          </p:sp>
        </p:grpSp>
        <p:sp>
          <p:nvSpPr>
            <p:cNvPr id="21" name="object 21"/>
            <p:cNvSpPr txBox="1"/>
            <p:nvPr/>
          </p:nvSpPr>
          <p:spPr>
            <a:xfrm>
              <a:off x="6090" y="4237"/>
              <a:ext cx="699" cy="155"/>
            </a:xfrm>
            <a:prstGeom prst="rect">
              <a:avLst/>
            </a:prstGeom>
          </p:spPr>
          <p:txBody>
            <a:bodyPr vert="horz" wrap="square" lIns="0" tIns="10364" rIns="0" bIns="0" rtlCol="0">
              <a:spAutoFit/>
            </a:bodyPr>
            <a:lstStyle/>
            <a:p>
              <a:pPr marL="12700">
                <a:lnSpc>
                  <a:spcPct val="100000"/>
                </a:lnSpc>
                <a:spcBef>
                  <a:spcPts val="90"/>
                </a:spcBef>
              </a:pPr>
              <a:r>
                <a:rPr sz="725" spc="-10" dirty="0">
                  <a:solidFill>
                    <a:srgbClr val="0C1C2B"/>
                  </a:solidFill>
                  <a:latin typeface="Times New Roman" panose="02020603050405020304"/>
                  <a:cs typeface="Times New Roman" panose="02020603050405020304"/>
                </a:rPr>
                <a:t>Embedding</a:t>
              </a:r>
              <a:endParaRPr sz="725">
                <a:latin typeface="Times New Roman" panose="02020603050405020304"/>
                <a:cs typeface="Times New Roman" panose="02020603050405020304"/>
              </a:endParaRPr>
            </a:p>
          </p:txBody>
        </p:sp>
        <p:grpSp>
          <p:nvGrpSpPr>
            <p:cNvPr id="22" name="object 22"/>
            <p:cNvGrpSpPr/>
            <p:nvPr/>
          </p:nvGrpSpPr>
          <p:grpSpPr>
            <a:xfrm>
              <a:off x="5861" y="4652"/>
              <a:ext cx="1158" cy="272"/>
              <a:chOff x="2728722" y="3257550"/>
              <a:chExt cx="810895" cy="190500"/>
            </a:xfrm>
          </p:grpSpPr>
          <p:sp>
            <p:nvSpPr>
              <p:cNvPr id="23" name="object 23"/>
              <p:cNvSpPr/>
              <p:nvPr/>
            </p:nvSpPr>
            <p:spPr>
              <a:xfrm>
                <a:off x="2732532" y="3261360"/>
                <a:ext cx="803275" cy="182880"/>
              </a:xfrm>
              <a:custGeom>
                <a:avLst/>
                <a:gdLst/>
                <a:ahLst/>
                <a:cxnLst/>
                <a:rect l="l" t="t" r="r" b="b"/>
                <a:pathLst>
                  <a:path w="803275" h="182879">
                    <a:moveTo>
                      <a:pt x="772668" y="182879"/>
                    </a:moveTo>
                    <a:lnTo>
                      <a:pt x="30480" y="182879"/>
                    </a:lnTo>
                    <a:lnTo>
                      <a:pt x="18645" y="180474"/>
                    </a:lnTo>
                    <a:lnTo>
                      <a:pt x="8953" y="173926"/>
                    </a:lnTo>
                    <a:lnTo>
                      <a:pt x="2405" y="164234"/>
                    </a:lnTo>
                    <a:lnTo>
                      <a:pt x="0" y="152399"/>
                    </a:lnTo>
                    <a:lnTo>
                      <a:pt x="0" y="30479"/>
                    </a:lnTo>
                    <a:lnTo>
                      <a:pt x="2405" y="18645"/>
                    </a:lnTo>
                    <a:lnTo>
                      <a:pt x="8953" y="8953"/>
                    </a:lnTo>
                    <a:lnTo>
                      <a:pt x="18645" y="2405"/>
                    </a:lnTo>
                    <a:lnTo>
                      <a:pt x="30480" y="0"/>
                    </a:lnTo>
                    <a:lnTo>
                      <a:pt x="772668" y="0"/>
                    </a:lnTo>
                    <a:lnTo>
                      <a:pt x="784502" y="2405"/>
                    </a:lnTo>
                    <a:lnTo>
                      <a:pt x="794194" y="8953"/>
                    </a:lnTo>
                    <a:lnTo>
                      <a:pt x="800742" y="18645"/>
                    </a:lnTo>
                    <a:lnTo>
                      <a:pt x="803147" y="30479"/>
                    </a:lnTo>
                    <a:lnTo>
                      <a:pt x="803147" y="152399"/>
                    </a:lnTo>
                    <a:lnTo>
                      <a:pt x="800742" y="164234"/>
                    </a:lnTo>
                    <a:lnTo>
                      <a:pt x="794194" y="173926"/>
                    </a:lnTo>
                    <a:lnTo>
                      <a:pt x="784502" y="180474"/>
                    </a:lnTo>
                    <a:lnTo>
                      <a:pt x="772668" y="182879"/>
                    </a:lnTo>
                    <a:close/>
                  </a:path>
                </a:pathLst>
              </a:custGeom>
              <a:solidFill>
                <a:srgbClr val="F2F2F2"/>
              </a:solidFill>
            </p:spPr>
            <p:txBody>
              <a:bodyPr wrap="square" lIns="0" tIns="0" rIns="0" bIns="0" rtlCol="0"/>
              <a:lstStyle/>
              <a:p>
                <a:endParaRPr sz="1630"/>
              </a:p>
            </p:txBody>
          </p:sp>
          <p:sp>
            <p:nvSpPr>
              <p:cNvPr id="24" name="object 24"/>
              <p:cNvSpPr/>
              <p:nvPr/>
            </p:nvSpPr>
            <p:spPr>
              <a:xfrm>
                <a:off x="2732532" y="3261360"/>
                <a:ext cx="803275" cy="182880"/>
              </a:xfrm>
              <a:custGeom>
                <a:avLst/>
                <a:gdLst/>
                <a:ahLst/>
                <a:cxnLst/>
                <a:rect l="l" t="t" r="r" b="b"/>
                <a:pathLst>
                  <a:path w="803275" h="182879">
                    <a:moveTo>
                      <a:pt x="0" y="30479"/>
                    </a:moveTo>
                    <a:lnTo>
                      <a:pt x="2405" y="18645"/>
                    </a:lnTo>
                    <a:lnTo>
                      <a:pt x="8953" y="8953"/>
                    </a:lnTo>
                    <a:lnTo>
                      <a:pt x="18645" y="2405"/>
                    </a:lnTo>
                    <a:lnTo>
                      <a:pt x="30480" y="0"/>
                    </a:lnTo>
                    <a:lnTo>
                      <a:pt x="772668" y="0"/>
                    </a:lnTo>
                    <a:lnTo>
                      <a:pt x="784502" y="2405"/>
                    </a:lnTo>
                    <a:lnTo>
                      <a:pt x="794194" y="8953"/>
                    </a:lnTo>
                    <a:lnTo>
                      <a:pt x="800742" y="18645"/>
                    </a:lnTo>
                    <a:lnTo>
                      <a:pt x="803147" y="30479"/>
                    </a:lnTo>
                    <a:lnTo>
                      <a:pt x="803147" y="152399"/>
                    </a:lnTo>
                    <a:lnTo>
                      <a:pt x="800742" y="164234"/>
                    </a:lnTo>
                    <a:lnTo>
                      <a:pt x="794194" y="173926"/>
                    </a:lnTo>
                    <a:lnTo>
                      <a:pt x="784502" y="180474"/>
                    </a:lnTo>
                    <a:lnTo>
                      <a:pt x="772668" y="182879"/>
                    </a:lnTo>
                    <a:lnTo>
                      <a:pt x="30480" y="182879"/>
                    </a:lnTo>
                    <a:lnTo>
                      <a:pt x="18645" y="180474"/>
                    </a:lnTo>
                    <a:lnTo>
                      <a:pt x="8953" y="173926"/>
                    </a:lnTo>
                    <a:lnTo>
                      <a:pt x="2405" y="164234"/>
                    </a:lnTo>
                    <a:lnTo>
                      <a:pt x="0" y="152399"/>
                    </a:lnTo>
                    <a:lnTo>
                      <a:pt x="0" y="30479"/>
                    </a:lnTo>
                    <a:close/>
                  </a:path>
                </a:pathLst>
              </a:custGeom>
              <a:ln w="7620">
                <a:solidFill>
                  <a:srgbClr val="0C1C2B"/>
                </a:solidFill>
              </a:ln>
            </p:spPr>
            <p:txBody>
              <a:bodyPr wrap="square" lIns="0" tIns="0" rIns="0" bIns="0" rtlCol="0"/>
              <a:lstStyle/>
              <a:p>
                <a:endParaRPr sz="1630"/>
              </a:p>
            </p:txBody>
          </p:sp>
        </p:grpSp>
        <p:sp>
          <p:nvSpPr>
            <p:cNvPr id="25" name="object 25"/>
            <p:cNvSpPr txBox="1"/>
            <p:nvPr/>
          </p:nvSpPr>
          <p:spPr>
            <a:xfrm>
              <a:off x="6158" y="4689"/>
              <a:ext cx="520" cy="155"/>
            </a:xfrm>
            <a:prstGeom prst="rect">
              <a:avLst/>
            </a:prstGeom>
          </p:spPr>
          <p:txBody>
            <a:bodyPr vert="horz" wrap="square" lIns="0" tIns="10364" rIns="0" bIns="0" rtlCol="0">
              <a:spAutoFit/>
            </a:bodyPr>
            <a:lstStyle/>
            <a:p>
              <a:pPr marL="12700">
                <a:lnSpc>
                  <a:spcPct val="100000"/>
                </a:lnSpc>
                <a:spcBef>
                  <a:spcPts val="90"/>
                </a:spcBef>
              </a:pPr>
              <a:r>
                <a:rPr sz="725" spc="-20" dirty="0">
                  <a:solidFill>
                    <a:srgbClr val="0C1C2B"/>
                  </a:solidFill>
                  <a:latin typeface="Times New Roman" panose="02020603050405020304"/>
                  <a:cs typeface="Times New Roman" panose="02020603050405020304"/>
                </a:rPr>
                <a:t>Bi-</a:t>
              </a:r>
              <a:r>
                <a:rPr sz="725" spc="-25" dirty="0">
                  <a:solidFill>
                    <a:srgbClr val="0C1C2B"/>
                  </a:solidFill>
                  <a:latin typeface="Times New Roman" panose="02020603050405020304"/>
                  <a:cs typeface="Times New Roman" panose="02020603050405020304"/>
                </a:rPr>
                <a:t>GRU</a:t>
              </a:r>
              <a:endParaRPr sz="725">
                <a:latin typeface="Times New Roman" panose="02020603050405020304"/>
                <a:cs typeface="Times New Roman" panose="02020603050405020304"/>
              </a:endParaRPr>
            </a:p>
          </p:txBody>
        </p:sp>
        <p:pic>
          <p:nvPicPr>
            <p:cNvPr id="26" name="object 26"/>
            <p:cNvPicPr/>
            <p:nvPr/>
          </p:nvPicPr>
          <p:blipFill>
            <a:blip r:embed="rId6" cstate="print"/>
            <a:stretch>
              <a:fillRect/>
            </a:stretch>
          </p:blipFill>
          <p:spPr>
            <a:xfrm>
              <a:off x="6372" y="4503"/>
              <a:ext cx="94" cy="139"/>
            </a:xfrm>
            <a:prstGeom prst="rect">
              <a:avLst/>
            </a:prstGeom>
          </p:spPr>
        </p:pic>
        <p:sp>
          <p:nvSpPr>
            <p:cNvPr id="27" name="object 27"/>
            <p:cNvSpPr txBox="1"/>
            <p:nvPr/>
          </p:nvSpPr>
          <p:spPr>
            <a:xfrm>
              <a:off x="5644" y="3767"/>
              <a:ext cx="1373" cy="155"/>
            </a:xfrm>
            <a:prstGeom prst="rect">
              <a:avLst/>
            </a:prstGeom>
          </p:spPr>
          <p:txBody>
            <a:bodyPr vert="horz" wrap="square" lIns="0" tIns="10364" rIns="0" bIns="0" rtlCol="0">
              <a:spAutoFit/>
            </a:bodyPr>
            <a:lstStyle/>
            <a:p>
              <a:pPr marL="12700">
                <a:lnSpc>
                  <a:spcPct val="100000"/>
                </a:lnSpc>
                <a:spcBef>
                  <a:spcPts val="90"/>
                </a:spcBef>
              </a:pPr>
              <a:r>
                <a:rPr sz="725" dirty="0">
                  <a:solidFill>
                    <a:srgbClr val="0C1C2B"/>
                  </a:solidFill>
                  <a:latin typeface="Times New Roman" panose="02020603050405020304"/>
                  <a:cs typeface="Times New Roman" panose="02020603050405020304"/>
                </a:rPr>
                <a:t>Packet</a:t>
              </a:r>
              <a:r>
                <a:rPr sz="725" spc="-50" dirty="0">
                  <a:solidFill>
                    <a:srgbClr val="0C1C2B"/>
                  </a:solidFill>
                  <a:latin typeface="Times New Roman" panose="02020603050405020304"/>
                  <a:cs typeface="Times New Roman" panose="02020603050405020304"/>
                </a:rPr>
                <a:t> </a:t>
              </a:r>
              <a:r>
                <a:rPr sz="725" dirty="0">
                  <a:solidFill>
                    <a:srgbClr val="0C1C2B"/>
                  </a:solidFill>
                  <a:latin typeface="Times New Roman" panose="02020603050405020304"/>
                  <a:cs typeface="Times New Roman" panose="02020603050405020304"/>
                </a:rPr>
                <a:t>length</a:t>
              </a:r>
              <a:r>
                <a:rPr sz="725" spc="-4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sequence</a:t>
              </a:r>
              <a:endParaRPr sz="725">
                <a:latin typeface="Times New Roman" panose="02020603050405020304"/>
                <a:cs typeface="Times New Roman" panose="02020603050405020304"/>
              </a:endParaRPr>
            </a:p>
          </p:txBody>
        </p:sp>
        <p:grpSp>
          <p:nvGrpSpPr>
            <p:cNvPr id="28" name="object 28"/>
            <p:cNvGrpSpPr/>
            <p:nvPr/>
          </p:nvGrpSpPr>
          <p:grpSpPr>
            <a:xfrm>
              <a:off x="5789" y="3555"/>
              <a:ext cx="1187" cy="201"/>
              <a:chOff x="2678239" y="2489263"/>
              <a:chExt cx="831215" cy="140970"/>
            </a:xfrm>
          </p:grpSpPr>
          <p:sp>
            <p:nvSpPr>
              <p:cNvPr id="29" name="object 29"/>
              <p:cNvSpPr/>
              <p:nvPr/>
            </p:nvSpPr>
            <p:spPr>
              <a:xfrm>
                <a:off x="3461003" y="2497835"/>
                <a:ext cx="40005" cy="123825"/>
              </a:xfrm>
              <a:custGeom>
                <a:avLst/>
                <a:gdLst/>
                <a:ahLst/>
                <a:cxnLst/>
                <a:rect l="l" t="t" r="r" b="b"/>
                <a:pathLst>
                  <a:path w="40004" h="123825">
                    <a:moveTo>
                      <a:pt x="0" y="0"/>
                    </a:moveTo>
                    <a:lnTo>
                      <a:pt x="15192" y="261"/>
                    </a:lnTo>
                    <a:lnTo>
                      <a:pt x="27813" y="952"/>
                    </a:lnTo>
                    <a:lnTo>
                      <a:pt x="36433" y="1928"/>
                    </a:lnTo>
                    <a:lnTo>
                      <a:pt x="39624" y="3048"/>
                    </a:lnTo>
                    <a:lnTo>
                      <a:pt x="39624" y="120396"/>
                    </a:lnTo>
                    <a:lnTo>
                      <a:pt x="36433" y="121515"/>
                    </a:lnTo>
                    <a:lnTo>
                      <a:pt x="27813" y="122491"/>
                    </a:lnTo>
                    <a:lnTo>
                      <a:pt x="15192" y="123182"/>
                    </a:lnTo>
                    <a:lnTo>
                      <a:pt x="0" y="123444"/>
                    </a:lnTo>
                  </a:path>
                </a:pathLst>
              </a:custGeom>
              <a:ln w="16764">
                <a:solidFill>
                  <a:srgbClr val="0C1C2B"/>
                </a:solidFill>
              </a:ln>
            </p:spPr>
            <p:txBody>
              <a:bodyPr wrap="square" lIns="0" tIns="0" rIns="0" bIns="0" rtlCol="0"/>
              <a:lstStyle/>
              <a:p>
                <a:endParaRPr sz="1630"/>
              </a:p>
            </p:txBody>
          </p:sp>
          <p:pic>
            <p:nvPicPr>
              <p:cNvPr id="30" name="object 30"/>
              <p:cNvPicPr/>
              <p:nvPr/>
            </p:nvPicPr>
            <p:blipFill>
              <a:blip r:embed="rId7" cstate="print"/>
              <a:stretch>
                <a:fillRect/>
              </a:stretch>
            </p:blipFill>
            <p:spPr>
              <a:xfrm>
                <a:off x="3320796" y="2505456"/>
                <a:ext cx="100584" cy="106679"/>
              </a:xfrm>
              <a:prstGeom prst="rect">
                <a:avLst/>
              </a:prstGeom>
            </p:spPr>
          </p:pic>
          <p:sp>
            <p:nvSpPr>
              <p:cNvPr id="31" name="object 31"/>
              <p:cNvSpPr/>
              <p:nvPr/>
            </p:nvSpPr>
            <p:spPr>
              <a:xfrm>
                <a:off x="2686811" y="2497836"/>
                <a:ext cx="40005" cy="123825"/>
              </a:xfrm>
              <a:custGeom>
                <a:avLst/>
                <a:gdLst/>
                <a:ahLst/>
                <a:cxnLst/>
                <a:rect l="l" t="t" r="r" b="b"/>
                <a:pathLst>
                  <a:path w="40005" h="123825">
                    <a:moveTo>
                      <a:pt x="39624" y="123444"/>
                    </a:moveTo>
                    <a:lnTo>
                      <a:pt x="24431" y="123182"/>
                    </a:lnTo>
                    <a:lnTo>
                      <a:pt x="11811" y="122491"/>
                    </a:lnTo>
                    <a:lnTo>
                      <a:pt x="3190" y="121515"/>
                    </a:lnTo>
                    <a:lnTo>
                      <a:pt x="0" y="120396"/>
                    </a:lnTo>
                    <a:lnTo>
                      <a:pt x="0" y="3048"/>
                    </a:lnTo>
                    <a:lnTo>
                      <a:pt x="3190" y="1928"/>
                    </a:lnTo>
                    <a:lnTo>
                      <a:pt x="11811" y="952"/>
                    </a:lnTo>
                    <a:lnTo>
                      <a:pt x="24431" y="261"/>
                    </a:lnTo>
                    <a:lnTo>
                      <a:pt x="39624" y="0"/>
                    </a:lnTo>
                  </a:path>
                </a:pathLst>
              </a:custGeom>
              <a:ln w="16764">
                <a:solidFill>
                  <a:srgbClr val="0C1C2B"/>
                </a:solidFill>
              </a:ln>
            </p:spPr>
            <p:txBody>
              <a:bodyPr wrap="square" lIns="0" tIns="0" rIns="0" bIns="0" rtlCol="0"/>
              <a:lstStyle/>
              <a:p>
                <a:endParaRPr sz="1630"/>
              </a:p>
            </p:txBody>
          </p:sp>
          <p:pic>
            <p:nvPicPr>
              <p:cNvPr id="32" name="object 32"/>
              <p:cNvPicPr/>
              <p:nvPr/>
            </p:nvPicPr>
            <p:blipFill>
              <a:blip r:embed="rId8" cstate="print"/>
              <a:stretch>
                <a:fillRect/>
              </a:stretch>
            </p:blipFill>
            <p:spPr>
              <a:xfrm>
                <a:off x="3182112" y="2506980"/>
                <a:ext cx="100583" cy="105155"/>
              </a:xfrm>
              <a:prstGeom prst="rect">
                <a:avLst/>
              </a:prstGeom>
            </p:spPr>
          </p:pic>
          <p:pic>
            <p:nvPicPr>
              <p:cNvPr id="33" name="object 33"/>
              <p:cNvPicPr/>
              <p:nvPr/>
            </p:nvPicPr>
            <p:blipFill>
              <a:blip r:embed="rId9" cstate="print"/>
              <a:stretch>
                <a:fillRect/>
              </a:stretch>
            </p:blipFill>
            <p:spPr>
              <a:xfrm>
                <a:off x="3043428" y="2506980"/>
                <a:ext cx="99060" cy="105155"/>
              </a:xfrm>
              <a:prstGeom prst="rect">
                <a:avLst/>
              </a:prstGeom>
            </p:spPr>
          </p:pic>
          <p:pic>
            <p:nvPicPr>
              <p:cNvPr id="34" name="object 34"/>
              <p:cNvPicPr/>
              <p:nvPr/>
            </p:nvPicPr>
            <p:blipFill>
              <a:blip r:embed="rId10" cstate="print"/>
              <a:stretch>
                <a:fillRect/>
              </a:stretch>
            </p:blipFill>
            <p:spPr>
              <a:xfrm>
                <a:off x="2904743" y="2506980"/>
                <a:ext cx="99060" cy="105155"/>
              </a:xfrm>
              <a:prstGeom prst="rect">
                <a:avLst/>
              </a:prstGeom>
            </p:spPr>
          </p:pic>
          <p:pic>
            <p:nvPicPr>
              <p:cNvPr id="35" name="object 35"/>
              <p:cNvPicPr/>
              <p:nvPr/>
            </p:nvPicPr>
            <p:blipFill>
              <a:blip r:embed="rId10" cstate="print"/>
              <a:stretch>
                <a:fillRect/>
              </a:stretch>
            </p:blipFill>
            <p:spPr>
              <a:xfrm>
                <a:off x="2766059" y="2506980"/>
                <a:ext cx="99060" cy="105155"/>
              </a:xfrm>
              <a:prstGeom prst="rect">
                <a:avLst/>
              </a:prstGeom>
            </p:spPr>
          </p:pic>
        </p:grpSp>
        <p:sp>
          <p:nvSpPr>
            <p:cNvPr id="36" name="object 36"/>
            <p:cNvSpPr txBox="1"/>
            <p:nvPr/>
          </p:nvSpPr>
          <p:spPr>
            <a:xfrm>
              <a:off x="5712" y="6261"/>
              <a:ext cx="1417" cy="155"/>
            </a:xfrm>
            <a:prstGeom prst="rect">
              <a:avLst/>
            </a:prstGeom>
          </p:spPr>
          <p:txBody>
            <a:bodyPr vert="horz" wrap="square" lIns="0" tIns="10364" rIns="0" bIns="0" rtlCol="0">
              <a:spAutoFit/>
            </a:bodyPr>
            <a:lstStyle/>
            <a:p>
              <a:pPr marL="12700">
                <a:lnSpc>
                  <a:spcPct val="100000"/>
                </a:lnSpc>
                <a:spcBef>
                  <a:spcPts val="90"/>
                </a:spcBef>
              </a:pPr>
              <a:r>
                <a:rPr sz="725" spc="-10" dirty="0">
                  <a:solidFill>
                    <a:srgbClr val="0C1C2B"/>
                  </a:solidFill>
                  <a:latin typeface="Times New Roman" panose="02020603050405020304"/>
                  <a:cs typeface="Times New Roman" panose="02020603050405020304"/>
                </a:rPr>
                <a:t>Reconstructed</a:t>
              </a:r>
              <a:r>
                <a:rPr sz="725" spc="35"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sequence</a:t>
              </a:r>
              <a:endParaRPr sz="725">
                <a:latin typeface="Times New Roman" panose="02020603050405020304"/>
                <a:cs typeface="Times New Roman" panose="02020603050405020304"/>
              </a:endParaRPr>
            </a:p>
          </p:txBody>
        </p:sp>
        <p:grpSp>
          <p:nvGrpSpPr>
            <p:cNvPr id="37" name="object 37"/>
            <p:cNvGrpSpPr/>
            <p:nvPr/>
          </p:nvGrpSpPr>
          <p:grpSpPr>
            <a:xfrm>
              <a:off x="5787" y="3996"/>
              <a:ext cx="1232" cy="2285"/>
              <a:chOff x="2676715" y="2798064"/>
              <a:chExt cx="862965" cy="1600200"/>
            </a:xfrm>
          </p:grpSpPr>
          <p:sp>
            <p:nvSpPr>
              <p:cNvPr id="38" name="object 38"/>
              <p:cNvSpPr/>
              <p:nvPr/>
            </p:nvSpPr>
            <p:spPr>
              <a:xfrm>
                <a:off x="3459480" y="4265675"/>
                <a:ext cx="41275" cy="123825"/>
              </a:xfrm>
              <a:custGeom>
                <a:avLst/>
                <a:gdLst/>
                <a:ahLst/>
                <a:cxnLst/>
                <a:rect l="l" t="t" r="r" b="b"/>
                <a:pathLst>
                  <a:path w="41275" h="123825">
                    <a:moveTo>
                      <a:pt x="0" y="0"/>
                    </a:moveTo>
                    <a:lnTo>
                      <a:pt x="16073" y="261"/>
                    </a:lnTo>
                    <a:lnTo>
                      <a:pt x="29146" y="952"/>
                    </a:lnTo>
                    <a:lnTo>
                      <a:pt x="37933" y="1928"/>
                    </a:lnTo>
                    <a:lnTo>
                      <a:pt x="41148" y="3048"/>
                    </a:lnTo>
                    <a:lnTo>
                      <a:pt x="41148" y="118872"/>
                    </a:lnTo>
                    <a:lnTo>
                      <a:pt x="37933" y="120872"/>
                    </a:lnTo>
                    <a:lnTo>
                      <a:pt x="29146" y="122301"/>
                    </a:lnTo>
                    <a:lnTo>
                      <a:pt x="16073" y="123158"/>
                    </a:lnTo>
                    <a:lnTo>
                      <a:pt x="0" y="123444"/>
                    </a:lnTo>
                  </a:path>
                </a:pathLst>
              </a:custGeom>
              <a:ln w="16764">
                <a:solidFill>
                  <a:srgbClr val="0C1C2B"/>
                </a:solidFill>
              </a:ln>
            </p:spPr>
            <p:txBody>
              <a:bodyPr wrap="square" lIns="0" tIns="0" rIns="0" bIns="0" rtlCol="0"/>
              <a:lstStyle/>
              <a:p>
                <a:endParaRPr sz="1630"/>
              </a:p>
            </p:txBody>
          </p:sp>
          <p:pic>
            <p:nvPicPr>
              <p:cNvPr id="39" name="object 39"/>
              <p:cNvPicPr/>
              <p:nvPr/>
            </p:nvPicPr>
            <p:blipFill>
              <a:blip r:embed="rId11" cstate="print"/>
              <a:stretch>
                <a:fillRect/>
              </a:stretch>
            </p:blipFill>
            <p:spPr>
              <a:xfrm>
                <a:off x="3320796" y="4271772"/>
                <a:ext cx="99060" cy="106679"/>
              </a:xfrm>
              <a:prstGeom prst="rect">
                <a:avLst/>
              </a:prstGeom>
            </p:spPr>
          </p:pic>
          <p:sp>
            <p:nvSpPr>
              <p:cNvPr id="40" name="object 40"/>
              <p:cNvSpPr/>
              <p:nvPr/>
            </p:nvSpPr>
            <p:spPr>
              <a:xfrm>
                <a:off x="2685287" y="4265675"/>
                <a:ext cx="41275" cy="123825"/>
              </a:xfrm>
              <a:custGeom>
                <a:avLst/>
                <a:gdLst/>
                <a:ahLst/>
                <a:cxnLst/>
                <a:rect l="l" t="t" r="r" b="b"/>
                <a:pathLst>
                  <a:path w="41275" h="123825">
                    <a:moveTo>
                      <a:pt x="41148" y="123444"/>
                    </a:moveTo>
                    <a:lnTo>
                      <a:pt x="25074" y="123158"/>
                    </a:lnTo>
                    <a:lnTo>
                      <a:pt x="12001" y="122301"/>
                    </a:lnTo>
                    <a:lnTo>
                      <a:pt x="3214" y="120872"/>
                    </a:lnTo>
                    <a:lnTo>
                      <a:pt x="0" y="118872"/>
                    </a:lnTo>
                    <a:lnTo>
                      <a:pt x="0" y="3048"/>
                    </a:lnTo>
                    <a:lnTo>
                      <a:pt x="3214" y="1928"/>
                    </a:lnTo>
                    <a:lnTo>
                      <a:pt x="12001" y="952"/>
                    </a:lnTo>
                    <a:lnTo>
                      <a:pt x="25074" y="261"/>
                    </a:lnTo>
                    <a:lnTo>
                      <a:pt x="41148" y="0"/>
                    </a:lnTo>
                  </a:path>
                </a:pathLst>
              </a:custGeom>
              <a:ln w="16764">
                <a:solidFill>
                  <a:srgbClr val="0C1C2B"/>
                </a:solidFill>
              </a:ln>
            </p:spPr>
            <p:txBody>
              <a:bodyPr wrap="square" lIns="0" tIns="0" rIns="0" bIns="0" rtlCol="0"/>
              <a:lstStyle/>
              <a:p>
                <a:endParaRPr sz="1630"/>
              </a:p>
            </p:txBody>
          </p:sp>
          <p:pic>
            <p:nvPicPr>
              <p:cNvPr id="41" name="object 41"/>
              <p:cNvPicPr/>
              <p:nvPr/>
            </p:nvPicPr>
            <p:blipFill>
              <a:blip r:embed="rId12" cstate="print"/>
              <a:stretch>
                <a:fillRect/>
              </a:stretch>
            </p:blipFill>
            <p:spPr>
              <a:xfrm>
                <a:off x="3182112" y="4273295"/>
                <a:ext cx="99060" cy="106679"/>
              </a:xfrm>
              <a:prstGeom prst="rect">
                <a:avLst/>
              </a:prstGeom>
            </p:spPr>
          </p:pic>
          <p:pic>
            <p:nvPicPr>
              <p:cNvPr id="42" name="object 42"/>
              <p:cNvPicPr/>
              <p:nvPr/>
            </p:nvPicPr>
            <p:blipFill>
              <a:blip r:embed="rId13" cstate="print"/>
              <a:stretch>
                <a:fillRect/>
              </a:stretch>
            </p:blipFill>
            <p:spPr>
              <a:xfrm>
                <a:off x="3041904" y="4273295"/>
                <a:ext cx="100583" cy="106679"/>
              </a:xfrm>
              <a:prstGeom prst="rect">
                <a:avLst/>
              </a:prstGeom>
            </p:spPr>
          </p:pic>
          <p:pic>
            <p:nvPicPr>
              <p:cNvPr id="43" name="object 43"/>
              <p:cNvPicPr/>
              <p:nvPr/>
            </p:nvPicPr>
            <p:blipFill>
              <a:blip r:embed="rId7" cstate="print"/>
              <a:stretch>
                <a:fillRect/>
              </a:stretch>
            </p:blipFill>
            <p:spPr>
              <a:xfrm>
                <a:off x="2903219" y="4273295"/>
                <a:ext cx="100583" cy="106679"/>
              </a:xfrm>
              <a:prstGeom prst="rect">
                <a:avLst/>
              </a:prstGeom>
            </p:spPr>
          </p:pic>
          <p:pic>
            <p:nvPicPr>
              <p:cNvPr id="44" name="object 44"/>
              <p:cNvPicPr/>
              <p:nvPr/>
            </p:nvPicPr>
            <p:blipFill>
              <a:blip r:embed="rId14" cstate="print"/>
              <a:stretch>
                <a:fillRect/>
              </a:stretch>
            </p:blipFill>
            <p:spPr>
              <a:xfrm>
                <a:off x="3086100" y="2798064"/>
                <a:ext cx="65532" cy="132588"/>
              </a:xfrm>
              <a:prstGeom prst="rect">
                <a:avLst/>
              </a:prstGeom>
            </p:spPr>
          </p:pic>
          <p:pic>
            <p:nvPicPr>
              <p:cNvPr id="45" name="object 45"/>
              <p:cNvPicPr/>
              <p:nvPr/>
            </p:nvPicPr>
            <p:blipFill>
              <a:blip r:embed="rId15" cstate="print"/>
              <a:stretch>
                <a:fillRect/>
              </a:stretch>
            </p:blipFill>
            <p:spPr>
              <a:xfrm>
                <a:off x="2764535" y="4273295"/>
                <a:ext cx="100583" cy="106679"/>
              </a:xfrm>
              <a:prstGeom prst="rect">
                <a:avLst/>
              </a:prstGeom>
            </p:spPr>
          </p:pic>
          <p:pic>
            <p:nvPicPr>
              <p:cNvPr id="46" name="object 46"/>
              <p:cNvPicPr/>
              <p:nvPr/>
            </p:nvPicPr>
            <p:blipFill>
              <a:blip r:embed="rId16" cstate="print"/>
              <a:stretch>
                <a:fillRect/>
              </a:stretch>
            </p:blipFill>
            <p:spPr>
              <a:xfrm>
                <a:off x="3086100" y="3461003"/>
                <a:ext cx="65532" cy="129540"/>
              </a:xfrm>
              <a:prstGeom prst="rect">
                <a:avLst/>
              </a:prstGeom>
            </p:spPr>
          </p:pic>
          <p:sp>
            <p:nvSpPr>
              <p:cNvPr id="47" name="object 47"/>
              <p:cNvSpPr/>
              <p:nvPr/>
            </p:nvSpPr>
            <p:spPr>
              <a:xfrm>
                <a:off x="2732532" y="3605784"/>
                <a:ext cx="803275" cy="184785"/>
              </a:xfrm>
              <a:custGeom>
                <a:avLst/>
                <a:gdLst/>
                <a:ahLst/>
                <a:cxnLst/>
                <a:rect l="l" t="t" r="r" b="b"/>
                <a:pathLst>
                  <a:path w="803275" h="184785">
                    <a:moveTo>
                      <a:pt x="772668" y="184403"/>
                    </a:moveTo>
                    <a:lnTo>
                      <a:pt x="30480" y="184403"/>
                    </a:lnTo>
                    <a:lnTo>
                      <a:pt x="18645" y="181998"/>
                    </a:lnTo>
                    <a:lnTo>
                      <a:pt x="8953" y="175450"/>
                    </a:lnTo>
                    <a:lnTo>
                      <a:pt x="2405" y="165758"/>
                    </a:lnTo>
                    <a:lnTo>
                      <a:pt x="0" y="153923"/>
                    </a:lnTo>
                    <a:lnTo>
                      <a:pt x="0" y="30479"/>
                    </a:lnTo>
                    <a:lnTo>
                      <a:pt x="2405" y="18645"/>
                    </a:lnTo>
                    <a:lnTo>
                      <a:pt x="8953" y="8953"/>
                    </a:lnTo>
                    <a:lnTo>
                      <a:pt x="18645" y="2405"/>
                    </a:lnTo>
                    <a:lnTo>
                      <a:pt x="30480" y="0"/>
                    </a:lnTo>
                    <a:lnTo>
                      <a:pt x="772668" y="0"/>
                    </a:lnTo>
                    <a:lnTo>
                      <a:pt x="784502" y="2405"/>
                    </a:lnTo>
                    <a:lnTo>
                      <a:pt x="794194" y="8953"/>
                    </a:lnTo>
                    <a:lnTo>
                      <a:pt x="800742" y="18645"/>
                    </a:lnTo>
                    <a:lnTo>
                      <a:pt x="803147" y="30479"/>
                    </a:lnTo>
                    <a:lnTo>
                      <a:pt x="803147" y="153923"/>
                    </a:lnTo>
                    <a:lnTo>
                      <a:pt x="800742" y="165758"/>
                    </a:lnTo>
                    <a:lnTo>
                      <a:pt x="794194" y="175450"/>
                    </a:lnTo>
                    <a:lnTo>
                      <a:pt x="784502" y="181998"/>
                    </a:lnTo>
                    <a:lnTo>
                      <a:pt x="772668" y="184403"/>
                    </a:lnTo>
                    <a:close/>
                  </a:path>
                </a:pathLst>
              </a:custGeom>
              <a:solidFill>
                <a:srgbClr val="F2F2F2"/>
              </a:solidFill>
            </p:spPr>
            <p:txBody>
              <a:bodyPr wrap="square" lIns="0" tIns="0" rIns="0" bIns="0" rtlCol="0"/>
              <a:lstStyle/>
              <a:p>
                <a:endParaRPr sz="1630"/>
              </a:p>
            </p:txBody>
          </p:sp>
          <p:sp>
            <p:nvSpPr>
              <p:cNvPr id="48" name="object 48"/>
              <p:cNvSpPr/>
              <p:nvPr/>
            </p:nvSpPr>
            <p:spPr>
              <a:xfrm>
                <a:off x="2732532" y="3605784"/>
                <a:ext cx="803275" cy="184785"/>
              </a:xfrm>
              <a:custGeom>
                <a:avLst/>
                <a:gdLst/>
                <a:ahLst/>
                <a:cxnLst/>
                <a:rect l="l" t="t" r="r" b="b"/>
                <a:pathLst>
                  <a:path w="803275" h="184785">
                    <a:moveTo>
                      <a:pt x="0" y="30479"/>
                    </a:moveTo>
                    <a:lnTo>
                      <a:pt x="2405" y="18645"/>
                    </a:lnTo>
                    <a:lnTo>
                      <a:pt x="8953" y="8953"/>
                    </a:lnTo>
                    <a:lnTo>
                      <a:pt x="18645" y="2405"/>
                    </a:lnTo>
                    <a:lnTo>
                      <a:pt x="30480" y="0"/>
                    </a:lnTo>
                    <a:lnTo>
                      <a:pt x="772668" y="0"/>
                    </a:lnTo>
                    <a:lnTo>
                      <a:pt x="784502" y="2405"/>
                    </a:lnTo>
                    <a:lnTo>
                      <a:pt x="794194" y="8953"/>
                    </a:lnTo>
                    <a:lnTo>
                      <a:pt x="800742" y="18645"/>
                    </a:lnTo>
                    <a:lnTo>
                      <a:pt x="803147" y="30479"/>
                    </a:lnTo>
                    <a:lnTo>
                      <a:pt x="803147" y="153923"/>
                    </a:lnTo>
                    <a:lnTo>
                      <a:pt x="800742" y="165758"/>
                    </a:lnTo>
                    <a:lnTo>
                      <a:pt x="794194" y="175450"/>
                    </a:lnTo>
                    <a:lnTo>
                      <a:pt x="784502" y="181998"/>
                    </a:lnTo>
                    <a:lnTo>
                      <a:pt x="772668" y="184403"/>
                    </a:lnTo>
                    <a:lnTo>
                      <a:pt x="30480" y="184403"/>
                    </a:lnTo>
                    <a:lnTo>
                      <a:pt x="18645" y="181998"/>
                    </a:lnTo>
                    <a:lnTo>
                      <a:pt x="8953" y="175450"/>
                    </a:lnTo>
                    <a:lnTo>
                      <a:pt x="2405" y="165758"/>
                    </a:lnTo>
                    <a:lnTo>
                      <a:pt x="0" y="153923"/>
                    </a:lnTo>
                    <a:lnTo>
                      <a:pt x="0" y="30479"/>
                    </a:lnTo>
                    <a:close/>
                  </a:path>
                </a:pathLst>
              </a:custGeom>
              <a:ln w="7620">
                <a:solidFill>
                  <a:srgbClr val="0C1C2B"/>
                </a:solidFill>
              </a:ln>
            </p:spPr>
            <p:txBody>
              <a:bodyPr wrap="square" lIns="0" tIns="0" rIns="0" bIns="0" rtlCol="0"/>
              <a:lstStyle/>
              <a:p>
                <a:endParaRPr sz="1630"/>
              </a:p>
            </p:txBody>
          </p:sp>
        </p:grpSp>
        <p:sp>
          <p:nvSpPr>
            <p:cNvPr id="49" name="object 49"/>
            <p:cNvSpPr txBox="1"/>
            <p:nvPr/>
          </p:nvSpPr>
          <p:spPr>
            <a:xfrm>
              <a:off x="6158" y="5181"/>
              <a:ext cx="520" cy="155"/>
            </a:xfrm>
            <a:prstGeom prst="rect">
              <a:avLst/>
            </a:prstGeom>
          </p:spPr>
          <p:txBody>
            <a:bodyPr vert="horz" wrap="square" lIns="0" tIns="10364" rIns="0" bIns="0" rtlCol="0">
              <a:spAutoFit/>
            </a:bodyPr>
            <a:lstStyle/>
            <a:p>
              <a:pPr marL="12700">
                <a:lnSpc>
                  <a:spcPct val="100000"/>
                </a:lnSpc>
                <a:spcBef>
                  <a:spcPts val="90"/>
                </a:spcBef>
              </a:pPr>
              <a:r>
                <a:rPr sz="725" spc="-20" dirty="0">
                  <a:solidFill>
                    <a:srgbClr val="0C1C2B"/>
                  </a:solidFill>
                  <a:latin typeface="Times New Roman" panose="02020603050405020304"/>
                  <a:cs typeface="Times New Roman" panose="02020603050405020304"/>
                </a:rPr>
                <a:t>Bi-</a:t>
              </a:r>
              <a:r>
                <a:rPr sz="725" spc="-25" dirty="0">
                  <a:solidFill>
                    <a:srgbClr val="0C1C2B"/>
                  </a:solidFill>
                  <a:latin typeface="Times New Roman" panose="02020603050405020304"/>
                  <a:cs typeface="Times New Roman" panose="02020603050405020304"/>
                </a:rPr>
                <a:t>GRU</a:t>
              </a:r>
              <a:endParaRPr sz="725">
                <a:latin typeface="Times New Roman" panose="02020603050405020304"/>
                <a:cs typeface="Times New Roman" panose="02020603050405020304"/>
              </a:endParaRPr>
            </a:p>
          </p:txBody>
        </p:sp>
        <p:grpSp>
          <p:nvGrpSpPr>
            <p:cNvPr id="50" name="object 50"/>
            <p:cNvGrpSpPr/>
            <p:nvPr/>
          </p:nvGrpSpPr>
          <p:grpSpPr>
            <a:xfrm>
              <a:off x="5861" y="5570"/>
              <a:ext cx="1158" cy="297"/>
              <a:chOff x="2728722" y="3900678"/>
              <a:chExt cx="810895" cy="207645"/>
            </a:xfrm>
          </p:grpSpPr>
          <p:sp>
            <p:nvSpPr>
              <p:cNvPr id="51" name="object 51"/>
              <p:cNvSpPr/>
              <p:nvPr/>
            </p:nvSpPr>
            <p:spPr>
              <a:xfrm>
                <a:off x="2732532" y="3904488"/>
                <a:ext cx="803275" cy="200025"/>
              </a:xfrm>
              <a:custGeom>
                <a:avLst/>
                <a:gdLst/>
                <a:ahLst/>
                <a:cxnLst/>
                <a:rect l="l" t="t" r="r" b="b"/>
                <a:pathLst>
                  <a:path w="803275" h="200025">
                    <a:moveTo>
                      <a:pt x="769620" y="199644"/>
                    </a:moveTo>
                    <a:lnTo>
                      <a:pt x="33528" y="199644"/>
                    </a:lnTo>
                    <a:lnTo>
                      <a:pt x="20573" y="196977"/>
                    </a:lnTo>
                    <a:lnTo>
                      <a:pt x="9905" y="189738"/>
                    </a:lnTo>
                    <a:lnTo>
                      <a:pt x="2666" y="179070"/>
                    </a:lnTo>
                    <a:lnTo>
                      <a:pt x="0" y="166115"/>
                    </a:lnTo>
                    <a:lnTo>
                      <a:pt x="0" y="33527"/>
                    </a:lnTo>
                    <a:lnTo>
                      <a:pt x="2667" y="19931"/>
                    </a:lnTo>
                    <a:lnTo>
                      <a:pt x="9906" y="9334"/>
                    </a:lnTo>
                    <a:lnTo>
                      <a:pt x="20574" y="2452"/>
                    </a:lnTo>
                    <a:lnTo>
                      <a:pt x="33528" y="0"/>
                    </a:lnTo>
                    <a:lnTo>
                      <a:pt x="769620" y="0"/>
                    </a:lnTo>
                    <a:lnTo>
                      <a:pt x="782574" y="2452"/>
                    </a:lnTo>
                    <a:lnTo>
                      <a:pt x="793242" y="9334"/>
                    </a:lnTo>
                    <a:lnTo>
                      <a:pt x="800481" y="19931"/>
                    </a:lnTo>
                    <a:lnTo>
                      <a:pt x="803147" y="33527"/>
                    </a:lnTo>
                    <a:lnTo>
                      <a:pt x="803147" y="166115"/>
                    </a:lnTo>
                    <a:lnTo>
                      <a:pt x="800481" y="179070"/>
                    </a:lnTo>
                    <a:lnTo>
                      <a:pt x="793242" y="189738"/>
                    </a:lnTo>
                    <a:lnTo>
                      <a:pt x="782574" y="196977"/>
                    </a:lnTo>
                    <a:lnTo>
                      <a:pt x="769620" y="199644"/>
                    </a:lnTo>
                    <a:close/>
                  </a:path>
                </a:pathLst>
              </a:custGeom>
              <a:solidFill>
                <a:srgbClr val="D8E6F9"/>
              </a:solidFill>
            </p:spPr>
            <p:txBody>
              <a:bodyPr wrap="square" lIns="0" tIns="0" rIns="0" bIns="0" rtlCol="0"/>
              <a:lstStyle/>
              <a:p>
                <a:endParaRPr sz="1630"/>
              </a:p>
            </p:txBody>
          </p:sp>
          <p:sp>
            <p:nvSpPr>
              <p:cNvPr id="52" name="object 52"/>
              <p:cNvSpPr/>
              <p:nvPr/>
            </p:nvSpPr>
            <p:spPr>
              <a:xfrm>
                <a:off x="2732532" y="3904488"/>
                <a:ext cx="803275" cy="200025"/>
              </a:xfrm>
              <a:custGeom>
                <a:avLst/>
                <a:gdLst/>
                <a:ahLst/>
                <a:cxnLst/>
                <a:rect l="l" t="t" r="r" b="b"/>
                <a:pathLst>
                  <a:path w="803275" h="200025">
                    <a:moveTo>
                      <a:pt x="0" y="33527"/>
                    </a:moveTo>
                    <a:lnTo>
                      <a:pt x="2667" y="19931"/>
                    </a:lnTo>
                    <a:lnTo>
                      <a:pt x="9906" y="9334"/>
                    </a:lnTo>
                    <a:lnTo>
                      <a:pt x="20574" y="2452"/>
                    </a:lnTo>
                    <a:lnTo>
                      <a:pt x="33528" y="0"/>
                    </a:lnTo>
                    <a:lnTo>
                      <a:pt x="769620" y="0"/>
                    </a:lnTo>
                    <a:lnTo>
                      <a:pt x="782574" y="2452"/>
                    </a:lnTo>
                    <a:lnTo>
                      <a:pt x="793242" y="9334"/>
                    </a:lnTo>
                    <a:lnTo>
                      <a:pt x="800481" y="19931"/>
                    </a:lnTo>
                    <a:lnTo>
                      <a:pt x="803147" y="33527"/>
                    </a:lnTo>
                    <a:lnTo>
                      <a:pt x="803147" y="166115"/>
                    </a:lnTo>
                    <a:lnTo>
                      <a:pt x="800481" y="179070"/>
                    </a:lnTo>
                    <a:lnTo>
                      <a:pt x="793242" y="189738"/>
                    </a:lnTo>
                    <a:lnTo>
                      <a:pt x="782574" y="196977"/>
                    </a:lnTo>
                    <a:lnTo>
                      <a:pt x="769620" y="199644"/>
                    </a:lnTo>
                    <a:lnTo>
                      <a:pt x="33528" y="199644"/>
                    </a:lnTo>
                    <a:lnTo>
                      <a:pt x="20573" y="196977"/>
                    </a:lnTo>
                    <a:lnTo>
                      <a:pt x="9905" y="189738"/>
                    </a:lnTo>
                    <a:lnTo>
                      <a:pt x="2666" y="179070"/>
                    </a:lnTo>
                    <a:lnTo>
                      <a:pt x="0" y="166115"/>
                    </a:lnTo>
                    <a:lnTo>
                      <a:pt x="0" y="33527"/>
                    </a:lnTo>
                    <a:close/>
                  </a:path>
                </a:pathLst>
              </a:custGeom>
              <a:ln w="7620">
                <a:solidFill>
                  <a:srgbClr val="0C1C2B"/>
                </a:solidFill>
              </a:ln>
            </p:spPr>
            <p:txBody>
              <a:bodyPr wrap="square" lIns="0" tIns="0" rIns="0" bIns="0" rtlCol="0"/>
              <a:lstStyle/>
              <a:p>
                <a:endParaRPr sz="1630"/>
              </a:p>
            </p:txBody>
          </p:sp>
        </p:grpSp>
        <p:sp>
          <p:nvSpPr>
            <p:cNvPr id="53" name="object 53"/>
            <p:cNvSpPr txBox="1"/>
            <p:nvPr/>
          </p:nvSpPr>
          <p:spPr>
            <a:xfrm>
              <a:off x="5995" y="5603"/>
              <a:ext cx="899" cy="155"/>
            </a:xfrm>
            <a:prstGeom prst="rect">
              <a:avLst/>
            </a:prstGeom>
          </p:spPr>
          <p:txBody>
            <a:bodyPr vert="horz" wrap="square" lIns="0" tIns="10364" rIns="0" bIns="0" rtlCol="0">
              <a:spAutoFit/>
            </a:bodyPr>
            <a:lstStyle/>
            <a:p>
              <a:pPr marL="12700">
                <a:lnSpc>
                  <a:spcPct val="100000"/>
                </a:lnSpc>
                <a:spcBef>
                  <a:spcPts val="90"/>
                </a:spcBef>
              </a:pPr>
              <a:r>
                <a:rPr sz="725" spc="-10" dirty="0">
                  <a:solidFill>
                    <a:srgbClr val="0C1C2B"/>
                  </a:solidFill>
                  <a:latin typeface="Times New Roman" panose="02020603050405020304"/>
                  <a:cs typeface="Times New Roman" panose="02020603050405020304"/>
                </a:rPr>
                <a:t>Reconstruction</a:t>
              </a:r>
              <a:endParaRPr sz="725">
                <a:latin typeface="Times New Roman" panose="02020603050405020304"/>
                <a:cs typeface="Times New Roman" panose="02020603050405020304"/>
              </a:endParaRPr>
            </a:p>
          </p:txBody>
        </p:sp>
        <p:grpSp>
          <p:nvGrpSpPr>
            <p:cNvPr id="54" name="object 54"/>
            <p:cNvGrpSpPr/>
            <p:nvPr/>
          </p:nvGrpSpPr>
          <p:grpSpPr>
            <a:xfrm>
              <a:off x="6372" y="4674"/>
              <a:ext cx="1185" cy="1377"/>
              <a:chOff x="3086100" y="3272790"/>
              <a:chExt cx="829944" cy="963930"/>
            </a:xfrm>
          </p:grpSpPr>
          <p:pic>
            <p:nvPicPr>
              <p:cNvPr id="55" name="object 55"/>
              <p:cNvPicPr/>
              <p:nvPr/>
            </p:nvPicPr>
            <p:blipFill>
              <a:blip r:embed="rId17" cstate="print"/>
              <a:stretch>
                <a:fillRect/>
              </a:stretch>
            </p:blipFill>
            <p:spPr>
              <a:xfrm>
                <a:off x="3087624" y="3794760"/>
                <a:ext cx="67056" cy="97536"/>
              </a:xfrm>
              <a:prstGeom prst="rect">
                <a:avLst/>
              </a:prstGeom>
            </p:spPr>
          </p:pic>
          <p:pic>
            <p:nvPicPr>
              <p:cNvPr id="56" name="object 56"/>
              <p:cNvPicPr/>
              <p:nvPr/>
            </p:nvPicPr>
            <p:blipFill>
              <a:blip r:embed="rId18" cstate="print"/>
              <a:stretch>
                <a:fillRect/>
              </a:stretch>
            </p:blipFill>
            <p:spPr>
              <a:xfrm>
                <a:off x="3086100" y="4113276"/>
                <a:ext cx="65532" cy="123444"/>
              </a:xfrm>
              <a:prstGeom prst="rect">
                <a:avLst/>
              </a:prstGeom>
            </p:spPr>
          </p:pic>
          <p:pic>
            <p:nvPicPr>
              <p:cNvPr id="57" name="object 57"/>
              <p:cNvPicPr/>
              <p:nvPr/>
            </p:nvPicPr>
            <p:blipFill>
              <a:blip r:embed="rId19" cstate="print"/>
              <a:stretch>
                <a:fillRect/>
              </a:stretch>
            </p:blipFill>
            <p:spPr>
              <a:xfrm>
                <a:off x="3826001" y="3272790"/>
                <a:ext cx="89916" cy="420623"/>
              </a:xfrm>
              <a:prstGeom prst="rect">
                <a:avLst/>
              </a:prstGeom>
            </p:spPr>
          </p:pic>
        </p:grpSp>
        <p:sp>
          <p:nvSpPr>
            <p:cNvPr id="58" name="object 58"/>
            <p:cNvSpPr txBox="1"/>
            <p:nvPr/>
          </p:nvSpPr>
          <p:spPr>
            <a:xfrm>
              <a:off x="7255" y="5281"/>
              <a:ext cx="464" cy="155"/>
            </a:xfrm>
            <a:prstGeom prst="rect">
              <a:avLst/>
            </a:prstGeom>
          </p:spPr>
          <p:txBody>
            <a:bodyPr vert="horz" wrap="square" lIns="0" tIns="10364" rIns="0" bIns="0" rtlCol="0">
              <a:spAutoFit/>
            </a:bodyPr>
            <a:lstStyle/>
            <a:p>
              <a:pPr marL="12700">
                <a:lnSpc>
                  <a:spcPct val="100000"/>
                </a:lnSpc>
                <a:spcBef>
                  <a:spcPts val="90"/>
                </a:spcBef>
              </a:pPr>
              <a:r>
                <a:rPr sz="725" spc="-10" dirty="0">
                  <a:solidFill>
                    <a:srgbClr val="0C1C2B"/>
                  </a:solidFill>
                  <a:latin typeface="Times New Roman" panose="02020603050405020304"/>
                  <a:cs typeface="Times New Roman" panose="02020603050405020304"/>
                </a:rPr>
                <a:t>Feature</a:t>
              </a:r>
              <a:endParaRPr sz="725">
                <a:latin typeface="Times New Roman" panose="02020603050405020304"/>
                <a:cs typeface="Times New Roman" panose="02020603050405020304"/>
              </a:endParaRPr>
            </a:p>
          </p:txBody>
        </p:sp>
        <p:sp>
          <p:nvSpPr>
            <p:cNvPr id="59" name="object 59"/>
            <p:cNvSpPr/>
            <p:nvPr/>
          </p:nvSpPr>
          <p:spPr>
            <a:xfrm>
              <a:off x="8046" y="4969"/>
              <a:ext cx="0" cy="1147"/>
            </a:xfrm>
            <a:custGeom>
              <a:avLst/>
              <a:gdLst/>
              <a:ahLst/>
              <a:cxnLst/>
              <a:rect l="l" t="t" r="r" b="b"/>
              <a:pathLst>
                <a:path h="803275">
                  <a:moveTo>
                    <a:pt x="0" y="0"/>
                  </a:moveTo>
                  <a:lnTo>
                    <a:pt x="0" y="803148"/>
                  </a:lnTo>
                </a:path>
              </a:pathLst>
            </a:custGeom>
            <a:ln w="13716">
              <a:solidFill>
                <a:srgbClr val="0C1C2B"/>
              </a:solidFill>
              <a:prstDash val="sysDash"/>
            </a:ln>
          </p:spPr>
          <p:txBody>
            <a:bodyPr wrap="square" lIns="0" tIns="0" rIns="0" bIns="0" rtlCol="0"/>
            <a:lstStyle/>
            <a:p>
              <a:endParaRPr sz="1630"/>
            </a:p>
          </p:txBody>
        </p:sp>
        <p:sp>
          <p:nvSpPr>
            <p:cNvPr id="60" name="object 60"/>
            <p:cNvSpPr/>
            <p:nvPr/>
          </p:nvSpPr>
          <p:spPr>
            <a:xfrm>
              <a:off x="10386" y="4766"/>
              <a:ext cx="0" cy="1145"/>
            </a:xfrm>
            <a:custGeom>
              <a:avLst/>
              <a:gdLst/>
              <a:ahLst/>
              <a:cxnLst/>
              <a:rect l="l" t="t" r="r" b="b"/>
              <a:pathLst>
                <a:path h="802004">
                  <a:moveTo>
                    <a:pt x="0" y="0"/>
                  </a:moveTo>
                  <a:lnTo>
                    <a:pt x="0" y="801624"/>
                  </a:lnTo>
                </a:path>
              </a:pathLst>
            </a:custGeom>
            <a:ln w="13716">
              <a:solidFill>
                <a:srgbClr val="0C1C2B"/>
              </a:solidFill>
              <a:prstDash val="sysDash"/>
            </a:ln>
          </p:spPr>
          <p:txBody>
            <a:bodyPr wrap="square" lIns="0" tIns="0" rIns="0" bIns="0" rtlCol="0"/>
            <a:lstStyle/>
            <a:p>
              <a:endParaRPr sz="1630"/>
            </a:p>
          </p:txBody>
        </p:sp>
        <p:grpSp>
          <p:nvGrpSpPr>
            <p:cNvPr id="61" name="object 61"/>
            <p:cNvGrpSpPr/>
            <p:nvPr/>
          </p:nvGrpSpPr>
          <p:grpSpPr>
            <a:xfrm>
              <a:off x="6417" y="3334"/>
              <a:ext cx="3979" cy="3180"/>
              <a:chOff x="3118103" y="2334767"/>
              <a:chExt cx="2786380" cy="2226945"/>
            </a:xfrm>
          </p:grpSpPr>
          <p:sp>
            <p:nvSpPr>
              <p:cNvPr id="62" name="object 62"/>
              <p:cNvSpPr/>
              <p:nvPr/>
            </p:nvSpPr>
            <p:spPr>
              <a:xfrm>
                <a:off x="3118091" y="2398775"/>
                <a:ext cx="2786380" cy="1146175"/>
              </a:xfrm>
              <a:custGeom>
                <a:avLst/>
                <a:gdLst/>
                <a:ahLst/>
                <a:cxnLst/>
                <a:rect l="l" t="t" r="r" b="b"/>
                <a:pathLst>
                  <a:path w="2786379" h="1146175">
                    <a:moveTo>
                      <a:pt x="672084" y="1112520"/>
                    </a:moveTo>
                    <a:lnTo>
                      <a:pt x="663778" y="1106424"/>
                    </a:lnTo>
                    <a:lnTo>
                      <a:pt x="626364" y="1078992"/>
                    </a:lnTo>
                    <a:lnTo>
                      <a:pt x="626364" y="1106424"/>
                    </a:lnTo>
                    <a:lnTo>
                      <a:pt x="0" y="1106424"/>
                    </a:lnTo>
                    <a:lnTo>
                      <a:pt x="0" y="1118616"/>
                    </a:lnTo>
                    <a:lnTo>
                      <a:pt x="626364" y="1118616"/>
                    </a:lnTo>
                    <a:lnTo>
                      <a:pt x="626364" y="1146048"/>
                    </a:lnTo>
                    <a:lnTo>
                      <a:pt x="663778" y="1118616"/>
                    </a:lnTo>
                    <a:lnTo>
                      <a:pt x="672084" y="1112520"/>
                    </a:lnTo>
                    <a:close/>
                  </a:path>
                  <a:path w="2786379" h="1146175">
                    <a:moveTo>
                      <a:pt x="1147572" y="987552"/>
                    </a:moveTo>
                    <a:lnTo>
                      <a:pt x="1133856" y="987552"/>
                    </a:lnTo>
                    <a:lnTo>
                      <a:pt x="1133856" y="1040892"/>
                    </a:lnTo>
                    <a:lnTo>
                      <a:pt x="1147572" y="1040892"/>
                    </a:lnTo>
                    <a:lnTo>
                      <a:pt x="1147572" y="987552"/>
                    </a:lnTo>
                    <a:close/>
                  </a:path>
                  <a:path w="2786379" h="1146175">
                    <a:moveTo>
                      <a:pt x="1147572" y="894588"/>
                    </a:moveTo>
                    <a:lnTo>
                      <a:pt x="1133856" y="894588"/>
                    </a:lnTo>
                    <a:lnTo>
                      <a:pt x="1133856" y="947928"/>
                    </a:lnTo>
                    <a:lnTo>
                      <a:pt x="1147572" y="947928"/>
                    </a:lnTo>
                    <a:lnTo>
                      <a:pt x="1147572" y="894588"/>
                    </a:lnTo>
                    <a:close/>
                  </a:path>
                  <a:path w="2786379" h="1146175">
                    <a:moveTo>
                      <a:pt x="1147572" y="800100"/>
                    </a:moveTo>
                    <a:lnTo>
                      <a:pt x="1133856" y="800100"/>
                    </a:lnTo>
                    <a:lnTo>
                      <a:pt x="1133856" y="853440"/>
                    </a:lnTo>
                    <a:lnTo>
                      <a:pt x="1147572" y="853440"/>
                    </a:lnTo>
                    <a:lnTo>
                      <a:pt x="1147572" y="800100"/>
                    </a:lnTo>
                    <a:close/>
                  </a:path>
                  <a:path w="2786379" h="1146175">
                    <a:moveTo>
                      <a:pt x="1147572" y="707136"/>
                    </a:moveTo>
                    <a:lnTo>
                      <a:pt x="1133856" y="707136"/>
                    </a:lnTo>
                    <a:lnTo>
                      <a:pt x="1133856" y="760476"/>
                    </a:lnTo>
                    <a:lnTo>
                      <a:pt x="1147572" y="760476"/>
                    </a:lnTo>
                    <a:lnTo>
                      <a:pt x="1147572" y="707136"/>
                    </a:lnTo>
                    <a:close/>
                  </a:path>
                  <a:path w="2786379" h="1146175">
                    <a:moveTo>
                      <a:pt x="1147572" y="612648"/>
                    </a:moveTo>
                    <a:lnTo>
                      <a:pt x="1133856" y="612648"/>
                    </a:lnTo>
                    <a:lnTo>
                      <a:pt x="1133856" y="667512"/>
                    </a:lnTo>
                    <a:lnTo>
                      <a:pt x="1147572" y="667512"/>
                    </a:lnTo>
                    <a:lnTo>
                      <a:pt x="1147572" y="612648"/>
                    </a:lnTo>
                    <a:close/>
                  </a:path>
                  <a:path w="2786379" h="1146175">
                    <a:moveTo>
                      <a:pt x="1147572" y="519684"/>
                    </a:moveTo>
                    <a:lnTo>
                      <a:pt x="1133856" y="519684"/>
                    </a:lnTo>
                    <a:lnTo>
                      <a:pt x="1133856" y="573024"/>
                    </a:lnTo>
                    <a:lnTo>
                      <a:pt x="1147572" y="573024"/>
                    </a:lnTo>
                    <a:lnTo>
                      <a:pt x="1147572" y="519684"/>
                    </a:lnTo>
                    <a:close/>
                  </a:path>
                  <a:path w="2786379" h="1146175">
                    <a:moveTo>
                      <a:pt x="1147572" y="426720"/>
                    </a:moveTo>
                    <a:lnTo>
                      <a:pt x="1133856" y="426720"/>
                    </a:lnTo>
                    <a:lnTo>
                      <a:pt x="1133856" y="480060"/>
                    </a:lnTo>
                    <a:lnTo>
                      <a:pt x="1147572" y="480060"/>
                    </a:lnTo>
                    <a:lnTo>
                      <a:pt x="1147572" y="426720"/>
                    </a:lnTo>
                    <a:close/>
                  </a:path>
                  <a:path w="2786379" h="1146175">
                    <a:moveTo>
                      <a:pt x="1147572" y="332232"/>
                    </a:moveTo>
                    <a:lnTo>
                      <a:pt x="1133856" y="332232"/>
                    </a:lnTo>
                    <a:lnTo>
                      <a:pt x="1133856" y="385572"/>
                    </a:lnTo>
                    <a:lnTo>
                      <a:pt x="1147572" y="385572"/>
                    </a:lnTo>
                    <a:lnTo>
                      <a:pt x="1147572" y="332232"/>
                    </a:lnTo>
                    <a:close/>
                  </a:path>
                  <a:path w="2786379" h="1146175">
                    <a:moveTo>
                      <a:pt x="1150620" y="240792"/>
                    </a:moveTo>
                    <a:lnTo>
                      <a:pt x="1138428" y="237744"/>
                    </a:lnTo>
                    <a:lnTo>
                      <a:pt x="1135380" y="251460"/>
                    </a:lnTo>
                    <a:lnTo>
                      <a:pt x="1135380" y="265176"/>
                    </a:lnTo>
                    <a:lnTo>
                      <a:pt x="1133856" y="280416"/>
                    </a:lnTo>
                    <a:lnTo>
                      <a:pt x="1133856" y="292608"/>
                    </a:lnTo>
                    <a:lnTo>
                      <a:pt x="1147572" y="292608"/>
                    </a:lnTo>
                    <a:lnTo>
                      <a:pt x="1147572" y="266700"/>
                    </a:lnTo>
                    <a:lnTo>
                      <a:pt x="1149096" y="252984"/>
                    </a:lnTo>
                    <a:lnTo>
                      <a:pt x="1150620" y="240792"/>
                    </a:lnTo>
                    <a:close/>
                  </a:path>
                  <a:path w="2786379" h="1146175">
                    <a:moveTo>
                      <a:pt x="1179576" y="153936"/>
                    </a:moveTo>
                    <a:lnTo>
                      <a:pt x="1167384" y="147840"/>
                    </a:lnTo>
                    <a:lnTo>
                      <a:pt x="1162812" y="158508"/>
                    </a:lnTo>
                    <a:lnTo>
                      <a:pt x="1156716" y="172224"/>
                    </a:lnTo>
                    <a:lnTo>
                      <a:pt x="1147572" y="196608"/>
                    </a:lnTo>
                    <a:lnTo>
                      <a:pt x="1146048" y="198132"/>
                    </a:lnTo>
                    <a:lnTo>
                      <a:pt x="1159764" y="202704"/>
                    </a:lnTo>
                    <a:lnTo>
                      <a:pt x="1159764" y="201180"/>
                    </a:lnTo>
                    <a:lnTo>
                      <a:pt x="1168908" y="176796"/>
                    </a:lnTo>
                    <a:lnTo>
                      <a:pt x="1175004" y="164604"/>
                    </a:lnTo>
                    <a:lnTo>
                      <a:pt x="1173480" y="164604"/>
                    </a:lnTo>
                    <a:lnTo>
                      <a:pt x="1179576" y="153936"/>
                    </a:lnTo>
                    <a:close/>
                  </a:path>
                  <a:path w="2786379" h="1146175">
                    <a:moveTo>
                      <a:pt x="1235964" y="82308"/>
                    </a:moveTo>
                    <a:lnTo>
                      <a:pt x="1226820" y="73164"/>
                    </a:lnTo>
                    <a:lnTo>
                      <a:pt x="1216152" y="82308"/>
                    </a:lnTo>
                    <a:lnTo>
                      <a:pt x="1197864" y="102120"/>
                    </a:lnTo>
                    <a:lnTo>
                      <a:pt x="1190244" y="112788"/>
                    </a:lnTo>
                    <a:lnTo>
                      <a:pt x="1200912" y="121932"/>
                    </a:lnTo>
                    <a:lnTo>
                      <a:pt x="1208532" y="111264"/>
                    </a:lnTo>
                    <a:lnTo>
                      <a:pt x="1225423" y="92976"/>
                    </a:lnTo>
                    <a:lnTo>
                      <a:pt x="1226820" y="91452"/>
                    </a:lnTo>
                    <a:lnTo>
                      <a:pt x="1235964" y="82308"/>
                    </a:lnTo>
                    <a:close/>
                  </a:path>
                  <a:path w="2786379" h="1146175">
                    <a:moveTo>
                      <a:pt x="1312164" y="33540"/>
                    </a:moveTo>
                    <a:lnTo>
                      <a:pt x="1307592" y="21348"/>
                    </a:lnTo>
                    <a:lnTo>
                      <a:pt x="1306068" y="22872"/>
                    </a:lnTo>
                    <a:lnTo>
                      <a:pt x="1292352" y="28968"/>
                    </a:lnTo>
                    <a:lnTo>
                      <a:pt x="1280160" y="35064"/>
                    </a:lnTo>
                    <a:lnTo>
                      <a:pt x="1258824" y="47256"/>
                    </a:lnTo>
                    <a:lnTo>
                      <a:pt x="1266444" y="59448"/>
                    </a:lnTo>
                    <a:lnTo>
                      <a:pt x="1287780" y="45732"/>
                    </a:lnTo>
                    <a:lnTo>
                      <a:pt x="1298448" y="39636"/>
                    </a:lnTo>
                    <a:lnTo>
                      <a:pt x="1298448" y="41160"/>
                    </a:lnTo>
                    <a:lnTo>
                      <a:pt x="1301496" y="39636"/>
                    </a:lnTo>
                    <a:lnTo>
                      <a:pt x="1310640" y="35064"/>
                    </a:lnTo>
                    <a:lnTo>
                      <a:pt x="1312164" y="33540"/>
                    </a:lnTo>
                    <a:close/>
                  </a:path>
                  <a:path w="2786379" h="1146175">
                    <a:moveTo>
                      <a:pt x="1400556" y="1536"/>
                    </a:moveTo>
                    <a:lnTo>
                      <a:pt x="1385316" y="1536"/>
                    </a:lnTo>
                    <a:lnTo>
                      <a:pt x="1371600" y="4584"/>
                    </a:lnTo>
                    <a:lnTo>
                      <a:pt x="1357884" y="6108"/>
                    </a:lnTo>
                    <a:lnTo>
                      <a:pt x="1347216" y="9156"/>
                    </a:lnTo>
                    <a:lnTo>
                      <a:pt x="1350264" y="21348"/>
                    </a:lnTo>
                    <a:lnTo>
                      <a:pt x="1360932" y="19824"/>
                    </a:lnTo>
                    <a:lnTo>
                      <a:pt x="1373124" y="16776"/>
                    </a:lnTo>
                    <a:lnTo>
                      <a:pt x="1400556" y="13728"/>
                    </a:lnTo>
                    <a:lnTo>
                      <a:pt x="1400556" y="1536"/>
                    </a:lnTo>
                    <a:close/>
                  </a:path>
                  <a:path w="2786379" h="1146175">
                    <a:moveTo>
                      <a:pt x="1495044" y="12"/>
                    </a:moveTo>
                    <a:lnTo>
                      <a:pt x="1441704" y="12"/>
                    </a:lnTo>
                    <a:lnTo>
                      <a:pt x="1441704" y="13728"/>
                    </a:lnTo>
                    <a:lnTo>
                      <a:pt x="1495044" y="13728"/>
                    </a:lnTo>
                    <a:lnTo>
                      <a:pt x="1495044" y="12"/>
                    </a:lnTo>
                    <a:close/>
                  </a:path>
                  <a:path w="2786379" h="1146175">
                    <a:moveTo>
                      <a:pt x="1588008" y="12"/>
                    </a:moveTo>
                    <a:lnTo>
                      <a:pt x="1534668" y="12"/>
                    </a:lnTo>
                    <a:lnTo>
                      <a:pt x="1534668" y="13728"/>
                    </a:lnTo>
                    <a:lnTo>
                      <a:pt x="1588008" y="13728"/>
                    </a:lnTo>
                    <a:lnTo>
                      <a:pt x="1588008" y="12"/>
                    </a:lnTo>
                    <a:close/>
                  </a:path>
                  <a:path w="2786379" h="1146175">
                    <a:moveTo>
                      <a:pt x="1680972" y="12"/>
                    </a:moveTo>
                    <a:lnTo>
                      <a:pt x="1627632" y="12"/>
                    </a:lnTo>
                    <a:lnTo>
                      <a:pt x="1627632" y="13728"/>
                    </a:lnTo>
                    <a:lnTo>
                      <a:pt x="1680972" y="13728"/>
                    </a:lnTo>
                    <a:lnTo>
                      <a:pt x="1680972" y="12"/>
                    </a:lnTo>
                    <a:close/>
                  </a:path>
                  <a:path w="2786379" h="1146175">
                    <a:moveTo>
                      <a:pt x="1775460" y="12"/>
                    </a:moveTo>
                    <a:lnTo>
                      <a:pt x="1722120" y="12"/>
                    </a:lnTo>
                    <a:lnTo>
                      <a:pt x="1722120" y="13728"/>
                    </a:lnTo>
                    <a:lnTo>
                      <a:pt x="1775460" y="13728"/>
                    </a:lnTo>
                    <a:lnTo>
                      <a:pt x="1775460" y="12"/>
                    </a:lnTo>
                    <a:close/>
                  </a:path>
                  <a:path w="2786379" h="1146175">
                    <a:moveTo>
                      <a:pt x="1868424" y="12"/>
                    </a:moveTo>
                    <a:lnTo>
                      <a:pt x="1815084" y="12"/>
                    </a:lnTo>
                    <a:lnTo>
                      <a:pt x="1815084" y="13728"/>
                    </a:lnTo>
                    <a:lnTo>
                      <a:pt x="1868424" y="13728"/>
                    </a:lnTo>
                    <a:lnTo>
                      <a:pt x="1868424" y="12"/>
                    </a:lnTo>
                    <a:close/>
                  </a:path>
                  <a:path w="2786379" h="1146175">
                    <a:moveTo>
                      <a:pt x="1962912" y="0"/>
                    </a:moveTo>
                    <a:lnTo>
                      <a:pt x="1908048" y="0"/>
                    </a:lnTo>
                    <a:lnTo>
                      <a:pt x="1908048" y="13716"/>
                    </a:lnTo>
                    <a:lnTo>
                      <a:pt x="1962912" y="13716"/>
                    </a:lnTo>
                    <a:lnTo>
                      <a:pt x="1962912" y="0"/>
                    </a:lnTo>
                    <a:close/>
                  </a:path>
                  <a:path w="2786379" h="1146175">
                    <a:moveTo>
                      <a:pt x="2055876" y="0"/>
                    </a:moveTo>
                    <a:lnTo>
                      <a:pt x="2002536" y="0"/>
                    </a:lnTo>
                    <a:lnTo>
                      <a:pt x="2002536" y="13716"/>
                    </a:lnTo>
                    <a:lnTo>
                      <a:pt x="2055876" y="13716"/>
                    </a:lnTo>
                    <a:lnTo>
                      <a:pt x="2055876" y="0"/>
                    </a:lnTo>
                    <a:close/>
                  </a:path>
                  <a:path w="2786379" h="1146175">
                    <a:moveTo>
                      <a:pt x="2148840" y="0"/>
                    </a:moveTo>
                    <a:lnTo>
                      <a:pt x="2095500" y="0"/>
                    </a:lnTo>
                    <a:lnTo>
                      <a:pt x="2095500" y="13716"/>
                    </a:lnTo>
                    <a:lnTo>
                      <a:pt x="2148840" y="13716"/>
                    </a:lnTo>
                    <a:lnTo>
                      <a:pt x="2148840" y="0"/>
                    </a:lnTo>
                    <a:close/>
                  </a:path>
                  <a:path w="2786379" h="1146175">
                    <a:moveTo>
                      <a:pt x="2243328" y="0"/>
                    </a:moveTo>
                    <a:lnTo>
                      <a:pt x="2189988" y="0"/>
                    </a:lnTo>
                    <a:lnTo>
                      <a:pt x="2189988" y="13716"/>
                    </a:lnTo>
                    <a:lnTo>
                      <a:pt x="2243328" y="13716"/>
                    </a:lnTo>
                    <a:lnTo>
                      <a:pt x="2243328" y="0"/>
                    </a:lnTo>
                    <a:close/>
                  </a:path>
                  <a:path w="2786379" h="1146175">
                    <a:moveTo>
                      <a:pt x="2336292" y="0"/>
                    </a:moveTo>
                    <a:lnTo>
                      <a:pt x="2282952" y="0"/>
                    </a:lnTo>
                    <a:lnTo>
                      <a:pt x="2282952" y="13716"/>
                    </a:lnTo>
                    <a:lnTo>
                      <a:pt x="2336292" y="13716"/>
                    </a:lnTo>
                    <a:lnTo>
                      <a:pt x="2336292" y="0"/>
                    </a:lnTo>
                    <a:close/>
                  </a:path>
                  <a:path w="2786379" h="1146175">
                    <a:moveTo>
                      <a:pt x="2429256" y="0"/>
                    </a:moveTo>
                    <a:lnTo>
                      <a:pt x="2375916" y="0"/>
                    </a:lnTo>
                    <a:lnTo>
                      <a:pt x="2375916" y="13716"/>
                    </a:lnTo>
                    <a:lnTo>
                      <a:pt x="2429256" y="13716"/>
                    </a:lnTo>
                    <a:lnTo>
                      <a:pt x="2429256" y="0"/>
                    </a:lnTo>
                    <a:close/>
                  </a:path>
                  <a:path w="2786379" h="1146175">
                    <a:moveTo>
                      <a:pt x="2523744" y="1524"/>
                    </a:moveTo>
                    <a:lnTo>
                      <a:pt x="2520696" y="1524"/>
                    </a:lnTo>
                    <a:lnTo>
                      <a:pt x="2505456" y="0"/>
                    </a:lnTo>
                    <a:lnTo>
                      <a:pt x="2470404" y="0"/>
                    </a:lnTo>
                    <a:lnTo>
                      <a:pt x="2470404" y="13716"/>
                    </a:lnTo>
                    <a:lnTo>
                      <a:pt x="2519172" y="13716"/>
                    </a:lnTo>
                    <a:lnTo>
                      <a:pt x="2523744" y="15240"/>
                    </a:lnTo>
                    <a:lnTo>
                      <a:pt x="2523744" y="1524"/>
                    </a:lnTo>
                    <a:close/>
                  </a:path>
                  <a:path w="2786379" h="1146175">
                    <a:moveTo>
                      <a:pt x="2616708" y="24384"/>
                    </a:moveTo>
                    <a:lnTo>
                      <a:pt x="2615184" y="22860"/>
                    </a:lnTo>
                    <a:lnTo>
                      <a:pt x="2601468" y="18288"/>
                    </a:lnTo>
                    <a:lnTo>
                      <a:pt x="2589276" y="13716"/>
                    </a:lnTo>
                    <a:lnTo>
                      <a:pt x="2575560" y="9144"/>
                    </a:lnTo>
                    <a:lnTo>
                      <a:pt x="2564892" y="7620"/>
                    </a:lnTo>
                    <a:lnTo>
                      <a:pt x="2561844" y="19812"/>
                    </a:lnTo>
                    <a:lnTo>
                      <a:pt x="2572512" y="22860"/>
                    </a:lnTo>
                    <a:lnTo>
                      <a:pt x="2584704" y="25908"/>
                    </a:lnTo>
                    <a:lnTo>
                      <a:pt x="2609088" y="35052"/>
                    </a:lnTo>
                    <a:lnTo>
                      <a:pt x="2610612" y="36576"/>
                    </a:lnTo>
                    <a:lnTo>
                      <a:pt x="2616708" y="24384"/>
                    </a:lnTo>
                    <a:close/>
                  </a:path>
                  <a:path w="2786379" h="1146175">
                    <a:moveTo>
                      <a:pt x="2695956" y="76200"/>
                    </a:moveTo>
                    <a:lnTo>
                      <a:pt x="2683764" y="64008"/>
                    </a:lnTo>
                    <a:lnTo>
                      <a:pt x="2662428" y="48768"/>
                    </a:lnTo>
                    <a:lnTo>
                      <a:pt x="2653284" y="42672"/>
                    </a:lnTo>
                    <a:lnTo>
                      <a:pt x="2645664" y="54864"/>
                    </a:lnTo>
                    <a:lnTo>
                      <a:pt x="2654808" y="59436"/>
                    </a:lnTo>
                    <a:lnTo>
                      <a:pt x="2674620" y="74676"/>
                    </a:lnTo>
                    <a:lnTo>
                      <a:pt x="2686812" y="85344"/>
                    </a:lnTo>
                    <a:lnTo>
                      <a:pt x="2695956" y="76200"/>
                    </a:lnTo>
                    <a:close/>
                  </a:path>
                  <a:path w="2786379" h="1146175">
                    <a:moveTo>
                      <a:pt x="2753880" y="152400"/>
                    </a:moveTo>
                    <a:lnTo>
                      <a:pt x="2750832" y="146304"/>
                    </a:lnTo>
                    <a:lnTo>
                      <a:pt x="2737116" y="123444"/>
                    </a:lnTo>
                    <a:lnTo>
                      <a:pt x="2724924" y="106680"/>
                    </a:lnTo>
                    <a:lnTo>
                      <a:pt x="2714256" y="114300"/>
                    </a:lnTo>
                    <a:lnTo>
                      <a:pt x="2726448" y="131064"/>
                    </a:lnTo>
                    <a:lnTo>
                      <a:pt x="2740164" y="153924"/>
                    </a:lnTo>
                    <a:lnTo>
                      <a:pt x="2741688" y="158496"/>
                    </a:lnTo>
                    <a:lnTo>
                      <a:pt x="2753880" y="152400"/>
                    </a:lnTo>
                    <a:close/>
                  </a:path>
                  <a:path w="2786379" h="1146175">
                    <a:moveTo>
                      <a:pt x="2782836" y="242328"/>
                    </a:moveTo>
                    <a:lnTo>
                      <a:pt x="2781312" y="237756"/>
                    </a:lnTo>
                    <a:lnTo>
                      <a:pt x="2779788" y="224040"/>
                    </a:lnTo>
                    <a:lnTo>
                      <a:pt x="2776740" y="210312"/>
                    </a:lnTo>
                    <a:lnTo>
                      <a:pt x="2772168" y="196596"/>
                    </a:lnTo>
                    <a:lnTo>
                      <a:pt x="2770644" y="190500"/>
                    </a:lnTo>
                    <a:lnTo>
                      <a:pt x="2756928" y="193548"/>
                    </a:lnTo>
                    <a:lnTo>
                      <a:pt x="2759976" y="201168"/>
                    </a:lnTo>
                    <a:lnTo>
                      <a:pt x="2763024" y="213372"/>
                    </a:lnTo>
                    <a:lnTo>
                      <a:pt x="2766072" y="227088"/>
                    </a:lnTo>
                    <a:lnTo>
                      <a:pt x="2769120" y="239280"/>
                    </a:lnTo>
                    <a:lnTo>
                      <a:pt x="2769120" y="245376"/>
                    </a:lnTo>
                    <a:lnTo>
                      <a:pt x="2782836" y="242328"/>
                    </a:lnTo>
                    <a:close/>
                  </a:path>
                  <a:path w="2786379" h="1146175">
                    <a:moveTo>
                      <a:pt x="2785884" y="845820"/>
                    </a:moveTo>
                    <a:lnTo>
                      <a:pt x="2772168" y="845820"/>
                    </a:lnTo>
                    <a:lnTo>
                      <a:pt x="2772168" y="899160"/>
                    </a:lnTo>
                    <a:lnTo>
                      <a:pt x="2785884" y="899160"/>
                    </a:lnTo>
                    <a:lnTo>
                      <a:pt x="2785884" y="845820"/>
                    </a:lnTo>
                    <a:close/>
                  </a:path>
                  <a:path w="2786379" h="1146175">
                    <a:moveTo>
                      <a:pt x="2785884" y="751344"/>
                    </a:moveTo>
                    <a:lnTo>
                      <a:pt x="2772168" y="751344"/>
                    </a:lnTo>
                    <a:lnTo>
                      <a:pt x="2772168" y="804684"/>
                    </a:lnTo>
                    <a:lnTo>
                      <a:pt x="2785884" y="804684"/>
                    </a:lnTo>
                    <a:lnTo>
                      <a:pt x="2785884" y="751344"/>
                    </a:lnTo>
                    <a:close/>
                  </a:path>
                  <a:path w="2786379" h="1146175">
                    <a:moveTo>
                      <a:pt x="2785884" y="658368"/>
                    </a:moveTo>
                    <a:lnTo>
                      <a:pt x="2772168" y="658368"/>
                    </a:lnTo>
                    <a:lnTo>
                      <a:pt x="2772168" y="711720"/>
                    </a:lnTo>
                    <a:lnTo>
                      <a:pt x="2785884" y="711720"/>
                    </a:lnTo>
                    <a:lnTo>
                      <a:pt x="2785884" y="658368"/>
                    </a:lnTo>
                    <a:close/>
                  </a:path>
                  <a:path w="2786379" h="1146175">
                    <a:moveTo>
                      <a:pt x="2785884" y="563892"/>
                    </a:moveTo>
                    <a:lnTo>
                      <a:pt x="2772168" y="563892"/>
                    </a:lnTo>
                    <a:lnTo>
                      <a:pt x="2772168" y="617220"/>
                    </a:lnTo>
                    <a:lnTo>
                      <a:pt x="2785884" y="617220"/>
                    </a:lnTo>
                    <a:lnTo>
                      <a:pt x="2785884" y="563892"/>
                    </a:lnTo>
                    <a:close/>
                  </a:path>
                  <a:path w="2786379" h="1146175">
                    <a:moveTo>
                      <a:pt x="2785884" y="470928"/>
                    </a:moveTo>
                    <a:lnTo>
                      <a:pt x="2772168" y="470928"/>
                    </a:lnTo>
                    <a:lnTo>
                      <a:pt x="2772168" y="524268"/>
                    </a:lnTo>
                    <a:lnTo>
                      <a:pt x="2785884" y="524268"/>
                    </a:lnTo>
                    <a:lnTo>
                      <a:pt x="2785884" y="470928"/>
                    </a:lnTo>
                    <a:close/>
                  </a:path>
                  <a:path w="2786379" h="1146175">
                    <a:moveTo>
                      <a:pt x="2785884" y="377964"/>
                    </a:moveTo>
                    <a:lnTo>
                      <a:pt x="2772168" y="377964"/>
                    </a:lnTo>
                    <a:lnTo>
                      <a:pt x="2772168" y="431304"/>
                    </a:lnTo>
                    <a:lnTo>
                      <a:pt x="2785884" y="431304"/>
                    </a:lnTo>
                    <a:lnTo>
                      <a:pt x="2785884" y="377964"/>
                    </a:lnTo>
                    <a:close/>
                  </a:path>
                  <a:path w="2786379" h="1146175">
                    <a:moveTo>
                      <a:pt x="2785884" y="283464"/>
                    </a:moveTo>
                    <a:lnTo>
                      <a:pt x="2772168" y="283464"/>
                    </a:lnTo>
                    <a:lnTo>
                      <a:pt x="2772168" y="336816"/>
                    </a:lnTo>
                    <a:lnTo>
                      <a:pt x="2785884" y="336816"/>
                    </a:lnTo>
                    <a:lnTo>
                      <a:pt x="2785884" y="283464"/>
                    </a:lnTo>
                    <a:close/>
                  </a:path>
                </a:pathLst>
              </a:custGeom>
              <a:solidFill>
                <a:srgbClr val="0C1C2B"/>
              </a:solidFill>
            </p:spPr>
            <p:txBody>
              <a:bodyPr wrap="square" lIns="0" tIns="0" rIns="0" bIns="0" rtlCol="0"/>
              <a:lstStyle/>
              <a:p>
                <a:endParaRPr sz="1630"/>
              </a:p>
            </p:txBody>
          </p:sp>
          <p:pic>
            <p:nvPicPr>
              <p:cNvPr id="63" name="object 63"/>
              <p:cNvPicPr/>
              <p:nvPr/>
            </p:nvPicPr>
            <p:blipFill>
              <a:blip r:embed="rId20" cstate="print"/>
              <a:stretch>
                <a:fillRect/>
              </a:stretch>
            </p:blipFill>
            <p:spPr>
              <a:xfrm>
                <a:off x="4267200" y="2334767"/>
                <a:ext cx="202692" cy="201168"/>
              </a:xfrm>
              <a:prstGeom prst="rect">
                <a:avLst/>
              </a:prstGeom>
            </p:spPr>
          </p:pic>
          <p:sp>
            <p:nvSpPr>
              <p:cNvPr id="64" name="object 64"/>
              <p:cNvSpPr/>
              <p:nvPr/>
            </p:nvSpPr>
            <p:spPr>
              <a:xfrm>
                <a:off x="4255008" y="4178807"/>
                <a:ext cx="1649095" cy="382905"/>
              </a:xfrm>
              <a:custGeom>
                <a:avLst/>
                <a:gdLst/>
                <a:ahLst/>
                <a:cxnLst/>
                <a:rect l="l" t="t" r="r" b="b"/>
                <a:pathLst>
                  <a:path w="1649095" h="382904">
                    <a:moveTo>
                      <a:pt x="24384" y="185928"/>
                    </a:moveTo>
                    <a:lnTo>
                      <a:pt x="23368" y="182880"/>
                    </a:lnTo>
                    <a:lnTo>
                      <a:pt x="22860" y="181356"/>
                    </a:lnTo>
                    <a:lnTo>
                      <a:pt x="22860" y="182880"/>
                    </a:lnTo>
                    <a:lnTo>
                      <a:pt x="19812" y="169164"/>
                    </a:lnTo>
                    <a:lnTo>
                      <a:pt x="16764" y="156972"/>
                    </a:lnTo>
                    <a:lnTo>
                      <a:pt x="13716" y="143256"/>
                    </a:lnTo>
                    <a:lnTo>
                      <a:pt x="13716" y="135636"/>
                    </a:lnTo>
                    <a:lnTo>
                      <a:pt x="0" y="137160"/>
                    </a:lnTo>
                    <a:lnTo>
                      <a:pt x="1524" y="144780"/>
                    </a:lnTo>
                    <a:lnTo>
                      <a:pt x="3048" y="158496"/>
                    </a:lnTo>
                    <a:lnTo>
                      <a:pt x="6096" y="172212"/>
                    </a:lnTo>
                    <a:lnTo>
                      <a:pt x="12192" y="190500"/>
                    </a:lnTo>
                    <a:lnTo>
                      <a:pt x="24384" y="185928"/>
                    </a:lnTo>
                    <a:close/>
                  </a:path>
                  <a:path w="1649095" h="382904">
                    <a:moveTo>
                      <a:pt x="67056" y="266700"/>
                    </a:moveTo>
                    <a:lnTo>
                      <a:pt x="56388" y="251460"/>
                    </a:lnTo>
                    <a:lnTo>
                      <a:pt x="42672" y="230124"/>
                    </a:lnTo>
                    <a:lnTo>
                      <a:pt x="39624" y="222504"/>
                    </a:lnTo>
                    <a:lnTo>
                      <a:pt x="27432" y="228600"/>
                    </a:lnTo>
                    <a:lnTo>
                      <a:pt x="45720" y="259080"/>
                    </a:lnTo>
                    <a:lnTo>
                      <a:pt x="56388" y="274320"/>
                    </a:lnTo>
                    <a:lnTo>
                      <a:pt x="67056" y="266700"/>
                    </a:lnTo>
                    <a:close/>
                  </a:path>
                  <a:path w="1649095" h="382904">
                    <a:moveTo>
                      <a:pt x="134112" y="327660"/>
                    </a:moveTo>
                    <a:lnTo>
                      <a:pt x="130048" y="324612"/>
                    </a:lnTo>
                    <a:lnTo>
                      <a:pt x="128016" y="323088"/>
                    </a:lnTo>
                    <a:lnTo>
                      <a:pt x="128016" y="324612"/>
                    </a:lnTo>
                    <a:lnTo>
                      <a:pt x="108204" y="307848"/>
                    </a:lnTo>
                    <a:lnTo>
                      <a:pt x="92964" y="294132"/>
                    </a:lnTo>
                    <a:lnTo>
                      <a:pt x="83820" y="304800"/>
                    </a:lnTo>
                    <a:lnTo>
                      <a:pt x="99060" y="318516"/>
                    </a:lnTo>
                    <a:lnTo>
                      <a:pt x="120396" y="335280"/>
                    </a:lnTo>
                    <a:lnTo>
                      <a:pt x="126492" y="338328"/>
                    </a:lnTo>
                    <a:lnTo>
                      <a:pt x="134112" y="327660"/>
                    </a:lnTo>
                    <a:close/>
                  </a:path>
                  <a:path w="1649095" h="382904">
                    <a:moveTo>
                      <a:pt x="217932" y="362712"/>
                    </a:moveTo>
                    <a:lnTo>
                      <a:pt x="210312" y="361188"/>
                    </a:lnTo>
                    <a:lnTo>
                      <a:pt x="198120" y="356616"/>
                    </a:lnTo>
                    <a:lnTo>
                      <a:pt x="185928" y="353568"/>
                    </a:lnTo>
                    <a:lnTo>
                      <a:pt x="176784" y="348996"/>
                    </a:lnTo>
                    <a:lnTo>
                      <a:pt x="173736" y="347472"/>
                    </a:lnTo>
                    <a:lnTo>
                      <a:pt x="173736" y="348996"/>
                    </a:lnTo>
                    <a:lnTo>
                      <a:pt x="169164" y="345948"/>
                    </a:lnTo>
                    <a:lnTo>
                      <a:pt x="163068" y="358140"/>
                    </a:lnTo>
                    <a:lnTo>
                      <a:pt x="169164" y="361188"/>
                    </a:lnTo>
                    <a:lnTo>
                      <a:pt x="193548" y="370332"/>
                    </a:lnTo>
                    <a:lnTo>
                      <a:pt x="207264" y="373380"/>
                    </a:lnTo>
                    <a:lnTo>
                      <a:pt x="214884" y="374904"/>
                    </a:lnTo>
                    <a:lnTo>
                      <a:pt x="217932" y="362712"/>
                    </a:lnTo>
                    <a:close/>
                  </a:path>
                  <a:path w="1649095" h="382904">
                    <a:moveTo>
                      <a:pt x="309372" y="368808"/>
                    </a:moveTo>
                    <a:lnTo>
                      <a:pt x="256032" y="368808"/>
                    </a:lnTo>
                    <a:lnTo>
                      <a:pt x="256032" y="381000"/>
                    </a:lnTo>
                    <a:lnTo>
                      <a:pt x="262128" y="382524"/>
                    </a:lnTo>
                    <a:lnTo>
                      <a:pt x="309372" y="382524"/>
                    </a:lnTo>
                    <a:lnTo>
                      <a:pt x="309372" y="368808"/>
                    </a:lnTo>
                    <a:close/>
                  </a:path>
                  <a:path w="1649095" h="382904">
                    <a:moveTo>
                      <a:pt x="402336" y="368808"/>
                    </a:moveTo>
                    <a:lnTo>
                      <a:pt x="348996" y="368808"/>
                    </a:lnTo>
                    <a:lnTo>
                      <a:pt x="348996" y="382524"/>
                    </a:lnTo>
                    <a:lnTo>
                      <a:pt x="402336" y="382524"/>
                    </a:lnTo>
                    <a:lnTo>
                      <a:pt x="402336" y="368808"/>
                    </a:lnTo>
                    <a:close/>
                  </a:path>
                  <a:path w="1649095" h="382904">
                    <a:moveTo>
                      <a:pt x="496824" y="368808"/>
                    </a:moveTo>
                    <a:lnTo>
                      <a:pt x="443484" y="368808"/>
                    </a:lnTo>
                    <a:lnTo>
                      <a:pt x="443484" y="382524"/>
                    </a:lnTo>
                    <a:lnTo>
                      <a:pt x="496824" y="382524"/>
                    </a:lnTo>
                    <a:lnTo>
                      <a:pt x="496824" y="368808"/>
                    </a:lnTo>
                    <a:close/>
                  </a:path>
                  <a:path w="1649095" h="382904">
                    <a:moveTo>
                      <a:pt x="589788" y="368808"/>
                    </a:moveTo>
                    <a:lnTo>
                      <a:pt x="536448" y="368808"/>
                    </a:lnTo>
                    <a:lnTo>
                      <a:pt x="536448" y="382524"/>
                    </a:lnTo>
                    <a:lnTo>
                      <a:pt x="589788" y="382524"/>
                    </a:lnTo>
                    <a:lnTo>
                      <a:pt x="589788" y="368808"/>
                    </a:lnTo>
                    <a:close/>
                  </a:path>
                  <a:path w="1649095" h="382904">
                    <a:moveTo>
                      <a:pt x="682752" y="368808"/>
                    </a:moveTo>
                    <a:lnTo>
                      <a:pt x="629412" y="368808"/>
                    </a:lnTo>
                    <a:lnTo>
                      <a:pt x="629412" y="382524"/>
                    </a:lnTo>
                    <a:lnTo>
                      <a:pt x="682752" y="382524"/>
                    </a:lnTo>
                    <a:lnTo>
                      <a:pt x="682752" y="368808"/>
                    </a:lnTo>
                    <a:close/>
                  </a:path>
                  <a:path w="1649095" h="382904">
                    <a:moveTo>
                      <a:pt x="777240" y="368808"/>
                    </a:moveTo>
                    <a:lnTo>
                      <a:pt x="723900" y="368808"/>
                    </a:lnTo>
                    <a:lnTo>
                      <a:pt x="723900" y="382524"/>
                    </a:lnTo>
                    <a:lnTo>
                      <a:pt x="777240" y="382524"/>
                    </a:lnTo>
                    <a:lnTo>
                      <a:pt x="777240" y="368808"/>
                    </a:lnTo>
                    <a:close/>
                  </a:path>
                  <a:path w="1649095" h="382904">
                    <a:moveTo>
                      <a:pt x="870204" y="368808"/>
                    </a:moveTo>
                    <a:lnTo>
                      <a:pt x="816864" y="368808"/>
                    </a:lnTo>
                    <a:lnTo>
                      <a:pt x="816864" y="382524"/>
                    </a:lnTo>
                    <a:lnTo>
                      <a:pt x="870204" y="382524"/>
                    </a:lnTo>
                    <a:lnTo>
                      <a:pt x="870204" y="368808"/>
                    </a:lnTo>
                    <a:close/>
                  </a:path>
                  <a:path w="1649095" h="382904">
                    <a:moveTo>
                      <a:pt x="964692" y="368808"/>
                    </a:moveTo>
                    <a:lnTo>
                      <a:pt x="911352" y="368808"/>
                    </a:lnTo>
                    <a:lnTo>
                      <a:pt x="911352" y="382524"/>
                    </a:lnTo>
                    <a:lnTo>
                      <a:pt x="964692" y="382524"/>
                    </a:lnTo>
                    <a:lnTo>
                      <a:pt x="964692" y="368808"/>
                    </a:lnTo>
                    <a:close/>
                  </a:path>
                  <a:path w="1649095" h="382904">
                    <a:moveTo>
                      <a:pt x="1057656" y="368808"/>
                    </a:moveTo>
                    <a:lnTo>
                      <a:pt x="1004316" y="368808"/>
                    </a:lnTo>
                    <a:lnTo>
                      <a:pt x="1004316" y="382524"/>
                    </a:lnTo>
                    <a:lnTo>
                      <a:pt x="1057656" y="382524"/>
                    </a:lnTo>
                    <a:lnTo>
                      <a:pt x="1057656" y="368808"/>
                    </a:lnTo>
                    <a:close/>
                  </a:path>
                  <a:path w="1649095" h="382904">
                    <a:moveTo>
                      <a:pt x="1150620" y="368808"/>
                    </a:moveTo>
                    <a:lnTo>
                      <a:pt x="1097280" y="368808"/>
                    </a:lnTo>
                    <a:lnTo>
                      <a:pt x="1097280" y="382524"/>
                    </a:lnTo>
                    <a:lnTo>
                      <a:pt x="1150620" y="382524"/>
                    </a:lnTo>
                    <a:lnTo>
                      <a:pt x="1150620" y="368808"/>
                    </a:lnTo>
                    <a:close/>
                  </a:path>
                  <a:path w="1649095" h="382904">
                    <a:moveTo>
                      <a:pt x="1245108" y="368808"/>
                    </a:moveTo>
                    <a:lnTo>
                      <a:pt x="1191768" y="368808"/>
                    </a:lnTo>
                    <a:lnTo>
                      <a:pt x="1191768" y="382524"/>
                    </a:lnTo>
                    <a:lnTo>
                      <a:pt x="1245108" y="382524"/>
                    </a:lnTo>
                    <a:lnTo>
                      <a:pt x="1245108" y="368808"/>
                    </a:lnTo>
                    <a:close/>
                  </a:path>
                  <a:path w="1649095" h="382904">
                    <a:moveTo>
                      <a:pt x="1338072" y="368808"/>
                    </a:moveTo>
                    <a:lnTo>
                      <a:pt x="1284732" y="368808"/>
                    </a:lnTo>
                    <a:lnTo>
                      <a:pt x="1284732" y="382524"/>
                    </a:lnTo>
                    <a:lnTo>
                      <a:pt x="1338072" y="382524"/>
                    </a:lnTo>
                    <a:lnTo>
                      <a:pt x="1338072" y="368808"/>
                    </a:lnTo>
                    <a:close/>
                  </a:path>
                  <a:path w="1649095" h="382904">
                    <a:moveTo>
                      <a:pt x="1432560" y="374904"/>
                    </a:moveTo>
                    <a:lnTo>
                      <a:pt x="1429512" y="362712"/>
                    </a:lnTo>
                    <a:lnTo>
                      <a:pt x="1421892" y="364236"/>
                    </a:lnTo>
                    <a:lnTo>
                      <a:pt x="1409700" y="365760"/>
                    </a:lnTo>
                    <a:lnTo>
                      <a:pt x="1382268" y="368808"/>
                    </a:lnTo>
                    <a:lnTo>
                      <a:pt x="1377696" y="368808"/>
                    </a:lnTo>
                    <a:lnTo>
                      <a:pt x="1379220" y="382524"/>
                    </a:lnTo>
                    <a:lnTo>
                      <a:pt x="1383792" y="382524"/>
                    </a:lnTo>
                    <a:lnTo>
                      <a:pt x="1411224" y="379476"/>
                    </a:lnTo>
                    <a:lnTo>
                      <a:pt x="1424940" y="376428"/>
                    </a:lnTo>
                    <a:lnTo>
                      <a:pt x="1432560" y="374904"/>
                    </a:lnTo>
                    <a:close/>
                  </a:path>
                  <a:path w="1649095" h="382904">
                    <a:moveTo>
                      <a:pt x="1520952" y="338328"/>
                    </a:moveTo>
                    <a:lnTo>
                      <a:pt x="1513332" y="326136"/>
                    </a:lnTo>
                    <a:lnTo>
                      <a:pt x="1495044" y="336804"/>
                    </a:lnTo>
                    <a:lnTo>
                      <a:pt x="1496568" y="336804"/>
                    </a:lnTo>
                    <a:lnTo>
                      <a:pt x="1472184" y="348996"/>
                    </a:lnTo>
                    <a:lnTo>
                      <a:pt x="1472184" y="347472"/>
                    </a:lnTo>
                    <a:lnTo>
                      <a:pt x="1467612" y="350520"/>
                    </a:lnTo>
                    <a:lnTo>
                      <a:pt x="1472184" y="362712"/>
                    </a:lnTo>
                    <a:lnTo>
                      <a:pt x="1478280" y="361188"/>
                    </a:lnTo>
                    <a:lnTo>
                      <a:pt x="1502664" y="348996"/>
                    </a:lnTo>
                    <a:lnTo>
                      <a:pt x="1520952" y="338328"/>
                    </a:lnTo>
                    <a:close/>
                  </a:path>
                  <a:path w="1649095" h="382904">
                    <a:moveTo>
                      <a:pt x="1591056" y="272796"/>
                    </a:moveTo>
                    <a:lnTo>
                      <a:pt x="1580388" y="265176"/>
                    </a:lnTo>
                    <a:lnTo>
                      <a:pt x="1574292" y="272796"/>
                    </a:lnTo>
                    <a:lnTo>
                      <a:pt x="1574292" y="271272"/>
                    </a:lnTo>
                    <a:lnTo>
                      <a:pt x="1557528" y="291084"/>
                    </a:lnTo>
                    <a:lnTo>
                      <a:pt x="1543812" y="303276"/>
                    </a:lnTo>
                    <a:lnTo>
                      <a:pt x="1552956" y="312420"/>
                    </a:lnTo>
                    <a:lnTo>
                      <a:pt x="1566672" y="300228"/>
                    </a:lnTo>
                    <a:lnTo>
                      <a:pt x="1584960" y="280416"/>
                    </a:lnTo>
                    <a:lnTo>
                      <a:pt x="1591056" y="272796"/>
                    </a:lnTo>
                    <a:close/>
                  </a:path>
                  <a:path w="1649095" h="382904">
                    <a:moveTo>
                      <a:pt x="1635252" y="188976"/>
                    </a:moveTo>
                    <a:lnTo>
                      <a:pt x="1621536" y="184404"/>
                    </a:lnTo>
                    <a:lnTo>
                      <a:pt x="1618488" y="195072"/>
                    </a:lnTo>
                    <a:lnTo>
                      <a:pt x="1618488" y="193548"/>
                    </a:lnTo>
                    <a:lnTo>
                      <a:pt x="1613916" y="207264"/>
                    </a:lnTo>
                    <a:lnTo>
                      <a:pt x="1613916" y="205740"/>
                    </a:lnTo>
                    <a:lnTo>
                      <a:pt x="1609344" y="217932"/>
                    </a:lnTo>
                    <a:lnTo>
                      <a:pt x="1603248" y="230124"/>
                    </a:lnTo>
                    <a:lnTo>
                      <a:pt x="1601724" y="231648"/>
                    </a:lnTo>
                    <a:lnTo>
                      <a:pt x="1612392" y="239268"/>
                    </a:lnTo>
                    <a:lnTo>
                      <a:pt x="1626108" y="211836"/>
                    </a:lnTo>
                    <a:lnTo>
                      <a:pt x="1627822" y="207264"/>
                    </a:lnTo>
                    <a:lnTo>
                      <a:pt x="1630680" y="199644"/>
                    </a:lnTo>
                    <a:lnTo>
                      <a:pt x="1632635" y="195072"/>
                    </a:lnTo>
                    <a:lnTo>
                      <a:pt x="1635252" y="188976"/>
                    </a:lnTo>
                    <a:close/>
                  </a:path>
                  <a:path w="1649095" h="382904">
                    <a:moveTo>
                      <a:pt x="1648968" y="94488"/>
                    </a:moveTo>
                    <a:lnTo>
                      <a:pt x="1635252" y="94488"/>
                    </a:lnTo>
                    <a:lnTo>
                      <a:pt x="1635252" y="115824"/>
                    </a:lnTo>
                    <a:lnTo>
                      <a:pt x="1633728" y="131064"/>
                    </a:lnTo>
                    <a:lnTo>
                      <a:pt x="1633728" y="129540"/>
                    </a:lnTo>
                    <a:lnTo>
                      <a:pt x="1632204" y="143256"/>
                    </a:lnTo>
                    <a:lnTo>
                      <a:pt x="1630680" y="146304"/>
                    </a:lnTo>
                    <a:lnTo>
                      <a:pt x="1644396" y="149352"/>
                    </a:lnTo>
                    <a:lnTo>
                      <a:pt x="1644396" y="144780"/>
                    </a:lnTo>
                    <a:lnTo>
                      <a:pt x="1647444" y="131064"/>
                    </a:lnTo>
                    <a:lnTo>
                      <a:pt x="1647444" y="117348"/>
                    </a:lnTo>
                    <a:lnTo>
                      <a:pt x="1648968" y="103632"/>
                    </a:lnTo>
                    <a:lnTo>
                      <a:pt x="1648968" y="94488"/>
                    </a:lnTo>
                    <a:close/>
                  </a:path>
                  <a:path w="1649095" h="382904">
                    <a:moveTo>
                      <a:pt x="1648968" y="0"/>
                    </a:moveTo>
                    <a:lnTo>
                      <a:pt x="1635252" y="0"/>
                    </a:lnTo>
                    <a:lnTo>
                      <a:pt x="1635252" y="53340"/>
                    </a:lnTo>
                    <a:lnTo>
                      <a:pt x="1648968" y="53340"/>
                    </a:lnTo>
                    <a:lnTo>
                      <a:pt x="1648968" y="0"/>
                    </a:lnTo>
                    <a:close/>
                  </a:path>
                </a:pathLst>
              </a:custGeom>
              <a:solidFill>
                <a:srgbClr val="0C1C2B"/>
              </a:solidFill>
            </p:spPr>
            <p:txBody>
              <a:bodyPr wrap="square" lIns="0" tIns="0" rIns="0" bIns="0" rtlCol="0"/>
              <a:lstStyle/>
              <a:p>
                <a:endParaRPr sz="1630"/>
              </a:p>
            </p:txBody>
          </p:sp>
        </p:grpSp>
        <p:sp>
          <p:nvSpPr>
            <p:cNvPr id="65" name="object 65"/>
            <p:cNvSpPr txBox="1"/>
            <p:nvPr/>
          </p:nvSpPr>
          <p:spPr>
            <a:xfrm>
              <a:off x="8167" y="3368"/>
              <a:ext cx="109" cy="155"/>
            </a:xfrm>
            <a:prstGeom prst="rect">
              <a:avLst/>
            </a:prstGeom>
          </p:spPr>
          <p:txBody>
            <a:bodyPr vert="horz" wrap="square" lIns="0" tIns="10364" rIns="0" bIns="0" rtlCol="0">
              <a:spAutoFit/>
            </a:bodyPr>
            <a:lstStyle/>
            <a:p>
              <a:pPr marL="12700">
                <a:lnSpc>
                  <a:spcPct val="100000"/>
                </a:lnSpc>
                <a:spcBef>
                  <a:spcPts val="90"/>
                </a:spcBef>
              </a:pPr>
              <a:r>
                <a:rPr sz="725" b="1" spc="-5" dirty="0">
                  <a:solidFill>
                    <a:srgbClr val="FFFFFF"/>
                  </a:solidFill>
                  <a:latin typeface="Times New Roman" panose="02020603050405020304"/>
                  <a:cs typeface="Times New Roman" panose="02020603050405020304"/>
                </a:rPr>
                <a:t>2</a:t>
              </a:r>
              <a:endParaRPr sz="725">
                <a:latin typeface="Times New Roman" panose="02020603050405020304"/>
                <a:cs typeface="Times New Roman" panose="02020603050405020304"/>
              </a:endParaRPr>
            </a:p>
          </p:txBody>
        </p:sp>
        <p:sp>
          <p:nvSpPr>
            <p:cNvPr id="66" name="object 66"/>
            <p:cNvSpPr txBox="1"/>
            <p:nvPr/>
          </p:nvSpPr>
          <p:spPr>
            <a:xfrm>
              <a:off x="8473" y="3464"/>
              <a:ext cx="1500" cy="155"/>
            </a:xfrm>
            <a:prstGeom prst="rect">
              <a:avLst/>
            </a:prstGeom>
          </p:spPr>
          <p:txBody>
            <a:bodyPr vert="horz" wrap="square" lIns="0" tIns="10364" rIns="0" bIns="0" rtlCol="0">
              <a:spAutoFit/>
            </a:bodyPr>
            <a:lstStyle/>
            <a:p>
              <a:pPr marL="12700">
                <a:lnSpc>
                  <a:spcPct val="100000"/>
                </a:lnSpc>
                <a:spcBef>
                  <a:spcPts val="90"/>
                </a:spcBef>
              </a:pPr>
              <a:r>
                <a:rPr sz="725" i="1" dirty="0">
                  <a:solidFill>
                    <a:srgbClr val="0C1C2B"/>
                  </a:solidFill>
                  <a:latin typeface="Times New Roman" panose="02020603050405020304"/>
                  <a:cs typeface="Times New Roman" panose="02020603050405020304"/>
                </a:rPr>
                <a:t>Label</a:t>
              </a:r>
              <a:r>
                <a:rPr sz="725" i="1" spc="-10" dirty="0">
                  <a:solidFill>
                    <a:srgbClr val="0C1C2B"/>
                  </a:solidFill>
                  <a:latin typeface="Times New Roman" panose="02020603050405020304"/>
                  <a:cs typeface="Times New Roman" panose="02020603050405020304"/>
                </a:rPr>
                <a:t> Correction</a:t>
              </a:r>
              <a:r>
                <a:rPr sz="725" i="1"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Module</a:t>
              </a:r>
              <a:endParaRPr sz="725">
                <a:latin typeface="Times New Roman" panose="02020603050405020304"/>
                <a:cs typeface="Times New Roman" panose="02020603050405020304"/>
              </a:endParaRPr>
            </a:p>
          </p:txBody>
        </p:sp>
        <p:grpSp>
          <p:nvGrpSpPr>
            <p:cNvPr id="67" name="object 67"/>
            <p:cNvGrpSpPr/>
            <p:nvPr/>
          </p:nvGrpSpPr>
          <p:grpSpPr>
            <a:xfrm>
              <a:off x="8492" y="3802"/>
              <a:ext cx="1270" cy="671"/>
              <a:chOff x="4570476" y="2662428"/>
              <a:chExt cx="889000" cy="469900"/>
            </a:xfrm>
          </p:grpSpPr>
          <p:sp>
            <p:nvSpPr>
              <p:cNvPr id="68" name="object 68"/>
              <p:cNvSpPr/>
              <p:nvPr/>
            </p:nvSpPr>
            <p:spPr>
              <a:xfrm>
                <a:off x="4597908" y="3066288"/>
                <a:ext cx="861060" cy="66040"/>
              </a:xfrm>
              <a:custGeom>
                <a:avLst/>
                <a:gdLst/>
                <a:ahLst/>
                <a:cxnLst/>
                <a:rect l="l" t="t" r="r" b="b"/>
                <a:pathLst>
                  <a:path w="861060" h="66039">
                    <a:moveTo>
                      <a:pt x="795527" y="65532"/>
                    </a:moveTo>
                    <a:lnTo>
                      <a:pt x="795527" y="0"/>
                    </a:lnTo>
                    <a:lnTo>
                      <a:pt x="845457" y="24384"/>
                    </a:lnTo>
                    <a:lnTo>
                      <a:pt x="806196" y="24384"/>
                    </a:lnTo>
                    <a:lnTo>
                      <a:pt x="806196" y="41148"/>
                    </a:lnTo>
                    <a:lnTo>
                      <a:pt x="843187" y="41148"/>
                    </a:lnTo>
                    <a:lnTo>
                      <a:pt x="795527" y="65532"/>
                    </a:lnTo>
                    <a:close/>
                  </a:path>
                  <a:path w="861060" h="66039">
                    <a:moveTo>
                      <a:pt x="795527" y="41148"/>
                    </a:moveTo>
                    <a:lnTo>
                      <a:pt x="0" y="41148"/>
                    </a:lnTo>
                    <a:lnTo>
                      <a:pt x="0" y="24384"/>
                    </a:lnTo>
                    <a:lnTo>
                      <a:pt x="795527" y="24384"/>
                    </a:lnTo>
                    <a:lnTo>
                      <a:pt x="795527" y="41148"/>
                    </a:lnTo>
                    <a:close/>
                  </a:path>
                  <a:path w="861060" h="66039">
                    <a:moveTo>
                      <a:pt x="843187" y="41148"/>
                    </a:moveTo>
                    <a:lnTo>
                      <a:pt x="806196" y="41148"/>
                    </a:lnTo>
                    <a:lnTo>
                      <a:pt x="806196" y="24384"/>
                    </a:lnTo>
                    <a:lnTo>
                      <a:pt x="845457" y="24384"/>
                    </a:lnTo>
                    <a:lnTo>
                      <a:pt x="861060" y="32004"/>
                    </a:lnTo>
                    <a:lnTo>
                      <a:pt x="843187" y="41148"/>
                    </a:lnTo>
                    <a:close/>
                  </a:path>
                </a:pathLst>
              </a:custGeom>
              <a:solidFill>
                <a:srgbClr val="0C1C2B"/>
              </a:solidFill>
            </p:spPr>
            <p:txBody>
              <a:bodyPr wrap="square" lIns="0" tIns="0" rIns="0" bIns="0" rtlCol="0"/>
              <a:lstStyle/>
              <a:p>
                <a:endParaRPr sz="1630"/>
              </a:p>
            </p:txBody>
          </p:sp>
          <p:pic>
            <p:nvPicPr>
              <p:cNvPr id="69" name="object 69"/>
              <p:cNvPicPr/>
              <p:nvPr/>
            </p:nvPicPr>
            <p:blipFill>
              <a:blip r:embed="rId21" cstate="print"/>
              <a:stretch>
                <a:fillRect/>
              </a:stretch>
            </p:blipFill>
            <p:spPr>
              <a:xfrm>
                <a:off x="4570476" y="2662428"/>
                <a:ext cx="713231" cy="441960"/>
              </a:xfrm>
              <a:prstGeom prst="rect">
                <a:avLst/>
              </a:prstGeom>
            </p:spPr>
          </p:pic>
        </p:grpSp>
        <p:sp>
          <p:nvSpPr>
            <p:cNvPr id="70" name="object 70"/>
            <p:cNvSpPr txBox="1"/>
            <p:nvPr/>
          </p:nvSpPr>
          <p:spPr>
            <a:xfrm>
              <a:off x="8294" y="3902"/>
              <a:ext cx="108" cy="384"/>
            </a:xfrm>
            <a:prstGeom prst="rect">
              <a:avLst/>
            </a:prstGeom>
          </p:spPr>
          <p:txBody>
            <a:bodyPr vert="vert270" wrap="square" lIns="0" tIns="5182" rIns="0" bIns="0" rtlCol="0">
              <a:spAutoFit/>
            </a:bodyPr>
            <a:lstStyle/>
            <a:p>
              <a:pPr marL="12700">
                <a:lnSpc>
                  <a:spcPct val="100000"/>
                </a:lnSpc>
                <a:spcBef>
                  <a:spcPts val="45"/>
                </a:spcBef>
              </a:pPr>
              <a:r>
                <a:rPr sz="545" spc="-10" dirty="0">
                  <a:solidFill>
                    <a:srgbClr val="0C1C2B"/>
                  </a:solidFill>
                  <a:latin typeface="Times New Roman" panose="02020603050405020304"/>
                  <a:cs typeface="Times New Roman" panose="02020603050405020304"/>
                </a:rPr>
                <a:t>Density</a:t>
              </a:r>
              <a:endParaRPr sz="545">
                <a:latin typeface="Times New Roman" panose="02020603050405020304"/>
                <a:cs typeface="Times New Roman" panose="02020603050405020304"/>
              </a:endParaRPr>
            </a:p>
          </p:txBody>
        </p:sp>
        <p:sp>
          <p:nvSpPr>
            <p:cNvPr id="71" name="object 71"/>
            <p:cNvSpPr txBox="1"/>
            <p:nvPr/>
          </p:nvSpPr>
          <p:spPr>
            <a:xfrm>
              <a:off x="8528" y="4522"/>
              <a:ext cx="1492" cy="155"/>
            </a:xfrm>
            <a:prstGeom prst="rect">
              <a:avLst/>
            </a:prstGeom>
          </p:spPr>
          <p:txBody>
            <a:bodyPr vert="horz" wrap="square" lIns="0" tIns="10364" rIns="0" bIns="0" rtlCol="0">
              <a:spAutoFit/>
            </a:bodyPr>
            <a:lstStyle/>
            <a:p>
              <a:pPr marL="12700">
                <a:lnSpc>
                  <a:spcPct val="100000"/>
                </a:lnSpc>
                <a:spcBef>
                  <a:spcPts val="90"/>
                </a:spcBef>
              </a:pPr>
              <a:r>
                <a:rPr sz="725" dirty="0">
                  <a:solidFill>
                    <a:srgbClr val="0C1C2B"/>
                  </a:solidFill>
                  <a:latin typeface="Times New Roman" panose="02020603050405020304"/>
                  <a:cs typeface="Times New Roman" panose="02020603050405020304"/>
                </a:rPr>
                <a:t>Data </a:t>
              </a:r>
              <a:r>
                <a:rPr sz="725" spc="-10" dirty="0">
                  <a:solidFill>
                    <a:srgbClr val="0C1C2B"/>
                  </a:solidFill>
                  <a:latin typeface="Times New Roman" panose="02020603050405020304"/>
                  <a:cs typeface="Times New Roman" panose="02020603050405020304"/>
                </a:rPr>
                <a:t>distribution</a:t>
              </a:r>
              <a:r>
                <a:rPr sz="725" spc="5"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analysis</a:t>
              </a:r>
              <a:endParaRPr sz="725">
                <a:latin typeface="Times New Roman" panose="02020603050405020304"/>
                <a:cs typeface="Times New Roman" panose="02020603050405020304"/>
              </a:endParaRPr>
            </a:p>
          </p:txBody>
        </p:sp>
        <p:grpSp>
          <p:nvGrpSpPr>
            <p:cNvPr id="72" name="object 72"/>
            <p:cNvGrpSpPr/>
            <p:nvPr/>
          </p:nvGrpSpPr>
          <p:grpSpPr>
            <a:xfrm>
              <a:off x="8225" y="3712"/>
              <a:ext cx="2031" cy="791"/>
              <a:chOff x="4383786" y="2599182"/>
              <a:chExt cx="1422400" cy="553720"/>
            </a:xfrm>
          </p:grpSpPr>
          <p:sp>
            <p:nvSpPr>
              <p:cNvPr id="73" name="object 73"/>
              <p:cNvSpPr/>
              <p:nvPr/>
            </p:nvSpPr>
            <p:spPr>
              <a:xfrm>
                <a:off x="4387596" y="2602992"/>
                <a:ext cx="1414780" cy="546100"/>
              </a:xfrm>
              <a:custGeom>
                <a:avLst/>
                <a:gdLst/>
                <a:ahLst/>
                <a:cxnLst/>
                <a:rect l="l" t="t" r="r" b="b"/>
                <a:pathLst>
                  <a:path w="1414779" h="546100">
                    <a:moveTo>
                      <a:pt x="0" y="91439"/>
                    </a:moveTo>
                    <a:lnTo>
                      <a:pt x="7215" y="55935"/>
                    </a:lnTo>
                    <a:lnTo>
                      <a:pt x="26860" y="26860"/>
                    </a:lnTo>
                    <a:lnTo>
                      <a:pt x="55935" y="7215"/>
                    </a:lnTo>
                    <a:lnTo>
                      <a:pt x="91439" y="0"/>
                    </a:lnTo>
                    <a:lnTo>
                      <a:pt x="1322832" y="0"/>
                    </a:lnTo>
                    <a:lnTo>
                      <a:pt x="1358336" y="7215"/>
                    </a:lnTo>
                    <a:lnTo>
                      <a:pt x="1387411" y="26860"/>
                    </a:lnTo>
                    <a:lnTo>
                      <a:pt x="1407056" y="55935"/>
                    </a:lnTo>
                    <a:lnTo>
                      <a:pt x="1414271" y="91439"/>
                    </a:lnTo>
                    <a:lnTo>
                      <a:pt x="1414271" y="454152"/>
                    </a:lnTo>
                    <a:lnTo>
                      <a:pt x="1407056" y="489656"/>
                    </a:lnTo>
                    <a:lnTo>
                      <a:pt x="1387411" y="518731"/>
                    </a:lnTo>
                    <a:lnTo>
                      <a:pt x="1358336" y="538376"/>
                    </a:lnTo>
                    <a:lnTo>
                      <a:pt x="1322832" y="545591"/>
                    </a:lnTo>
                    <a:lnTo>
                      <a:pt x="91439" y="545591"/>
                    </a:lnTo>
                    <a:lnTo>
                      <a:pt x="55935" y="538376"/>
                    </a:lnTo>
                    <a:lnTo>
                      <a:pt x="26860" y="518731"/>
                    </a:lnTo>
                    <a:lnTo>
                      <a:pt x="7215" y="489656"/>
                    </a:lnTo>
                    <a:lnTo>
                      <a:pt x="0" y="454152"/>
                    </a:lnTo>
                    <a:lnTo>
                      <a:pt x="0" y="91439"/>
                    </a:lnTo>
                    <a:close/>
                  </a:path>
                </a:pathLst>
              </a:custGeom>
              <a:ln w="7620">
                <a:solidFill>
                  <a:srgbClr val="0C1C2B"/>
                </a:solidFill>
              </a:ln>
            </p:spPr>
            <p:txBody>
              <a:bodyPr wrap="square" lIns="0" tIns="0" rIns="0" bIns="0" rtlCol="0"/>
              <a:lstStyle/>
              <a:p>
                <a:endParaRPr sz="1630"/>
              </a:p>
            </p:txBody>
          </p:sp>
          <p:sp>
            <p:nvSpPr>
              <p:cNvPr id="74" name="object 74"/>
              <p:cNvSpPr/>
              <p:nvPr/>
            </p:nvSpPr>
            <p:spPr>
              <a:xfrm>
                <a:off x="5114544" y="2683764"/>
                <a:ext cx="175260" cy="70485"/>
              </a:xfrm>
              <a:custGeom>
                <a:avLst/>
                <a:gdLst/>
                <a:ahLst/>
                <a:cxnLst/>
                <a:rect l="l" t="t" r="r" b="b"/>
                <a:pathLst>
                  <a:path w="175260" h="70485">
                    <a:moveTo>
                      <a:pt x="175259" y="70103"/>
                    </a:moveTo>
                    <a:lnTo>
                      <a:pt x="0" y="70103"/>
                    </a:lnTo>
                    <a:lnTo>
                      <a:pt x="0" y="0"/>
                    </a:lnTo>
                    <a:lnTo>
                      <a:pt x="175259" y="0"/>
                    </a:lnTo>
                    <a:lnTo>
                      <a:pt x="175259" y="70103"/>
                    </a:lnTo>
                    <a:close/>
                  </a:path>
                </a:pathLst>
              </a:custGeom>
              <a:solidFill>
                <a:srgbClr val="344B74"/>
              </a:solidFill>
            </p:spPr>
            <p:txBody>
              <a:bodyPr wrap="square" lIns="0" tIns="0" rIns="0" bIns="0" rtlCol="0"/>
              <a:lstStyle/>
              <a:p>
                <a:endParaRPr sz="1630"/>
              </a:p>
            </p:txBody>
          </p:sp>
          <p:sp>
            <p:nvSpPr>
              <p:cNvPr id="75" name="object 75"/>
              <p:cNvSpPr/>
              <p:nvPr/>
            </p:nvSpPr>
            <p:spPr>
              <a:xfrm>
                <a:off x="5114544" y="2808732"/>
                <a:ext cx="175260" cy="70485"/>
              </a:xfrm>
              <a:custGeom>
                <a:avLst/>
                <a:gdLst/>
                <a:ahLst/>
                <a:cxnLst/>
                <a:rect l="l" t="t" r="r" b="b"/>
                <a:pathLst>
                  <a:path w="175260" h="70485">
                    <a:moveTo>
                      <a:pt x="175259" y="70103"/>
                    </a:moveTo>
                    <a:lnTo>
                      <a:pt x="0" y="70103"/>
                    </a:lnTo>
                    <a:lnTo>
                      <a:pt x="0" y="0"/>
                    </a:lnTo>
                    <a:lnTo>
                      <a:pt x="175259" y="0"/>
                    </a:lnTo>
                    <a:lnTo>
                      <a:pt x="175259" y="70103"/>
                    </a:lnTo>
                    <a:close/>
                  </a:path>
                </a:pathLst>
              </a:custGeom>
              <a:solidFill>
                <a:srgbClr val="BF0000"/>
              </a:solidFill>
            </p:spPr>
            <p:txBody>
              <a:bodyPr wrap="square" lIns="0" tIns="0" rIns="0" bIns="0" rtlCol="0"/>
              <a:lstStyle/>
              <a:p>
                <a:endParaRPr sz="1630"/>
              </a:p>
            </p:txBody>
          </p:sp>
        </p:grpSp>
        <p:sp>
          <p:nvSpPr>
            <p:cNvPr id="76" name="object 76"/>
            <p:cNvSpPr txBox="1"/>
            <p:nvPr/>
          </p:nvSpPr>
          <p:spPr>
            <a:xfrm>
              <a:off x="9609" y="3781"/>
              <a:ext cx="534" cy="296"/>
            </a:xfrm>
            <a:prstGeom prst="rect">
              <a:avLst/>
            </a:prstGeom>
          </p:spPr>
          <p:txBody>
            <a:bodyPr vert="horz" wrap="square" lIns="0" tIns="11516" rIns="0" bIns="0" rtlCol="0">
              <a:spAutoFit/>
            </a:bodyPr>
            <a:lstStyle/>
            <a:p>
              <a:pPr marL="12700" marR="5080" indent="15240">
                <a:lnSpc>
                  <a:spcPct val="112000"/>
                </a:lnSpc>
                <a:spcBef>
                  <a:spcPts val="100"/>
                </a:spcBef>
              </a:pPr>
              <a:r>
                <a:rPr sz="635" spc="-10" dirty="0">
                  <a:solidFill>
                    <a:srgbClr val="0C1C2B"/>
                  </a:solidFill>
                  <a:latin typeface="Times New Roman" panose="02020603050405020304"/>
                  <a:cs typeface="Times New Roman" panose="02020603050405020304"/>
                </a:rPr>
                <a:t>Normal</a:t>
              </a:r>
              <a:r>
                <a:rPr sz="635" spc="500" dirty="0">
                  <a:solidFill>
                    <a:srgbClr val="0C1C2B"/>
                  </a:solidFill>
                  <a:latin typeface="Times New Roman" panose="02020603050405020304"/>
                  <a:cs typeface="Times New Roman" panose="02020603050405020304"/>
                </a:rPr>
                <a:t> </a:t>
              </a:r>
              <a:r>
                <a:rPr sz="635" spc="-20" dirty="0">
                  <a:solidFill>
                    <a:srgbClr val="0C1C2B"/>
                  </a:solidFill>
                  <a:latin typeface="Times New Roman" panose="02020603050405020304"/>
                  <a:cs typeface="Times New Roman" panose="02020603050405020304"/>
                </a:rPr>
                <a:t>Malicious</a:t>
              </a:r>
              <a:endParaRPr sz="635">
                <a:latin typeface="Times New Roman" panose="02020603050405020304"/>
                <a:cs typeface="Times New Roman" panose="02020603050405020304"/>
              </a:endParaRPr>
            </a:p>
          </p:txBody>
        </p:sp>
        <p:grpSp>
          <p:nvGrpSpPr>
            <p:cNvPr id="77" name="object 77"/>
            <p:cNvGrpSpPr/>
            <p:nvPr/>
          </p:nvGrpSpPr>
          <p:grpSpPr>
            <a:xfrm>
              <a:off x="8214" y="4712"/>
              <a:ext cx="2029" cy="1311"/>
              <a:chOff x="4376165" y="3299459"/>
              <a:chExt cx="1420495" cy="918210"/>
            </a:xfrm>
          </p:grpSpPr>
          <p:pic>
            <p:nvPicPr>
              <p:cNvPr id="78" name="object 78"/>
              <p:cNvPicPr/>
              <p:nvPr/>
            </p:nvPicPr>
            <p:blipFill>
              <a:blip r:embed="rId22" cstate="print"/>
              <a:stretch>
                <a:fillRect/>
              </a:stretch>
            </p:blipFill>
            <p:spPr>
              <a:xfrm>
                <a:off x="5038344" y="3299459"/>
                <a:ext cx="67056" cy="131064"/>
              </a:xfrm>
              <a:prstGeom prst="rect">
                <a:avLst/>
              </a:prstGeom>
            </p:spPr>
          </p:pic>
          <p:sp>
            <p:nvSpPr>
              <p:cNvPr id="79" name="object 79"/>
              <p:cNvSpPr/>
              <p:nvPr/>
            </p:nvSpPr>
            <p:spPr>
              <a:xfrm>
                <a:off x="4379975" y="3451859"/>
                <a:ext cx="1412875" cy="762000"/>
              </a:xfrm>
              <a:custGeom>
                <a:avLst/>
                <a:gdLst/>
                <a:ahLst/>
                <a:cxnLst/>
                <a:rect l="l" t="t" r="r" b="b"/>
                <a:pathLst>
                  <a:path w="1412875" h="762000">
                    <a:moveTo>
                      <a:pt x="0" y="126491"/>
                    </a:moveTo>
                    <a:lnTo>
                      <a:pt x="9905" y="77152"/>
                    </a:lnTo>
                    <a:lnTo>
                      <a:pt x="36956" y="36956"/>
                    </a:lnTo>
                    <a:lnTo>
                      <a:pt x="77152" y="9905"/>
                    </a:lnTo>
                    <a:lnTo>
                      <a:pt x="126491" y="0"/>
                    </a:lnTo>
                    <a:lnTo>
                      <a:pt x="1286255" y="0"/>
                    </a:lnTo>
                    <a:lnTo>
                      <a:pt x="1335595" y="9905"/>
                    </a:lnTo>
                    <a:lnTo>
                      <a:pt x="1375791" y="36956"/>
                    </a:lnTo>
                    <a:lnTo>
                      <a:pt x="1402842" y="77152"/>
                    </a:lnTo>
                    <a:lnTo>
                      <a:pt x="1412748" y="126491"/>
                    </a:lnTo>
                    <a:lnTo>
                      <a:pt x="1412748" y="633983"/>
                    </a:lnTo>
                    <a:lnTo>
                      <a:pt x="1402842" y="683561"/>
                    </a:lnTo>
                    <a:lnTo>
                      <a:pt x="1375791" y="724280"/>
                    </a:lnTo>
                    <a:lnTo>
                      <a:pt x="1335595" y="751855"/>
                    </a:lnTo>
                    <a:lnTo>
                      <a:pt x="1286255" y="762000"/>
                    </a:lnTo>
                    <a:lnTo>
                      <a:pt x="126491" y="762000"/>
                    </a:lnTo>
                    <a:lnTo>
                      <a:pt x="77152" y="751855"/>
                    </a:lnTo>
                    <a:lnTo>
                      <a:pt x="36956" y="724280"/>
                    </a:lnTo>
                    <a:lnTo>
                      <a:pt x="9905" y="683561"/>
                    </a:lnTo>
                    <a:lnTo>
                      <a:pt x="0" y="633983"/>
                    </a:lnTo>
                    <a:lnTo>
                      <a:pt x="0" y="126491"/>
                    </a:lnTo>
                    <a:close/>
                  </a:path>
                </a:pathLst>
              </a:custGeom>
              <a:ln w="7620">
                <a:solidFill>
                  <a:srgbClr val="0C1C2B"/>
                </a:solidFill>
              </a:ln>
            </p:spPr>
            <p:txBody>
              <a:bodyPr wrap="square" lIns="0" tIns="0" rIns="0" bIns="0" rtlCol="0"/>
              <a:lstStyle/>
              <a:p>
                <a:endParaRPr sz="1630"/>
              </a:p>
            </p:txBody>
          </p:sp>
          <p:pic>
            <p:nvPicPr>
              <p:cNvPr id="80" name="object 80"/>
              <p:cNvPicPr/>
              <p:nvPr/>
            </p:nvPicPr>
            <p:blipFill>
              <a:blip r:embed="rId23" cstate="print"/>
              <a:stretch>
                <a:fillRect/>
              </a:stretch>
            </p:blipFill>
            <p:spPr>
              <a:xfrm>
                <a:off x="4457699" y="3779519"/>
                <a:ext cx="86867" cy="91440"/>
              </a:xfrm>
              <a:prstGeom prst="rect">
                <a:avLst/>
              </a:prstGeom>
            </p:spPr>
          </p:pic>
          <p:pic>
            <p:nvPicPr>
              <p:cNvPr id="81" name="object 81"/>
              <p:cNvPicPr/>
              <p:nvPr/>
            </p:nvPicPr>
            <p:blipFill>
              <a:blip r:embed="rId24" cstate="print"/>
              <a:stretch>
                <a:fillRect/>
              </a:stretch>
            </p:blipFill>
            <p:spPr>
              <a:xfrm>
                <a:off x="4488179" y="3954779"/>
                <a:ext cx="86867" cy="91440"/>
              </a:xfrm>
              <a:prstGeom prst="rect">
                <a:avLst/>
              </a:prstGeom>
            </p:spPr>
          </p:pic>
          <p:pic>
            <p:nvPicPr>
              <p:cNvPr id="82" name="object 82"/>
              <p:cNvPicPr/>
              <p:nvPr/>
            </p:nvPicPr>
            <p:blipFill>
              <a:blip r:embed="rId25" cstate="print"/>
              <a:stretch>
                <a:fillRect/>
              </a:stretch>
            </p:blipFill>
            <p:spPr>
              <a:xfrm>
                <a:off x="4604003" y="3715511"/>
                <a:ext cx="86867" cy="91440"/>
              </a:xfrm>
              <a:prstGeom prst="rect">
                <a:avLst/>
              </a:prstGeom>
            </p:spPr>
          </p:pic>
          <p:sp>
            <p:nvSpPr>
              <p:cNvPr id="83" name="object 83"/>
              <p:cNvSpPr/>
              <p:nvPr/>
            </p:nvSpPr>
            <p:spPr>
              <a:xfrm>
                <a:off x="4725923" y="3831336"/>
                <a:ext cx="86995" cy="91440"/>
              </a:xfrm>
              <a:custGeom>
                <a:avLst/>
                <a:gdLst/>
                <a:ahLst/>
                <a:cxnLst/>
                <a:rect l="l" t="t" r="r" b="b"/>
                <a:pathLst>
                  <a:path w="86995" h="91439">
                    <a:moveTo>
                      <a:pt x="44195" y="91440"/>
                    </a:moveTo>
                    <a:lnTo>
                      <a:pt x="27003" y="87939"/>
                    </a:lnTo>
                    <a:lnTo>
                      <a:pt x="12954" y="78295"/>
                    </a:lnTo>
                    <a:lnTo>
                      <a:pt x="3476" y="63793"/>
                    </a:lnTo>
                    <a:lnTo>
                      <a:pt x="0" y="45720"/>
                    </a:lnTo>
                    <a:lnTo>
                      <a:pt x="3476" y="28289"/>
                    </a:lnTo>
                    <a:lnTo>
                      <a:pt x="12953" y="13716"/>
                    </a:lnTo>
                    <a:lnTo>
                      <a:pt x="27003" y="3714"/>
                    </a:lnTo>
                    <a:lnTo>
                      <a:pt x="44195" y="0"/>
                    </a:lnTo>
                    <a:lnTo>
                      <a:pt x="60507" y="3714"/>
                    </a:lnTo>
                    <a:lnTo>
                      <a:pt x="74104" y="13716"/>
                    </a:lnTo>
                    <a:lnTo>
                      <a:pt x="83415" y="28289"/>
                    </a:lnTo>
                    <a:lnTo>
                      <a:pt x="86868" y="45720"/>
                    </a:lnTo>
                    <a:lnTo>
                      <a:pt x="83415" y="63793"/>
                    </a:lnTo>
                    <a:lnTo>
                      <a:pt x="74104" y="78295"/>
                    </a:lnTo>
                    <a:lnTo>
                      <a:pt x="60507" y="87939"/>
                    </a:lnTo>
                    <a:lnTo>
                      <a:pt x="44195" y="91440"/>
                    </a:lnTo>
                    <a:close/>
                  </a:path>
                </a:pathLst>
              </a:custGeom>
              <a:solidFill>
                <a:srgbClr val="344B74"/>
              </a:solidFill>
            </p:spPr>
            <p:txBody>
              <a:bodyPr wrap="square" lIns="0" tIns="0" rIns="0" bIns="0" rtlCol="0"/>
              <a:lstStyle/>
              <a:p>
                <a:endParaRPr sz="1630"/>
              </a:p>
            </p:txBody>
          </p:sp>
          <p:sp>
            <p:nvSpPr>
              <p:cNvPr id="84" name="object 84"/>
              <p:cNvSpPr/>
              <p:nvPr/>
            </p:nvSpPr>
            <p:spPr>
              <a:xfrm>
                <a:off x="4579619" y="3843527"/>
                <a:ext cx="88900" cy="91440"/>
              </a:xfrm>
              <a:custGeom>
                <a:avLst/>
                <a:gdLst/>
                <a:ahLst/>
                <a:cxnLst/>
                <a:rect l="l" t="t" r="r" b="b"/>
                <a:pathLst>
                  <a:path w="88900" h="91439">
                    <a:moveTo>
                      <a:pt x="44195" y="91440"/>
                    </a:moveTo>
                    <a:lnTo>
                      <a:pt x="27003" y="87725"/>
                    </a:lnTo>
                    <a:lnTo>
                      <a:pt x="12954" y="77724"/>
                    </a:lnTo>
                    <a:lnTo>
                      <a:pt x="3476" y="63150"/>
                    </a:lnTo>
                    <a:lnTo>
                      <a:pt x="0" y="45720"/>
                    </a:lnTo>
                    <a:lnTo>
                      <a:pt x="3476" y="27646"/>
                    </a:lnTo>
                    <a:lnTo>
                      <a:pt x="12953" y="13144"/>
                    </a:lnTo>
                    <a:lnTo>
                      <a:pt x="27003" y="3500"/>
                    </a:lnTo>
                    <a:lnTo>
                      <a:pt x="44195" y="0"/>
                    </a:lnTo>
                    <a:lnTo>
                      <a:pt x="61388" y="3500"/>
                    </a:lnTo>
                    <a:lnTo>
                      <a:pt x="75438" y="13144"/>
                    </a:lnTo>
                    <a:lnTo>
                      <a:pt x="84915" y="27646"/>
                    </a:lnTo>
                    <a:lnTo>
                      <a:pt x="88391" y="45720"/>
                    </a:lnTo>
                    <a:lnTo>
                      <a:pt x="84915" y="63150"/>
                    </a:lnTo>
                    <a:lnTo>
                      <a:pt x="75438" y="77724"/>
                    </a:lnTo>
                    <a:lnTo>
                      <a:pt x="61388" y="87725"/>
                    </a:lnTo>
                    <a:lnTo>
                      <a:pt x="44195" y="91440"/>
                    </a:lnTo>
                    <a:close/>
                  </a:path>
                </a:pathLst>
              </a:custGeom>
              <a:solidFill>
                <a:srgbClr val="BF0000"/>
              </a:solidFill>
            </p:spPr>
            <p:txBody>
              <a:bodyPr wrap="square" lIns="0" tIns="0" rIns="0" bIns="0" rtlCol="0"/>
              <a:lstStyle/>
              <a:p>
                <a:endParaRPr sz="1630"/>
              </a:p>
            </p:txBody>
          </p:sp>
          <p:pic>
            <p:nvPicPr>
              <p:cNvPr id="85" name="object 85"/>
              <p:cNvPicPr/>
              <p:nvPr/>
            </p:nvPicPr>
            <p:blipFill>
              <a:blip r:embed="rId26" cstate="print"/>
              <a:stretch>
                <a:fillRect/>
              </a:stretch>
            </p:blipFill>
            <p:spPr>
              <a:xfrm>
                <a:off x="4469891" y="3488435"/>
                <a:ext cx="86867" cy="91440"/>
              </a:xfrm>
              <a:prstGeom prst="rect">
                <a:avLst/>
              </a:prstGeom>
            </p:spPr>
          </p:pic>
        </p:grpSp>
        <p:sp>
          <p:nvSpPr>
            <p:cNvPr id="86" name="object 86"/>
            <p:cNvSpPr txBox="1"/>
            <p:nvPr/>
          </p:nvSpPr>
          <p:spPr>
            <a:xfrm>
              <a:off x="8550" y="4953"/>
              <a:ext cx="418" cy="138"/>
            </a:xfrm>
            <a:prstGeom prst="rect">
              <a:avLst/>
            </a:prstGeom>
          </p:spPr>
          <p:txBody>
            <a:bodyPr vert="horz" wrap="square" lIns="0" tIns="10940" rIns="0" bIns="0" rtlCol="0">
              <a:spAutoFit/>
            </a:bodyPr>
            <a:lstStyle/>
            <a:p>
              <a:pPr marL="12700">
                <a:lnSpc>
                  <a:spcPct val="100000"/>
                </a:lnSpc>
                <a:spcBef>
                  <a:spcPts val="95"/>
                </a:spcBef>
              </a:pPr>
              <a:r>
                <a:rPr sz="635" spc="-10" dirty="0">
                  <a:solidFill>
                    <a:srgbClr val="0C1C2B"/>
                  </a:solidFill>
                  <a:latin typeface="Times New Roman" panose="02020603050405020304"/>
                  <a:cs typeface="Times New Roman" panose="02020603050405020304"/>
                </a:rPr>
                <a:t>Normal</a:t>
              </a:r>
              <a:endParaRPr sz="635">
                <a:latin typeface="Times New Roman" panose="02020603050405020304"/>
                <a:cs typeface="Times New Roman" panose="02020603050405020304"/>
              </a:endParaRPr>
            </a:p>
          </p:txBody>
        </p:sp>
        <p:pic>
          <p:nvPicPr>
            <p:cNvPr id="87" name="object 87"/>
            <p:cNvPicPr/>
            <p:nvPr/>
          </p:nvPicPr>
          <p:blipFill>
            <a:blip r:embed="rId27" cstate="print"/>
            <a:stretch>
              <a:fillRect/>
            </a:stretch>
          </p:blipFill>
          <p:spPr>
            <a:xfrm>
              <a:off x="9153" y="4990"/>
              <a:ext cx="126" cy="131"/>
            </a:xfrm>
            <a:prstGeom prst="rect">
              <a:avLst/>
            </a:prstGeom>
          </p:spPr>
        </p:pic>
        <p:sp>
          <p:nvSpPr>
            <p:cNvPr id="88" name="object 88"/>
            <p:cNvSpPr txBox="1"/>
            <p:nvPr/>
          </p:nvSpPr>
          <p:spPr>
            <a:xfrm>
              <a:off x="9383" y="4961"/>
              <a:ext cx="534" cy="138"/>
            </a:xfrm>
            <a:prstGeom prst="rect">
              <a:avLst/>
            </a:prstGeom>
          </p:spPr>
          <p:txBody>
            <a:bodyPr vert="horz" wrap="square" lIns="0" tIns="10940" rIns="0" bIns="0" rtlCol="0">
              <a:spAutoFit/>
            </a:bodyPr>
            <a:lstStyle/>
            <a:p>
              <a:pPr marL="12700">
                <a:lnSpc>
                  <a:spcPct val="100000"/>
                </a:lnSpc>
                <a:spcBef>
                  <a:spcPts val="95"/>
                </a:spcBef>
              </a:pPr>
              <a:r>
                <a:rPr sz="635" spc="-10" dirty="0">
                  <a:solidFill>
                    <a:srgbClr val="0C1C2B"/>
                  </a:solidFill>
                  <a:latin typeface="Times New Roman" panose="02020603050405020304"/>
                  <a:cs typeface="Times New Roman" panose="02020603050405020304"/>
                </a:rPr>
                <a:t>Malicious</a:t>
              </a:r>
              <a:endParaRPr sz="635">
                <a:latin typeface="Times New Roman" panose="02020603050405020304"/>
                <a:cs typeface="Times New Roman" panose="02020603050405020304"/>
              </a:endParaRPr>
            </a:p>
          </p:txBody>
        </p:sp>
        <p:grpSp>
          <p:nvGrpSpPr>
            <p:cNvPr id="89" name="object 89"/>
            <p:cNvGrpSpPr/>
            <p:nvPr/>
          </p:nvGrpSpPr>
          <p:grpSpPr>
            <a:xfrm>
              <a:off x="8607" y="5389"/>
              <a:ext cx="1184" cy="421"/>
              <a:chOff x="4651247" y="3773423"/>
              <a:chExt cx="829310" cy="294640"/>
            </a:xfrm>
          </p:grpSpPr>
          <p:pic>
            <p:nvPicPr>
              <p:cNvPr id="90" name="object 90"/>
              <p:cNvPicPr/>
              <p:nvPr/>
            </p:nvPicPr>
            <p:blipFill>
              <a:blip r:embed="rId28" cstate="print"/>
              <a:stretch>
                <a:fillRect/>
              </a:stretch>
            </p:blipFill>
            <p:spPr>
              <a:xfrm>
                <a:off x="5128260" y="3773423"/>
                <a:ext cx="86867" cy="91440"/>
              </a:xfrm>
              <a:prstGeom prst="rect">
                <a:avLst/>
              </a:prstGeom>
            </p:spPr>
          </p:pic>
          <p:pic>
            <p:nvPicPr>
              <p:cNvPr id="91" name="object 91"/>
              <p:cNvPicPr/>
              <p:nvPr/>
            </p:nvPicPr>
            <p:blipFill>
              <a:blip r:embed="rId29" cstate="print"/>
              <a:stretch>
                <a:fillRect/>
              </a:stretch>
            </p:blipFill>
            <p:spPr>
              <a:xfrm>
                <a:off x="5393435" y="3773423"/>
                <a:ext cx="86867" cy="91440"/>
              </a:xfrm>
              <a:prstGeom prst="rect">
                <a:avLst/>
              </a:prstGeom>
            </p:spPr>
          </p:pic>
          <p:sp>
            <p:nvSpPr>
              <p:cNvPr id="92" name="object 92"/>
              <p:cNvSpPr/>
              <p:nvPr/>
            </p:nvSpPr>
            <p:spPr>
              <a:xfrm>
                <a:off x="5286755" y="3889247"/>
                <a:ext cx="86995" cy="91440"/>
              </a:xfrm>
              <a:custGeom>
                <a:avLst/>
                <a:gdLst/>
                <a:ahLst/>
                <a:cxnLst/>
                <a:rect l="l" t="t" r="r" b="b"/>
                <a:pathLst>
                  <a:path w="86995" h="91439">
                    <a:moveTo>
                      <a:pt x="42672" y="91440"/>
                    </a:moveTo>
                    <a:lnTo>
                      <a:pt x="26360" y="87939"/>
                    </a:lnTo>
                    <a:lnTo>
                      <a:pt x="12763" y="78295"/>
                    </a:lnTo>
                    <a:lnTo>
                      <a:pt x="3452" y="63793"/>
                    </a:lnTo>
                    <a:lnTo>
                      <a:pt x="0" y="45720"/>
                    </a:lnTo>
                    <a:lnTo>
                      <a:pt x="3452" y="28289"/>
                    </a:lnTo>
                    <a:lnTo>
                      <a:pt x="12763" y="13716"/>
                    </a:lnTo>
                    <a:lnTo>
                      <a:pt x="26360" y="3714"/>
                    </a:lnTo>
                    <a:lnTo>
                      <a:pt x="42672" y="0"/>
                    </a:lnTo>
                    <a:lnTo>
                      <a:pt x="59864" y="3714"/>
                    </a:lnTo>
                    <a:lnTo>
                      <a:pt x="73914" y="13716"/>
                    </a:lnTo>
                    <a:lnTo>
                      <a:pt x="83391" y="28289"/>
                    </a:lnTo>
                    <a:lnTo>
                      <a:pt x="86868" y="45720"/>
                    </a:lnTo>
                    <a:lnTo>
                      <a:pt x="83391" y="63793"/>
                    </a:lnTo>
                    <a:lnTo>
                      <a:pt x="73914" y="78295"/>
                    </a:lnTo>
                    <a:lnTo>
                      <a:pt x="59864" y="87939"/>
                    </a:lnTo>
                    <a:lnTo>
                      <a:pt x="42672" y="91440"/>
                    </a:lnTo>
                    <a:close/>
                  </a:path>
                </a:pathLst>
              </a:custGeom>
              <a:solidFill>
                <a:srgbClr val="344B74"/>
              </a:solidFill>
            </p:spPr>
            <p:txBody>
              <a:bodyPr wrap="square" lIns="0" tIns="0" rIns="0" bIns="0" rtlCol="0"/>
              <a:lstStyle/>
              <a:p>
                <a:endParaRPr sz="1630"/>
              </a:p>
            </p:txBody>
          </p:sp>
          <p:sp>
            <p:nvSpPr>
              <p:cNvPr id="93" name="object 93"/>
              <p:cNvSpPr/>
              <p:nvPr/>
            </p:nvSpPr>
            <p:spPr>
              <a:xfrm>
                <a:off x="4651235" y="3916692"/>
                <a:ext cx="652780" cy="151130"/>
              </a:xfrm>
              <a:custGeom>
                <a:avLst/>
                <a:gdLst/>
                <a:ahLst/>
                <a:cxnLst/>
                <a:rect l="l" t="t" r="r" b="b"/>
                <a:pathLst>
                  <a:path w="652779" h="151129">
                    <a:moveTo>
                      <a:pt x="195072" y="144780"/>
                    </a:moveTo>
                    <a:lnTo>
                      <a:pt x="181356" y="80772"/>
                    </a:lnTo>
                    <a:lnTo>
                      <a:pt x="179832" y="77724"/>
                    </a:lnTo>
                    <a:lnTo>
                      <a:pt x="176784" y="76200"/>
                    </a:lnTo>
                    <a:lnTo>
                      <a:pt x="173736" y="77724"/>
                    </a:lnTo>
                    <a:lnTo>
                      <a:pt x="170688" y="77724"/>
                    </a:lnTo>
                    <a:lnTo>
                      <a:pt x="169164" y="80772"/>
                    </a:lnTo>
                    <a:lnTo>
                      <a:pt x="169164" y="83820"/>
                    </a:lnTo>
                    <a:lnTo>
                      <a:pt x="179235" y="126288"/>
                    </a:lnTo>
                    <a:lnTo>
                      <a:pt x="6096" y="0"/>
                    </a:lnTo>
                    <a:lnTo>
                      <a:pt x="0" y="9144"/>
                    </a:lnTo>
                    <a:lnTo>
                      <a:pt x="172059" y="135686"/>
                    </a:lnTo>
                    <a:lnTo>
                      <a:pt x="128016" y="140208"/>
                    </a:lnTo>
                    <a:lnTo>
                      <a:pt x="124968" y="140208"/>
                    </a:lnTo>
                    <a:lnTo>
                      <a:pt x="123444" y="143256"/>
                    </a:lnTo>
                    <a:lnTo>
                      <a:pt x="123444" y="149352"/>
                    </a:lnTo>
                    <a:lnTo>
                      <a:pt x="126492" y="150876"/>
                    </a:lnTo>
                    <a:lnTo>
                      <a:pt x="129540" y="150876"/>
                    </a:lnTo>
                    <a:lnTo>
                      <a:pt x="195072" y="144780"/>
                    </a:lnTo>
                    <a:close/>
                  </a:path>
                  <a:path w="652779" h="151129">
                    <a:moveTo>
                      <a:pt x="652284" y="54851"/>
                    </a:moveTo>
                    <a:lnTo>
                      <a:pt x="644664" y="47231"/>
                    </a:lnTo>
                    <a:lnTo>
                      <a:pt x="567309" y="130009"/>
                    </a:lnTo>
                    <a:lnTo>
                      <a:pt x="568452" y="85331"/>
                    </a:lnTo>
                    <a:lnTo>
                      <a:pt x="568452" y="82283"/>
                    </a:lnTo>
                    <a:lnTo>
                      <a:pt x="566928" y="79235"/>
                    </a:lnTo>
                    <a:lnTo>
                      <a:pt x="560832" y="79235"/>
                    </a:lnTo>
                    <a:lnTo>
                      <a:pt x="557784" y="82283"/>
                    </a:lnTo>
                    <a:lnTo>
                      <a:pt x="557784" y="85331"/>
                    </a:lnTo>
                    <a:lnTo>
                      <a:pt x="554736" y="150863"/>
                    </a:lnTo>
                    <a:lnTo>
                      <a:pt x="580948" y="147815"/>
                    </a:lnTo>
                    <a:lnTo>
                      <a:pt x="620268" y="143243"/>
                    </a:lnTo>
                    <a:lnTo>
                      <a:pt x="623316" y="143243"/>
                    </a:lnTo>
                    <a:lnTo>
                      <a:pt x="626364" y="140195"/>
                    </a:lnTo>
                    <a:lnTo>
                      <a:pt x="624840" y="137147"/>
                    </a:lnTo>
                    <a:lnTo>
                      <a:pt x="624840" y="134099"/>
                    </a:lnTo>
                    <a:lnTo>
                      <a:pt x="621792" y="132575"/>
                    </a:lnTo>
                    <a:lnTo>
                      <a:pt x="618744" y="132575"/>
                    </a:lnTo>
                    <a:lnTo>
                      <a:pt x="575386" y="137147"/>
                    </a:lnTo>
                    <a:lnTo>
                      <a:pt x="652284" y="54851"/>
                    </a:lnTo>
                    <a:close/>
                  </a:path>
                </a:pathLst>
              </a:custGeom>
              <a:solidFill>
                <a:srgbClr val="0C1C2B"/>
              </a:solidFill>
            </p:spPr>
            <p:txBody>
              <a:bodyPr wrap="square" lIns="0" tIns="0" rIns="0" bIns="0" rtlCol="0"/>
              <a:lstStyle/>
              <a:p>
                <a:endParaRPr sz="1630"/>
              </a:p>
            </p:txBody>
          </p:sp>
        </p:grpSp>
        <p:sp>
          <p:nvSpPr>
            <p:cNvPr id="94" name="object 94"/>
            <p:cNvSpPr txBox="1"/>
            <p:nvPr/>
          </p:nvSpPr>
          <p:spPr>
            <a:xfrm>
              <a:off x="8645" y="5716"/>
              <a:ext cx="1114" cy="614"/>
            </a:xfrm>
            <a:prstGeom prst="rect">
              <a:avLst/>
            </a:prstGeom>
          </p:spPr>
          <p:txBody>
            <a:bodyPr vert="horz" wrap="square" lIns="0" tIns="66219" rIns="0" bIns="0" rtlCol="0">
              <a:spAutoFit/>
            </a:bodyPr>
            <a:lstStyle/>
            <a:p>
              <a:pPr marR="5080" algn="ctr">
                <a:lnSpc>
                  <a:spcPct val="100000"/>
                </a:lnSpc>
                <a:spcBef>
                  <a:spcPts val="575"/>
                </a:spcBef>
              </a:pPr>
              <a:r>
                <a:rPr sz="635" i="1" dirty="0">
                  <a:solidFill>
                    <a:srgbClr val="0C1C2B"/>
                  </a:solidFill>
                  <a:latin typeface="Times New Roman" panose="02020603050405020304"/>
                  <a:cs typeface="Times New Roman" panose="02020603050405020304"/>
                </a:rPr>
                <a:t>detected</a:t>
              </a:r>
              <a:r>
                <a:rPr sz="635" i="1" spc="-40" dirty="0">
                  <a:solidFill>
                    <a:srgbClr val="0C1C2B"/>
                  </a:solidFill>
                  <a:latin typeface="Times New Roman" panose="02020603050405020304"/>
                  <a:cs typeface="Times New Roman" panose="02020603050405020304"/>
                </a:rPr>
                <a:t> </a:t>
              </a:r>
              <a:r>
                <a:rPr sz="635" i="1" dirty="0">
                  <a:solidFill>
                    <a:srgbClr val="0C1C2B"/>
                  </a:solidFill>
                  <a:latin typeface="Times New Roman" panose="02020603050405020304"/>
                  <a:cs typeface="Times New Roman" panose="02020603050405020304"/>
                </a:rPr>
                <a:t>label</a:t>
              </a:r>
              <a:r>
                <a:rPr sz="635" i="1" spc="-20" dirty="0">
                  <a:solidFill>
                    <a:srgbClr val="0C1C2B"/>
                  </a:solidFill>
                  <a:latin typeface="Times New Roman" panose="02020603050405020304"/>
                  <a:cs typeface="Times New Roman" panose="02020603050405020304"/>
                </a:rPr>
                <a:t> </a:t>
              </a:r>
              <a:r>
                <a:rPr sz="635" i="1" spc="-10" dirty="0">
                  <a:solidFill>
                    <a:srgbClr val="0C1C2B"/>
                  </a:solidFill>
                  <a:latin typeface="Times New Roman" panose="02020603050405020304"/>
                  <a:cs typeface="Times New Roman" panose="02020603050405020304"/>
                </a:rPr>
                <a:t>noise</a:t>
              </a:r>
              <a:endParaRPr sz="635">
                <a:latin typeface="Times New Roman" panose="02020603050405020304"/>
                <a:cs typeface="Times New Roman" panose="02020603050405020304"/>
              </a:endParaRPr>
            </a:p>
            <a:p>
              <a:pPr marL="12700" marR="5080" algn="ctr">
                <a:lnSpc>
                  <a:spcPts val="950"/>
                </a:lnSpc>
                <a:spcBef>
                  <a:spcPts val="575"/>
                </a:spcBef>
              </a:pPr>
              <a:r>
                <a:rPr sz="725" spc="-10" dirty="0">
                  <a:solidFill>
                    <a:srgbClr val="0C1C2B"/>
                  </a:solidFill>
                  <a:latin typeface="Times New Roman" panose="02020603050405020304"/>
                  <a:cs typeface="Times New Roman" panose="02020603050405020304"/>
                </a:rPr>
                <a:t>Distribution-aware</a:t>
              </a:r>
              <a:r>
                <a:rPr sz="725" spc="500" dirty="0">
                  <a:solidFill>
                    <a:srgbClr val="0C1C2B"/>
                  </a:solidFill>
                  <a:latin typeface="Times New Roman" panose="02020603050405020304"/>
                  <a:cs typeface="Times New Roman" panose="02020603050405020304"/>
                </a:rPr>
                <a:t> </a:t>
              </a:r>
              <a:r>
                <a:rPr sz="725" dirty="0">
                  <a:solidFill>
                    <a:srgbClr val="0C1C2B"/>
                  </a:solidFill>
                  <a:latin typeface="Times New Roman" panose="02020603050405020304"/>
                  <a:cs typeface="Times New Roman" panose="02020603050405020304"/>
                </a:rPr>
                <a:t>label</a:t>
              </a:r>
              <a:r>
                <a:rPr sz="725" spc="-4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correction</a:t>
              </a:r>
              <a:endParaRPr sz="725">
                <a:latin typeface="Times New Roman" panose="02020603050405020304"/>
                <a:cs typeface="Times New Roman" panose="02020603050405020304"/>
              </a:endParaRPr>
            </a:p>
          </p:txBody>
        </p:sp>
        <p:sp>
          <p:nvSpPr>
            <p:cNvPr id="95" name="object 95"/>
            <p:cNvSpPr/>
            <p:nvPr/>
          </p:nvSpPr>
          <p:spPr>
            <a:xfrm>
              <a:off x="10634" y="4966"/>
              <a:ext cx="0" cy="1147"/>
            </a:xfrm>
            <a:custGeom>
              <a:avLst/>
              <a:gdLst/>
              <a:ahLst/>
              <a:cxnLst/>
              <a:rect l="l" t="t" r="r" b="b"/>
              <a:pathLst>
                <a:path h="803275">
                  <a:moveTo>
                    <a:pt x="0" y="0"/>
                  </a:moveTo>
                  <a:lnTo>
                    <a:pt x="0" y="803148"/>
                  </a:lnTo>
                </a:path>
              </a:pathLst>
            </a:custGeom>
            <a:ln w="13716">
              <a:solidFill>
                <a:srgbClr val="0C1C2B"/>
              </a:solidFill>
              <a:prstDash val="sysDash"/>
            </a:ln>
          </p:spPr>
          <p:txBody>
            <a:bodyPr wrap="square" lIns="0" tIns="0" rIns="0" bIns="0" rtlCol="0"/>
            <a:lstStyle/>
            <a:p>
              <a:endParaRPr sz="1630"/>
            </a:p>
          </p:txBody>
        </p:sp>
        <p:grpSp>
          <p:nvGrpSpPr>
            <p:cNvPr id="96" name="object 96"/>
            <p:cNvGrpSpPr/>
            <p:nvPr/>
          </p:nvGrpSpPr>
          <p:grpSpPr>
            <a:xfrm>
              <a:off x="9921" y="3439"/>
              <a:ext cx="3139" cy="3087"/>
              <a:chOff x="5571744" y="2407920"/>
              <a:chExt cx="2198370" cy="2161540"/>
            </a:xfrm>
          </p:grpSpPr>
          <p:pic>
            <p:nvPicPr>
              <p:cNvPr id="97" name="object 97"/>
              <p:cNvPicPr/>
              <p:nvPr/>
            </p:nvPicPr>
            <p:blipFill>
              <a:blip r:embed="rId30" cstate="print"/>
              <a:stretch>
                <a:fillRect/>
              </a:stretch>
            </p:blipFill>
            <p:spPr>
              <a:xfrm>
                <a:off x="5571744" y="3919728"/>
                <a:ext cx="86867" cy="91440"/>
              </a:xfrm>
              <a:prstGeom prst="rect">
                <a:avLst/>
              </a:prstGeom>
            </p:spPr>
          </p:pic>
          <p:pic>
            <p:nvPicPr>
              <p:cNvPr id="98" name="object 98"/>
              <p:cNvPicPr/>
              <p:nvPr/>
            </p:nvPicPr>
            <p:blipFill>
              <a:blip r:embed="rId31" cstate="print"/>
              <a:stretch>
                <a:fillRect/>
              </a:stretch>
            </p:blipFill>
            <p:spPr>
              <a:xfrm>
                <a:off x="5923788" y="3477768"/>
                <a:ext cx="117348" cy="96012"/>
              </a:xfrm>
              <a:prstGeom prst="rect">
                <a:avLst/>
              </a:prstGeom>
            </p:spPr>
          </p:pic>
          <p:sp>
            <p:nvSpPr>
              <p:cNvPr id="99" name="object 99"/>
              <p:cNvSpPr/>
              <p:nvPr/>
            </p:nvSpPr>
            <p:spPr>
              <a:xfrm>
                <a:off x="6063996" y="2407919"/>
                <a:ext cx="1705610" cy="1030605"/>
              </a:xfrm>
              <a:custGeom>
                <a:avLst/>
                <a:gdLst/>
                <a:ahLst/>
                <a:cxnLst/>
                <a:rect l="l" t="t" r="r" b="b"/>
                <a:pathLst>
                  <a:path w="1705609" h="1030604">
                    <a:moveTo>
                      <a:pt x="13716" y="976884"/>
                    </a:moveTo>
                    <a:lnTo>
                      <a:pt x="0" y="976884"/>
                    </a:lnTo>
                    <a:lnTo>
                      <a:pt x="0" y="1030224"/>
                    </a:lnTo>
                    <a:lnTo>
                      <a:pt x="13716" y="1030224"/>
                    </a:lnTo>
                    <a:lnTo>
                      <a:pt x="13716" y="976884"/>
                    </a:lnTo>
                    <a:close/>
                  </a:path>
                  <a:path w="1705609" h="1030604">
                    <a:moveTo>
                      <a:pt x="13716" y="883920"/>
                    </a:moveTo>
                    <a:lnTo>
                      <a:pt x="0" y="883920"/>
                    </a:lnTo>
                    <a:lnTo>
                      <a:pt x="0" y="937260"/>
                    </a:lnTo>
                    <a:lnTo>
                      <a:pt x="13716" y="937260"/>
                    </a:lnTo>
                    <a:lnTo>
                      <a:pt x="13716" y="883920"/>
                    </a:lnTo>
                    <a:close/>
                  </a:path>
                  <a:path w="1705609" h="1030604">
                    <a:moveTo>
                      <a:pt x="13716" y="789432"/>
                    </a:moveTo>
                    <a:lnTo>
                      <a:pt x="0" y="789432"/>
                    </a:lnTo>
                    <a:lnTo>
                      <a:pt x="0" y="842772"/>
                    </a:lnTo>
                    <a:lnTo>
                      <a:pt x="13716" y="842772"/>
                    </a:lnTo>
                    <a:lnTo>
                      <a:pt x="13716" y="789432"/>
                    </a:lnTo>
                    <a:close/>
                  </a:path>
                  <a:path w="1705609" h="1030604">
                    <a:moveTo>
                      <a:pt x="13716" y="696468"/>
                    </a:moveTo>
                    <a:lnTo>
                      <a:pt x="0" y="696468"/>
                    </a:lnTo>
                    <a:lnTo>
                      <a:pt x="0" y="749808"/>
                    </a:lnTo>
                    <a:lnTo>
                      <a:pt x="13716" y="749808"/>
                    </a:lnTo>
                    <a:lnTo>
                      <a:pt x="13716" y="696468"/>
                    </a:lnTo>
                    <a:close/>
                  </a:path>
                  <a:path w="1705609" h="1030604">
                    <a:moveTo>
                      <a:pt x="13716" y="601980"/>
                    </a:moveTo>
                    <a:lnTo>
                      <a:pt x="0" y="601980"/>
                    </a:lnTo>
                    <a:lnTo>
                      <a:pt x="0" y="656844"/>
                    </a:lnTo>
                    <a:lnTo>
                      <a:pt x="13716" y="656844"/>
                    </a:lnTo>
                    <a:lnTo>
                      <a:pt x="13716" y="601980"/>
                    </a:lnTo>
                    <a:close/>
                  </a:path>
                  <a:path w="1705609" h="1030604">
                    <a:moveTo>
                      <a:pt x="13716" y="509016"/>
                    </a:moveTo>
                    <a:lnTo>
                      <a:pt x="0" y="509016"/>
                    </a:lnTo>
                    <a:lnTo>
                      <a:pt x="0" y="562356"/>
                    </a:lnTo>
                    <a:lnTo>
                      <a:pt x="13716" y="562356"/>
                    </a:lnTo>
                    <a:lnTo>
                      <a:pt x="13716" y="509016"/>
                    </a:lnTo>
                    <a:close/>
                  </a:path>
                  <a:path w="1705609" h="1030604">
                    <a:moveTo>
                      <a:pt x="13716" y="416052"/>
                    </a:moveTo>
                    <a:lnTo>
                      <a:pt x="0" y="416052"/>
                    </a:lnTo>
                    <a:lnTo>
                      <a:pt x="0" y="469392"/>
                    </a:lnTo>
                    <a:lnTo>
                      <a:pt x="13716" y="469392"/>
                    </a:lnTo>
                    <a:lnTo>
                      <a:pt x="13716" y="416052"/>
                    </a:lnTo>
                    <a:close/>
                  </a:path>
                  <a:path w="1705609" h="1030604">
                    <a:moveTo>
                      <a:pt x="13716" y="321564"/>
                    </a:moveTo>
                    <a:lnTo>
                      <a:pt x="0" y="321564"/>
                    </a:lnTo>
                    <a:lnTo>
                      <a:pt x="0" y="374904"/>
                    </a:lnTo>
                    <a:lnTo>
                      <a:pt x="13716" y="374904"/>
                    </a:lnTo>
                    <a:lnTo>
                      <a:pt x="13716" y="321564"/>
                    </a:lnTo>
                    <a:close/>
                  </a:path>
                  <a:path w="1705609" h="1030604">
                    <a:moveTo>
                      <a:pt x="19812" y="230124"/>
                    </a:moveTo>
                    <a:lnTo>
                      <a:pt x="6096" y="227076"/>
                    </a:lnTo>
                    <a:lnTo>
                      <a:pt x="6096" y="230124"/>
                    </a:lnTo>
                    <a:lnTo>
                      <a:pt x="3048" y="243840"/>
                    </a:lnTo>
                    <a:lnTo>
                      <a:pt x="1524" y="259080"/>
                    </a:lnTo>
                    <a:lnTo>
                      <a:pt x="0" y="272796"/>
                    </a:lnTo>
                    <a:lnTo>
                      <a:pt x="0" y="281940"/>
                    </a:lnTo>
                    <a:lnTo>
                      <a:pt x="13716" y="281940"/>
                    </a:lnTo>
                    <a:lnTo>
                      <a:pt x="13716" y="260604"/>
                    </a:lnTo>
                    <a:lnTo>
                      <a:pt x="14020" y="259080"/>
                    </a:lnTo>
                    <a:lnTo>
                      <a:pt x="16764" y="245364"/>
                    </a:lnTo>
                    <a:lnTo>
                      <a:pt x="16764" y="246888"/>
                    </a:lnTo>
                    <a:lnTo>
                      <a:pt x="16929" y="245364"/>
                    </a:lnTo>
                    <a:lnTo>
                      <a:pt x="18288" y="233172"/>
                    </a:lnTo>
                    <a:lnTo>
                      <a:pt x="19812" y="230124"/>
                    </a:lnTo>
                    <a:close/>
                  </a:path>
                  <a:path w="1705609" h="1030604">
                    <a:moveTo>
                      <a:pt x="53327" y="146316"/>
                    </a:moveTo>
                    <a:lnTo>
                      <a:pt x="41135" y="138696"/>
                    </a:lnTo>
                    <a:lnTo>
                      <a:pt x="35039" y="150888"/>
                    </a:lnTo>
                    <a:lnTo>
                      <a:pt x="27419" y="163080"/>
                    </a:lnTo>
                    <a:lnTo>
                      <a:pt x="18275" y="187464"/>
                    </a:lnTo>
                    <a:lnTo>
                      <a:pt x="30467" y="193560"/>
                    </a:lnTo>
                    <a:lnTo>
                      <a:pt x="39611" y="169176"/>
                    </a:lnTo>
                    <a:lnTo>
                      <a:pt x="45707" y="156984"/>
                    </a:lnTo>
                    <a:lnTo>
                      <a:pt x="53327" y="146316"/>
                    </a:lnTo>
                    <a:close/>
                  </a:path>
                  <a:path w="1705609" h="1030604">
                    <a:moveTo>
                      <a:pt x="112763" y="76212"/>
                    </a:moveTo>
                    <a:lnTo>
                      <a:pt x="103619" y="67068"/>
                    </a:lnTo>
                    <a:lnTo>
                      <a:pt x="83807" y="83832"/>
                    </a:lnTo>
                    <a:lnTo>
                      <a:pt x="65519" y="105168"/>
                    </a:lnTo>
                    <a:lnTo>
                      <a:pt x="63995" y="105168"/>
                    </a:lnTo>
                    <a:lnTo>
                      <a:pt x="76187" y="114312"/>
                    </a:lnTo>
                    <a:lnTo>
                      <a:pt x="76187" y="112788"/>
                    </a:lnTo>
                    <a:lnTo>
                      <a:pt x="94475" y="92976"/>
                    </a:lnTo>
                    <a:lnTo>
                      <a:pt x="92951" y="92976"/>
                    </a:lnTo>
                    <a:lnTo>
                      <a:pt x="112763" y="76212"/>
                    </a:lnTo>
                    <a:close/>
                  </a:path>
                  <a:path w="1705609" h="1030604">
                    <a:moveTo>
                      <a:pt x="190487" y="30492"/>
                    </a:moveTo>
                    <a:lnTo>
                      <a:pt x="185915" y="18300"/>
                    </a:lnTo>
                    <a:lnTo>
                      <a:pt x="176771" y="21348"/>
                    </a:lnTo>
                    <a:lnTo>
                      <a:pt x="163055" y="27444"/>
                    </a:lnTo>
                    <a:lnTo>
                      <a:pt x="150863" y="33540"/>
                    </a:lnTo>
                    <a:lnTo>
                      <a:pt x="137147" y="42684"/>
                    </a:lnTo>
                    <a:lnTo>
                      <a:pt x="143243" y="54876"/>
                    </a:lnTo>
                    <a:lnTo>
                      <a:pt x="156959" y="45732"/>
                    </a:lnTo>
                    <a:lnTo>
                      <a:pt x="169151" y="39636"/>
                    </a:lnTo>
                    <a:lnTo>
                      <a:pt x="181343" y="35064"/>
                    </a:lnTo>
                    <a:lnTo>
                      <a:pt x="190487" y="30492"/>
                    </a:lnTo>
                    <a:close/>
                  </a:path>
                  <a:path w="1705609" h="1030604">
                    <a:moveTo>
                      <a:pt x="278879" y="12"/>
                    </a:moveTo>
                    <a:lnTo>
                      <a:pt x="274307" y="12"/>
                    </a:lnTo>
                    <a:lnTo>
                      <a:pt x="243827" y="3060"/>
                    </a:lnTo>
                    <a:lnTo>
                      <a:pt x="230111" y="4584"/>
                    </a:lnTo>
                    <a:lnTo>
                      <a:pt x="224015" y="6108"/>
                    </a:lnTo>
                    <a:lnTo>
                      <a:pt x="227063" y="19824"/>
                    </a:lnTo>
                    <a:lnTo>
                      <a:pt x="233159" y="18300"/>
                    </a:lnTo>
                    <a:lnTo>
                      <a:pt x="246875" y="15252"/>
                    </a:lnTo>
                    <a:lnTo>
                      <a:pt x="260591" y="13728"/>
                    </a:lnTo>
                    <a:lnTo>
                      <a:pt x="278879" y="13728"/>
                    </a:lnTo>
                    <a:lnTo>
                      <a:pt x="278879" y="12"/>
                    </a:lnTo>
                    <a:close/>
                  </a:path>
                  <a:path w="1705609" h="1030604">
                    <a:moveTo>
                      <a:pt x="373367" y="12"/>
                    </a:moveTo>
                    <a:lnTo>
                      <a:pt x="320027" y="12"/>
                    </a:lnTo>
                    <a:lnTo>
                      <a:pt x="320027" y="12204"/>
                    </a:lnTo>
                    <a:lnTo>
                      <a:pt x="373367" y="12204"/>
                    </a:lnTo>
                    <a:lnTo>
                      <a:pt x="373367" y="12"/>
                    </a:lnTo>
                    <a:close/>
                  </a:path>
                  <a:path w="1705609" h="1030604">
                    <a:moveTo>
                      <a:pt x="466344" y="12"/>
                    </a:moveTo>
                    <a:lnTo>
                      <a:pt x="412991" y="12"/>
                    </a:lnTo>
                    <a:lnTo>
                      <a:pt x="412991" y="12204"/>
                    </a:lnTo>
                    <a:lnTo>
                      <a:pt x="466344" y="12204"/>
                    </a:lnTo>
                    <a:lnTo>
                      <a:pt x="466344" y="12"/>
                    </a:lnTo>
                    <a:close/>
                  </a:path>
                  <a:path w="1705609" h="1030604">
                    <a:moveTo>
                      <a:pt x="559295" y="12"/>
                    </a:moveTo>
                    <a:lnTo>
                      <a:pt x="505968" y="12"/>
                    </a:lnTo>
                    <a:lnTo>
                      <a:pt x="505968" y="12204"/>
                    </a:lnTo>
                    <a:lnTo>
                      <a:pt x="559295" y="12204"/>
                    </a:lnTo>
                    <a:lnTo>
                      <a:pt x="559295" y="12"/>
                    </a:lnTo>
                    <a:close/>
                  </a:path>
                  <a:path w="1705609" h="1030604">
                    <a:moveTo>
                      <a:pt x="653796" y="12"/>
                    </a:moveTo>
                    <a:lnTo>
                      <a:pt x="600443" y="12"/>
                    </a:lnTo>
                    <a:lnTo>
                      <a:pt x="600443" y="12204"/>
                    </a:lnTo>
                    <a:lnTo>
                      <a:pt x="653796" y="12204"/>
                    </a:lnTo>
                    <a:lnTo>
                      <a:pt x="653796" y="12"/>
                    </a:lnTo>
                    <a:close/>
                  </a:path>
                  <a:path w="1705609" h="1030604">
                    <a:moveTo>
                      <a:pt x="746760" y="12"/>
                    </a:moveTo>
                    <a:lnTo>
                      <a:pt x="693407" y="12"/>
                    </a:lnTo>
                    <a:lnTo>
                      <a:pt x="693407" y="12204"/>
                    </a:lnTo>
                    <a:lnTo>
                      <a:pt x="746760" y="12204"/>
                    </a:lnTo>
                    <a:lnTo>
                      <a:pt x="746760" y="12"/>
                    </a:lnTo>
                    <a:close/>
                  </a:path>
                  <a:path w="1705609" h="1030604">
                    <a:moveTo>
                      <a:pt x="841248" y="0"/>
                    </a:moveTo>
                    <a:lnTo>
                      <a:pt x="786384" y="0"/>
                    </a:lnTo>
                    <a:lnTo>
                      <a:pt x="786384" y="12192"/>
                    </a:lnTo>
                    <a:lnTo>
                      <a:pt x="841248" y="12192"/>
                    </a:lnTo>
                    <a:lnTo>
                      <a:pt x="841248" y="0"/>
                    </a:lnTo>
                    <a:close/>
                  </a:path>
                  <a:path w="1705609" h="1030604">
                    <a:moveTo>
                      <a:pt x="934212" y="0"/>
                    </a:moveTo>
                    <a:lnTo>
                      <a:pt x="880872" y="0"/>
                    </a:lnTo>
                    <a:lnTo>
                      <a:pt x="880872" y="12192"/>
                    </a:lnTo>
                    <a:lnTo>
                      <a:pt x="934212" y="12192"/>
                    </a:lnTo>
                    <a:lnTo>
                      <a:pt x="934212" y="0"/>
                    </a:lnTo>
                    <a:close/>
                  </a:path>
                  <a:path w="1705609" h="1030604">
                    <a:moveTo>
                      <a:pt x="1027176" y="0"/>
                    </a:moveTo>
                    <a:lnTo>
                      <a:pt x="973836" y="0"/>
                    </a:lnTo>
                    <a:lnTo>
                      <a:pt x="973836" y="12192"/>
                    </a:lnTo>
                    <a:lnTo>
                      <a:pt x="1027176" y="12192"/>
                    </a:lnTo>
                    <a:lnTo>
                      <a:pt x="1027176" y="0"/>
                    </a:lnTo>
                    <a:close/>
                  </a:path>
                  <a:path w="1705609" h="1030604">
                    <a:moveTo>
                      <a:pt x="1121664" y="0"/>
                    </a:moveTo>
                    <a:lnTo>
                      <a:pt x="1068324" y="0"/>
                    </a:lnTo>
                    <a:lnTo>
                      <a:pt x="1068324" y="12192"/>
                    </a:lnTo>
                    <a:lnTo>
                      <a:pt x="1121664" y="12192"/>
                    </a:lnTo>
                    <a:lnTo>
                      <a:pt x="1121664" y="0"/>
                    </a:lnTo>
                    <a:close/>
                  </a:path>
                  <a:path w="1705609" h="1030604">
                    <a:moveTo>
                      <a:pt x="1214628" y="0"/>
                    </a:moveTo>
                    <a:lnTo>
                      <a:pt x="1161288" y="0"/>
                    </a:lnTo>
                    <a:lnTo>
                      <a:pt x="1161288" y="12192"/>
                    </a:lnTo>
                    <a:lnTo>
                      <a:pt x="1214628" y="12192"/>
                    </a:lnTo>
                    <a:lnTo>
                      <a:pt x="1214628" y="0"/>
                    </a:lnTo>
                    <a:close/>
                  </a:path>
                  <a:path w="1705609" h="1030604">
                    <a:moveTo>
                      <a:pt x="1307592" y="0"/>
                    </a:moveTo>
                    <a:lnTo>
                      <a:pt x="1254252" y="0"/>
                    </a:lnTo>
                    <a:lnTo>
                      <a:pt x="1254252" y="12192"/>
                    </a:lnTo>
                    <a:lnTo>
                      <a:pt x="1307592" y="12192"/>
                    </a:lnTo>
                    <a:lnTo>
                      <a:pt x="1307592" y="0"/>
                    </a:lnTo>
                    <a:close/>
                  </a:path>
                  <a:path w="1705609" h="1030604">
                    <a:moveTo>
                      <a:pt x="1402080" y="0"/>
                    </a:moveTo>
                    <a:lnTo>
                      <a:pt x="1348740" y="0"/>
                    </a:lnTo>
                    <a:lnTo>
                      <a:pt x="1348740" y="12192"/>
                    </a:lnTo>
                    <a:lnTo>
                      <a:pt x="1402080" y="12192"/>
                    </a:lnTo>
                    <a:lnTo>
                      <a:pt x="1402080" y="0"/>
                    </a:lnTo>
                    <a:close/>
                  </a:path>
                  <a:path w="1705609" h="1030604">
                    <a:moveTo>
                      <a:pt x="1496568" y="10668"/>
                    </a:moveTo>
                    <a:lnTo>
                      <a:pt x="1488948" y="9144"/>
                    </a:lnTo>
                    <a:lnTo>
                      <a:pt x="1475232" y="4572"/>
                    </a:lnTo>
                    <a:lnTo>
                      <a:pt x="1461516" y="3048"/>
                    </a:lnTo>
                    <a:lnTo>
                      <a:pt x="1446276" y="1524"/>
                    </a:lnTo>
                    <a:lnTo>
                      <a:pt x="1441704" y="0"/>
                    </a:lnTo>
                    <a:lnTo>
                      <a:pt x="1441704" y="13716"/>
                    </a:lnTo>
                    <a:lnTo>
                      <a:pt x="1444752" y="13716"/>
                    </a:lnTo>
                    <a:lnTo>
                      <a:pt x="1458468" y="15240"/>
                    </a:lnTo>
                    <a:lnTo>
                      <a:pt x="1485900" y="21336"/>
                    </a:lnTo>
                    <a:lnTo>
                      <a:pt x="1491996" y="22860"/>
                    </a:lnTo>
                    <a:lnTo>
                      <a:pt x="1496568" y="10668"/>
                    </a:lnTo>
                    <a:close/>
                  </a:path>
                  <a:path w="1705609" h="1030604">
                    <a:moveTo>
                      <a:pt x="1581912" y="51816"/>
                    </a:moveTo>
                    <a:lnTo>
                      <a:pt x="1578864" y="48768"/>
                    </a:lnTo>
                    <a:lnTo>
                      <a:pt x="1554480" y="33528"/>
                    </a:lnTo>
                    <a:lnTo>
                      <a:pt x="1542288" y="27432"/>
                    </a:lnTo>
                    <a:lnTo>
                      <a:pt x="1534668" y="24384"/>
                    </a:lnTo>
                    <a:lnTo>
                      <a:pt x="1528572" y="36576"/>
                    </a:lnTo>
                    <a:lnTo>
                      <a:pt x="1536192" y="39624"/>
                    </a:lnTo>
                    <a:lnTo>
                      <a:pt x="1548384" y="45720"/>
                    </a:lnTo>
                    <a:lnTo>
                      <a:pt x="1571244" y="59436"/>
                    </a:lnTo>
                    <a:lnTo>
                      <a:pt x="1574292" y="62484"/>
                    </a:lnTo>
                    <a:lnTo>
                      <a:pt x="1581912" y="51816"/>
                    </a:lnTo>
                    <a:close/>
                  </a:path>
                  <a:path w="1705609" h="1030604">
                    <a:moveTo>
                      <a:pt x="1650492" y="118872"/>
                    </a:moveTo>
                    <a:lnTo>
                      <a:pt x="1639824" y="105156"/>
                    </a:lnTo>
                    <a:lnTo>
                      <a:pt x="1621536" y="83820"/>
                    </a:lnTo>
                    <a:lnTo>
                      <a:pt x="1613916" y="77724"/>
                    </a:lnTo>
                    <a:lnTo>
                      <a:pt x="1604772" y="86868"/>
                    </a:lnTo>
                    <a:lnTo>
                      <a:pt x="1612392" y="92964"/>
                    </a:lnTo>
                    <a:lnTo>
                      <a:pt x="1610868" y="92964"/>
                    </a:lnTo>
                    <a:lnTo>
                      <a:pt x="1629156" y="112776"/>
                    </a:lnTo>
                    <a:lnTo>
                      <a:pt x="1639824" y="126492"/>
                    </a:lnTo>
                    <a:lnTo>
                      <a:pt x="1650492" y="118872"/>
                    </a:lnTo>
                    <a:close/>
                  </a:path>
                  <a:path w="1705609" h="1030604">
                    <a:moveTo>
                      <a:pt x="1693164" y="202692"/>
                    </a:moveTo>
                    <a:lnTo>
                      <a:pt x="1688592" y="188976"/>
                    </a:lnTo>
                    <a:lnTo>
                      <a:pt x="1682496" y="175260"/>
                    </a:lnTo>
                    <a:lnTo>
                      <a:pt x="1677924" y="163068"/>
                    </a:lnTo>
                    <a:lnTo>
                      <a:pt x="1671828" y="152400"/>
                    </a:lnTo>
                    <a:lnTo>
                      <a:pt x="1659636" y="158496"/>
                    </a:lnTo>
                    <a:lnTo>
                      <a:pt x="1665732" y="169164"/>
                    </a:lnTo>
                    <a:lnTo>
                      <a:pt x="1670304" y="181356"/>
                    </a:lnTo>
                    <a:lnTo>
                      <a:pt x="1676400" y="193548"/>
                    </a:lnTo>
                    <a:lnTo>
                      <a:pt x="1679448" y="205740"/>
                    </a:lnTo>
                    <a:lnTo>
                      <a:pt x="1680972" y="207264"/>
                    </a:lnTo>
                    <a:lnTo>
                      <a:pt x="1693164" y="204216"/>
                    </a:lnTo>
                    <a:lnTo>
                      <a:pt x="1693164" y="202692"/>
                    </a:lnTo>
                    <a:close/>
                  </a:path>
                  <a:path w="1705609" h="1030604">
                    <a:moveTo>
                      <a:pt x="1705356" y="806196"/>
                    </a:moveTo>
                    <a:lnTo>
                      <a:pt x="1693164" y="806196"/>
                    </a:lnTo>
                    <a:lnTo>
                      <a:pt x="1693164" y="859536"/>
                    </a:lnTo>
                    <a:lnTo>
                      <a:pt x="1705356" y="859536"/>
                    </a:lnTo>
                    <a:lnTo>
                      <a:pt x="1705356" y="806196"/>
                    </a:lnTo>
                    <a:close/>
                  </a:path>
                  <a:path w="1705609" h="1030604">
                    <a:moveTo>
                      <a:pt x="1705356" y="711708"/>
                    </a:moveTo>
                    <a:lnTo>
                      <a:pt x="1693164" y="711708"/>
                    </a:lnTo>
                    <a:lnTo>
                      <a:pt x="1693164" y="765048"/>
                    </a:lnTo>
                    <a:lnTo>
                      <a:pt x="1705356" y="765048"/>
                    </a:lnTo>
                    <a:lnTo>
                      <a:pt x="1705356" y="711708"/>
                    </a:lnTo>
                    <a:close/>
                  </a:path>
                  <a:path w="1705609" h="1030604">
                    <a:moveTo>
                      <a:pt x="1705356" y="618744"/>
                    </a:moveTo>
                    <a:lnTo>
                      <a:pt x="1693164" y="618744"/>
                    </a:lnTo>
                    <a:lnTo>
                      <a:pt x="1693164" y="672084"/>
                    </a:lnTo>
                    <a:lnTo>
                      <a:pt x="1705356" y="672084"/>
                    </a:lnTo>
                    <a:lnTo>
                      <a:pt x="1705356" y="618744"/>
                    </a:lnTo>
                    <a:close/>
                  </a:path>
                  <a:path w="1705609" h="1030604">
                    <a:moveTo>
                      <a:pt x="1705356" y="524256"/>
                    </a:moveTo>
                    <a:lnTo>
                      <a:pt x="1693164" y="524256"/>
                    </a:lnTo>
                    <a:lnTo>
                      <a:pt x="1693164" y="577596"/>
                    </a:lnTo>
                    <a:lnTo>
                      <a:pt x="1705356" y="577596"/>
                    </a:lnTo>
                    <a:lnTo>
                      <a:pt x="1705356" y="524256"/>
                    </a:lnTo>
                    <a:close/>
                  </a:path>
                  <a:path w="1705609" h="1030604">
                    <a:moveTo>
                      <a:pt x="1705356" y="431292"/>
                    </a:moveTo>
                    <a:lnTo>
                      <a:pt x="1693164" y="431292"/>
                    </a:lnTo>
                    <a:lnTo>
                      <a:pt x="1693164" y="484632"/>
                    </a:lnTo>
                    <a:lnTo>
                      <a:pt x="1705356" y="484632"/>
                    </a:lnTo>
                    <a:lnTo>
                      <a:pt x="1705356" y="431292"/>
                    </a:lnTo>
                    <a:close/>
                  </a:path>
                  <a:path w="1705609" h="1030604">
                    <a:moveTo>
                      <a:pt x="1705356" y="338328"/>
                    </a:moveTo>
                    <a:lnTo>
                      <a:pt x="1693164" y="338328"/>
                    </a:lnTo>
                    <a:lnTo>
                      <a:pt x="1693164" y="391668"/>
                    </a:lnTo>
                    <a:lnTo>
                      <a:pt x="1705356" y="391668"/>
                    </a:lnTo>
                    <a:lnTo>
                      <a:pt x="1705356" y="338328"/>
                    </a:lnTo>
                    <a:close/>
                  </a:path>
                  <a:path w="1705609" h="1030604">
                    <a:moveTo>
                      <a:pt x="1705356" y="272796"/>
                    </a:moveTo>
                    <a:lnTo>
                      <a:pt x="1703832" y="259080"/>
                    </a:lnTo>
                    <a:lnTo>
                      <a:pt x="1702308" y="243840"/>
                    </a:lnTo>
                    <a:lnTo>
                      <a:pt x="1688592" y="245364"/>
                    </a:lnTo>
                    <a:lnTo>
                      <a:pt x="1691640" y="260604"/>
                    </a:lnTo>
                    <a:lnTo>
                      <a:pt x="1691640" y="274320"/>
                    </a:lnTo>
                    <a:lnTo>
                      <a:pt x="1693164" y="288036"/>
                    </a:lnTo>
                    <a:lnTo>
                      <a:pt x="1693164" y="297180"/>
                    </a:lnTo>
                    <a:lnTo>
                      <a:pt x="1705356" y="297180"/>
                    </a:lnTo>
                    <a:lnTo>
                      <a:pt x="1705356" y="272796"/>
                    </a:lnTo>
                    <a:close/>
                  </a:path>
                </a:pathLst>
              </a:custGeom>
              <a:solidFill>
                <a:srgbClr val="0C1C2B"/>
              </a:solidFill>
            </p:spPr>
            <p:txBody>
              <a:bodyPr wrap="square" lIns="0" tIns="0" rIns="0" bIns="0" rtlCol="0"/>
              <a:lstStyle/>
              <a:p>
                <a:endParaRPr sz="1630"/>
              </a:p>
            </p:txBody>
          </p:sp>
          <p:sp>
            <p:nvSpPr>
              <p:cNvPr id="100" name="object 100"/>
              <p:cNvSpPr/>
              <p:nvPr/>
            </p:nvSpPr>
            <p:spPr>
              <a:xfrm>
                <a:off x="7763256" y="3307080"/>
                <a:ext cx="0" cy="802005"/>
              </a:xfrm>
              <a:custGeom>
                <a:avLst/>
                <a:gdLst/>
                <a:ahLst/>
                <a:cxnLst/>
                <a:rect l="l" t="t" r="r" b="b"/>
                <a:pathLst>
                  <a:path h="802004">
                    <a:moveTo>
                      <a:pt x="0" y="0"/>
                    </a:moveTo>
                    <a:lnTo>
                      <a:pt x="0" y="801624"/>
                    </a:lnTo>
                  </a:path>
                </a:pathLst>
              </a:custGeom>
              <a:ln w="12192">
                <a:solidFill>
                  <a:srgbClr val="0C1C2B"/>
                </a:solidFill>
                <a:prstDash val="sysDash"/>
              </a:ln>
            </p:spPr>
            <p:txBody>
              <a:bodyPr wrap="square" lIns="0" tIns="0" rIns="0" bIns="0" rtlCol="0"/>
              <a:lstStyle/>
              <a:p>
                <a:endParaRPr sz="1630"/>
              </a:p>
            </p:txBody>
          </p:sp>
          <p:sp>
            <p:nvSpPr>
              <p:cNvPr id="101" name="object 101"/>
              <p:cNvSpPr/>
              <p:nvPr/>
            </p:nvSpPr>
            <p:spPr>
              <a:xfrm>
                <a:off x="6065520" y="4148327"/>
                <a:ext cx="1704339" cy="421005"/>
              </a:xfrm>
              <a:custGeom>
                <a:avLst/>
                <a:gdLst/>
                <a:ahLst/>
                <a:cxnLst/>
                <a:rect l="l" t="t" r="r" b="b"/>
                <a:pathLst>
                  <a:path w="1704340" h="421004">
                    <a:moveTo>
                      <a:pt x="24384" y="213360"/>
                    </a:moveTo>
                    <a:lnTo>
                      <a:pt x="19812" y="201168"/>
                    </a:lnTo>
                    <a:lnTo>
                      <a:pt x="16764" y="187452"/>
                    </a:lnTo>
                    <a:lnTo>
                      <a:pt x="15240" y="173736"/>
                    </a:lnTo>
                    <a:lnTo>
                      <a:pt x="13716" y="166116"/>
                    </a:lnTo>
                    <a:lnTo>
                      <a:pt x="0" y="167640"/>
                    </a:lnTo>
                    <a:lnTo>
                      <a:pt x="4572" y="190500"/>
                    </a:lnTo>
                    <a:lnTo>
                      <a:pt x="10668" y="217932"/>
                    </a:lnTo>
                    <a:lnTo>
                      <a:pt x="12192" y="220980"/>
                    </a:lnTo>
                    <a:lnTo>
                      <a:pt x="24384" y="216408"/>
                    </a:lnTo>
                    <a:lnTo>
                      <a:pt x="24384" y="213360"/>
                    </a:lnTo>
                    <a:close/>
                  </a:path>
                  <a:path w="1704340" h="421004">
                    <a:moveTo>
                      <a:pt x="67056" y="297180"/>
                    </a:moveTo>
                    <a:lnTo>
                      <a:pt x="57912" y="284988"/>
                    </a:lnTo>
                    <a:lnTo>
                      <a:pt x="59436" y="286512"/>
                    </a:lnTo>
                    <a:lnTo>
                      <a:pt x="58420" y="284988"/>
                    </a:lnTo>
                    <a:lnTo>
                      <a:pt x="44196" y="263652"/>
                    </a:lnTo>
                    <a:lnTo>
                      <a:pt x="39624" y="252984"/>
                    </a:lnTo>
                    <a:lnTo>
                      <a:pt x="27432" y="259080"/>
                    </a:lnTo>
                    <a:lnTo>
                      <a:pt x="33528" y="269748"/>
                    </a:lnTo>
                    <a:lnTo>
                      <a:pt x="47244" y="294132"/>
                    </a:lnTo>
                    <a:lnTo>
                      <a:pt x="56388" y="304800"/>
                    </a:lnTo>
                    <a:lnTo>
                      <a:pt x="67056" y="297180"/>
                    </a:lnTo>
                    <a:close/>
                  </a:path>
                  <a:path w="1704340" h="421004">
                    <a:moveTo>
                      <a:pt x="132588" y="359664"/>
                    </a:moveTo>
                    <a:lnTo>
                      <a:pt x="111252" y="344424"/>
                    </a:lnTo>
                    <a:lnTo>
                      <a:pt x="91440" y="326136"/>
                    </a:lnTo>
                    <a:lnTo>
                      <a:pt x="92964" y="327660"/>
                    </a:lnTo>
                    <a:lnTo>
                      <a:pt x="82296" y="335280"/>
                    </a:lnTo>
                    <a:lnTo>
                      <a:pt x="82296" y="336804"/>
                    </a:lnTo>
                    <a:lnTo>
                      <a:pt x="103632" y="355092"/>
                    </a:lnTo>
                    <a:lnTo>
                      <a:pt x="124968" y="370332"/>
                    </a:lnTo>
                    <a:lnTo>
                      <a:pt x="132588" y="359664"/>
                    </a:lnTo>
                    <a:close/>
                  </a:path>
                  <a:path w="1704340" h="421004">
                    <a:moveTo>
                      <a:pt x="214884" y="397764"/>
                    </a:moveTo>
                    <a:lnTo>
                      <a:pt x="204216" y="394716"/>
                    </a:lnTo>
                    <a:lnTo>
                      <a:pt x="205740" y="394716"/>
                    </a:lnTo>
                    <a:lnTo>
                      <a:pt x="192024" y="390144"/>
                    </a:lnTo>
                    <a:lnTo>
                      <a:pt x="179832" y="385572"/>
                    </a:lnTo>
                    <a:lnTo>
                      <a:pt x="170688" y="381000"/>
                    </a:lnTo>
                    <a:lnTo>
                      <a:pt x="167640" y="379476"/>
                    </a:lnTo>
                    <a:lnTo>
                      <a:pt x="167640" y="381000"/>
                    </a:lnTo>
                    <a:lnTo>
                      <a:pt x="166116" y="379476"/>
                    </a:lnTo>
                    <a:lnTo>
                      <a:pt x="160020" y="391668"/>
                    </a:lnTo>
                    <a:lnTo>
                      <a:pt x="161544" y="391668"/>
                    </a:lnTo>
                    <a:lnTo>
                      <a:pt x="175260" y="397764"/>
                    </a:lnTo>
                    <a:lnTo>
                      <a:pt x="187452" y="403860"/>
                    </a:lnTo>
                    <a:lnTo>
                      <a:pt x="201168" y="408432"/>
                    </a:lnTo>
                    <a:lnTo>
                      <a:pt x="211836" y="411480"/>
                    </a:lnTo>
                    <a:lnTo>
                      <a:pt x="214884" y="397764"/>
                    </a:lnTo>
                    <a:close/>
                  </a:path>
                  <a:path w="1704340" h="421004">
                    <a:moveTo>
                      <a:pt x="306324" y="406908"/>
                    </a:moveTo>
                    <a:lnTo>
                      <a:pt x="272796" y="406908"/>
                    </a:lnTo>
                    <a:lnTo>
                      <a:pt x="259080" y="405384"/>
                    </a:lnTo>
                    <a:lnTo>
                      <a:pt x="252984" y="405384"/>
                    </a:lnTo>
                    <a:lnTo>
                      <a:pt x="251460" y="419100"/>
                    </a:lnTo>
                    <a:lnTo>
                      <a:pt x="257556" y="419100"/>
                    </a:lnTo>
                    <a:lnTo>
                      <a:pt x="272796" y="420624"/>
                    </a:lnTo>
                    <a:lnTo>
                      <a:pt x="306324" y="420624"/>
                    </a:lnTo>
                    <a:lnTo>
                      <a:pt x="306324" y="406908"/>
                    </a:lnTo>
                    <a:close/>
                  </a:path>
                  <a:path w="1704340" h="421004">
                    <a:moveTo>
                      <a:pt x="399288" y="406908"/>
                    </a:moveTo>
                    <a:lnTo>
                      <a:pt x="345948" y="406908"/>
                    </a:lnTo>
                    <a:lnTo>
                      <a:pt x="345948" y="420624"/>
                    </a:lnTo>
                    <a:lnTo>
                      <a:pt x="399288" y="420624"/>
                    </a:lnTo>
                    <a:lnTo>
                      <a:pt x="399288" y="406908"/>
                    </a:lnTo>
                    <a:close/>
                  </a:path>
                  <a:path w="1704340" h="421004">
                    <a:moveTo>
                      <a:pt x="493776" y="406908"/>
                    </a:moveTo>
                    <a:lnTo>
                      <a:pt x="438912" y="406908"/>
                    </a:lnTo>
                    <a:lnTo>
                      <a:pt x="438912" y="420624"/>
                    </a:lnTo>
                    <a:lnTo>
                      <a:pt x="493776" y="420624"/>
                    </a:lnTo>
                    <a:lnTo>
                      <a:pt x="493776" y="406908"/>
                    </a:lnTo>
                    <a:close/>
                  </a:path>
                  <a:path w="1704340" h="421004">
                    <a:moveTo>
                      <a:pt x="586740" y="406908"/>
                    </a:moveTo>
                    <a:lnTo>
                      <a:pt x="533400" y="406908"/>
                    </a:lnTo>
                    <a:lnTo>
                      <a:pt x="533400" y="420624"/>
                    </a:lnTo>
                    <a:lnTo>
                      <a:pt x="586740" y="420624"/>
                    </a:lnTo>
                    <a:lnTo>
                      <a:pt x="586740" y="406908"/>
                    </a:lnTo>
                    <a:close/>
                  </a:path>
                  <a:path w="1704340" h="421004">
                    <a:moveTo>
                      <a:pt x="679704" y="406908"/>
                    </a:moveTo>
                    <a:lnTo>
                      <a:pt x="626364" y="406908"/>
                    </a:lnTo>
                    <a:lnTo>
                      <a:pt x="626364" y="420624"/>
                    </a:lnTo>
                    <a:lnTo>
                      <a:pt x="679704" y="420624"/>
                    </a:lnTo>
                    <a:lnTo>
                      <a:pt x="679704" y="406908"/>
                    </a:lnTo>
                    <a:close/>
                  </a:path>
                  <a:path w="1704340" h="421004">
                    <a:moveTo>
                      <a:pt x="774192" y="406908"/>
                    </a:moveTo>
                    <a:lnTo>
                      <a:pt x="720852" y="406908"/>
                    </a:lnTo>
                    <a:lnTo>
                      <a:pt x="720852" y="420624"/>
                    </a:lnTo>
                    <a:lnTo>
                      <a:pt x="774192" y="420624"/>
                    </a:lnTo>
                    <a:lnTo>
                      <a:pt x="774192" y="406908"/>
                    </a:lnTo>
                    <a:close/>
                  </a:path>
                  <a:path w="1704340" h="421004">
                    <a:moveTo>
                      <a:pt x="867156" y="406908"/>
                    </a:moveTo>
                    <a:lnTo>
                      <a:pt x="813816" y="406908"/>
                    </a:lnTo>
                    <a:lnTo>
                      <a:pt x="813816" y="420624"/>
                    </a:lnTo>
                    <a:lnTo>
                      <a:pt x="867156" y="420624"/>
                    </a:lnTo>
                    <a:lnTo>
                      <a:pt x="867156" y="406908"/>
                    </a:lnTo>
                    <a:close/>
                  </a:path>
                  <a:path w="1704340" h="421004">
                    <a:moveTo>
                      <a:pt x="960120" y="406908"/>
                    </a:moveTo>
                    <a:lnTo>
                      <a:pt x="906780" y="406908"/>
                    </a:lnTo>
                    <a:lnTo>
                      <a:pt x="906780" y="420624"/>
                    </a:lnTo>
                    <a:lnTo>
                      <a:pt x="960120" y="420624"/>
                    </a:lnTo>
                    <a:lnTo>
                      <a:pt x="960120" y="406908"/>
                    </a:lnTo>
                    <a:close/>
                  </a:path>
                  <a:path w="1704340" h="421004">
                    <a:moveTo>
                      <a:pt x="1054608" y="406908"/>
                    </a:moveTo>
                    <a:lnTo>
                      <a:pt x="1001268" y="406908"/>
                    </a:lnTo>
                    <a:lnTo>
                      <a:pt x="1001268" y="420624"/>
                    </a:lnTo>
                    <a:lnTo>
                      <a:pt x="1054608" y="420624"/>
                    </a:lnTo>
                    <a:lnTo>
                      <a:pt x="1054608" y="406908"/>
                    </a:lnTo>
                    <a:close/>
                  </a:path>
                  <a:path w="1704340" h="421004">
                    <a:moveTo>
                      <a:pt x="1147572" y="406908"/>
                    </a:moveTo>
                    <a:lnTo>
                      <a:pt x="1094232" y="406908"/>
                    </a:lnTo>
                    <a:lnTo>
                      <a:pt x="1094232" y="420624"/>
                    </a:lnTo>
                    <a:lnTo>
                      <a:pt x="1147572" y="420624"/>
                    </a:lnTo>
                    <a:lnTo>
                      <a:pt x="1147572" y="406908"/>
                    </a:lnTo>
                    <a:close/>
                  </a:path>
                  <a:path w="1704340" h="421004">
                    <a:moveTo>
                      <a:pt x="1242047" y="406908"/>
                    </a:moveTo>
                    <a:lnTo>
                      <a:pt x="1188707" y="406908"/>
                    </a:lnTo>
                    <a:lnTo>
                      <a:pt x="1188707" y="420624"/>
                    </a:lnTo>
                    <a:lnTo>
                      <a:pt x="1242047" y="420624"/>
                    </a:lnTo>
                    <a:lnTo>
                      <a:pt x="1242047" y="406908"/>
                    </a:lnTo>
                    <a:close/>
                  </a:path>
                  <a:path w="1704340" h="421004">
                    <a:moveTo>
                      <a:pt x="1335011" y="406908"/>
                    </a:moveTo>
                    <a:lnTo>
                      <a:pt x="1281671" y="406908"/>
                    </a:lnTo>
                    <a:lnTo>
                      <a:pt x="1281671" y="420624"/>
                    </a:lnTo>
                    <a:lnTo>
                      <a:pt x="1335011" y="420624"/>
                    </a:lnTo>
                    <a:lnTo>
                      <a:pt x="1335011" y="406908"/>
                    </a:lnTo>
                    <a:close/>
                  </a:path>
                  <a:path w="1704340" h="421004">
                    <a:moveTo>
                      <a:pt x="1429499" y="420624"/>
                    </a:moveTo>
                    <a:lnTo>
                      <a:pt x="1427975" y="406908"/>
                    </a:lnTo>
                    <a:lnTo>
                      <a:pt x="1374635" y="406908"/>
                    </a:lnTo>
                    <a:lnTo>
                      <a:pt x="1374635" y="420624"/>
                    </a:lnTo>
                    <a:lnTo>
                      <a:pt x="1429499" y="420624"/>
                    </a:lnTo>
                    <a:close/>
                  </a:path>
                  <a:path w="1704340" h="421004">
                    <a:moveTo>
                      <a:pt x="1522463" y="400812"/>
                    </a:moveTo>
                    <a:lnTo>
                      <a:pt x="1517891" y="388620"/>
                    </a:lnTo>
                    <a:lnTo>
                      <a:pt x="1510271" y="390144"/>
                    </a:lnTo>
                    <a:lnTo>
                      <a:pt x="1496555" y="394716"/>
                    </a:lnTo>
                    <a:lnTo>
                      <a:pt x="1498079" y="394716"/>
                    </a:lnTo>
                    <a:lnTo>
                      <a:pt x="1484363" y="399288"/>
                    </a:lnTo>
                    <a:lnTo>
                      <a:pt x="1470647" y="402336"/>
                    </a:lnTo>
                    <a:lnTo>
                      <a:pt x="1467599" y="402336"/>
                    </a:lnTo>
                    <a:lnTo>
                      <a:pt x="1469123" y="416052"/>
                    </a:lnTo>
                    <a:lnTo>
                      <a:pt x="1473695" y="414528"/>
                    </a:lnTo>
                    <a:lnTo>
                      <a:pt x="1501127" y="408432"/>
                    </a:lnTo>
                    <a:lnTo>
                      <a:pt x="1514843" y="403860"/>
                    </a:lnTo>
                    <a:lnTo>
                      <a:pt x="1522463" y="400812"/>
                    </a:lnTo>
                    <a:close/>
                  </a:path>
                  <a:path w="1704340" h="421004">
                    <a:moveTo>
                      <a:pt x="1603235" y="350520"/>
                    </a:moveTo>
                    <a:lnTo>
                      <a:pt x="1594091" y="341376"/>
                    </a:lnTo>
                    <a:lnTo>
                      <a:pt x="1591043" y="344424"/>
                    </a:lnTo>
                    <a:lnTo>
                      <a:pt x="1569707" y="361188"/>
                    </a:lnTo>
                    <a:lnTo>
                      <a:pt x="1569707" y="359664"/>
                    </a:lnTo>
                    <a:lnTo>
                      <a:pt x="1551419" y="370332"/>
                    </a:lnTo>
                    <a:lnTo>
                      <a:pt x="1559039" y="382524"/>
                    </a:lnTo>
                    <a:lnTo>
                      <a:pt x="1577327" y="371856"/>
                    </a:lnTo>
                    <a:lnTo>
                      <a:pt x="1590916" y="361188"/>
                    </a:lnTo>
                    <a:lnTo>
                      <a:pt x="1598663" y="355092"/>
                    </a:lnTo>
                    <a:lnTo>
                      <a:pt x="1603235" y="350520"/>
                    </a:lnTo>
                    <a:close/>
                  </a:path>
                  <a:path w="1704340" h="421004">
                    <a:moveTo>
                      <a:pt x="1664195" y="277368"/>
                    </a:moveTo>
                    <a:lnTo>
                      <a:pt x="1653527" y="271272"/>
                    </a:lnTo>
                    <a:lnTo>
                      <a:pt x="1644383" y="286512"/>
                    </a:lnTo>
                    <a:lnTo>
                      <a:pt x="1644383" y="284988"/>
                    </a:lnTo>
                    <a:lnTo>
                      <a:pt x="1627619" y="307848"/>
                    </a:lnTo>
                    <a:lnTo>
                      <a:pt x="1627619" y="306324"/>
                    </a:lnTo>
                    <a:lnTo>
                      <a:pt x="1623047" y="312420"/>
                    </a:lnTo>
                    <a:lnTo>
                      <a:pt x="1632191" y="321564"/>
                    </a:lnTo>
                    <a:lnTo>
                      <a:pt x="1638287" y="315468"/>
                    </a:lnTo>
                    <a:lnTo>
                      <a:pt x="1644281" y="307848"/>
                    </a:lnTo>
                    <a:lnTo>
                      <a:pt x="1655051" y="294132"/>
                    </a:lnTo>
                    <a:lnTo>
                      <a:pt x="1659216" y="286512"/>
                    </a:lnTo>
                    <a:lnTo>
                      <a:pt x="1664195" y="277368"/>
                    </a:lnTo>
                    <a:close/>
                  </a:path>
                  <a:path w="1704340" h="421004">
                    <a:moveTo>
                      <a:pt x="1699247" y="188976"/>
                    </a:moveTo>
                    <a:lnTo>
                      <a:pt x="1685531" y="185928"/>
                    </a:lnTo>
                    <a:lnTo>
                      <a:pt x="1685531" y="187452"/>
                    </a:lnTo>
                    <a:lnTo>
                      <a:pt x="1682483" y="201168"/>
                    </a:lnTo>
                    <a:lnTo>
                      <a:pt x="1677911" y="213360"/>
                    </a:lnTo>
                    <a:lnTo>
                      <a:pt x="1674863" y="227076"/>
                    </a:lnTo>
                    <a:lnTo>
                      <a:pt x="1670291" y="236220"/>
                    </a:lnTo>
                    <a:lnTo>
                      <a:pt x="1682483" y="240792"/>
                    </a:lnTo>
                    <a:lnTo>
                      <a:pt x="1687055" y="231648"/>
                    </a:lnTo>
                    <a:lnTo>
                      <a:pt x="1691627" y="217932"/>
                    </a:lnTo>
                    <a:lnTo>
                      <a:pt x="1697723" y="190500"/>
                    </a:lnTo>
                    <a:lnTo>
                      <a:pt x="1699247" y="188976"/>
                    </a:lnTo>
                    <a:close/>
                  </a:path>
                  <a:path w="1704340" h="421004">
                    <a:moveTo>
                      <a:pt x="1703819" y="94488"/>
                    </a:moveTo>
                    <a:lnTo>
                      <a:pt x="1691627" y="94488"/>
                    </a:lnTo>
                    <a:lnTo>
                      <a:pt x="1691627" y="131064"/>
                    </a:lnTo>
                    <a:lnTo>
                      <a:pt x="1690103" y="146304"/>
                    </a:lnTo>
                    <a:lnTo>
                      <a:pt x="1690103" y="147828"/>
                    </a:lnTo>
                    <a:lnTo>
                      <a:pt x="1703819" y="147828"/>
                    </a:lnTo>
                    <a:lnTo>
                      <a:pt x="1703819" y="132588"/>
                    </a:lnTo>
                    <a:lnTo>
                      <a:pt x="1703819" y="94488"/>
                    </a:lnTo>
                    <a:close/>
                  </a:path>
                  <a:path w="1704340" h="421004">
                    <a:moveTo>
                      <a:pt x="1703819" y="0"/>
                    </a:moveTo>
                    <a:lnTo>
                      <a:pt x="1691627" y="0"/>
                    </a:lnTo>
                    <a:lnTo>
                      <a:pt x="1691627" y="54864"/>
                    </a:lnTo>
                    <a:lnTo>
                      <a:pt x="1703819" y="54864"/>
                    </a:lnTo>
                    <a:lnTo>
                      <a:pt x="1703819" y="0"/>
                    </a:lnTo>
                    <a:close/>
                  </a:path>
                </a:pathLst>
              </a:custGeom>
              <a:solidFill>
                <a:srgbClr val="0C1C2B"/>
              </a:solidFill>
            </p:spPr>
            <p:txBody>
              <a:bodyPr wrap="square" lIns="0" tIns="0" rIns="0" bIns="0" rtlCol="0"/>
              <a:lstStyle/>
              <a:p>
                <a:endParaRPr sz="1630"/>
              </a:p>
            </p:txBody>
          </p:sp>
        </p:grpSp>
        <p:sp>
          <p:nvSpPr>
            <p:cNvPr id="102" name="object 102"/>
            <p:cNvSpPr txBox="1"/>
            <p:nvPr/>
          </p:nvSpPr>
          <p:spPr>
            <a:xfrm>
              <a:off x="10996" y="3523"/>
              <a:ext cx="1635" cy="155"/>
            </a:xfrm>
            <a:prstGeom prst="rect">
              <a:avLst/>
            </a:prstGeom>
          </p:spPr>
          <p:txBody>
            <a:bodyPr vert="horz" wrap="square" lIns="0" tIns="10364" rIns="0" bIns="0" rtlCol="0">
              <a:spAutoFit/>
            </a:bodyPr>
            <a:lstStyle/>
            <a:p>
              <a:pPr marL="12700">
                <a:lnSpc>
                  <a:spcPct val="100000"/>
                </a:lnSpc>
                <a:spcBef>
                  <a:spcPts val="90"/>
                </a:spcBef>
              </a:pPr>
              <a:r>
                <a:rPr sz="725" i="1" dirty="0">
                  <a:solidFill>
                    <a:srgbClr val="0C1C2B"/>
                  </a:solidFill>
                  <a:latin typeface="Times New Roman" panose="02020603050405020304"/>
                  <a:cs typeface="Times New Roman" panose="02020603050405020304"/>
                </a:rPr>
                <a:t>Data</a:t>
              </a:r>
              <a:r>
                <a:rPr sz="725" i="1" spc="-5"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Augmentation</a:t>
              </a:r>
              <a:r>
                <a:rPr sz="725" i="1" spc="5"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Module</a:t>
              </a:r>
              <a:endParaRPr sz="725">
                <a:latin typeface="Times New Roman" panose="02020603050405020304"/>
                <a:cs typeface="Times New Roman" panose="02020603050405020304"/>
              </a:endParaRPr>
            </a:p>
          </p:txBody>
        </p:sp>
        <p:pic>
          <p:nvPicPr>
            <p:cNvPr id="103" name="object 103"/>
            <p:cNvPicPr/>
            <p:nvPr/>
          </p:nvPicPr>
          <p:blipFill>
            <a:blip r:embed="rId32" cstate="print"/>
            <a:stretch>
              <a:fillRect/>
            </a:stretch>
          </p:blipFill>
          <p:spPr>
            <a:xfrm>
              <a:off x="10633" y="3345"/>
              <a:ext cx="289" cy="287"/>
            </a:xfrm>
            <a:prstGeom prst="rect">
              <a:avLst/>
            </a:prstGeom>
          </p:spPr>
        </p:pic>
        <p:sp>
          <p:nvSpPr>
            <p:cNvPr id="104" name="object 104"/>
            <p:cNvSpPr txBox="1"/>
            <p:nvPr/>
          </p:nvSpPr>
          <p:spPr>
            <a:xfrm>
              <a:off x="10741" y="3379"/>
              <a:ext cx="109" cy="155"/>
            </a:xfrm>
            <a:prstGeom prst="rect">
              <a:avLst/>
            </a:prstGeom>
          </p:spPr>
          <p:txBody>
            <a:bodyPr vert="horz" wrap="square" lIns="0" tIns="10364" rIns="0" bIns="0" rtlCol="0">
              <a:spAutoFit/>
            </a:bodyPr>
            <a:lstStyle/>
            <a:p>
              <a:pPr marL="12700">
                <a:lnSpc>
                  <a:spcPct val="100000"/>
                </a:lnSpc>
                <a:spcBef>
                  <a:spcPts val="90"/>
                </a:spcBef>
              </a:pPr>
              <a:r>
                <a:rPr sz="725" b="1" spc="-5" dirty="0">
                  <a:solidFill>
                    <a:srgbClr val="FFFFFF"/>
                  </a:solidFill>
                  <a:latin typeface="Times New Roman" panose="02020603050405020304"/>
                  <a:cs typeface="Times New Roman" panose="02020603050405020304"/>
                </a:rPr>
                <a:t>3</a:t>
              </a:r>
              <a:endParaRPr sz="725">
                <a:latin typeface="Times New Roman" panose="02020603050405020304"/>
                <a:cs typeface="Times New Roman" panose="02020603050405020304"/>
              </a:endParaRPr>
            </a:p>
          </p:txBody>
        </p:sp>
        <p:grpSp>
          <p:nvGrpSpPr>
            <p:cNvPr id="105" name="object 105"/>
            <p:cNvGrpSpPr/>
            <p:nvPr/>
          </p:nvGrpSpPr>
          <p:grpSpPr>
            <a:xfrm>
              <a:off x="13545" y="3722"/>
              <a:ext cx="1870" cy="464"/>
              <a:chOff x="8109203" y="2606040"/>
              <a:chExt cx="1309370" cy="325120"/>
            </a:xfrm>
          </p:grpSpPr>
          <p:pic>
            <p:nvPicPr>
              <p:cNvPr id="106" name="object 106"/>
              <p:cNvPicPr/>
              <p:nvPr/>
            </p:nvPicPr>
            <p:blipFill>
              <a:blip r:embed="rId33" cstate="print"/>
              <a:stretch>
                <a:fillRect/>
              </a:stretch>
            </p:blipFill>
            <p:spPr>
              <a:xfrm>
                <a:off x="8883395" y="2606040"/>
                <a:ext cx="534923" cy="315467"/>
              </a:xfrm>
              <a:prstGeom prst="rect">
                <a:avLst/>
              </a:prstGeom>
            </p:spPr>
          </p:pic>
          <p:pic>
            <p:nvPicPr>
              <p:cNvPr id="107" name="object 107"/>
              <p:cNvPicPr/>
              <p:nvPr/>
            </p:nvPicPr>
            <p:blipFill>
              <a:blip r:embed="rId34" cstate="print"/>
              <a:stretch>
                <a:fillRect/>
              </a:stretch>
            </p:blipFill>
            <p:spPr>
              <a:xfrm>
                <a:off x="8109203" y="2615184"/>
                <a:ext cx="557783" cy="315467"/>
              </a:xfrm>
              <a:prstGeom prst="rect">
                <a:avLst/>
              </a:prstGeom>
            </p:spPr>
          </p:pic>
        </p:grpSp>
        <p:sp>
          <p:nvSpPr>
            <p:cNvPr id="108" name="object 108"/>
            <p:cNvSpPr txBox="1"/>
            <p:nvPr/>
          </p:nvSpPr>
          <p:spPr>
            <a:xfrm>
              <a:off x="13414" y="3469"/>
              <a:ext cx="2260" cy="994"/>
            </a:xfrm>
            <a:prstGeom prst="rect">
              <a:avLst/>
            </a:prstGeom>
          </p:spPr>
          <p:txBody>
            <a:bodyPr vert="horz" wrap="square" lIns="0" tIns="36276" rIns="0" bIns="0" rtlCol="0">
              <a:spAutoFit/>
            </a:bodyPr>
            <a:lstStyle/>
            <a:p>
              <a:pPr marL="9525" algn="ctr">
                <a:lnSpc>
                  <a:spcPct val="100000"/>
                </a:lnSpc>
                <a:spcBef>
                  <a:spcPts val="315"/>
                </a:spcBef>
              </a:pPr>
              <a:r>
                <a:rPr sz="725" i="1" spc="-10" dirty="0">
                  <a:solidFill>
                    <a:srgbClr val="0C1C2B"/>
                  </a:solidFill>
                  <a:latin typeface="Times New Roman" panose="02020603050405020304"/>
                  <a:cs typeface="Times New Roman" panose="02020603050405020304"/>
                </a:rPr>
                <a:t>High-quality</a:t>
              </a:r>
              <a:r>
                <a:rPr sz="725" i="1" spc="-15" dirty="0">
                  <a:solidFill>
                    <a:srgbClr val="0C1C2B"/>
                  </a:solidFill>
                  <a:latin typeface="Times New Roman" panose="02020603050405020304"/>
                  <a:cs typeface="Times New Roman" panose="02020603050405020304"/>
                </a:rPr>
                <a:t> </a:t>
              </a:r>
              <a:r>
                <a:rPr sz="725" i="1" dirty="0">
                  <a:solidFill>
                    <a:srgbClr val="0C1C2B"/>
                  </a:solidFill>
                  <a:latin typeface="Times New Roman" panose="02020603050405020304"/>
                  <a:cs typeface="Times New Roman" panose="02020603050405020304"/>
                </a:rPr>
                <a:t>Training </a:t>
              </a:r>
              <a:r>
                <a:rPr sz="725" i="1" spc="-10" dirty="0">
                  <a:solidFill>
                    <a:srgbClr val="0C1C2B"/>
                  </a:solidFill>
                  <a:latin typeface="Times New Roman" panose="02020603050405020304"/>
                  <a:cs typeface="Times New Roman" panose="02020603050405020304"/>
                </a:rPr>
                <a:t>Dataset</a:t>
              </a:r>
              <a:endParaRPr sz="725">
                <a:latin typeface="Times New Roman" panose="02020603050405020304"/>
                <a:cs typeface="Times New Roman" panose="02020603050405020304"/>
              </a:endParaRPr>
            </a:p>
            <a:p>
              <a:pPr>
                <a:lnSpc>
                  <a:spcPct val="100000"/>
                </a:lnSpc>
              </a:pPr>
              <a:endParaRPr sz="815">
                <a:latin typeface="Times New Roman" panose="02020603050405020304"/>
                <a:cs typeface="Times New Roman" panose="02020603050405020304"/>
              </a:endParaRPr>
            </a:p>
            <a:p>
              <a:pPr>
                <a:lnSpc>
                  <a:spcPct val="100000"/>
                </a:lnSpc>
              </a:pPr>
              <a:endParaRPr sz="815">
                <a:latin typeface="Times New Roman" panose="02020603050405020304"/>
                <a:cs typeface="Times New Roman" panose="02020603050405020304"/>
              </a:endParaRPr>
            </a:p>
            <a:p>
              <a:pPr>
                <a:lnSpc>
                  <a:spcPct val="100000"/>
                </a:lnSpc>
              </a:pPr>
              <a:endParaRPr sz="815">
                <a:latin typeface="Times New Roman" panose="02020603050405020304"/>
                <a:cs typeface="Times New Roman" panose="02020603050405020304"/>
              </a:endParaRPr>
            </a:p>
            <a:p>
              <a:pPr>
                <a:lnSpc>
                  <a:spcPct val="100000"/>
                </a:lnSpc>
                <a:spcBef>
                  <a:spcPts val="15"/>
                </a:spcBef>
              </a:pPr>
              <a:endParaRPr sz="905">
                <a:latin typeface="Times New Roman" panose="02020603050405020304"/>
                <a:cs typeface="Times New Roman" panose="02020603050405020304"/>
              </a:endParaRPr>
            </a:p>
            <a:p>
              <a:pPr marL="26670" algn="ctr">
                <a:lnSpc>
                  <a:spcPct val="100000"/>
                </a:lnSpc>
                <a:tabLst>
                  <a:tab pos="797560" algn="l"/>
                </a:tabLst>
              </a:pPr>
              <a:r>
                <a:rPr sz="725" dirty="0">
                  <a:solidFill>
                    <a:srgbClr val="0C1C2B"/>
                  </a:solidFill>
                  <a:latin typeface="Times New Roman" panose="02020603050405020304"/>
                  <a:cs typeface="Times New Roman" panose="02020603050405020304"/>
                </a:rPr>
                <a:t>Normal</a:t>
              </a:r>
              <a:r>
                <a:rPr sz="725" spc="-5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traffic</a:t>
              </a:r>
              <a:r>
                <a:rPr sz="725"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Malicious</a:t>
              </a:r>
              <a:r>
                <a:rPr sz="725" spc="1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traffic</a:t>
              </a:r>
              <a:endParaRPr sz="725">
                <a:latin typeface="Times New Roman" panose="02020603050405020304"/>
                <a:cs typeface="Times New Roman" panose="02020603050405020304"/>
              </a:endParaRPr>
            </a:p>
          </p:txBody>
        </p:sp>
        <p:grpSp>
          <p:nvGrpSpPr>
            <p:cNvPr id="109" name="object 109"/>
            <p:cNvGrpSpPr/>
            <p:nvPr/>
          </p:nvGrpSpPr>
          <p:grpSpPr>
            <a:xfrm>
              <a:off x="11019" y="3752"/>
              <a:ext cx="1621" cy="1114"/>
              <a:chOff x="6340602" y="2627376"/>
              <a:chExt cx="1135380" cy="780415"/>
            </a:xfrm>
          </p:grpSpPr>
          <p:pic>
            <p:nvPicPr>
              <p:cNvPr id="110" name="object 110"/>
              <p:cNvPicPr/>
              <p:nvPr/>
            </p:nvPicPr>
            <p:blipFill>
              <a:blip r:embed="rId35" cstate="print"/>
              <a:stretch>
                <a:fillRect/>
              </a:stretch>
            </p:blipFill>
            <p:spPr>
              <a:xfrm>
                <a:off x="6446519" y="2627376"/>
                <a:ext cx="283463" cy="224027"/>
              </a:xfrm>
              <a:prstGeom prst="rect">
                <a:avLst/>
              </a:prstGeom>
            </p:spPr>
          </p:pic>
          <p:pic>
            <p:nvPicPr>
              <p:cNvPr id="111" name="object 111"/>
              <p:cNvPicPr/>
              <p:nvPr/>
            </p:nvPicPr>
            <p:blipFill>
              <a:blip r:embed="rId36" cstate="print"/>
              <a:stretch>
                <a:fillRect/>
              </a:stretch>
            </p:blipFill>
            <p:spPr>
              <a:xfrm>
                <a:off x="7083551" y="2634996"/>
                <a:ext cx="274319" cy="225551"/>
              </a:xfrm>
              <a:prstGeom prst="rect">
                <a:avLst/>
              </a:prstGeom>
            </p:spPr>
          </p:pic>
          <p:sp>
            <p:nvSpPr>
              <p:cNvPr id="112" name="object 112"/>
              <p:cNvSpPr/>
              <p:nvPr/>
            </p:nvSpPr>
            <p:spPr>
              <a:xfrm>
                <a:off x="6344412" y="3009900"/>
                <a:ext cx="1127760" cy="184785"/>
              </a:xfrm>
              <a:custGeom>
                <a:avLst/>
                <a:gdLst/>
                <a:ahLst/>
                <a:cxnLst/>
                <a:rect l="l" t="t" r="r" b="b"/>
                <a:pathLst>
                  <a:path w="1127759" h="184785">
                    <a:moveTo>
                      <a:pt x="1097279" y="184403"/>
                    </a:moveTo>
                    <a:lnTo>
                      <a:pt x="30480" y="184403"/>
                    </a:lnTo>
                    <a:lnTo>
                      <a:pt x="18645" y="181998"/>
                    </a:lnTo>
                    <a:lnTo>
                      <a:pt x="8953" y="175450"/>
                    </a:lnTo>
                    <a:lnTo>
                      <a:pt x="2405" y="165758"/>
                    </a:lnTo>
                    <a:lnTo>
                      <a:pt x="0" y="153923"/>
                    </a:lnTo>
                    <a:lnTo>
                      <a:pt x="0" y="30479"/>
                    </a:lnTo>
                    <a:lnTo>
                      <a:pt x="2405" y="18645"/>
                    </a:lnTo>
                    <a:lnTo>
                      <a:pt x="8953" y="8953"/>
                    </a:lnTo>
                    <a:lnTo>
                      <a:pt x="18645" y="2405"/>
                    </a:lnTo>
                    <a:lnTo>
                      <a:pt x="30480" y="0"/>
                    </a:lnTo>
                    <a:lnTo>
                      <a:pt x="1097279" y="0"/>
                    </a:lnTo>
                    <a:lnTo>
                      <a:pt x="1109114" y="2405"/>
                    </a:lnTo>
                    <a:lnTo>
                      <a:pt x="1118806" y="8953"/>
                    </a:lnTo>
                    <a:lnTo>
                      <a:pt x="1125354" y="18645"/>
                    </a:lnTo>
                    <a:lnTo>
                      <a:pt x="1127760" y="30479"/>
                    </a:lnTo>
                    <a:lnTo>
                      <a:pt x="1127760" y="153923"/>
                    </a:lnTo>
                    <a:lnTo>
                      <a:pt x="1125354" y="165758"/>
                    </a:lnTo>
                    <a:lnTo>
                      <a:pt x="1118806" y="175450"/>
                    </a:lnTo>
                    <a:lnTo>
                      <a:pt x="1109114" y="181998"/>
                    </a:lnTo>
                    <a:lnTo>
                      <a:pt x="1097279" y="184403"/>
                    </a:lnTo>
                    <a:close/>
                  </a:path>
                </a:pathLst>
              </a:custGeom>
              <a:solidFill>
                <a:srgbClr val="E2EFD8"/>
              </a:solidFill>
            </p:spPr>
            <p:txBody>
              <a:bodyPr wrap="square" lIns="0" tIns="0" rIns="0" bIns="0" rtlCol="0"/>
              <a:lstStyle/>
              <a:p>
                <a:endParaRPr sz="1630"/>
              </a:p>
            </p:txBody>
          </p:sp>
          <p:sp>
            <p:nvSpPr>
              <p:cNvPr id="113" name="object 113"/>
              <p:cNvSpPr/>
              <p:nvPr/>
            </p:nvSpPr>
            <p:spPr>
              <a:xfrm>
                <a:off x="6344412" y="3009900"/>
                <a:ext cx="1127760" cy="184785"/>
              </a:xfrm>
              <a:custGeom>
                <a:avLst/>
                <a:gdLst/>
                <a:ahLst/>
                <a:cxnLst/>
                <a:rect l="l" t="t" r="r" b="b"/>
                <a:pathLst>
                  <a:path w="1127759" h="184785">
                    <a:moveTo>
                      <a:pt x="0" y="30479"/>
                    </a:moveTo>
                    <a:lnTo>
                      <a:pt x="2405" y="18645"/>
                    </a:lnTo>
                    <a:lnTo>
                      <a:pt x="8953" y="8953"/>
                    </a:lnTo>
                    <a:lnTo>
                      <a:pt x="18645" y="2405"/>
                    </a:lnTo>
                    <a:lnTo>
                      <a:pt x="30480" y="0"/>
                    </a:lnTo>
                    <a:lnTo>
                      <a:pt x="1097279" y="0"/>
                    </a:lnTo>
                    <a:lnTo>
                      <a:pt x="1109114" y="2405"/>
                    </a:lnTo>
                    <a:lnTo>
                      <a:pt x="1118806" y="8953"/>
                    </a:lnTo>
                    <a:lnTo>
                      <a:pt x="1125354" y="18645"/>
                    </a:lnTo>
                    <a:lnTo>
                      <a:pt x="1127760" y="30479"/>
                    </a:lnTo>
                    <a:lnTo>
                      <a:pt x="1127760" y="153923"/>
                    </a:lnTo>
                    <a:lnTo>
                      <a:pt x="1125354" y="165758"/>
                    </a:lnTo>
                    <a:lnTo>
                      <a:pt x="1118806" y="175450"/>
                    </a:lnTo>
                    <a:lnTo>
                      <a:pt x="1109114" y="181998"/>
                    </a:lnTo>
                    <a:lnTo>
                      <a:pt x="1097279" y="184403"/>
                    </a:lnTo>
                    <a:lnTo>
                      <a:pt x="30480" y="184403"/>
                    </a:lnTo>
                    <a:lnTo>
                      <a:pt x="18645" y="181998"/>
                    </a:lnTo>
                    <a:lnTo>
                      <a:pt x="8953" y="175450"/>
                    </a:lnTo>
                    <a:lnTo>
                      <a:pt x="2405" y="165758"/>
                    </a:lnTo>
                    <a:lnTo>
                      <a:pt x="0" y="153923"/>
                    </a:lnTo>
                    <a:lnTo>
                      <a:pt x="0" y="30479"/>
                    </a:lnTo>
                    <a:close/>
                  </a:path>
                </a:pathLst>
              </a:custGeom>
              <a:ln w="7620">
                <a:solidFill>
                  <a:srgbClr val="0C1C2B"/>
                </a:solidFill>
              </a:ln>
            </p:spPr>
            <p:txBody>
              <a:bodyPr wrap="square" lIns="0" tIns="0" rIns="0" bIns="0" rtlCol="0"/>
              <a:lstStyle/>
              <a:p>
                <a:endParaRPr sz="1630"/>
              </a:p>
            </p:txBody>
          </p:sp>
          <p:pic>
            <p:nvPicPr>
              <p:cNvPr id="114" name="object 114"/>
              <p:cNvPicPr/>
              <p:nvPr/>
            </p:nvPicPr>
            <p:blipFill>
              <a:blip r:embed="rId37" cstate="print"/>
              <a:stretch>
                <a:fillRect/>
              </a:stretch>
            </p:blipFill>
            <p:spPr>
              <a:xfrm>
                <a:off x="6556248" y="3204972"/>
                <a:ext cx="65532" cy="202692"/>
              </a:xfrm>
              <a:prstGeom prst="rect">
                <a:avLst/>
              </a:prstGeom>
            </p:spPr>
          </p:pic>
          <p:pic>
            <p:nvPicPr>
              <p:cNvPr id="115" name="object 115"/>
              <p:cNvPicPr/>
              <p:nvPr/>
            </p:nvPicPr>
            <p:blipFill>
              <a:blip r:embed="rId38" cstate="print"/>
              <a:stretch>
                <a:fillRect/>
              </a:stretch>
            </p:blipFill>
            <p:spPr>
              <a:xfrm>
                <a:off x="6551675" y="2868168"/>
                <a:ext cx="67056" cy="131064"/>
              </a:xfrm>
              <a:prstGeom prst="rect">
                <a:avLst/>
              </a:prstGeom>
            </p:spPr>
          </p:pic>
          <p:pic>
            <p:nvPicPr>
              <p:cNvPr id="116" name="object 116"/>
              <p:cNvPicPr/>
              <p:nvPr/>
            </p:nvPicPr>
            <p:blipFill>
              <a:blip r:embed="rId38" cstate="print"/>
              <a:stretch>
                <a:fillRect/>
              </a:stretch>
            </p:blipFill>
            <p:spPr>
              <a:xfrm>
                <a:off x="7193279" y="2868168"/>
                <a:ext cx="67056" cy="131064"/>
              </a:xfrm>
              <a:prstGeom prst="rect">
                <a:avLst/>
              </a:prstGeom>
            </p:spPr>
          </p:pic>
          <p:pic>
            <p:nvPicPr>
              <p:cNvPr id="117" name="object 117"/>
              <p:cNvPicPr/>
              <p:nvPr/>
            </p:nvPicPr>
            <p:blipFill>
              <a:blip r:embed="rId39" cstate="print"/>
              <a:stretch>
                <a:fillRect/>
              </a:stretch>
            </p:blipFill>
            <p:spPr>
              <a:xfrm>
                <a:off x="7199375" y="3204972"/>
                <a:ext cx="67056" cy="202692"/>
              </a:xfrm>
              <a:prstGeom prst="rect">
                <a:avLst/>
              </a:prstGeom>
            </p:spPr>
          </p:pic>
        </p:grpSp>
        <p:sp>
          <p:nvSpPr>
            <p:cNvPr id="118" name="object 118"/>
            <p:cNvSpPr txBox="1"/>
            <p:nvPr/>
          </p:nvSpPr>
          <p:spPr>
            <a:xfrm>
              <a:off x="11473" y="4224"/>
              <a:ext cx="726" cy="468"/>
            </a:xfrm>
            <a:prstGeom prst="rect">
              <a:avLst/>
            </a:prstGeom>
          </p:spPr>
          <p:txBody>
            <a:bodyPr vert="horz" wrap="square" lIns="0" tIns="73704" rIns="0" bIns="0" rtlCol="0">
              <a:spAutoFit/>
            </a:bodyPr>
            <a:lstStyle/>
            <a:p>
              <a:pPr algn="ctr">
                <a:lnSpc>
                  <a:spcPct val="100000"/>
                </a:lnSpc>
                <a:spcBef>
                  <a:spcPts val="640"/>
                </a:spcBef>
              </a:pPr>
              <a:r>
                <a:rPr sz="725" spc="-20" dirty="0">
                  <a:solidFill>
                    <a:srgbClr val="0C1C2B"/>
                  </a:solidFill>
                  <a:latin typeface="Times New Roman" panose="02020603050405020304"/>
                  <a:cs typeface="Times New Roman" panose="02020603050405020304"/>
                </a:rPr>
                <a:t>MADE</a:t>
              </a:r>
              <a:endParaRPr sz="725">
                <a:latin typeface="Times New Roman" panose="02020603050405020304"/>
                <a:cs typeface="Times New Roman" panose="02020603050405020304"/>
              </a:endParaRPr>
            </a:p>
            <a:p>
              <a:pPr algn="ctr">
                <a:lnSpc>
                  <a:spcPct val="100000"/>
                </a:lnSpc>
                <a:spcBef>
                  <a:spcPts val="540"/>
                </a:spcBef>
              </a:pPr>
              <a:r>
                <a:rPr sz="725" spc="-10" dirty="0">
                  <a:solidFill>
                    <a:srgbClr val="0C1C2B"/>
                  </a:solidFill>
                  <a:latin typeface="Times New Roman" panose="02020603050405020304"/>
                  <a:cs typeface="Times New Roman" panose="02020603050405020304"/>
                </a:rPr>
                <a:t>Distribution</a:t>
              </a:r>
              <a:endParaRPr sz="725">
                <a:latin typeface="Times New Roman" panose="02020603050405020304"/>
                <a:cs typeface="Times New Roman" panose="02020603050405020304"/>
              </a:endParaRPr>
            </a:p>
          </p:txBody>
        </p:sp>
        <p:sp>
          <p:nvSpPr>
            <p:cNvPr id="119" name="object 119"/>
            <p:cNvSpPr/>
            <p:nvPr/>
          </p:nvSpPr>
          <p:spPr>
            <a:xfrm>
              <a:off x="10770" y="4881"/>
              <a:ext cx="2175" cy="1493"/>
            </a:xfrm>
            <a:custGeom>
              <a:avLst/>
              <a:gdLst/>
              <a:ahLst/>
              <a:cxnLst/>
              <a:rect l="l" t="t" r="r" b="b"/>
              <a:pathLst>
                <a:path w="1522729" h="1045845">
                  <a:moveTo>
                    <a:pt x="0" y="175260"/>
                  </a:moveTo>
                  <a:lnTo>
                    <a:pt x="6201" y="128940"/>
                  </a:lnTo>
                  <a:lnTo>
                    <a:pt x="23706" y="87150"/>
                  </a:lnTo>
                  <a:lnTo>
                    <a:pt x="50863" y="51625"/>
                  </a:lnTo>
                  <a:lnTo>
                    <a:pt x="86021" y="24101"/>
                  </a:lnTo>
                  <a:lnTo>
                    <a:pt x="127529" y="6314"/>
                  </a:lnTo>
                  <a:lnTo>
                    <a:pt x="173736" y="0"/>
                  </a:lnTo>
                  <a:lnTo>
                    <a:pt x="1348740" y="0"/>
                  </a:lnTo>
                  <a:lnTo>
                    <a:pt x="1394946" y="6314"/>
                  </a:lnTo>
                  <a:lnTo>
                    <a:pt x="1436454" y="24101"/>
                  </a:lnTo>
                  <a:lnTo>
                    <a:pt x="1471612" y="51625"/>
                  </a:lnTo>
                  <a:lnTo>
                    <a:pt x="1498769" y="87150"/>
                  </a:lnTo>
                  <a:lnTo>
                    <a:pt x="1516274" y="128940"/>
                  </a:lnTo>
                  <a:lnTo>
                    <a:pt x="1522475" y="175260"/>
                  </a:lnTo>
                  <a:lnTo>
                    <a:pt x="1522475" y="871728"/>
                  </a:lnTo>
                  <a:lnTo>
                    <a:pt x="1516274" y="917934"/>
                  </a:lnTo>
                  <a:lnTo>
                    <a:pt x="1498769" y="959442"/>
                  </a:lnTo>
                  <a:lnTo>
                    <a:pt x="1471612" y="994600"/>
                  </a:lnTo>
                  <a:lnTo>
                    <a:pt x="1436454" y="1021757"/>
                  </a:lnTo>
                  <a:lnTo>
                    <a:pt x="1394946" y="1039262"/>
                  </a:lnTo>
                  <a:lnTo>
                    <a:pt x="1348740" y="1045464"/>
                  </a:lnTo>
                  <a:lnTo>
                    <a:pt x="173736" y="1045464"/>
                  </a:lnTo>
                  <a:lnTo>
                    <a:pt x="127529" y="1039262"/>
                  </a:lnTo>
                  <a:lnTo>
                    <a:pt x="86021" y="1021757"/>
                  </a:lnTo>
                  <a:lnTo>
                    <a:pt x="50863" y="994600"/>
                  </a:lnTo>
                  <a:lnTo>
                    <a:pt x="23706" y="959442"/>
                  </a:lnTo>
                  <a:lnTo>
                    <a:pt x="6201" y="917934"/>
                  </a:lnTo>
                  <a:lnTo>
                    <a:pt x="0" y="871728"/>
                  </a:lnTo>
                  <a:lnTo>
                    <a:pt x="0" y="175260"/>
                  </a:lnTo>
                  <a:close/>
                </a:path>
              </a:pathLst>
            </a:custGeom>
            <a:ln w="7620">
              <a:solidFill>
                <a:srgbClr val="0C1C2B"/>
              </a:solidFill>
            </a:ln>
          </p:spPr>
          <p:txBody>
            <a:bodyPr wrap="square" lIns="0" tIns="0" rIns="0" bIns="0" rtlCol="0"/>
            <a:lstStyle/>
            <a:p>
              <a:endParaRPr sz="1630"/>
            </a:p>
          </p:txBody>
        </p:sp>
        <p:sp>
          <p:nvSpPr>
            <p:cNvPr id="120" name="object 120"/>
            <p:cNvSpPr txBox="1"/>
            <p:nvPr/>
          </p:nvSpPr>
          <p:spPr>
            <a:xfrm>
              <a:off x="10915" y="4927"/>
              <a:ext cx="1875" cy="155"/>
            </a:xfrm>
            <a:prstGeom prst="rect">
              <a:avLst/>
            </a:prstGeom>
          </p:spPr>
          <p:txBody>
            <a:bodyPr vert="horz" wrap="square" lIns="0" tIns="10364" rIns="0" bIns="0" rtlCol="0">
              <a:spAutoFit/>
            </a:bodyPr>
            <a:lstStyle/>
            <a:p>
              <a:pPr marL="12700">
                <a:lnSpc>
                  <a:spcPct val="100000"/>
                </a:lnSpc>
                <a:spcBef>
                  <a:spcPts val="90"/>
                </a:spcBef>
              </a:pPr>
              <a:r>
                <a:rPr sz="725" spc="-20" dirty="0">
                  <a:solidFill>
                    <a:srgbClr val="0C1C2B"/>
                  </a:solidFill>
                  <a:latin typeface="Times New Roman" panose="02020603050405020304"/>
                  <a:cs typeface="Times New Roman" panose="02020603050405020304"/>
                </a:rPr>
                <a:t>GAN-</a:t>
              </a:r>
              <a:r>
                <a:rPr sz="725" dirty="0">
                  <a:solidFill>
                    <a:srgbClr val="0C1C2B"/>
                  </a:solidFill>
                  <a:latin typeface="Times New Roman" panose="02020603050405020304"/>
                  <a:cs typeface="Times New Roman" panose="02020603050405020304"/>
                </a:rPr>
                <a:t>based Data</a:t>
              </a:r>
              <a:r>
                <a:rPr sz="725" spc="-2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Augmentation</a:t>
              </a:r>
              <a:endParaRPr sz="725">
                <a:latin typeface="Times New Roman" panose="02020603050405020304"/>
                <a:cs typeface="Times New Roman" panose="02020603050405020304"/>
              </a:endParaRPr>
            </a:p>
          </p:txBody>
        </p:sp>
        <p:grpSp>
          <p:nvGrpSpPr>
            <p:cNvPr id="121" name="object 121"/>
            <p:cNvGrpSpPr/>
            <p:nvPr/>
          </p:nvGrpSpPr>
          <p:grpSpPr>
            <a:xfrm>
              <a:off x="10841" y="5241"/>
              <a:ext cx="1527" cy="1026"/>
              <a:chOff x="6215570" y="3669791"/>
              <a:chExt cx="1069340" cy="718820"/>
            </a:xfrm>
          </p:grpSpPr>
          <p:sp>
            <p:nvSpPr>
              <p:cNvPr id="122" name="object 122"/>
              <p:cNvSpPr/>
              <p:nvPr/>
            </p:nvSpPr>
            <p:spPr>
              <a:xfrm>
                <a:off x="6220968" y="3685031"/>
                <a:ext cx="576580" cy="170815"/>
              </a:xfrm>
              <a:custGeom>
                <a:avLst/>
                <a:gdLst/>
                <a:ahLst/>
                <a:cxnLst/>
                <a:rect l="l" t="t" r="r" b="b"/>
                <a:pathLst>
                  <a:path w="576579" h="170814">
                    <a:moveTo>
                      <a:pt x="576071" y="170687"/>
                    </a:moveTo>
                    <a:lnTo>
                      <a:pt x="0" y="170687"/>
                    </a:lnTo>
                    <a:lnTo>
                      <a:pt x="0" y="0"/>
                    </a:lnTo>
                    <a:lnTo>
                      <a:pt x="576071" y="0"/>
                    </a:lnTo>
                    <a:lnTo>
                      <a:pt x="576071" y="170687"/>
                    </a:lnTo>
                    <a:close/>
                  </a:path>
                </a:pathLst>
              </a:custGeom>
              <a:solidFill>
                <a:srgbClr val="344B74"/>
              </a:solidFill>
            </p:spPr>
            <p:txBody>
              <a:bodyPr wrap="square" lIns="0" tIns="0" rIns="0" bIns="0" rtlCol="0"/>
              <a:lstStyle/>
              <a:p>
                <a:endParaRPr sz="1630"/>
              </a:p>
            </p:txBody>
          </p:sp>
          <p:sp>
            <p:nvSpPr>
              <p:cNvPr id="123" name="object 123"/>
              <p:cNvSpPr/>
              <p:nvPr/>
            </p:nvSpPr>
            <p:spPr>
              <a:xfrm>
                <a:off x="6220968" y="3685031"/>
                <a:ext cx="576580" cy="170815"/>
              </a:xfrm>
              <a:custGeom>
                <a:avLst/>
                <a:gdLst/>
                <a:ahLst/>
                <a:cxnLst/>
                <a:rect l="l" t="t" r="r" b="b"/>
                <a:pathLst>
                  <a:path w="576579" h="170814">
                    <a:moveTo>
                      <a:pt x="0" y="0"/>
                    </a:moveTo>
                    <a:lnTo>
                      <a:pt x="576071" y="0"/>
                    </a:lnTo>
                    <a:lnTo>
                      <a:pt x="576071" y="170687"/>
                    </a:lnTo>
                    <a:lnTo>
                      <a:pt x="0" y="170687"/>
                    </a:lnTo>
                    <a:lnTo>
                      <a:pt x="0" y="0"/>
                    </a:lnTo>
                    <a:close/>
                  </a:path>
                </a:pathLst>
              </a:custGeom>
              <a:ln w="10668">
                <a:solidFill>
                  <a:srgbClr val="0C1C2B"/>
                </a:solidFill>
              </a:ln>
            </p:spPr>
            <p:txBody>
              <a:bodyPr wrap="square" lIns="0" tIns="0" rIns="0" bIns="0" rtlCol="0"/>
              <a:lstStyle/>
              <a:p>
                <a:endParaRPr sz="1630"/>
              </a:p>
            </p:txBody>
          </p:sp>
          <p:sp>
            <p:nvSpPr>
              <p:cNvPr id="124" name="object 124"/>
              <p:cNvSpPr/>
              <p:nvPr/>
            </p:nvSpPr>
            <p:spPr>
              <a:xfrm>
                <a:off x="6220968" y="3942588"/>
                <a:ext cx="576580" cy="172720"/>
              </a:xfrm>
              <a:custGeom>
                <a:avLst/>
                <a:gdLst/>
                <a:ahLst/>
                <a:cxnLst/>
                <a:rect l="l" t="t" r="r" b="b"/>
                <a:pathLst>
                  <a:path w="576579" h="172720">
                    <a:moveTo>
                      <a:pt x="576071" y="172211"/>
                    </a:moveTo>
                    <a:lnTo>
                      <a:pt x="0" y="172211"/>
                    </a:lnTo>
                    <a:lnTo>
                      <a:pt x="0" y="0"/>
                    </a:lnTo>
                    <a:lnTo>
                      <a:pt x="576071" y="0"/>
                    </a:lnTo>
                    <a:lnTo>
                      <a:pt x="576071" y="172211"/>
                    </a:lnTo>
                    <a:close/>
                  </a:path>
                </a:pathLst>
              </a:custGeom>
              <a:solidFill>
                <a:srgbClr val="BF0000"/>
              </a:solidFill>
            </p:spPr>
            <p:txBody>
              <a:bodyPr wrap="square" lIns="0" tIns="0" rIns="0" bIns="0" rtlCol="0"/>
              <a:lstStyle/>
              <a:p>
                <a:endParaRPr sz="1630"/>
              </a:p>
            </p:txBody>
          </p:sp>
          <p:sp>
            <p:nvSpPr>
              <p:cNvPr id="125" name="object 125"/>
              <p:cNvSpPr/>
              <p:nvPr/>
            </p:nvSpPr>
            <p:spPr>
              <a:xfrm>
                <a:off x="6220968" y="3942588"/>
                <a:ext cx="576580" cy="172720"/>
              </a:xfrm>
              <a:custGeom>
                <a:avLst/>
                <a:gdLst/>
                <a:ahLst/>
                <a:cxnLst/>
                <a:rect l="l" t="t" r="r" b="b"/>
                <a:pathLst>
                  <a:path w="576579" h="172720">
                    <a:moveTo>
                      <a:pt x="0" y="0"/>
                    </a:moveTo>
                    <a:lnTo>
                      <a:pt x="576071" y="0"/>
                    </a:lnTo>
                    <a:lnTo>
                      <a:pt x="576071" y="172211"/>
                    </a:lnTo>
                    <a:lnTo>
                      <a:pt x="0" y="172211"/>
                    </a:lnTo>
                    <a:lnTo>
                      <a:pt x="0" y="0"/>
                    </a:lnTo>
                    <a:close/>
                  </a:path>
                </a:pathLst>
              </a:custGeom>
              <a:ln w="10668">
                <a:solidFill>
                  <a:srgbClr val="0C1C2B"/>
                </a:solidFill>
              </a:ln>
            </p:spPr>
            <p:txBody>
              <a:bodyPr wrap="square" lIns="0" tIns="0" rIns="0" bIns="0" rtlCol="0"/>
              <a:lstStyle/>
              <a:p>
                <a:endParaRPr sz="1630"/>
              </a:p>
            </p:txBody>
          </p:sp>
          <p:sp>
            <p:nvSpPr>
              <p:cNvPr id="126" name="object 126"/>
              <p:cNvSpPr/>
              <p:nvPr/>
            </p:nvSpPr>
            <p:spPr>
              <a:xfrm>
                <a:off x="6220968" y="4210811"/>
                <a:ext cx="576580" cy="172720"/>
              </a:xfrm>
              <a:custGeom>
                <a:avLst/>
                <a:gdLst/>
                <a:ahLst/>
                <a:cxnLst/>
                <a:rect l="l" t="t" r="r" b="b"/>
                <a:pathLst>
                  <a:path w="576579" h="172720">
                    <a:moveTo>
                      <a:pt x="576071" y="172212"/>
                    </a:moveTo>
                    <a:lnTo>
                      <a:pt x="0" y="172212"/>
                    </a:lnTo>
                    <a:lnTo>
                      <a:pt x="0" y="0"/>
                    </a:lnTo>
                    <a:lnTo>
                      <a:pt x="576071" y="0"/>
                    </a:lnTo>
                    <a:lnTo>
                      <a:pt x="576071" y="172212"/>
                    </a:lnTo>
                    <a:close/>
                  </a:path>
                </a:pathLst>
              </a:custGeom>
              <a:solidFill>
                <a:srgbClr val="BF0000"/>
              </a:solidFill>
            </p:spPr>
            <p:txBody>
              <a:bodyPr wrap="square" lIns="0" tIns="0" rIns="0" bIns="0" rtlCol="0"/>
              <a:lstStyle/>
              <a:p>
                <a:endParaRPr sz="1630"/>
              </a:p>
            </p:txBody>
          </p:sp>
          <p:sp>
            <p:nvSpPr>
              <p:cNvPr id="127" name="object 127"/>
              <p:cNvSpPr/>
              <p:nvPr/>
            </p:nvSpPr>
            <p:spPr>
              <a:xfrm>
                <a:off x="6220968" y="4210811"/>
                <a:ext cx="576580" cy="172720"/>
              </a:xfrm>
              <a:custGeom>
                <a:avLst/>
                <a:gdLst/>
                <a:ahLst/>
                <a:cxnLst/>
                <a:rect l="l" t="t" r="r" b="b"/>
                <a:pathLst>
                  <a:path w="576579" h="172720">
                    <a:moveTo>
                      <a:pt x="0" y="0"/>
                    </a:moveTo>
                    <a:lnTo>
                      <a:pt x="576071" y="0"/>
                    </a:lnTo>
                    <a:lnTo>
                      <a:pt x="576071" y="172212"/>
                    </a:lnTo>
                    <a:lnTo>
                      <a:pt x="0" y="172212"/>
                    </a:lnTo>
                    <a:lnTo>
                      <a:pt x="0" y="0"/>
                    </a:lnTo>
                    <a:close/>
                  </a:path>
                </a:pathLst>
              </a:custGeom>
              <a:ln w="10668">
                <a:solidFill>
                  <a:srgbClr val="0C1C2B"/>
                </a:solidFill>
              </a:ln>
            </p:spPr>
            <p:txBody>
              <a:bodyPr wrap="square" lIns="0" tIns="0" rIns="0" bIns="0" rtlCol="0"/>
              <a:lstStyle/>
              <a:p>
                <a:endParaRPr sz="1630"/>
              </a:p>
            </p:txBody>
          </p:sp>
          <p:pic>
            <p:nvPicPr>
              <p:cNvPr id="128" name="object 128"/>
              <p:cNvPicPr/>
              <p:nvPr/>
            </p:nvPicPr>
            <p:blipFill>
              <a:blip r:embed="rId40" cstate="print"/>
              <a:stretch>
                <a:fillRect/>
              </a:stretch>
            </p:blipFill>
            <p:spPr>
              <a:xfrm>
                <a:off x="6812280" y="4262627"/>
                <a:ext cx="103632" cy="67056"/>
              </a:xfrm>
              <a:prstGeom prst="rect">
                <a:avLst/>
              </a:prstGeom>
            </p:spPr>
          </p:pic>
          <p:pic>
            <p:nvPicPr>
              <p:cNvPr id="129" name="object 129"/>
              <p:cNvPicPr/>
              <p:nvPr/>
            </p:nvPicPr>
            <p:blipFill>
              <a:blip r:embed="rId41" cstate="print"/>
              <a:stretch>
                <a:fillRect/>
              </a:stretch>
            </p:blipFill>
            <p:spPr>
              <a:xfrm>
                <a:off x="6819900" y="3995927"/>
                <a:ext cx="103632" cy="67056"/>
              </a:xfrm>
              <a:prstGeom prst="rect">
                <a:avLst/>
              </a:prstGeom>
            </p:spPr>
          </p:pic>
          <p:pic>
            <p:nvPicPr>
              <p:cNvPr id="130" name="object 130"/>
              <p:cNvPicPr/>
              <p:nvPr/>
            </p:nvPicPr>
            <p:blipFill>
              <a:blip r:embed="rId42" cstate="print"/>
              <a:stretch>
                <a:fillRect/>
              </a:stretch>
            </p:blipFill>
            <p:spPr>
              <a:xfrm>
                <a:off x="6810755" y="3729227"/>
                <a:ext cx="102108" cy="65532"/>
              </a:xfrm>
              <a:prstGeom prst="rect">
                <a:avLst/>
              </a:prstGeom>
            </p:spPr>
          </p:pic>
          <p:pic>
            <p:nvPicPr>
              <p:cNvPr id="131" name="object 131"/>
              <p:cNvPicPr/>
              <p:nvPr/>
            </p:nvPicPr>
            <p:blipFill>
              <a:blip r:embed="rId43" cstate="print"/>
              <a:stretch>
                <a:fillRect/>
              </a:stretch>
            </p:blipFill>
            <p:spPr>
              <a:xfrm>
                <a:off x="6941820" y="3669791"/>
                <a:ext cx="207264" cy="166116"/>
              </a:xfrm>
              <a:prstGeom prst="rect">
                <a:avLst/>
              </a:prstGeom>
            </p:spPr>
          </p:pic>
          <p:pic>
            <p:nvPicPr>
              <p:cNvPr id="132" name="object 132"/>
              <p:cNvPicPr/>
              <p:nvPr/>
            </p:nvPicPr>
            <p:blipFill>
              <a:blip r:embed="rId44" cstate="print"/>
              <a:stretch>
                <a:fillRect/>
              </a:stretch>
            </p:blipFill>
            <p:spPr>
              <a:xfrm>
                <a:off x="6949439" y="4206240"/>
                <a:ext cx="208788" cy="170687"/>
              </a:xfrm>
              <a:prstGeom prst="rect">
                <a:avLst/>
              </a:prstGeom>
            </p:spPr>
          </p:pic>
          <p:pic>
            <p:nvPicPr>
              <p:cNvPr id="133" name="object 133"/>
              <p:cNvPicPr/>
              <p:nvPr/>
            </p:nvPicPr>
            <p:blipFill>
              <a:blip r:embed="rId41" cstate="print"/>
              <a:stretch>
                <a:fillRect/>
              </a:stretch>
            </p:blipFill>
            <p:spPr>
              <a:xfrm>
                <a:off x="7181088" y="3726179"/>
                <a:ext cx="103632" cy="67056"/>
              </a:xfrm>
              <a:prstGeom prst="rect">
                <a:avLst/>
              </a:prstGeom>
            </p:spPr>
          </p:pic>
          <p:pic>
            <p:nvPicPr>
              <p:cNvPr id="134" name="object 134"/>
              <p:cNvPicPr/>
              <p:nvPr/>
            </p:nvPicPr>
            <p:blipFill>
              <a:blip r:embed="rId41" cstate="print"/>
              <a:stretch>
                <a:fillRect/>
              </a:stretch>
            </p:blipFill>
            <p:spPr>
              <a:xfrm>
                <a:off x="7181088" y="3995927"/>
                <a:ext cx="103632" cy="67056"/>
              </a:xfrm>
              <a:prstGeom prst="rect">
                <a:avLst/>
              </a:prstGeom>
            </p:spPr>
          </p:pic>
          <p:pic>
            <p:nvPicPr>
              <p:cNvPr id="135" name="object 135"/>
              <p:cNvPicPr/>
              <p:nvPr/>
            </p:nvPicPr>
            <p:blipFill>
              <a:blip r:embed="rId45" cstate="print"/>
              <a:stretch>
                <a:fillRect/>
              </a:stretch>
            </p:blipFill>
            <p:spPr>
              <a:xfrm>
                <a:off x="7171944" y="4262627"/>
                <a:ext cx="102108" cy="67056"/>
              </a:xfrm>
              <a:prstGeom prst="rect">
                <a:avLst/>
              </a:prstGeom>
            </p:spPr>
          </p:pic>
        </p:grpSp>
        <p:sp>
          <p:nvSpPr>
            <p:cNvPr id="136" name="object 136"/>
            <p:cNvSpPr txBox="1"/>
            <p:nvPr/>
          </p:nvSpPr>
          <p:spPr>
            <a:xfrm>
              <a:off x="10848" y="5262"/>
              <a:ext cx="823" cy="163"/>
            </a:xfrm>
            <a:prstGeom prst="rect">
              <a:avLst/>
            </a:prstGeom>
          </p:spPr>
          <p:txBody>
            <a:bodyPr vert="horz" wrap="square" lIns="0" tIns="29941" rIns="0" bIns="0" rtlCol="0">
              <a:spAutoFit/>
            </a:bodyPr>
            <a:lstStyle/>
            <a:p>
              <a:pPr marL="75565">
                <a:lnSpc>
                  <a:spcPct val="100000"/>
                </a:lnSpc>
                <a:spcBef>
                  <a:spcPts val="260"/>
                </a:spcBef>
              </a:pPr>
              <a:r>
                <a:rPr sz="635" dirty="0">
                  <a:solidFill>
                    <a:srgbClr val="FFFFFF"/>
                  </a:solidFill>
                  <a:latin typeface="Times New Roman" panose="02020603050405020304"/>
                  <a:cs typeface="Times New Roman" panose="02020603050405020304"/>
                </a:rPr>
                <a:t>Generator</a:t>
              </a:r>
              <a:r>
                <a:rPr sz="635" spc="-45" dirty="0">
                  <a:solidFill>
                    <a:srgbClr val="FFFFFF"/>
                  </a:solidFill>
                  <a:latin typeface="Times New Roman" panose="02020603050405020304"/>
                  <a:cs typeface="Times New Roman" panose="02020603050405020304"/>
                </a:rPr>
                <a:t> </a:t>
              </a:r>
              <a:r>
                <a:rPr sz="635" spc="-50" dirty="0">
                  <a:solidFill>
                    <a:srgbClr val="FFFFFF"/>
                  </a:solidFill>
                  <a:latin typeface="Times New Roman" panose="02020603050405020304"/>
                  <a:cs typeface="Times New Roman" panose="02020603050405020304"/>
                </a:rPr>
                <a:t>1</a:t>
              </a:r>
              <a:endParaRPr sz="635">
                <a:latin typeface="Times New Roman" panose="02020603050405020304"/>
                <a:cs typeface="Times New Roman" panose="02020603050405020304"/>
              </a:endParaRPr>
            </a:p>
          </p:txBody>
        </p:sp>
        <p:sp>
          <p:nvSpPr>
            <p:cNvPr id="137" name="object 137"/>
            <p:cNvSpPr txBox="1"/>
            <p:nvPr/>
          </p:nvSpPr>
          <p:spPr>
            <a:xfrm>
              <a:off x="10848" y="5630"/>
              <a:ext cx="823" cy="164"/>
            </a:xfrm>
            <a:prstGeom prst="rect">
              <a:avLst/>
            </a:prstGeom>
          </p:spPr>
          <p:txBody>
            <a:bodyPr vert="horz" wrap="square" lIns="0" tIns="31094" rIns="0" bIns="0" rtlCol="0">
              <a:spAutoFit/>
            </a:bodyPr>
            <a:lstStyle/>
            <a:p>
              <a:pPr marL="80645">
                <a:lnSpc>
                  <a:spcPct val="100000"/>
                </a:lnSpc>
                <a:spcBef>
                  <a:spcPts val="270"/>
                </a:spcBef>
              </a:pPr>
              <a:r>
                <a:rPr sz="635" dirty="0">
                  <a:solidFill>
                    <a:srgbClr val="FFFFFF"/>
                  </a:solidFill>
                  <a:latin typeface="Times New Roman" panose="02020603050405020304"/>
                  <a:cs typeface="Times New Roman" panose="02020603050405020304"/>
                </a:rPr>
                <a:t>Generator</a:t>
              </a:r>
              <a:r>
                <a:rPr sz="635" spc="-45" dirty="0">
                  <a:solidFill>
                    <a:srgbClr val="FFFFFF"/>
                  </a:solidFill>
                  <a:latin typeface="Times New Roman" panose="02020603050405020304"/>
                  <a:cs typeface="Times New Roman" panose="02020603050405020304"/>
                </a:rPr>
                <a:t> </a:t>
              </a:r>
              <a:r>
                <a:rPr sz="635" spc="-50" dirty="0">
                  <a:solidFill>
                    <a:srgbClr val="FFFFFF"/>
                  </a:solidFill>
                  <a:latin typeface="Times New Roman" panose="02020603050405020304"/>
                  <a:cs typeface="Times New Roman" panose="02020603050405020304"/>
                </a:rPr>
                <a:t>2</a:t>
              </a:r>
              <a:endParaRPr sz="635">
                <a:latin typeface="Times New Roman" panose="02020603050405020304"/>
                <a:cs typeface="Times New Roman" panose="02020603050405020304"/>
              </a:endParaRPr>
            </a:p>
          </p:txBody>
        </p:sp>
        <p:sp>
          <p:nvSpPr>
            <p:cNvPr id="138" name="object 138"/>
            <p:cNvSpPr txBox="1"/>
            <p:nvPr/>
          </p:nvSpPr>
          <p:spPr>
            <a:xfrm>
              <a:off x="10848" y="6013"/>
              <a:ext cx="823" cy="155"/>
            </a:xfrm>
            <a:prstGeom prst="rect">
              <a:avLst/>
            </a:prstGeom>
          </p:spPr>
          <p:txBody>
            <a:bodyPr vert="horz" wrap="square" lIns="0" tIns="24184" rIns="0" bIns="0" rtlCol="0">
              <a:spAutoFit/>
            </a:bodyPr>
            <a:lstStyle/>
            <a:p>
              <a:pPr marL="74295">
                <a:lnSpc>
                  <a:spcPct val="100000"/>
                </a:lnSpc>
                <a:spcBef>
                  <a:spcPts val="210"/>
                </a:spcBef>
              </a:pPr>
              <a:r>
                <a:rPr sz="635" dirty="0">
                  <a:solidFill>
                    <a:srgbClr val="FFFFFF"/>
                  </a:solidFill>
                  <a:latin typeface="Times New Roman" panose="02020603050405020304"/>
                  <a:cs typeface="Times New Roman" panose="02020603050405020304"/>
                </a:rPr>
                <a:t>Generator</a:t>
              </a:r>
              <a:r>
                <a:rPr sz="635" spc="-45" dirty="0">
                  <a:solidFill>
                    <a:srgbClr val="FFFFFF"/>
                  </a:solidFill>
                  <a:latin typeface="Times New Roman" panose="02020603050405020304"/>
                  <a:cs typeface="Times New Roman" panose="02020603050405020304"/>
                </a:rPr>
                <a:t> </a:t>
              </a:r>
              <a:r>
                <a:rPr sz="635" spc="-50" dirty="0">
                  <a:solidFill>
                    <a:srgbClr val="FFFFFF"/>
                  </a:solidFill>
                  <a:latin typeface="Times New Roman" panose="02020603050405020304"/>
                  <a:cs typeface="Times New Roman" panose="02020603050405020304"/>
                </a:rPr>
                <a:t>3</a:t>
              </a:r>
              <a:endParaRPr sz="635">
                <a:latin typeface="Times New Roman" panose="02020603050405020304"/>
                <a:cs typeface="Times New Roman" panose="02020603050405020304"/>
              </a:endParaRPr>
            </a:p>
          </p:txBody>
        </p:sp>
        <p:grpSp>
          <p:nvGrpSpPr>
            <p:cNvPr id="139" name="object 139"/>
            <p:cNvGrpSpPr/>
            <p:nvPr/>
          </p:nvGrpSpPr>
          <p:grpSpPr>
            <a:xfrm>
              <a:off x="12408" y="5250"/>
              <a:ext cx="364" cy="1030"/>
              <a:chOff x="7312914" y="3676650"/>
              <a:chExt cx="254635" cy="721360"/>
            </a:xfrm>
          </p:grpSpPr>
          <p:sp>
            <p:nvSpPr>
              <p:cNvPr id="140" name="object 140"/>
              <p:cNvSpPr/>
              <p:nvPr/>
            </p:nvSpPr>
            <p:spPr>
              <a:xfrm>
                <a:off x="7316724" y="3680460"/>
                <a:ext cx="247015" cy="713740"/>
              </a:xfrm>
              <a:custGeom>
                <a:avLst/>
                <a:gdLst/>
                <a:ahLst/>
                <a:cxnLst/>
                <a:rect l="l" t="t" r="r" b="b"/>
                <a:pathLst>
                  <a:path w="247015" h="713739">
                    <a:moveTo>
                      <a:pt x="246888" y="713232"/>
                    </a:moveTo>
                    <a:lnTo>
                      <a:pt x="0" y="713232"/>
                    </a:lnTo>
                    <a:lnTo>
                      <a:pt x="0" y="0"/>
                    </a:lnTo>
                    <a:lnTo>
                      <a:pt x="246888" y="0"/>
                    </a:lnTo>
                    <a:lnTo>
                      <a:pt x="246888" y="713232"/>
                    </a:lnTo>
                    <a:close/>
                  </a:path>
                </a:pathLst>
              </a:custGeom>
              <a:solidFill>
                <a:srgbClr val="D8F0ED"/>
              </a:solidFill>
            </p:spPr>
            <p:txBody>
              <a:bodyPr wrap="square" lIns="0" tIns="0" rIns="0" bIns="0" rtlCol="0"/>
              <a:lstStyle/>
              <a:p>
                <a:endParaRPr sz="1630"/>
              </a:p>
            </p:txBody>
          </p:sp>
          <p:sp>
            <p:nvSpPr>
              <p:cNvPr id="141" name="object 141"/>
              <p:cNvSpPr/>
              <p:nvPr/>
            </p:nvSpPr>
            <p:spPr>
              <a:xfrm>
                <a:off x="7316724" y="3680460"/>
                <a:ext cx="247015" cy="713740"/>
              </a:xfrm>
              <a:custGeom>
                <a:avLst/>
                <a:gdLst/>
                <a:ahLst/>
                <a:cxnLst/>
                <a:rect l="l" t="t" r="r" b="b"/>
                <a:pathLst>
                  <a:path w="247015" h="713739">
                    <a:moveTo>
                      <a:pt x="0" y="0"/>
                    </a:moveTo>
                    <a:lnTo>
                      <a:pt x="246888" y="0"/>
                    </a:lnTo>
                    <a:lnTo>
                      <a:pt x="246888" y="713232"/>
                    </a:lnTo>
                    <a:lnTo>
                      <a:pt x="0" y="713232"/>
                    </a:lnTo>
                    <a:lnTo>
                      <a:pt x="0" y="0"/>
                    </a:lnTo>
                    <a:close/>
                  </a:path>
                </a:pathLst>
              </a:custGeom>
              <a:ln w="7620">
                <a:solidFill>
                  <a:srgbClr val="0C1C2B"/>
                </a:solidFill>
              </a:ln>
            </p:spPr>
            <p:txBody>
              <a:bodyPr wrap="square" lIns="0" tIns="0" rIns="0" bIns="0" rtlCol="0"/>
              <a:lstStyle/>
              <a:p>
                <a:endParaRPr sz="1630"/>
              </a:p>
            </p:txBody>
          </p:sp>
        </p:grpSp>
        <p:sp>
          <p:nvSpPr>
            <p:cNvPr id="142" name="object 142"/>
            <p:cNvSpPr txBox="1"/>
            <p:nvPr/>
          </p:nvSpPr>
          <p:spPr>
            <a:xfrm>
              <a:off x="12476" y="5353"/>
              <a:ext cx="143" cy="832"/>
            </a:xfrm>
            <a:prstGeom prst="rect">
              <a:avLst/>
            </a:prstGeom>
          </p:spPr>
          <p:txBody>
            <a:bodyPr vert="vert270" wrap="square" lIns="0" tIns="575" rIns="0" bIns="0" rtlCol="0">
              <a:spAutoFit/>
            </a:bodyPr>
            <a:lstStyle/>
            <a:p>
              <a:pPr marL="12700">
                <a:lnSpc>
                  <a:spcPct val="100000"/>
                </a:lnSpc>
                <a:spcBef>
                  <a:spcPts val="5"/>
                </a:spcBef>
              </a:pPr>
              <a:r>
                <a:rPr sz="725" spc="-10" dirty="0">
                  <a:solidFill>
                    <a:srgbClr val="0C1C2B"/>
                  </a:solidFill>
                  <a:latin typeface="Times New Roman" panose="02020603050405020304"/>
                  <a:cs typeface="Times New Roman" panose="02020603050405020304"/>
                </a:rPr>
                <a:t>Discriminator</a:t>
              </a:r>
              <a:endParaRPr sz="725">
                <a:latin typeface="Times New Roman" panose="02020603050405020304"/>
                <a:cs typeface="Times New Roman" panose="02020603050405020304"/>
              </a:endParaRPr>
            </a:p>
          </p:txBody>
        </p:sp>
        <p:grpSp>
          <p:nvGrpSpPr>
            <p:cNvPr id="143" name="object 143"/>
            <p:cNvGrpSpPr/>
            <p:nvPr/>
          </p:nvGrpSpPr>
          <p:grpSpPr>
            <a:xfrm>
              <a:off x="3456" y="4257"/>
              <a:ext cx="9883" cy="2457"/>
              <a:chOff x="1043939" y="2980944"/>
              <a:chExt cx="6920865" cy="1720850"/>
            </a:xfrm>
          </p:grpSpPr>
          <p:pic>
            <p:nvPicPr>
              <p:cNvPr id="144" name="object 144"/>
              <p:cNvPicPr/>
              <p:nvPr/>
            </p:nvPicPr>
            <p:blipFill>
              <a:blip r:embed="rId46" cstate="print"/>
              <a:stretch>
                <a:fillRect/>
              </a:stretch>
            </p:blipFill>
            <p:spPr>
              <a:xfrm>
                <a:off x="1048511" y="4474464"/>
                <a:ext cx="211836" cy="96012"/>
              </a:xfrm>
              <a:prstGeom prst="rect">
                <a:avLst/>
              </a:prstGeom>
            </p:spPr>
          </p:pic>
          <p:pic>
            <p:nvPicPr>
              <p:cNvPr id="145" name="object 145"/>
              <p:cNvPicPr/>
              <p:nvPr/>
            </p:nvPicPr>
            <p:blipFill>
              <a:blip r:embed="rId47" cstate="print"/>
              <a:stretch>
                <a:fillRect/>
              </a:stretch>
            </p:blipFill>
            <p:spPr>
              <a:xfrm>
                <a:off x="1043939" y="4604003"/>
                <a:ext cx="216407" cy="97536"/>
              </a:xfrm>
              <a:prstGeom prst="rect">
                <a:avLst/>
              </a:prstGeom>
            </p:spPr>
          </p:pic>
          <p:pic>
            <p:nvPicPr>
              <p:cNvPr id="146" name="object 146"/>
              <p:cNvPicPr/>
              <p:nvPr/>
            </p:nvPicPr>
            <p:blipFill>
              <a:blip r:embed="rId48" cstate="print"/>
              <a:stretch>
                <a:fillRect/>
              </a:stretch>
            </p:blipFill>
            <p:spPr>
              <a:xfrm>
                <a:off x="7805927" y="2980944"/>
                <a:ext cx="158495" cy="97536"/>
              </a:xfrm>
              <a:prstGeom prst="rect">
                <a:avLst/>
              </a:prstGeom>
            </p:spPr>
          </p:pic>
          <p:pic>
            <p:nvPicPr>
              <p:cNvPr id="147" name="object 147"/>
              <p:cNvPicPr/>
              <p:nvPr/>
            </p:nvPicPr>
            <p:blipFill>
              <a:blip r:embed="rId49" cstate="print"/>
              <a:stretch>
                <a:fillRect/>
              </a:stretch>
            </p:blipFill>
            <p:spPr>
              <a:xfrm>
                <a:off x="6954012" y="3941064"/>
                <a:ext cx="208787" cy="169163"/>
              </a:xfrm>
              <a:prstGeom prst="rect">
                <a:avLst/>
              </a:prstGeom>
            </p:spPr>
          </p:pic>
        </p:grpSp>
        <p:sp>
          <p:nvSpPr>
            <p:cNvPr id="148" name="object 148"/>
            <p:cNvSpPr txBox="1"/>
            <p:nvPr/>
          </p:nvSpPr>
          <p:spPr>
            <a:xfrm>
              <a:off x="3951" y="6316"/>
              <a:ext cx="851" cy="351"/>
            </a:xfrm>
            <a:prstGeom prst="rect">
              <a:avLst/>
            </a:prstGeom>
          </p:spPr>
          <p:txBody>
            <a:bodyPr vert="horz" wrap="square" lIns="0" tIns="11516" rIns="0" bIns="0" rtlCol="0">
              <a:spAutoFit/>
            </a:bodyPr>
            <a:lstStyle/>
            <a:p>
              <a:pPr marL="12700" marR="5080">
                <a:lnSpc>
                  <a:spcPct val="118000"/>
                </a:lnSpc>
                <a:spcBef>
                  <a:spcPts val="100"/>
                </a:spcBef>
              </a:pPr>
              <a:r>
                <a:rPr sz="725" spc="-10" dirty="0">
                  <a:solidFill>
                    <a:srgbClr val="0C1C2B"/>
                  </a:solidFill>
                  <a:latin typeface="Times New Roman" panose="02020603050405020304"/>
                  <a:cs typeface="Times New Roman" panose="02020603050405020304"/>
                </a:rPr>
                <a:t>Training</a:t>
              </a:r>
              <a:r>
                <a:rPr sz="725" spc="20" dirty="0">
                  <a:solidFill>
                    <a:srgbClr val="0C1C2B"/>
                  </a:solidFill>
                  <a:latin typeface="Times New Roman" panose="02020603050405020304"/>
                  <a:cs typeface="Times New Roman" panose="02020603050405020304"/>
                </a:rPr>
                <a:t> </a:t>
              </a:r>
              <a:r>
                <a:rPr sz="725" spc="-20" dirty="0">
                  <a:solidFill>
                    <a:srgbClr val="0C1C2B"/>
                  </a:solidFill>
                  <a:latin typeface="Times New Roman" panose="02020603050405020304"/>
                  <a:cs typeface="Times New Roman" panose="02020603050405020304"/>
                </a:rPr>
                <a:t>Only</a:t>
              </a:r>
              <a:r>
                <a:rPr sz="725" spc="500" dirty="0">
                  <a:solidFill>
                    <a:srgbClr val="0C1C2B"/>
                  </a:solidFill>
                  <a:latin typeface="Times New Roman" panose="02020603050405020304"/>
                  <a:cs typeface="Times New Roman" panose="02020603050405020304"/>
                </a:rPr>
                <a:t> </a:t>
              </a:r>
              <a:r>
                <a:rPr sz="725" spc="-10" dirty="0">
                  <a:solidFill>
                    <a:srgbClr val="0C1C2B"/>
                  </a:solidFill>
                  <a:latin typeface="Times New Roman" panose="02020603050405020304"/>
                  <a:cs typeface="Times New Roman" panose="02020603050405020304"/>
                </a:rPr>
                <a:t>Detection</a:t>
              </a:r>
              <a:endParaRPr sz="725">
                <a:latin typeface="Times New Roman" panose="02020603050405020304"/>
                <a:cs typeface="Times New Roman" panose="02020603050405020304"/>
              </a:endParaRPr>
            </a:p>
          </p:txBody>
        </p:sp>
        <p:pic>
          <p:nvPicPr>
            <p:cNvPr id="149" name="object 149"/>
            <p:cNvPicPr/>
            <p:nvPr/>
          </p:nvPicPr>
          <p:blipFill>
            <a:blip r:embed="rId50" cstate="print"/>
            <a:stretch>
              <a:fillRect/>
            </a:stretch>
          </p:blipFill>
          <p:spPr>
            <a:xfrm>
              <a:off x="3580" y="5693"/>
              <a:ext cx="392" cy="320"/>
            </a:xfrm>
            <a:prstGeom prst="rect">
              <a:avLst/>
            </a:prstGeom>
          </p:spPr>
        </p:pic>
        <p:sp>
          <p:nvSpPr>
            <p:cNvPr id="150" name="object 150"/>
            <p:cNvSpPr txBox="1"/>
            <p:nvPr/>
          </p:nvSpPr>
          <p:spPr>
            <a:xfrm>
              <a:off x="3458" y="5473"/>
              <a:ext cx="1324" cy="176"/>
            </a:xfrm>
            <a:prstGeom prst="rect">
              <a:avLst/>
            </a:prstGeom>
          </p:spPr>
          <p:txBody>
            <a:bodyPr vert="horz" wrap="square" lIns="0" tIns="26486" rIns="0" bIns="0" rtlCol="0">
              <a:spAutoFit/>
            </a:bodyPr>
            <a:lstStyle/>
            <a:p>
              <a:pPr marL="168910">
                <a:lnSpc>
                  <a:spcPct val="100000"/>
                </a:lnSpc>
                <a:spcBef>
                  <a:spcPts val="230"/>
                </a:spcBef>
              </a:pPr>
              <a:r>
                <a:rPr sz="725" i="1" dirty="0">
                  <a:solidFill>
                    <a:srgbClr val="0C1C2B"/>
                  </a:solidFill>
                  <a:latin typeface="Times New Roman" panose="02020603050405020304"/>
                  <a:cs typeface="Times New Roman" panose="02020603050405020304"/>
                </a:rPr>
                <a:t>Testing</a:t>
              </a:r>
              <a:r>
                <a:rPr sz="725" i="1" spc="-50"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Traffic</a:t>
              </a:r>
              <a:endParaRPr sz="725">
                <a:latin typeface="Times New Roman" panose="02020603050405020304"/>
                <a:cs typeface="Times New Roman" panose="02020603050405020304"/>
              </a:endParaRPr>
            </a:p>
          </p:txBody>
        </p:sp>
        <p:grpSp>
          <p:nvGrpSpPr>
            <p:cNvPr id="151" name="object 151"/>
            <p:cNvGrpSpPr/>
            <p:nvPr/>
          </p:nvGrpSpPr>
          <p:grpSpPr>
            <a:xfrm>
              <a:off x="3545" y="3983"/>
              <a:ext cx="12140" cy="2540"/>
              <a:chOff x="1106424" y="2788919"/>
              <a:chExt cx="8501380" cy="1778635"/>
            </a:xfrm>
          </p:grpSpPr>
          <p:pic>
            <p:nvPicPr>
              <p:cNvPr id="152" name="object 152"/>
              <p:cNvPicPr/>
              <p:nvPr/>
            </p:nvPicPr>
            <p:blipFill>
              <a:blip r:embed="rId51" cstate="print"/>
              <a:stretch>
                <a:fillRect/>
              </a:stretch>
            </p:blipFill>
            <p:spPr>
              <a:xfrm>
                <a:off x="8866631" y="2788919"/>
                <a:ext cx="539495" cy="320039"/>
              </a:xfrm>
              <a:prstGeom prst="rect">
                <a:avLst/>
              </a:prstGeom>
            </p:spPr>
          </p:pic>
          <p:pic>
            <p:nvPicPr>
              <p:cNvPr id="153" name="object 153"/>
              <p:cNvPicPr/>
              <p:nvPr/>
            </p:nvPicPr>
            <p:blipFill>
              <a:blip r:embed="rId52" cstate="print"/>
              <a:stretch>
                <a:fillRect/>
              </a:stretch>
            </p:blipFill>
            <p:spPr>
              <a:xfrm>
                <a:off x="8770619" y="3337559"/>
                <a:ext cx="97536" cy="156972"/>
              </a:xfrm>
              <a:prstGeom prst="rect">
                <a:avLst/>
              </a:prstGeom>
            </p:spPr>
          </p:pic>
          <p:pic>
            <p:nvPicPr>
              <p:cNvPr id="154" name="object 154"/>
              <p:cNvPicPr/>
              <p:nvPr/>
            </p:nvPicPr>
            <p:blipFill>
              <a:blip r:embed="rId53" cstate="print"/>
              <a:stretch>
                <a:fillRect/>
              </a:stretch>
            </p:blipFill>
            <p:spPr>
              <a:xfrm>
                <a:off x="1106424" y="3986783"/>
                <a:ext cx="748283" cy="397763"/>
              </a:xfrm>
              <a:prstGeom prst="rect">
                <a:avLst/>
              </a:prstGeom>
            </p:spPr>
          </p:pic>
          <p:pic>
            <p:nvPicPr>
              <p:cNvPr id="155" name="object 155"/>
              <p:cNvPicPr/>
              <p:nvPr/>
            </p:nvPicPr>
            <p:blipFill>
              <a:blip r:embed="rId54" cstate="print"/>
              <a:stretch>
                <a:fillRect/>
              </a:stretch>
            </p:blipFill>
            <p:spPr>
              <a:xfrm>
                <a:off x="4098035" y="3432048"/>
                <a:ext cx="132588" cy="96012"/>
              </a:xfrm>
              <a:prstGeom prst="rect">
                <a:avLst/>
              </a:prstGeom>
            </p:spPr>
          </p:pic>
          <p:pic>
            <p:nvPicPr>
              <p:cNvPr id="156" name="object 156"/>
              <p:cNvPicPr/>
              <p:nvPr/>
            </p:nvPicPr>
            <p:blipFill>
              <a:blip r:embed="rId55" cstate="print"/>
              <a:stretch>
                <a:fillRect/>
              </a:stretch>
            </p:blipFill>
            <p:spPr>
              <a:xfrm>
                <a:off x="1972055" y="4067556"/>
                <a:ext cx="230124" cy="97536"/>
              </a:xfrm>
              <a:prstGeom prst="rect">
                <a:avLst/>
              </a:prstGeom>
            </p:spPr>
          </p:pic>
          <p:sp>
            <p:nvSpPr>
              <p:cNvPr id="157" name="object 157"/>
              <p:cNvSpPr/>
              <p:nvPr/>
            </p:nvSpPr>
            <p:spPr>
              <a:xfrm>
                <a:off x="8013192" y="3864863"/>
                <a:ext cx="0" cy="521334"/>
              </a:xfrm>
              <a:custGeom>
                <a:avLst/>
                <a:gdLst/>
                <a:ahLst/>
                <a:cxnLst/>
                <a:rect l="l" t="t" r="r" b="b"/>
                <a:pathLst>
                  <a:path h="521335">
                    <a:moveTo>
                      <a:pt x="0" y="0"/>
                    </a:moveTo>
                    <a:lnTo>
                      <a:pt x="0" y="521208"/>
                    </a:lnTo>
                  </a:path>
                </a:pathLst>
              </a:custGeom>
              <a:ln w="12192">
                <a:solidFill>
                  <a:srgbClr val="0C1C2B"/>
                </a:solidFill>
                <a:prstDash val="sysDash"/>
              </a:ln>
            </p:spPr>
            <p:txBody>
              <a:bodyPr wrap="square" lIns="0" tIns="0" rIns="0" bIns="0" rtlCol="0"/>
              <a:lstStyle/>
              <a:p>
                <a:endParaRPr sz="1630"/>
              </a:p>
            </p:txBody>
          </p:sp>
          <p:sp>
            <p:nvSpPr>
              <p:cNvPr id="158" name="object 158"/>
              <p:cNvSpPr/>
              <p:nvPr/>
            </p:nvSpPr>
            <p:spPr>
              <a:xfrm>
                <a:off x="8007095" y="3502151"/>
                <a:ext cx="287020" cy="323215"/>
              </a:xfrm>
              <a:custGeom>
                <a:avLst/>
                <a:gdLst/>
                <a:ahLst/>
                <a:cxnLst/>
                <a:rect l="l" t="t" r="r" b="b"/>
                <a:pathLst>
                  <a:path w="287020" h="323214">
                    <a:moveTo>
                      <a:pt x="12192" y="323087"/>
                    </a:moveTo>
                    <a:lnTo>
                      <a:pt x="0" y="323087"/>
                    </a:lnTo>
                    <a:lnTo>
                      <a:pt x="0" y="269747"/>
                    </a:lnTo>
                    <a:lnTo>
                      <a:pt x="12192" y="269747"/>
                    </a:lnTo>
                    <a:lnTo>
                      <a:pt x="12192" y="323087"/>
                    </a:lnTo>
                    <a:close/>
                  </a:path>
                  <a:path w="287020" h="323214">
                    <a:moveTo>
                      <a:pt x="12192" y="228599"/>
                    </a:moveTo>
                    <a:lnTo>
                      <a:pt x="0" y="228599"/>
                    </a:lnTo>
                    <a:lnTo>
                      <a:pt x="0" y="175259"/>
                    </a:lnTo>
                    <a:lnTo>
                      <a:pt x="13716" y="175259"/>
                    </a:lnTo>
                    <a:lnTo>
                      <a:pt x="12192" y="182879"/>
                    </a:lnTo>
                    <a:lnTo>
                      <a:pt x="12192" y="228599"/>
                    </a:lnTo>
                    <a:close/>
                  </a:path>
                  <a:path w="287020" h="323214">
                    <a:moveTo>
                      <a:pt x="18288" y="137159"/>
                    </a:moveTo>
                    <a:lnTo>
                      <a:pt x="6096" y="134111"/>
                    </a:lnTo>
                    <a:lnTo>
                      <a:pt x="7620" y="128015"/>
                    </a:lnTo>
                    <a:lnTo>
                      <a:pt x="13716" y="111251"/>
                    </a:lnTo>
                    <a:lnTo>
                      <a:pt x="21336" y="96011"/>
                    </a:lnTo>
                    <a:lnTo>
                      <a:pt x="28956" y="83819"/>
                    </a:lnTo>
                    <a:lnTo>
                      <a:pt x="39624" y="91439"/>
                    </a:lnTo>
                    <a:lnTo>
                      <a:pt x="33528" y="102107"/>
                    </a:lnTo>
                    <a:lnTo>
                      <a:pt x="25908" y="117347"/>
                    </a:lnTo>
                    <a:lnTo>
                      <a:pt x="19812" y="132587"/>
                    </a:lnTo>
                    <a:lnTo>
                      <a:pt x="18288" y="137159"/>
                    </a:lnTo>
                    <a:close/>
                  </a:path>
                  <a:path w="287020" h="323214">
                    <a:moveTo>
                      <a:pt x="64008" y="60959"/>
                    </a:moveTo>
                    <a:lnTo>
                      <a:pt x="94488" y="22859"/>
                    </a:lnTo>
                    <a:lnTo>
                      <a:pt x="100584" y="19811"/>
                    </a:lnTo>
                    <a:lnTo>
                      <a:pt x="106680" y="32003"/>
                    </a:lnTo>
                    <a:lnTo>
                      <a:pt x="103632" y="33527"/>
                    </a:lnTo>
                    <a:lnTo>
                      <a:pt x="102108" y="33527"/>
                    </a:lnTo>
                    <a:lnTo>
                      <a:pt x="86868" y="42671"/>
                    </a:lnTo>
                    <a:lnTo>
                      <a:pt x="76417" y="51815"/>
                    </a:lnTo>
                    <a:lnTo>
                      <a:pt x="74676" y="51815"/>
                    </a:lnTo>
                    <a:lnTo>
                      <a:pt x="64008" y="60959"/>
                    </a:lnTo>
                    <a:close/>
                  </a:path>
                  <a:path w="287020" h="323214">
                    <a:moveTo>
                      <a:pt x="100584" y="35051"/>
                    </a:moveTo>
                    <a:lnTo>
                      <a:pt x="102108" y="33527"/>
                    </a:lnTo>
                    <a:lnTo>
                      <a:pt x="103632" y="33527"/>
                    </a:lnTo>
                    <a:lnTo>
                      <a:pt x="100584" y="35051"/>
                    </a:lnTo>
                    <a:close/>
                  </a:path>
                  <a:path w="287020" h="323214">
                    <a:moveTo>
                      <a:pt x="74676" y="53339"/>
                    </a:moveTo>
                    <a:lnTo>
                      <a:pt x="74676" y="51815"/>
                    </a:lnTo>
                    <a:lnTo>
                      <a:pt x="76417" y="51815"/>
                    </a:lnTo>
                    <a:lnTo>
                      <a:pt x="74676" y="53339"/>
                    </a:lnTo>
                    <a:close/>
                  </a:path>
                  <a:path w="287020" h="323214">
                    <a:moveTo>
                      <a:pt x="141732" y="18287"/>
                    </a:moveTo>
                    <a:lnTo>
                      <a:pt x="138684" y="6095"/>
                    </a:lnTo>
                    <a:lnTo>
                      <a:pt x="144780" y="4571"/>
                    </a:lnTo>
                    <a:lnTo>
                      <a:pt x="163068" y="1524"/>
                    </a:lnTo>
                    <a:lnTo>
                      <a:pt x="181356" y="0"/>
                    </a:lnTo>
                    <a:lnTo>
                      <a:pt x="193548" y="0"/>
                    </a:lnTo>
                    <a:lnTo>
                      <a:pt x="193548" y="13715"/>
                    </a:lnTo>
                    <a:lnTo>
                      <a:pt x="181356" y="13715"/>
                    </a:lnTo>
                    <a:lnTo>
                      <a:pt x="147828" y="16763"/>
                    </a:lnTo>
                    <a:lnTo>
                      <a:pt x="141732" y="18287"/>
                    </a:lnTo>
                    <a:close/>
                  </a:path>
                  <a:path w="287020" h="323214">
                    <a:moveTo>
                      <a:pt x="286512" y="13715"/>
                    </a:moveTo>
                    <a:lnTo>
                      <a:pt x="233172" y="13715"/>
                    </a:lnTo>
                    <a:lnTo>
                      <a:pt x="233172" y="0"/>
                    </a:lnTo>
                    <a:lnTo>
                      <a:pt x="286512" y="0"/>
                    </a:lnTo>
                    <a:lnTo>
                      <a:pt x="286512" y="13715"/>
                    </a:lnTo>
                    <a:close/>
                  </a:path>
                </a:pathLst>
              </a:custGeom>
              <a:solidFill>
                <a:srgbClr val="0C1C2B"/>
              </a:solidFill>
            </p:spPr>
            <p:txBody>
              <a:bodyPr wrap="square" lIns="0" tIns="0" rIns="0" bIns="0" rtlCol="0"/>
              <a:lstStyle/>
              <a:p>
                <a:endParaRPr sz="1630"/>
              </a:p>
            </p:txBody>
          </p:sp>
          <p:sp>
            <p:nvSpPr>
              <p:cNvPr id="159" name="object 159"/>
              <p:cNvSpPr/>
              <p:nvPr/>
            </p:nvSpPr>
            <p:spPr>
              <a:xfrm>
                <a:off x="8334755" y="3509009"/>
                <a:ext cx="1082040" cy="0"/>
              </a:xfrm>
              <a:custGeom>
                <a:avLst/>
                <a:gdLst/>
                <a:ahLst/>
                <a:cxnLst/>
                <a:rect l="l" t="t" r="r" b="b"/>
                <a:pathLst>
                  <a:path w="1082040">
                    <a:moveTo>
                      <a:pt x="0" y="0"/>
                    </a:moveTo>
                    <a:lnTo>
                      <a:pt x="1082040" y="0"/>
                    </a:lnTo>
                  </a:path>
                </a:pathLst>
              </a:custGeom>
              <a:ln w="13716">
                <a:solidFill>
                  <a:srgbClr val="0C1C2B"/>
                </a:solidFill>
                <a:prstDash val="sysDash"/>
              </a:ln>
            </p:spPr>
            <p:txBody>
              <a:bodyPr wrap="square" lIns="0" tIns="0" rIns="0" bIns="0" rtlCol="0"/>
              <a:lstStyle/>
              <a:p>
                <a:endParaRPr sz="1630"/>
              </a:p>
            </p:txBody>
          </p:sp>
          <p:sp>
            <p:nvSpPr>
              <p:cNvPr id="160" name="object 160"/>
              <p:cNvSpPr/>
              <p:nvPr/>
            </p:nvSpPr>
            <p:spPr>
              <a:xfrm>
                <a:off x="8007083" y="3505199"/>
                <a:ext cx="1600835" cy="1062355"/>
              </a:xfrm>
              <a:custGeom>
                <a:avLst/>
                <a:gdLst/>
                <a:ahLst/>
                <a:cxnLst/>
                <a:rect l="l" t="t" r="r" b="b"/>
                <a:pathLst>
                  <a:path w="1600834" h="1062354">
                    <a:moveTo>
                      <a:pt x="13601" y="897674"/>
                    </a:moveTo>
                    <a:lnTo>
                      <a:pt x="12192" y="880872"/>
                    </a:lnTo>
                    <a:lnTo>
                      <a:pt x="0" y="880872"/>
                    </a:lnTo>
                    <a:lnTo>
                      <a:pt x="0" y="900684"/>
                    </a:lnTo>
                    <a:lnTo>
                      <a:pt x="13601" y="897674"/>
                    </a:lnTo>
                    <a:close/>
                  </a:path>
                  <a:path w="1600834" h="1062354">
                    <a:moveTo>
                      <a:pt x="45720" y="981456"/>
                    </a:moveTo>
                    <a:lnTo>
                      <a:pt x="41148" y="975360"/>
                    </a:lnTo>
                    <a:lnTo>
                      <a:pt x="33528" y="961644"/>
                    </a:lnTo>
                    <a:lnTo>
                      <a:pt x="25908" y="946404"/>
                    </a:lnTo>
                    <a:lnTo>
                      <a:pt x="22860" y="935736"/>
                    </a:lnTo>
                    <a:lnTo>
                      <a:pt x="9144" y="940308"/>
                    </a:lnTo>
                    <a:lnTo>
                      <a:pt x="13716" y="952500"/>
                    </a:lnTo>
                    <a:lnTo>
                      <a:pt x="21336" y="967740"/>
                    </a:lnTo>
                    <a:lnTo>
                      <a:pt x="30480" y="982980"/>
                    </a:lnTo>
                    <a:lnTo>
                      <a:pt x="35052" y="989076"/>
                    </a:lnTo>
                    <a:lnTo>
                      <a:pt x="45720" y="981456"/>
                    </a:lnTo>
                    <a:close/>
                  </a:path>
                  <a:path w="1600834" h="1062354">
                    <a:moveTo>
                      <a:pt x="115824" y="1036320"/>
                    </a:moveTo>
                    <a:lnTo>
                      <a:pt x="100584" y="1028700"/>
                    </a:lnTo>
                    <a:lnTo>
                      <a:pt x="86868" y="1021080"/>
                    </a:lnTo>
                    <a:lnTo>
                      <a:pt x="76428" y="1011936"/>
                    </a:lnTo>
                    <a:lnTo>
                      <a:pt x="74676" y="1010412"/>
                    </a:lnTo>
                    <a:lnTo>
                      <a:pt x="74676" y="1011936"/>
                    </a:lnTo>
                    <a:lnTo>
                      <a:pt x="73152" y="1008888"/>
                    </a:lnTo>
                    <a:lnTo>
                      <a:pt x="64008" y="1019556"/>
                    </a:lnTo>
                    <a:lnTo>
                      <a:pt x="65532" y="1021080"/>
                    </a:lnTo>
                    <a:lnTo>
                      <a:pt x="79248" y="1031748"/>
                    </a:lnTo>
                    <a:lnTo>
                      <a:pt x="94488" y="1040892"/>
                    </a:lnTo>
                    <a:lnTo>
                      <a:pt x="111252" y="1048512"/>
                    </a:lnTo>
                    <a:lnTo>
                      <a:pt x="115824" y="1036320"/>
                    </a:lnTo>
                    <a:close/>
                  </a:path>
                  <a:path w="1600834" h="1062354">
                    <a:moveTo>
                      <a:pt x="205740" y="1050036"/>
                    </a:moveTo>
                    <a:lnTo>
                      <a:pt x="181356" y="1050036"/>
                    </a:lnTo>
                    <a:lnTo>
                      <a:pt x="164592" y="1048512"/>
                    </a:lnTo>
                    <a:lnTo>
                      <a:pt x="152400" y="1046988"/>
                    </a:lnTo>
                    <a:lnTo>
                      <a:pt x="150876" y="1060704"/>
                    </a:lnTo>
                    <a:lnTo>
                      <a:pt x="163068" y="1062228"/>
                    </a:lnTo>
                    <a:lnTo>
                      <a:pt x="205740" y="1062228"/>
                    </a:lnTo>
                    <a:lnTo>
                      <a:pt x="205740" y="1050036"/>
                    </a:lnTo>
                    <a:close/>
                  </a:path>
                  <a:path w="1600834" h="1062354">
                    <a:moveTo>
                      <a:pt x="298704" y="1050036"/>
                    </a:moveTo>
                    <a:lnTo>
                      <a:pt x="245364" y="1050036"/>
                    </a:lnTo>
                    <a:lnTo>
                      <a:pt x="245364" y="1062228"/>
                    </a:lnTo>
                    <a:lnTo>
                      <a:pt x="298704" y="1062228"/>
                    </a:lnTo>
                    <a:lnTo>
                      <a:pt x="298704" y="1050036"/>
                    </a:lnTo>
                    <a:close/>
                  </a:path>
                  <a:path w="1600834" h="1062354">
                    <a:moveTo>
                      <a:pt x="391668" y="1050036"/>
                    </a:moveTo>
                    <a:lnTo>
                      <a:pt x="338328" y="1050036"/>
                    </a:lnTo>
                    <a:lnTo>
                      <a:pt x="338328" y="1062228"/>
                    </a:lnTo>
                    <a:lnTo>
                      <a:pt x="391668" y="1062228"/>
                    </a:lnTo>
                    <a:lnTo>
                      <a:pt x="391668" y="1050036"/>
                    </a:lnTo>
                    <a:close/>
                  </a:path>
                  <a:path w="1600834" h="1062354">
                    <a:moveTo>
                      <a:pt x="486156" y="1050036"/>
                    </a:moveTo>
                    <a:lnTo>
                      <a:pt x="432816" y="1050036"/>
                    </a:lnTo>
                    <a:lnTo>
                      <a:pt x="432816" y="1062228"/>
                    </a:lnTo>
                    <a:lnTo>
                      <a:pt x="486156" y="1062228"/>
                    </a:lnTo>
                    <a:lnTo>
                      <a:pt x="486156" y="1050036"/>
                    </a:lnTo>
                    <a:close/>
                  </a:path>
                  <a:path w="1600834" h="1062354">
                    <a:moveTo>
                      <a:pt x="579120" y="1050036"/>
                    </a:moveTo>
                    <a:lnTo>
                      <a:pt x="525780" y="1050036"/>
                    </a:lnTo>
                    <a:lnTo>
                      <a:pt x="525780" y="1062228"/>
                    </a:lnTo>
                    <a:lnTo>
                      <a:pt x="579120" y="1062228"/>
                    </a:lnTo>
                    <a:lnTo>
                      <a:pt x="579120" y="1050036"/>
                    </a:lnTo>
                    <a:close/>
                  </a:path>
                  <a:path w="1600834" h="1062354">
                    <a:moveTo>
                      <a:pt x="673608" y="1050036"/>
                    </a:moveTo>
                    <a:lnTo>
                      <a:pt x="618744" y="1050036"/>
                    </a:lnTo>
                    <a:lnTo>
                      <a:pt x="618744" y="1062228"/>
                    </a:lnTo>
                    <a:lnTo>
                      <a:pt x="673608" y="1062228"/>
                    </a:lnTo>
                    <a:lnTo>
                      <a:pt x="673608" y="1050036"/>
                    </a:lnTo>
                    <a:close/>
                  </a:path>
                  <a:path w="1600834" h="1062354">
                    <a:moveTo>
                      <a:pt x="766572" y="1050036"/>
                    </a:moveTo>
                    <a:lnTo>
                      <a:pt x="713232" y="1050036"/>
                    </a:lnTo>
                    <a:lnTo>
                      <a:pt x="713232" y="1062228"/>
                    </a:lnTo>
                    <a:lnTo>
                      <a:pt x="766572" y="1062228"/>
                    </a:lnTo>
                    <a:lnTo>
                      <a:pt x="766572" y="1050036"/>
                    </a:lnTo>
                    <a:close/>
                  </a:path>
                  <a:path w="1600834" h="1062354">
                    <a:moveTo>
                      <a:pt x="859536" y="1050036"/>
                    </a:moveTo>
                    <a:lnTo>
                      <a:pt x="806196" y="1050036"/>
                    </a:lnTo>
                    <a:lnTo>
                      <a:pt x="806196" y="1062228"/>
                    </a:lnTo>
                    <a:lnTo>
                      <a:pt x="859536" y="1062228"/>
                    </a:lnTo>
                    <a:lnTo>
                      <a:pt x="859536" y="1050036"/>
                    </a:lnTo>
                    <a:close/>
                  </a:path>
                  <a:path w="1600834" h="1062354">
                    <a:moveTo>
                      <a:pt x="954024" y="1050036"/>
                    </a:moveTo>
                    <a:lnTo>
                      <a:pt x="900684" y="1050036"/>
                    </a:lnTo>
                    <a:lnTo>
                      <a:pt x="900684" y="1062228"/>
                    </a:lnTo>
                    <a:lnTo>
                      <a:pt x="954024" y="1062228"/>
                    </a:lnTo>
                    <a:lnTo>
                      <a:pt x="954024" y="1050036"/>
                    </a:lnTo>
                    <a:close/>
                  </a:path>
                  <a:path w="1600834" h="1062354">
                    <a:moveTo>
                      <a:pt x="1047000" y="1050036"/>
                    </a:moveTo>
                    <a:lnTo>
                      <a:pt x="993660" y="1050036"/>
                    </a:lnTo>
                    <a:lnTo>
                      <a:pt x="993660" y="1062228"/>
                    </a:lnTo>
                    <a:lnTo>
                      <a:pt x="1047000" y="1062228"/>
                    </a:lnTo>
                    <a:lnTo>
                      <a:pt x="1047000" y="1050036"/>
                    </a:lnTo>
                    <a:close/>
                  </a:path>
                  <a:path w="1600834" h="1062354">
                    <a:moveTo>
                      <a:pt x="1139964" y="1050036"/>
                    </a:moveTo>
                    <a:lnTo>
                      <a:pt x="1086624" y="1050036"/>
                    </a:lnTo>
                    <a:lnTo>
                      <a:pt x="1086624" y="1062228"/>
                    </a:lnTo>
                    <a:lnTo>
                      <a:pt x="1139964" y="1062228"/>
                    </a:lnTo>
                    <a:lnTo>
                      <a:pt x="1139964" y="1050036"/>
                    </a:lnTo>
                    <a:close/>
                  </a:path>
                  <a:path w="1600834" h="1062354">
                    <a:moveTo>
                      <a:pt x="1234452" y="1050036"/>
                    </a:moveTo>
                    <a:lnTo>
                      <a:pt x="1181112" y="1050036"/>
                    </a:lnTo>
                    <a:lnTo>
                      <a:pt x="1181112" y="1062228"/>
                    </a:lnTo>
                    <a:lnTo>
                      <a:pt x="1234452" y="1062228"/>
                    </a:lnTo>
                    <a:lnTo>
                      <a:pt x="1234452" y="1050036"/>
                    </a:lnTo>
                    <a:close/>
                  </a:path>
                  <a:path w="1600834" h="1062354">
                    <a:moveTo>
                      <a:pt x="1327416" y="1050036"/>
                    </a:moveTo>
                    <a:lnTo>
                      <a:pt x="1274076" y="1050036"/>
                    </a:lnTo>
                    <a:lnTo>
                      <a:pt x="1274076" y="1062228"/>
                    </a:lnTo>
                    <a:lnTo>
                      <a:pt x="1327416" y="1062228"/>
                    </a:lnTo>
                    <a:lnTo>
                      <a:pt x="1327416" y="1050036"/>
                    </a:lnTo>
                    <a:close/>
                  </a:path>
                  <a:path w="1600834" h="1062354">
                    <a:moveTo>
                      <a:pt x="1421904" y="1062228"/>
                    </a:moveTo>
                    <a:lnTo>
                      <a:pt x="1420380" y="1050036"/>
                    </a:lnTo>
                    <a:lnTo>
                      <a:pt x="1368564" y="1050036"/>
                    </a:lnTo>
                    <a:lnTo>
                      <a:pt x="1368564" y="1062228"/>
                    </a:lnTo>
                    <a:lnTo>
                      <a:pt x="1421904" y="1062228"/>
                    </a:lnTo>
                    <a:close/>
                  </a:path>
                  <a:path w="1600834" h="1062354">
                    <a:moveTo>
                      <a:pt x="1502676" y="18288"/>
                    </a:moveTo>
                    <a:lnTo>
                      <a:pt x="1488960" y="12192"/>
                    </a:lnTo>
                    <a:lnTo>
                      <a:pt x="1472196" y="6096"/>
                    </a:lnTo>
                    <a:lnTo>
                      <a:pt x="1453908" y="1524"/>
                    </a:lnTo>
                    <a:lnTo>
                      <a:pt x="1450860" y="0"/>
                    </a:lnTo>
                    <a:lnTo>
                      <a:pt x="1449336" y="13716"/>
                    </a:lnTo>
                    <a:lnTo>
                      <a:pt x="1450860" y="13716"/>
                    </a:lnTo>
                    <a:lnTo>
                      <a:pt x="1467624" y="18288"/>
                    </a:lnTo>
                    <a:lnTo>
                      <a:pt x="1484388" y="24384"/>
                    </a:lnTo>
                    <a:lnTo>
                      <a:pt x="1482864" y="24384"/>
                    </a:lnTo>
                    <a:lnTo>
                      <a:pt x="1496580" y="30480"/>
                    </a:lnTo>
                    <a:lnTo>
                      <a:pt x="1502676" y="18288"/>
                    </a:lnTo>
                    <a:close/>
                  </a:path>
                  <a:path w="1600834" h="1062354">
                    <a:moveTo>
                      <a:pt x="1513344" y="1036320"/>
                    </a:moveTo>
                    <a:lnTo>
                      <a:pt x="1505724" y="1024128"/>
                    </a:lnTo>
                    <a:lnTo>
                      <a:pt x="1498104" y="1028700"/>
                    </a:lnTo>
                    <a:lnTo>
                      <a:pt x="1482864" y="1036320"/>
                    </a:lnTo>
                    <a:lnTo>
                      <a:pt x="1484388" y="1036320"/>
                    </a:lnTo>
                    <a:lnTo>
                      <a:pt x="1467624" y="1042416"/>
                    </a:lnTo>
                    <a:lnTo>
                      <a:pt x="1458480" y="1043940"/>
                    </a:lnTo>
                    <a:lnTo>
                      <a:pt x="1463052" y="1057656"/>
                    </a:lnTo>
                    <a:lnTo>
                      <a:pt x="1472196" y="1054608"/>
                    </a:lnTo>
                    <a:lnTo>
                      <a:pt x="1488960" y="1048512"/>
                    </a:lnTo>
                    <a:lnTo>
                      <a:pt x="1513344" y="1036320"/>
                    </a:lnTo>
                    <a:close/>
                  </a:path>
                  <a:path w="1600834" h="1062354">
                    <a:moveTo>
                      <a:pt x="1572780" y="85344"/>
                    </a:moveTo>
                    <a:lnTo>
                      <a:pt x="1568208" y="77724"/>
                    </a:lnTo>
                    <a:lnTo>
                      <a:pt x="1563458" y="71628"/>
                    </a:lnTo>
                    <a:lnTo>
                      <a:pt x="1555165" y="60960"/>
                    </a:lnTo>
                    <a:lnTo>
                      <a:pt x="1546872" y="50292"/>
                    </a:lnTo>
                    <a:lnTo>
                      <a:pt x="1537728" y="42672"/>
                    </a:lnTo>
                    <a:lnTo>
                      <a:pt x="1528584" y="51816"/>
                    </a:lnTo>
                    <a:lnTo>
                      <a:pt x="1536204" y="59436"/>
                    </a:lnTo>
                    <a:lnTo>
                      <a:pt x="1548396" y="73152"/>
                    </a:lnTo>
                    <a:lnTo>
                      <a:pt x="1548396" y="71628"/>
                    </a:lnTo>
                    <a:lnTo>
                      <a:pt x="1557540" y="85344"/>
                    </a:lnTo>
                    <a:lnTo>
                      <a:pt x="1562112" y="91440"/>
                    </a:lnTo>
                    <a:lnTo>
                      <a:pt x="1572780" y="85344"/>
                    </a:lnTo>
                    <a:close/>
                  </a:path>
                  <a:path w="1600834" h="1062354">
                    <a:moveTo>
                      <a:pt x="1578876" y="964692"/>
                    </a:moveTo>
                    <a:lnTo>
                      <a:pt x="1566684" y="960120"/>
                    </a:lnTo>
                    <a:lnTo>
                      <a:pt x="1565160" y="961644"/>
                    </a:lnTo>
                    <a:lnTo>
                      <a:pt x="1566684" y="961644"/>
                    </a:lnTo>
                    <a:lnTo>
                      <a:pt x="1548396" y="989076"/>
                    </a:lnTo>
                    <a:lnTo>
                      <a:pt x="1548396" y="987564"/>
                    </a:lnTo>
                    <a:lnTo>
                      <a:pt x="1536204" y="999744"/>
                    </a:lnTo>
                    <a:lnTo>
                      <a:pt x="1545348" y="1010412"/>
                    </a:lnTo>
                    <a:lnTo>
                      <a:pt x="1546872" y="1010412"/>
                    </a:lnTo>
                    <a:lnTo>
                      <a:pt x="1563458" y="989076"/>
                    </a:lnTo>
                    <a:lnTo>
                      <a:pt x="1568208" y="982992"/>
                    </a:lnTo>
                    <a:lnTo>
                      <a:pt x="1577352" y="967740"/>
                    </a:lnTo>
                    <a:lnTo>
                      <a:pt x="1578876" y="964692"/>
                    </a:lnTo>
                    <a:close/>
                  </a:path>
                  <a:path w="1600834" h="1062354">
                    <a:moveTo>
                      <a:pt x="1600212" y="871728"/>
                    </a:moveTo>
                    <a:lnTo>
                      <a:pt x="1586496" y="871728"/>
                    </a:lnTo>
                    <a:lnTo>
                      <a:pt x="1586496" y="880872"/>
                    </a:lnTo>
                    <a:lnTo>
                      <a:pt x="1584972" y="899172"/>
                    </a:lnTo>
                    <a:lnTo>
                      <a:pt x="1584972" y="897636"/>
                    </a:lnTo>
                    <a:lnTo>
                      <a:pt x="1583448" y="915924"/>
                    </a:lnTo>
                    <a:lnTo>
                      <a:pt x="1583448" y="914400"/>
                    </a:lnTo>
                    <a:lnTo>
                      <a:pt x="1580400" y="923544"/>
                    </a:lnTo>
                    <a:lnTo>
                      <a:pt x="1594116" y="926592"/>
                    </a:lnTo>
                    <a:lnTo>
                      <a:pt x="1595894" y="915924"/>
                    </a:lnTo>
                    <a:lnTo>
                      <a:pt x="1598688" y="899172"/>
                    </a:lnTo>
                    <a:lnTo>
                      <a:pt x="1600212" y="880872"/>
                    </a:lnTo>
                    <a:lnTo>
                      <a:pt x="1600212" y="871728"/>
                    </a:lnTo>
                    <a:close/>
                  </a:path>
                  <a:path w="1600834" h="1062354">
                    <a:moveTo>
                      <a:pt x="1600212" y="778764"/>
                    </a:moveTo>
                    <a:lnTo>
                      <a:pt x="1586496" y="778764"/>
                    </a:lnTo>
                    <a:lnTo>
                      <a:pt x="1586496" y="832104"/>
                    </a:lnTo>
                    <a:lnTo>
                      <a:pt x="1600212" y="832104"/>
                    </a:lnTo>
                    <a:lnTo>
                      <a:pt x="1600212" y="778764"/>
                    </a:lnTo>
                    <a:close/>
                  </a:path>
                  <a:path w="1600834" h="1062354">
                    <a:moveTo>
                      <a:pt x="1600212" y="684276"/>
                    </a:moveTo>
                    <a:lnTo>
                      <a:pt x="1586496" y="684276"/>
                    </a:lnTo>
                    <a:lnTo>
                      <a:pt x="1586496" y="737616"/>
                    </a:lnTo>
                    <a:lnTo>
                      <a:pt x="1600212" y="737616"/>
                    </a:lnTo>
                    <a:lnTo>
                      <a:pt x="1600212" y="684276"/>
                    </a:lnTo>
                    <a:close/>
                  </a:path>
                  <a:path w="1600834" h="1062354">
                    <a:moveTo>
                      <a:pt x="1600212" y="591312"/>
                    </a:moveTo>
                    <a:lnTo>
                      <a:pt x="1586496" y="591312"/>
                    </a:lnTo>
                    <a:lnTo>
                      <a:pt x="1586496" y="644652"/>
                    </a:lnTo>
                    <a:lnTo>
                      <a:pt x="1600212" y="644652"/>
                    </a:lnTo>
                    <a:lnTo>
                      <a:pt x="1600212" y="591312"/>
                    </a:lnTo>
                    <a:close/>
                  </a:path>
                  <a:path w="1600834" h="1062354">
                    <a:moveTo>
                      <a:pt x="1600212" y="498348"/>
                    </a:moveTo>
                    <a:lnTo>
                      <a:pt x="1586496" y="498348"/>
                    </a:lnTo>
                    <a:lnTo>
                      <a:pt x="1586496" y="551688"/>
                    </a:lnTo>
                    <a:lnTo>
                      <a:pt x="1600212" y="551688"/>
                    </a:lnTo>
                    <a:lnTo>
                      <a:pt x="1600212" y="498348"/>
                    </a:lnTo>
                    <a:close/>
                  </a:path>
                  <a:path w="1600834" h="1062354">
                    <a:moveTo>
                      <a:pt x="1600212" y="403860"/>
                    </a:moveTo>
                    <a:lnTo>
                      <a:pt x="1586496" y="403860"/>
                    </a:lnTo>
                    <a:lnTo>
                      <a:pt x="1586496" y="457200"/>
                    </a:lnTo>
                    <a:lnTo>
                      <a:pt x="1600212" y="457200"/>
                    </a:lnTo>
                    <a:lnTo>
                      <a:pt x="1600212" y="403860"/>
                    </a:lnTo>
                    <a:close/>
                  </a:path>
                  <a:path w="1600834" h="1062354">
                    <a:moveTo>
                      <a:pt x="1600212" y="310896"/>
                    </a:moveTo>
                    <a:lnTo>
                      <a:pt x="1586496" y="310896"/>
                    </a:lnTo>
                    <a:lnTo>
                      <a:pt x="1586496" y="364236"/>
                    </a:lnTo>
                    <a:lnTo>
                      <a:pt x="1600212" y="364236"/>
                    </a:lnTo>
                    <a:lnTo>
                      <a:pt x="1600212" y="310896"/>
                    </a:lnTo>
                    <a:close/>
                  </a:path>
                  <a:path w="1600834" h="1062354">
                    <a:moveTo>
                      <a:pt x="1600212" y="216408"/>
                    </a:moveTo>
                    <a:lnTo>
                      <a:pt x="1586496" y="216408"/>
                    </a:lnTo>
                    <a:lnTo>
                      <a:pt x="1586496" y="271272"/>
                    </a:lnTo>
                    <a:lnTo>
                      <a:pt x="1600212" y="271272"/>
                    </a:lnTo>
                    <a:lnTo>
                      <a:pt x="1600212" y="216408"/>
                    </a:lnTo>
                    <a:close/>
                  </a:path>
                  <a:path w="1600834" h="1062354">
                    <a:moveTo>
                      <a:pt x="1600212" y="176784"/>
                    </a:moveTo>
                    <a:lnTo>
                      <a:pt x="1598688" y="161544"/>
                    </a:lnTo>
                    <a:lnTo>
                      <a:pt x="1595894" y="144780"/>
                    </a:lnTo>
                    <a:lnTo>
                      <a:pt x="1595640" y="143256"/>
                    </a:lnTo>
                    <a:lnTo>
                      <a:pt x="1591068" y="124968"/>
                    </a:lnTo>
                    <a:lnTo>
                      <a:pt x="1591068" y="121920"/>
                    </a:lnTo>
                    <a:lnTo>
                      <a:pt x="1577352" y="126492"/>
                    </a:lnTo>
                    <a:lnTo>
                      <a:pt x="1578876" y="129540"/>
                    </a:lnTo>
                    <a:lnTo>
                      <a:pt x="1583448" y="146304"/>
                    </a:lnTo>
                    <a:lnTo>
                      <a:pt x="1583448" y="144780"/>
                    </a:lnTo>
                    <a:lnTo>
                      <a:pt x="1584972" y="163068"/>
                    </a:lnTo>
                    <a:lnTo>
                      <a:pt x="1584972" y="161544"/>
                    </a:lnTo>
                    <a:lnTo>
                      <a:pt x="1586496" y="176784"/>
                    </a:lnTo>
                    <a:lnTo>
                      <a:pt x="1600212" y="176784"/>
                    </a:lnTo>
                    <a:close/>
                  </a:path>
                </a:pathLst>
              </a:custGeom>
              <a:solidFill>
                <a:srgbClr val="0C1C2B"/>
              </a:solidFill>
            </p:spPr>
            <p:txBody>
              <a:bodyPr wrap="square" lIns="0" tIns="0" rIns="0" bIns="0" rtlCol="0"/>
              <a:lstStyle/>
              <a:p>
                <a:endParaRPr sz="1630"/>
              </a:p>
            </p:txBody>
          </p:sp>
          <p:pic>
            <p:nvPicPr>
              <p:cNvPr id="161" name="object 161"/>
              <p:cNvPicPr/>
              <p:nvPr/>
            </p:nvPicPr>
            <p:blipFill>
              <a:blip r:embed="rId56" cstate="print"/>
              <a:stretch>
                <a:fillRect/>
              </a:stretch>
            </p:blipFill>
            <p:spPr>
              <a:xfrm>
                <a:off x="7947659" y="3438143"/>
                <a:ext cx="201168" cy="199644"/>
              </a:xfrm>
              <a:prstGeom prst="rect">
                <a:avLst/>
              </a:prstGeom>
            </p:spPr>
          </p:pic>
        </p:grpSp>
        <p:sp>
          <p:nvSpPr>
            <p:cNvPr id="162" name="object 162"/>
            <p:cNvSpPr txBox="1"/>
            <p:nvPr/>
          </p:nvSpPr>
          <p:spPr>
            <a:xfrm>
              <a:off x="13423" y="4942"/>
              <a:ext cx="109" cy="155"/>
            </a:xfrm>
            <a:prstGeom prst="rect">
              <a:avLst/>
            </a:prstGeom>
          </p:spPr>
          <p:txBody>
            <a:bodyPr vert="horz" wrap="square" lIns="0" tIns="10364" rIns="0" bIns="0" rtlCol="0">
              <a:spAutoFit/>
            </a:bodyPr>
            <a:lstStyle/>
            <a:p>
              <a:pPr marL="12700">
                <a:lnSpc>
                  <a:spcPct val="100000"/>
                </a:lnSpc>
                <a:spcBef>
                  <a:spcPts val="90"/>
                </a:spcBef>
              </a:pPr>
              <a:r>
                <a:rPr sz="725" b="1" spc="-5" dirty="0">
                  <a:solidFill>
                    <a:srgbClr val="FFFFFF"/>
                  </a:solidFill>
                  <a:latin typeface="Times New Roman" panose="02020603050405020304"/>
                  <a:cs typeface="Times New Roman" panose="02020603050405020304"/>
                </a:rPr>
                <a:t>4</a:t>
              </a:r>
              <a:endParaRPr sz="725">
                <a:latin typeface="Times New Roman" panose="02020603050405020304"/>
                <a:cs typeface="Times New Roman" panose="02020603050405020304"/>
              </a:endParaRPr>
            </a:p>
          </p:txBody>
        </p:sp>
        <p:sp>
          <p:nvSpPr>
            <p:cNvPr id="163" name="object 163"/>
            <p:cNvSpPr txBox="1"/>
            <p:nvPr/>
          </p:nvSpPr>
          <p:spPr>
            <a:xfrm>
              <a:off x="13701" y="5092"/>
              <a:ext cx="1683" cy="155"/>
            </a:xfrm>
            <a:prstGeom prst="rect">
              <a:avLst/>
            </a:prstGeom>
          </p:spPr>
          <p:txBody>
            <a:bodyPr vert="horz" wrap="square" lIns="0" tIns="10364" rIns="0" bIns="0" rtlCol="0">
              <a:spAutoFit/>
            </a:bodyPr>
            <a:lstStyle/>
            <a:p>
              <a:pPr marL="12700">
                <a:lnSpc>
                  <a:spcPct val="100000"/>
                </a:lnSpc>
                <a:spcBef>
                  <a:spcPts val="90"/>
                </a:spcBef>
              </a:pPr>
              <a:r>
                <a:rPr sz="725" i="1" spc="-10" dirty="0">
                  <a:solidFill>
                    <a:srgbClr val="0C1C2B"/>
                  </a:solidFill>
                  <a:latin typeface="Times New Roman" panose="02020603050405020304"/>
                  <a:cs typeface="Times New Roman" panose="02020603050405020304"/>
                </a:rPr>
                <a:t>ML-</a:t>
              </a:r>
              <a:r>
                <a:rPr sz="725" i="1" dirty="0">
                  <a:solidFill>
                    <a:srgbClr val="0C1C2B"/>
                  </a:solidFill>
                  <a:latin typeface="Times New Roman" panose="02020603050405020304"/>
                  <a:cs typeface="Times New Roman" panose="02020603050405020304"/>
                </a:rPr>
                <a:t>based</a:t>
              </a:r>
              <a:r>
                <a:rPr sz="725" i="1" spc="-15"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Detection</a:t>
              </a:r>
              <a:r>
                <a:rPr sz="725" i="1" spc="10" dirty="0">
                  <a:solidFill>
                    <a:srgbClr val="0C1C2B"/>
                  </a:solidFill>
                  <a:latin typeface="Times New Roman" panose="02020603050405020304"/>
                  <a:cs typeface="Times New Roman" panose="02020603050405020304"/>
                </a:rPr>
                <a:t> </a:t>
              </a:r>
              <a:r>
                <a:rPr sz="725" i="1" spc="-10" dirty="0">
                  <a:solidFill>
                    <a:srgbClr val="0C1C2B"/>
                  </a:solidFill>
                  <a:latin typeface="Times New Roman" panose="02020603050405020304"/>
                  <a:cs typeface="Times New Roman" panose="02020603050405020304"/>
                </a:rPr>
                <a:t>Module</a:t>
              </a:r>
              <a:endParaRPr sz="725">
                <a:latin typeface="Times New Roman" panose="02020603050405020304"/>
                <a:cs typeface="Times New Roman" panose="02020603050405020304"/>
              </a:endParaRPr>
            </a:p>
          </p:txBody>
        </p:sp>
        <p:pic>
          <p:nvPicPr>
            <p:cNvPr id="164" name="object 164"/>
            <p:cNvPicPr/>
            <p:nvPr/>
          </p:nvPicPr>
          <p:blipFill>
            <a:blip r:embed="rId57" cstate="print"/>
            <a:stretch>
              <a:fillRect/>
            </a:stretch>
          </p:blipFill>
          <p:spPr>
            <a:xfrm>
              <a:off x="13598" y="5512"/>
              <a:ext cx="126" cy="601"/>
            </a:xfrm>
            <a:prstGeom prst="rect">
              <a:avLst/>
            </a:prstGeom>
          </p:spPr>
        </p:pic>
        <p:sp>
          <p:nvSpPr>
            <p:cNvPr id="165" name="object 165"/>
            <p:cNvSpPr txBox="1"/>
            <p:nvPr/>
          </p:nvSpPr>
          <p:spPr>
            <a:xfrm>
              <a:off x="13497" y="6156"/>
              <a:ext cx="464" cy="155"/>
            </a:xfrm>
            <a:prstGeom prst="rect">
              <a:avLst/>
            </a:prstGeom>
          </p:spPr>
          <p:txBody>
            <a:bodyPr vert="horz" wrap="square" lIns="0" tIns="10364" rIns="0" bIns="0" rtlCol="0">
              <a:spAutoFit/>
            </a:bodyPr>
            <a:lstStyle/>
            <a:p>
              <a:pPr marL="12700">
                <a:lnSpc>
                  <a:spcPct val="100000"/>
                </a:lnSpc>
                <a:spcBef>
                  <a:spcPts val="90"/>
                </a:spcBef>
              </a:pPr>
              <a:r>
                <a:rPr sz="725" spc="-10" dirty="0">
                  <a:solidFill>
                    <a:srgbClr val="0C1C2B"/>
                  </a:solidFill>
                  <a:latin typeface="Times New Roman" panose="02020603050405020304"/>
                  <a:cs typeface="Times New Roman" panose="02020603050405020304"/>
                </a:rPr>
                <a:t>Feature</a:t>
              </a:r>
              <a:endParaRPr sz="725">
                <a:latin typeface="Times New Roman" panose="02020603050405020304"/>
                <a:cs typeface="Times New Roman" panose="02020603050405020304"/>
              </a:endParaRPr>
            </a:p>
          </p:txBody>
        </p:sp>
        <p:grpSp>
          <p:nvGrpSpPr>
            <p:cNvPr id="166" name="object 166"/>
            <p:cNvGrpSpPr/>
            <p:nvPr/>
          </p:nvGrpSpPr>
          <p:grpSpPr>
            <a:xfrm>
              <a:off x="6281" y="4041"/>
              <a:ext cx="9324" cy="3120"/>
              <a:chOff x="3022854" y="2830067"/>
              <a:chExt cx="6529070" cy="2185035"/>
            </a:xfrm>
          </p:grpSpPr>
          <p:pic>
            <p:nvPicPr>
              <p:cNvPr id="167" name="object 167"/>
              <p:cNvPicPr/>
              <p:nvPr/>
            </p:nvPicPr>
            <p:blipFill>
              <a:blip r:embed="rId58" cstate="print"/>
              <a:stretch>
                <a:fillRect/>
              </a:stretch>
            </p:blipFill>
            <p:spPr>
              <a:xfrm>
                <a:off x="8505027" y="3852672"/>
                <a:ext cx="523701" cy="466343"/>
              </a:xfrm>
              <a:prstGeom prst="rect">
                <a:avLst/>
              </a:prstGeom>
            </p:spPr>
          </p:pic>
          <p:pic>
            <p:nvPicPr>
              <p:cNvPr id="168" name="object 168"/>
              <p:cNvPicPr/>
              <p:nvPr/>
            </p:nvPicPr>
            <p:blipFill>
              <a:blip r:embed="rId59" cstate="print"/>
              <a:stretch>
                <a:fillRect/>
              </a:stretch>
            </p:blipFill>
            <p:spPr>
              <a:xfrm>
                <a:off x="8285987" y="4034027"/>
                <a:ext cx="190500" cy="67056"/>
              </a:xfrm>
              <a:prstGeom prst="rect">
                <a:avLst/>
              </a:prstGeom>
            </p:spPr>
          </p:pic>
          <p:pic>
            <p:nvPicPr>
              <p:cNvPr id="169" name="object 169"/>
              <p:cNvPicPr/>
              <p:nvPr/>
            </p:nvPicPr>
            <p:blipFill>
              <a:blip r:embed="rId60" cstate="print"/>
              <a:stretch>
                <a:fillRect/>
              </a:stretch>
            </p:blipFill>
            <p:spPr>
              <a:xfrm>
                <a:off x="9041892" y="4027932"/>
                <a:ext cx="164592" cy="67056"/>
              </a:xfrm>
              <a:prstGeom prst="rect">
                <a:avLst/>
              </a:prstGeom>
            </p:spPr>
          </p:pic>
          <p:pic>
            <p:nvPicPr>
              <p:cNvPr id="170" name="object 170"/>
              <p:cNvPicPr/>
              <p:nvPr/>
            </p:nvPicPr>
            <p:blipFill>
              <a:blip r:embed="rId61" cstate="print"/>
              <a:stretch>
                <a:fillRect/>
              </a:stretch>
            </p:blipFill>
            <p:spPr>
              <a:xfrm>
                <a:off x="9252203" y="3770375"/>
                <a:ext cx="288035" cy="419100"/>
              </a:xfrm>
              <a:prstGeom prst="rect">
                <a:avLst/>
              </a:prstGeom>
            </p:spPr>
          </p:pic>
          <p:pic>
            <p:nvPicPr>
              <p:cNvPr id="171" name="object 171"/>
              <p:cNvPicPr/>
              <p:nvPr/>
            </p:nvPicPr>
            <p:blipFill>
              <a:blip r:embed="rId62" cstate="print"/>
              <a:stretch>
                <a:fillRect/>
              </a:stretch>
            </p:blipFill>
            <p:spPr>
              <a:xfrm>
                <a:off x="9326880" y="4215384"/>
                <a:ext cx="141731" cy="144779"/>
              </a:xfrm>
              <a:prstGeom prst="rect">
                <a:avLst/>
              </a:prstGeom>
            </p:spPr>
          </p:pic>
          <p:sp>
            <p:nvSpPr>
              <p:cNvPr id="172" name="object 172"/>
              <p:cNvSpPr/>
              <p:nvPr/>
            </p:nvSpPr>
            <p:spPr>
              <a:xfrm>
                <a:off x="9233916" y="3764280"/>
                <a:ext cx="312420" cy="608330"/>
              </a:xfrm>
              <a:custGeom>
                <a:avLst/>
                <a:gdLst/>
                <a:ahLst/>
                <a:cxnLst/>
                <a:rect l="l" t="t" r="r" b="b"/>
                <a:pathLst>
                  <a:path w="312420" h="608329">
                    <a:moveTo>
                      <a:pt x="0" y="0"/>
                    </a:moveTo>
                    <a:lnTo>
                      <a:pt x="312419" y="0"/>
                    </a:lnTo>
                    <a:lnTo>
                      <a:pt x="312419" y="608075"/>
                    </a:lnTo>
                    <a:lnTo>
                      <a:pt x="0" y="608075"/>
                    </a:lnTo>
                    <a:lnTo>
                      <a:pt x="0" y="0"/>
                    </a:lnTo>
                    <a:close/>
                  </a:path>
                </a:pathLst>
              </a:custGeom>
              <a:ln w="10668">
                <a:solidFill>
                  <a:srgbClr val="0C1C2B"/>
                </a:solidFill>
              </a:ln>
            </p:spPr>
            <p:txBody>
              <a:bodyPr wrap="square" lIns="0" tIns="0" rIns="0" bIns="0" rtlCol="0"/>
              <a:lstStyle/>
              <a:p>
                <a:endParaRPr sz="1630"/>
              </a:p>
            </p:txBody>
          </p:sp>
          <p:pic>
            <p:nvPicPr>
              <p:cNvPr id="173" name="object 173"/>
              <p:cNvPicPr/>
              <p:nvPr/>
            </p:nvPicPr>
            <p:blipFill>
              <a:blip r:embed="rId63" cstate="print"/>
              <a:stretch>
                <a:fillRect/>
              </a:stretch>
            </p:blipFill>
            <p:spPr>
              <a:xfrm>
                <a:off x="8118348" y="2830067"/>
                <a:ext cx="556259" cy="316991"/>
              </a:xfrm>
              <a:prstGeom prst="rect">
                <a:avLst/>
              </a:prstGeom>
            </p:spPr>
          </p:pic>
          <p:sp>
            <p:nvSpPr>
              <p:cNvPr id="174" name="object 174"/>
              <p:cNvSpPr/>
              <p:nvPr/>
            </p:nvSpPr>
            <p:spPr>
              <a:xfrm>
                <a:off x="4107180" y="3471672"/>
                <a:ext cx="4747260" cy="1224280"/>
              </a:xfrm>
              <a:custGeom>
                <a:avLst/>
                <a:gdLst/>
                <a:ahLst/>
                <a:cxnLst/>
                <a:rect l="l" t="t" r="r" b="b"/>
                <a:pathLst>
                  <a:path w="4747259" h="1224279">
                    <a:moveTo>
                      <a:pt x="16763" y="16763"/>
                    </a:moveTo>
                    <a:lnTo>
                      <a:pt x="0" y="16763"/>
                    </a:lnTo>
                    <a:lnTo>
                      <a:pt x="0" y="0"/>
                    </a:lnTo>
                    <a:lnTo>
                      <a:pt x="16763" y="0"/>
                    </a:lnTo>
                    <a:lnTo>
                      <a:pt x="16763" y="16763"/>
                    </a:lnTo>
                    <a:close/>
                  </a:path>
                  <a:path w="4747259" h="1224279">
                    <a:moveTo>
                      <a:pt x="45719" y="16763"/>
                    </a:moveTo>
                    <a:lnTo>
                      <a:pt x="33527" y="16763"/>
                    </a:lnTo>
                    <a:lnTo>
                      <a:pt x="33527" y="0"/>
                    </a:lnTo>
                    <a:lnTo>
                      <a:pt x="53339" y="0"/>
                    </a:lnTo>
                    <a:lnTo>
                      <a:pt x="53339" y="9143"/>
                    </a:lnTo>
                    <a:lnTo>
                      <a:pt x="38100" y="9143"/>
                    </a:lnTo>
                    <a:lnTo>
                      <a:pt x="38100" y="12191"/>
                    </a:lnTo>
                    <a:lnTo>
                      <a:pt x="41148" y="12191"/>
                    </a:lnTo>
                    <a:lnTo>
                      <a:pt x="45719" y="16763"/>
                    </a:lnTo>
                    <a:close/>
                  </a:path>
                  <a:path w="4747259" h="1224279">
                    <a:moveTo>
                      <a:pt x="41148" y="12191"/>
                    </a:moveTo>
                    <a:lnTo>
                      <a:pt x="38100" y="12191"/>
                    </a:lnTo>
                    <a:lnTo>
                      <a:pt x="38100" y="9143"/>
                    </a:lnTo>
                    <a:lnTo>
                      <a:pt x="41148" y="12191"/>
                    </a:lnTo>
                    <a:close/>
                  </a:path>
                  <a:path w="4747259" h="1224279">
                    <a:moveTo>
                      <a:pt x="53339" y="12191"/>
                    </a:moveTo>
                    <a:lnTo>
                      <a:pt x="41148" y="12191"/>
                    </a:lnTo>
                    <a:lnTo>
                      <a:pt x="38100" y="9143"/>
                    </a:lnTo>
                    <a:lnTo>
                      <a:pt x="53339" y="9143"/>
                    </a:lnTo>
                    <a:lnTo>
                      <a:pt x="53339" y="12191"/>
                    </a:lnTo>
                    <a:close/>
                  </a:path>
                  <a:path w="4747259" h="1224279">
                    <a:moveTo>
                      <a:pt x="53339" y="45719"/>
                    </a:moveTo>
                    <a:lnTo>
                      <a:pt x="38100" y="45719"/>
                    </a:lnTo>
                    <a:lnTo>
                      <a:pt x="38100" y="28955"/>
                    </a:lnTo>
                    <a:lnTo>
                      <a:pt x="53339" y="28955"/>
                    </a:lnTo>
                    <a:lnTo>
                      <a:pt x="53339" y="45719"/>
                    </a:lnTo>
                    <a:close/>
                  </a:path>
                  <a:path w="4747259" h="1224279">
                    <a:moveTo>
                      <a:pt x="53339" y="79247"/>
                    </a:moveTo>
                    <a:lnTo>
                      <a:pt x="38100" y="79247"/>
                    </a:lnTo>
                    <a:lnTo>
                      <a:pt x="38100" y="62483"/>
                    </a:lnTo>
                    <a:lnTo>
                      <a:pt x="53339" y="62483"/>
                    </a:lnTo>
                    <a:lnTo>
                      <a:pt x="53339" y="79247"/>
                    </a:lnTo>
                    <a:close/>
                  </a:path>
                  <a:path w="4747259" h="1224279">
                    <a:moveTo>
                      <a:pt x="53339" y="112775"/>
                    </a:moveTo>
                    <a:lnTo>
                      <a:pt x="38100" y="112775"/>
                    </a:lnTo>
                    <a:lnTo>
                      <a:pt x="38100" y="96011"/>
                    </a:lnTo>
                    <a:lnTo>
                      <a:pt x="53339" y="96011"/>
                    </a:lnTo>
                    <a:lnTo>
                      <a:pt x="53339" y="112775"/>
                    </a:lnTo>
                    <a:close/>
                  </a:path>
                  <a:path w="4747259" h="1224279">
                    <a:moveTo>
                      <a:pt x="53339" y="146303"/>
                    </a:moveTo>
                    <a:lnTo>
                      <a:pt x="38100" y="146303"/>
                    </a:lnTo>
                    <a:lnTo>
                      <a:pt x="38100" y="129539"/>
                    </a:lnTo>
                    <a:lnTo>
                      <a:pt x="53339" y="129539"/>
                    </a:lnTo>
                    <a:lnTo>
                      <a:pt x="53339" y="146303"/>
                    </a:lnTo>
                    <a:close/>
                  </a:path>
                  <a:path w="4747259" h="1224279">
                    <a:moveTo>
                      <a:pt x="53339" y="179831"/>
                    </a:moveTo>
                    <a:lnTo>
                      <a:pt x="38100" y="179831"/>
                    </a:lnTo>
                    <a:lnTo>
                      <a:pt x="38100" y="163067"/>
                    </a:lnTo>
                    <a:lnTo>
                      <a:pt x="53339" y="163067"/>
                    </a:lnTo>
                    <a:lnTo>
                      <a:pt x="53339" y="179831"/>
                    </a:lnTo>
                    <a:close/>
                  </a:path>
                  <a:path w="4747259" h="1224279">
                    <a:moveTo>
                      <a:pt x="53339" y="213359"/>
                    </a:moveTo>
                    <a:lnTo>
                      <a:pt x="38100" y="213359"/>
                    </a:lnTo>
                    <a:lnTo>
                      <a:pt x="38100" y="196595"/>
                    </a:lnTo>
                    <a:lnTo>
                      <a:pt x="53339" y="196595"/>
                    </a:lnTo>
                    <a:lnTo>
                      <a:pt x="53339" y="213359"/>
                    </a:lnTo>
                    <a:close/>
                  </a:path>
                  <a:path w="4747259" h="1224279">
                    <a:moveTo>
                      <a:pt x="53339" y="246887"/>
                    </a:moveTo>
                    <a:lnTo>
                      <a:pt x="38100" y="246887"/>
                    </a:lnTo>
                    <a:lnTo>
                      <a:pt x="38100" y="230124"/>
                    </a:lnTo>
                    <a:lnTo>
                      <a:pt x="53339" y="230124"/>
                    </a:lnTo>
                    <a:lnTo>
                      <a:pt x="53339" y="246887"/>
                    </a:lnTo>
                    <a:close/>
                  </a:path>
                  <a:path w="4747259" h="1224279">
                    <a:moveTo>
                      <a:pt x="53339" y="280416"/>
                    </a:moveTo>
                    <a:lnTo>
                      <a:pt x="38100" y="280416"/>
                    </a:lnTo>
                    <a:lnTo>
                      <a:pt x="38100" y="263651"/>
                    </a:lnTo>
                    <a:lnTo>
                      <a:pt x="53339" y="263651"/>
                    </a:lnTo>
                    <a:lnTo>
                      <a:pt x="53339" y="280416"/>
                    </a:lnTo>
                    <a:close/>
                  </a:path>
                  <a:path w="4747259" h="1224279">
                    <a:moveTo>
                      <a:pt x="53339" y="313943"/>
                    </a:moveTo>
                    <a:lnTo>
                      <a:pt x="38100" y="313943"/>
                    </a:lnTo>
                    <a:lnTo>
                      <a:pt x="38100" y="297179"/>
                    </a:lnTo>
                    <a:lnTo>
                      <a:pt x="53339" y="297179"/>
                    </a:lnTo>
                    <a:lnTo>
                      <a:pt x="53339" y="313943"/>
                    </a:lnTo>
                    <a:close/>
                  </a:path>
                  <a:path w="4747259" h="1224279">
                    <a:moveTo>
                      <a:pt x="53339" y="345947"/>
                    </a:moveTo>
                    <a:lnTo>
                      <a:pt x="38100" y="345947"/>
                    </a:lnTo>
                    <a:lnTo>
                      <a:pt x="38100" y="329183"/>
                    </a:lnTo>
                    <a:lnTo>
                      <a:pt x="53339" y="329183"/>
                    </a:lnTo>
                    <a:lnTo>
                      <a:pt x="53339" y="345947"/>
                    </a:lnTo>
                    <a:close/>
                  </a:path>
                  <a:path w="4747259" h="1224279">
                    <a:moveTo>
                      <a:pt x="53339" y="379475"/>
                    </a:moveTo>
                    <a:lnTo>
                      <a:pt x="38100" y="379475"/>
                    </a:lnTo>
                    <a:lnTo>
                      <a:pt x="38100" y="362711"/>
                    </a:lnTo>
                    <a:lnTo>
                      <a:pt x="53339" y="362711"/>
                    </a:lnTo>
                    <a:lnTo>
                      <a:pt x="53339" y="379475"/>
                    </a:lnTo>
                    <a:close/>
                  </a:path>
                  <a:path w="4747259" h="1224279">
                    <a:moveTo>
                      <a:pt x="53339" y="413003"/>
                    </a:moveTo>
                    <a:lnTo>
                      <a:pt x="38100" y="413003"/>
                    </a:lnTo>
                    <a:lnTo>
                      <a:pt x="38100" y="396239"/>
                    </a:lnTo>
                    <a:lnTo>
                      <a:pt x="53339" y="396239"/>
                    </a:lnTo>
                    <a:lnTo>
                      <a:pt x="53339" y="413003"/>
                    </a:lnTo>
                    <a:close/>
                  </a:path>
                  <a:path w="4747259" h="1224279">
                    <a:moveTo>
                      <a:pt x="53339" y="446531"/>
                    </a:moveTo>
                    <a:lnTo>
                      <a:pt x="38100" y="446531"/>
                    </a:lnTo>
                    <a:lnTo>
                      <a:pt x="38100" y="429767"/>
                    </a:lnTo>
                    <a:lnTo>
                      <a:pt x="53339" y="429767"/>
                    </a:lnTo>
                    <a:lnTo>
                      <a:pt x="53339" y="446531"/>
                    </a:lnTo>
                    <a:close/>
                  </a:path>
                  <a:path w="4747259" h="1224279">
                    <a:moveTo>
                      <a:pt x="53339" y="480059"/>
                    </a:moveTo>
                    <a:lnTo>
                      <a:pt x="38100" y="480059"/>
                    </a:lnTo>
                    <a:lnTo>
                      <a:pt x="38100" y="463295"/>
                    </a:lnTo>
                    <a:lnTo>
                      <a:pt x="53339" y="463295"/>
                    </a:lnTo>
                    <a:lnTo>
                      <a:pt x="53339" y="480059"/>
                    </a:lnTo>
                    <a:close/>
                  </a:path>
                  <a:path w="4747259" h="1224279">
                    <a:moveTo>
                      <a:pt x="53339" y="513587"/>
                    </a:moveTo>
                    <a:lnTo>
                      <a:pt x="38100" y="513587"/>
                    </a:lnTo>
                    <a:lnTo>
                      <a:pt x="38100" y="496824"/>
                    </a:lnTo>
                    <a:lnTo>
                      <a:pt x="53339" y="496824"/>
                    </a:lnTo>
                    <a:lnTo>
                      <a:pt x="53339" y="513587"/>
                    </a:lnTo>
                    <a:close/>
                  </a:path>
                  <a:path w="4747259" h="1224279">
                    <a:moveTo>
                      <a:pt x="53339" y="547116"/>
                    </a:moveTo>
                    <a:lnTo>
                      <a:pt x="38100" y="547116"/>
                    </a:lnTo>
                    <a:lnTo>
                      <a:pt x="38100" y="530351"/>
                    </a:lnTo>
                    <a:lnTo>
                      <a:pt x="53339" y="530351"/>
                    </a:lnTo>
                    <a:lnTo>
                      <a:pt x="53339" y="547116"/>
                    </a:lnTo>
                    <a:close/>
                  </a:path>
                  <a:path w="4747259" h="1224279">
                    <a:moveTo>
                      <a:pt x="53339" y="580643"/>
                    </a:moveTo>
                    <a:lnTo>
                      <a:pt x="38100" y="580643"/>
                    </a:lnTo>
                    <a:lnTo>
                      <a:pt x="38100" y="563879"/>
                    </a:lnTo>
                    <a:lnTo>
                      <a:pt x="53339" y="563879"/>
                    </a:lnTo>
                    <a:lnTo>
                      <a:pt x="53339" y="580643"/>
                    </a:lnTo>
                    <a:close/>
                  </a:path>
                  <a:path w="4747259" h="1224279">
                    <a:moveTo>
                      <a:pt x="53339" y="614171"/>
                    </a:moveTo>
                    <a:lnTo>
                      <a:pt x="38100" y="614171"/>
                    </a:lnTo>
                    <a:lnTo>
                      <a:pt x="38100" y="597408"/>
                    </a:lnTo>
                    <a:lnTo>
                      <a:pt x="53339" y="597408"/>
                    </a:lnTo>
                    <a:lnTo>
                      <a:pt x="53339" y="614171"/>
                    </a:lnTo>
                    <a:close/>
                  </a:path>
                  <a:path w="4747259" h="1224279">
                    <a:moveTo>
                      <a:pt x="53339" y="647700"/>
                    </a:moveTo>
                    <a:lnTo>
                      <a:pt x="38100" y="647700"/>
                    </a:lnTo>
                    <a:lnTo>
                      <a:pt x="38100" y="630935"/>
                    </a:lnTo>
                    <a:lnTo>
                      <a:pt x="53339" y="630935"/>
                    </a:lnTo>
                    <a:lnTo>
                      <a:pt x="53339" y="647700"/>
                    </a:lnTo>
                    <a:close/>
                  </a:path>
                  <a:path w="4747259" h="1224279">
                    <a:moveTo>
                      <a:pt x="53339" y="681227"/>
                    </a:moveTo>
                    <a:lnTo>
                      <a:pt x="38100" y="681227"/>
                    </a:lnTo>
                    <a:lnTo>
                      <a:pt x="38100" y="664463"/>
                    </a:lnTo>
                    <a:lnTo>
                      <a:pt x="53339" y="664463"/>
                    </a:lnTo>
                    <a:lnTo>
                      <a:pt x="53339" y="681227"/>
                    </a:lnTo>
                    <a:close/>
                  </a:path>
                  <a:path w="4747259" h="1224279">
                    <a:moveTo>
                      <a:pt x="53339" y="714755"/>
                    </a:moveTo>
                    <a:lnTo>
                      <a:pt x="38100" y="714755"/>
                    </a:lnTo>
                    <a:lnTo>
                      <a:pt x="38100" y="697992"/>
                    </a:lnTo>
                    <a:lnTo>
                      <a:pt x="53339" y="697992"/>
                    </a:lnTo>
                    <a:lnTo>
                      <a:pt x="53339" y="714755"/>
                    </a:lnTo>
                    <a:close/>
                  </a:path>
                  <a:path w="4747259" h="1224279">
                    <a:moveTo>
                      <a:pt x="53339" y="748284"/>
                    </a:moveTo>
                    <a:lnTo>
                      <a:pt x="38100" y="748284"/>
                    </a:lnTo>
                    <a:lnTo>
                      <a:pt x="38100" y="731519"/>
                    </a:lnTo>
                    <a:lnTo>
                      <a:pt x="53339" y="731519"/>
                    </a:lnTo>
                    <a:lnTo>
                      <a:pt x="53339" y="748284"/>
                    </a:lnTo>
                    <a:close/>
                  </a:path>
                  <a:path w="4747259" h="1224279">
                    <a:moveTo>
                      <a:pt x="53339" y="780287"/>
                    </a:moveTo>
                    <a:lnTo>
                      <a:pt x="38100" y="780287"/>
                    </a:lnTo>
                    <a:lnTo>
                      <a:pt x="38100" y="763524"/>
                    </a:lnTo>
                    <a:lnTo>
                      <a:pt x="53339" y="763524"/>
                    </a:lnTo>
                    <a:lnTo>
                      <a:pt x="53339" y="780287"/>
                    </a:lnTo>
                    <a:close/>
                  </a:path>
                  <a:path w="4747259" h="1224279">
                    <a:moveTo>
                      <a:pt x="53339" y="813816"/>
                    </a:moveTo>
                    <a:lnTo>
                      <a:pt x="38100" y="813816"/>
                    </a:lnTo>
                    <a:lnTo>
                      <a:pt x="38100" y="797051"/>
                    </a:lnTo>
                    <a:lnTo>
                      <a:pt x="53339" y="797051"/>
                    </a:lnTo>
                    <a:lnTo>
                      <a:pt x="53339" y="813816"/>
                    </a:lnTo>
                    <a:close/>
                  </a:path>
                  <a:path w="4747259" h="1224279">
                    <a:moveTo>
                      <a:pt x="53339" y="847343"/>
                    </a:moveTo>
                    <a:lnTo>
                      <a:pt x="38100" y="847343"/>
                    </a:lnTo>
                    <a:lnTo>
                      <a:pt x="38100" y="830579"/>
                    </a:lnTo>
                    <a:lnTo>
                      <a:pt x="53339" y="830579"/>
                    </a:lnTo>
                    <a:lnTo>
                      <a:pt x="53339" y="847343"/>
                    </a:lnTo>
                    <a:close/>
                  </a:path>
                  <a:path w="4747259" h="1224279">
                    <a:moveTo>
                      <a:pt x="53339" y="880871"/>
                    </a:moveTo>
                    <a:lnTo>
                      <a:pt x="38100" y="880871"/>
                    </a:lnTo>
                    <a:lnTo>
                      <a:pt x="38100" y="864108"/>
                    </a:lnTo>
                    <a:lnTo>
                      <a:pt x="53339" y="864108"/>
                    </a:lnTo>
                    <a:lnTo>
                      <a:pt x="53339" y="880871"/>
                    </a:lnTo>
                    <a:close/>
                  </a:path>
                  <a:path w="4747259" h="1224279">
                    <a:moveTo>
                      <a:pt x="53339" y="914400"/>
                    </a:moveTo>
                    <a:lnTo>
                      <a:pt x="38100" y="914400"/>
                    </a:lnTo>
                    <a:lnTo>
                      <a:pt x="38100" y="897635"/>
                    </a:lnTo>
                    <a:lnTo>
                      <a:pt x="53339" y="897635"/>
                    </a:lnTo>
                    <a:lnTo>
                      <a:pt x="53339" y="914400"/>
                    </a:lnTo>
                    <a:close/>
                  </a:path>
                  <a:path w="4747259" h="1224279">
                    <a:moveTo>
                      <a:pt x="53339" y="947927"/>
                    </a:moveTo>
                    <a:lnTo>
                      <a:pt x="38100" y="947927"/>
                    </a:lnTo>
                    <a:lnTo>
                      <a:pt x="38100" y="931163"/>
                    </a:lnTo>
                    <a:lnTo>
                      <a:pt x="53339" y="931163"/>
                    </a:lnTo>
                    <a:lnTo>
                      <a:pt x="53339" y="947927"/>
                    </a:lnTo>
                    <a:close/>
                  </a:path>
                  <a:path w="4747259" h="1224279">
                    <a:moveTo>
                      <a:pt x="53339" y="981455"/>
                    </a:moveTo>
                    <a:lnTo>
                      <a:pt x="38100" y="981455"/>
                    </a:lnTo>
                    <a:lnTo>
                      <a:pt x="38100" y="964692"/>
                    </a:lnTo>
                    <a:lnTo>
                      <a:pt x="53339" y="964692"/>
                    </a:lnTo>
                    <a:lnTo>
                      <a:pt x="53339" y="981455"/>
                    </a:lnTo>
                    <a:close/>
                  </a:path>
                  <a:path w="4747259" h="1224279">
                    <a:moveTo>
                      <a:pt x="53339" y="1014984"/>
                    </a:moveTo>
                    <a:lnTo>
                      <a:pt x="38100" y="1014984"/>
                    </a:lnTo>
                    <a:lnTo>
                      <a:pt x="38100" y="998219"/>
                    </a:lnTo>
                    <a:lnTo>
                      <a:pt x="53339" y="998219"/>
                    </a:lnTo>
                    <a:lnTo>
                      <a:pt x="53339" y="1014984"/>
                    </a:lnTo>
                    <a:close/>
                  </a:path>
                  <a:path w="4747259" h="1224279">
                    <a:moveTo>
                      <a:pt x="53339" y="1048511"/>
                    </a:moveTo>
                    <a:lnTo>
                      <a:pt x="38100" y="1048511"/>
                    </a:lnTo>
                    <a:lnTo>
                      <a:pt x="38100" y="1031747"/>
                    </a:lnTo>
                    <a:lnTo>
                      <a:pt x="53339" y="1031747"/>
                    </a:lnTo>
                    <a:lnTo>
                      <a:pt x="53339" y="1048511"/>
                    </a:lnTo>
                    <a:close/>
                  </a:path>
                  <a:path w="4747259" h="1224279">
                    <a:moveTo>
                      <a:pt x="53339" y="1082039"/>
                    </a:moveTo>
                    <a:lnTo>
                      <a:pt x="38100" y="1082039"/>
                    </a:lnTo>
                    <a:lnTo>
                      <a:pt x="38100" y="1065275"/>
                    </a:lnTo>
                    <a:lnTo>
                      <a:pt x="53339" y="1065275"/>
                    </a:lnTo>
                    <a:lnTo>
                      <a:pt x="53339" y="1082039"/>
                    </a:lnTo>
                    <a:close/>
                  </a:path>
                  <a:path w="4747259" h="1224279">
                    <a:moveTo>
                      <a:pt x="53339" y="1115567"/>
                    </a:moveTo>
                    <a:lnTo>
                      <a:pt x="38100" y="1115567"/>
                    </a:lnTo>
                    <a:lnTo>
                      <a:pt x="38100" y="1098803"/>
                    </a:lnTo>
                    <a:lnTo>
                      <a:pt x="53339" y="1098803"/>
                    </a:lnTo>
                    <a:lnTo>
                      <a:pt x="53339" y="1115567"/>
                    </a:lnTo>
                    <a:close/>
                  </a:path>
                  <a:path w="4747259" h="1224279">
                    <a:moveTo>
                      <a:pt x="53339" y="1149095"/>
                    </a:moveTo>
                    <a:lnTo>
                      <a:pt x="38100" y="1149095"/>
                    </a:lnTo>
                    <a:lnTo>
                      <a:pt x="38100" y="1132331"/>
                    </a:lnTo>
                    <a:lnTo>
                      <a:pt x="53339" y="1132331"/>
                    </a:lnTo>
                    <a:lnTo>
                      <a:pt x="53339" y="1149095"/>
                    </a:lnTo>
                    <a:close/>
                  </a:path>
                  <a:path w="4747259" h="1224279">
                    <a:moveTo>
                      <a:pt x="53339" y="1182624"/>
                    </a:moveTo>
                    <a:lnTo>
                      <a:pt x="38100" y="1182624"/>
                    </a:lnTo>
                    <a:lnTo>
                      <a:pt x="38100" y="1165859"/>
                    </a:lnTo>
                    <a:lnTo>
                      <a:pt x="53339" y="1165859"/>
                    </a:lnTo>
                    <a:lnTo>
                      <a:pt x="53339" y="1182624"/>
                    </a:lnTo>
                    <a:close/>
                  </a:path>
                  <a:path w="4747259" h="1224279">
                    <a:moveTo>
                      <a:pt x="45719" y="1223771"/>
                    </a:moveTo>
                    <a:lnTo>
                      <a:pt x="38100" y="1223771"/>
                    </a:lnTo>
                    <a:lnTo>
                      <a:pt x="38100" y="1197863"/>
                    </a:lnTo>
                    <a:lnTo>
                      <a:pt x="53339" y="1197863"/>
                    </a:lnTo>
                    <a:lnTo>
                      <a:pt x="53339" y="1207008"/>
                    </a:lnTo>
                    <a:lnTo>
                      <a:pt x="45719" y="1207008"/>
                    </a:lnTo>
                    <a:lnTo>
                      <a:pt x="45719" y="1223771"/>
                    </a:lnTo>
                    <a:close/>
                  </a:path>
                  <a:path w="4747259" h="1224279">
                    <a:moveTo>
                      <a:pt x="53339" y="1214627"/>
                    </a:moveTo>
                    <a:lnTo>
                      <a:pt x="45719" y="1207008"/>
                    </a:lnTo>
                    <a:lnTo>
                      <a:pt x="53339" y="1207008"/>
                    </a:lnTo>
                    <a:lnTo>
                      <a:pt x="53339" y="1214627"/>
                    </a:lnTo>
                    <a:close/>
                  </a:path>
                  <a:path w="4747259" h="1224279">
                    <a:moveTo>
                      <a:pt x="79247" y="1223771"/>
                    </a:moveTo>
                    <a:lnTo>
                      <a:pt x="62483" y="1223771"/>
                    </a:lnTo>
                    <a:lnTo>
                      <a:pt x="62483" y="1207008"/>
                    </a:lnTo>
                    <a:lnTo>
                      <a:pt x="79247" y="1207008"/>
                    </a:lnTo>
                    <a:lnTo>
                      <a:pt x="79247" y="1223771"/>
                    </a:lnTo>
                    <a:close/>
                  </a:path>
                  <a:path w="4747259" h="1224279">
                    <a:moveTo>
                      <a:pt x="112775" y="1223771"/>
                    </a:moveTo>
                    <a:lnTo>
                      <a:pt x="96011" y="1223771"/>
                    </a:lnTo>
                    <a:lnTo>
                      <a:pt x="96011" y="1207008"/>
                    </a:lnTo>
                    <a:lnTo>
                      <a:pt x="112775" y="1207008"/>
                    </a:lnTo>
                    <a:lnTo>
                      <a:pt x="112775" y="1223771"/>
                    </a:lnTo>
                    <a:close/>
                  </a:path>
                  <a:path w="4747259" h="1224279">
                    <a:moveTo>
                      <a:pt x="146303" y="1223771"/>
                    </a:moveTo>
                    <a:lnTo>
                      <a:pt x="129539" y="1223771"/>
                    </a:lnTo>
                    <a:lnTo>
                      <a:pt x="129539" y="1207008"/>
                    </a:lnTo>
                    <a:lnTo>
                      <a:pt x="146303" y="1207008"/>
                    </a:lnTo>
                    <a:lnTo>
                      <a:pt x="146303" y="1223771"/>
                    </a:lnTo>
                    <a:close/>
                  </a:path>
                  <a:path w="4747259" h="1224279">
                    <a:moveTo>
                      <a:pt x="179831" y="1223771"/>
                    </a:moveTo>
                    <a:lnTo>
                      <a:pt x="163067" y="1223771"/>
                    </a:lnTo>
                    <a:lnTo>
                      <a:pt x="163067" y="1207008"/>
                    </a:lnTo>
                    <a:lnTo>
                      <a:pt x="179831" y="1207008"/>
                    </a:lnTo>
                    <a:lnTo>
                      <a:pt x="179831" y="1223771"/>
                    </a:lnTo>
                    <a:close/>
                  </a:path>
                  <a:path w="4747259" h="1224279">
                    <a:moveTo>
                      <a:pt x="213359" y="1223771"/>
                    </a:moveTo>
                    <a:lnTo>
                      <a:pt x="196595" y="1223771"/>
                    </a:lnTo>
                    <a:lnTo>
                      <a:pt x="196595" y="1207008"/>
                    </a:lnTo>
                    <a:lnTo>
                      <a:pt x="213359" y="1207008"/>
                    </a:lnTo>
                    <a:lnTo>
                      <a:pt x="213359" y="1223771"/>
                    </a:lnTo>
                    <a:close/>
                  </a:path>
                  <a:path w="4747259" h="1224279">
                    <a:moveTo>
                      <a:pt x="246887" y="1223771"/>
                    </a:moveTo>
                    <a:lnTo>
                      <a:pt x="230123" y="1223771"/>
                    </a:lnTo>
                    <a:lnTo>
                      <a:pt x="230123" y="1207008"/>
                    </a:lnTo>
                    <a:lnTo>
                      <a:pt x="246887" y="1207008"/>
                    </a:lnTo>
                    <a:lnTo>
                      <a:pt x="246887" y="1223771"/>
                    </a:lnTo>
                    <a:close/>
                  </a:path>
                  <a:path w="4747259" h="1224279">
                    <a:moveTo>
                      <a:pt x="280416" y="1223771"/>
                    </a:moveTo>
                    <a:lnTo>
                      <a:pt x="263651" y="1223771"/>
                    </a:lnTo>
                    <a:lnTo>
                      <a:pt x="263651" y="1207008"/>
                    </a:lnTo>
                    <a:lnTo>
                      <a:pt x="280416" y="1207008"/>
                    </a:lnTo>
                    <a:lnTo>
                      <a:pt x="280416" y="1223771"/>
                    </a:lnTo>
                    <a:close/>
                  </a:path>
                  <a:path w="4747259" h="1224279">
                    <a:moveTo>
                      <a:pt x="313943" y="1223771"/>
                    </a:moveTo>
                    <a:lnTo>
                      <a:pt x="297179" y="1223771"/>
                    </a:lnTo>
                    <a:lnTo>
                      <a:pt x="297179" y="1207008"/>
                    </a:lnTo>
                    <a:lnTo>
                      <a:pt x="313943" y="1207008"/>
                    </a:lnTo>
                    <a:lnTo>
                      <a:pt x="313943" y="1223771"/>
                    </a:lnTo>
                    <a:close/>
                  </a:path>
                  <a:path w="4747259" h="1224279">
                    <a:moveTo>
                      <a:pt x="347471" y="1223771"/>
                    </a:moveTo>
                    <a:lnTo>
                      <a:pt x="330708" y="1223771"/>
                    </a:lnTo>
                    <a:lnTo>
                      <a:pt x="330708" y="1207008"/>
                    </a:lnTo>
                    <a:lnTo>
                      <a:pt x="347471" y="1207008"/>
                    </a:lnTo>
                    <a:lnTo>
                      <a:pt x="347471" y="1223771"/>
                    </a:lnTo>
                    <a:close/>
                  </a:path>
                  <a:path w="4747259" h="1224279">
                    <a:moveTo>
                      <a:pt x="381000" y="1223771"/>
                    </a:moveTo>
                    <a:lnTo>
                      <a:pt x="364235" y="1223771"/>
                    </a:lnTo>
                    <a:lnTo>
                      <a:pt x="364235" y="1207008"/>
                    </a:lnTo>
                    <a:lnTo>
                      <a:pt x="381000" y="1207008"/>
                    </a:lnTo>
                    <a:lnTo>
                      <a:pt x="381000" y="1223771"/>
                    </a:lnTo>
                    <a:close/>
                  </a:path>
                  <a:path w="4747259" h="1224279">
                    <a:moveTo>
                      <a:pt x="414527" y="1223771"/>
                    </a:moveTo>
                    <a:lnTo>
                      <a:pt x="397763" y="1223771"/>
                    </a:lnTo>
                    <a:lnTo>
                      <a:pt x="397763" y="1207008"/>
                    </a:lnTo>
                    <a:lnTo>
                      <a:pt x="414527" y="1207008"/>
                    </a:lnTo>
                    <a:lnTo>
                      <a:pt x="414527" y="1223771"/>
                    </a:lnTo>
                    <a:close/>
                  </a:path>
                  <a:path w="4747259" h="1224279">
                    <a:moveTo>
                      <a:pt x="446531" y="1223771"/>
                    </a:moveTo>
                    <a:lnTo>
                      <a:pt x="431292" y="1223771"/>
                    </a:lnTo>
                    <a:lnTo>
                      <a:pt x="431292" y="1207008"/>
                    </a:lnTo>
                    <a:lnTo>
                      <a:pt x="446531" y="1207008"/>
                    </a:lnTo>
                    <a:lnTo>
                      <a:pt x="446531" y="1223771"/>
                    </a:lnTo>
                    <a:close/>
                  </a:path>
                  <a:path w="4747259" h="1224279">
                    <a:moveTo>
                      <a:pt x="480059" y="1223771"/>
                    </a:moveTo>
                    <a:lnTo>
                      <a:pt x="463295" y="1223771"/>
                    </a:lnTo>
                    <a:lnTo>
                      <a:pt x="463295" y="1207008"/>
                    </a:lnTo>
                    <a:lnTo>
                      <a:pt x="480059" y="1207008"/>
                    </a:lnTo>
                    <a:lnTo>
                      <a:pt x="480059" y="1223771"/>
                    </a:lnTo>
                    <a:close/>
                  </a:path>
                  <a:path w="4747259" h="1224279">
                    <a:moveTo>
                      <a:pt x="513587" y="1223771"/>
                    </a:moveTo>
                    <a:lnTo>
                      <a:pt x="496823" y="1223771"/>
                    </a:lnTo>
                    <a:lnTo>
                      <a:pt x="496823" y="1207008"/>
                    </a:lnTo>
                    <a:lnTo>
                      <a:pt x="513587" y="1207008"/>
                    </a:lnTo>
                    <a:lnTo>
                      <a:pt x="513587" y="1223771"/>
                    </a:lnTo>
                    <a:close/>
                  </a:path>
                  <a:path w="4747259" h="1224279">
                    <a:moveTo>
                      <a:pt x="547116" y="1223771"/>
                    </a:moveTo>
                    <a:lnTo>
                      <a:pt x="530351" y="1223771"/>
                    </a:lnTo>
                    <a:lnTo>
                      <a:pt x="530351" y="1207008"/>
                    </a:lnTo>
                    <a:lnTo>
                      <a:pt x="547116" y="1207008"/>
                    </a:lnTo>
                    <a:lnTo>
                      <a:pt x="547116" y="1223771"/>
                    </a:lnTo>
                    <a:close/>
                  </a:path>
                  <a:path w="4747259" h="1224279">
                    <a:moveTo>
                      <a:pt x="580643" y="1223771"/>
                    </a:moveTo>
                    <a:lnTo>
                      <a:pt x="563879" y="1223771"/>
                    </a:lnTo>
                    <a:lnTo>
                      <a:pt x="563879" y="1207008"/>
                    </a:lnTo>
                    <a:lnTo>
                      <a:pt x="580643" y="1207008"/>
                    </a:lnTo>
                    <a:lnTo>
                      <a:pt x="580643" y="1223771"/>
                    </a:lnTo>
                    <a:close/>
                  </a:path>
                  <a:path w="4747259" h="1224279">
                    <a:moveTo>
                      <a:pt x="614171" y="1223771"/>
                    </a:moveTo>
                    <a:lnTo>
                      <a:pt x="597408" y="1223771"/>
                    </a:lnTo>
                    <a:lnTo>
                      <a:pt x="597408" y="1207008"/>
                    </a:lnTo>
                    <a:lnTo>
                      <a:pt x="614171" y="1207008"/>
                    </a:lnTo>
                    <a:lnTo>
                      <a:pt x="614171" y="1223771"/>
                    </a:lnTo>
                    <a:close/>
                  </a:path>
                  <a:path w="4747259" h="1224279">
                    <a:moveTo>
                      <a:pt x="647700" y="1223771"/>
                    </a:moveTo>
                    <a:lnTo>
                      <a:pt x="630935" y="1223771"/>
                    </a:lnTo>
                    <a:lnTo>
                      <a:pt x="630935" y="1207008"/>
                    </a:lnTo>
                    <a:lnTo>
                      <a:pt x="647700" y="1207008"/>
                    </a:lnTo>
                    <a:lnTo>
                      <a:pt x="647700" y="1223771"/>
                    </a:lnTo>
                    <a:close/>
                  </a:path>
                  <a:path w="4747259" h="1224279">
                    <a:moveTo>
                      <a:pt x="681227" y="1223771"/>
                    </a:moveTo>
                    <a:lnTo>
                      <a:pt x="664463" y="1223771"/>
                    </a:lnTo>
                    <a:lnTo>
                      <a:pt x="664463" y="1207008"/>
                    </a:lnTo>
                    <a:lnTo>
                      <a:pt x="681227" y="1207008"/>
                    </a:lnTo>
                    <a:lnTo>
                      <a:pt x="681227" y="1223771"/>
                    </a:lnTo>
                    <a:close/>
                  </a:path>
                  <a:path w="4747259" h="1224279">
                    <a:moveTo>
                      <a:pt x="714755" y="1223771"/>
                    </a:moveTo>
                    <a:lnTo>
                      <a:pt x="697992" y="1223771"/>
                    </a:lnTo>
                    <a:lnTo>
                      <a:pt x="697992" y="1207008"/>
                    </a:lnTo>
                    <a:lnTo>
                      <a:pt x="714755" y="1207008"/>
                    </a:lnTo>
                    <a:lnTo>
                      <a:pt x="714755" y="1223771"/>
                    </a:lnTo>
                    <a:close/>
                  </a:path>
                  <a:path w="4747259" h="1224279">
                    <a:moveTo>
                      <a:pt x="748284" y="1223771"/>
                    </a:moveTo>
                    <a:lnTo>
                      <a:pt x="731519" y="1223771"/>
                    </a:lnTo>
                    <a:lnTo>
                      <a:pt x="731519" y="1207008"/>
                    </a:lnTo>
                    <a:lnTo>
                      <a:pt x="748284" y="1207008"/>
                    </a:lnTo>
                    <a:lnTo>
                      <a:pt x="748284" y="1223771"/>
                    </a:lnTo>
                    <a:close/>
                  </a:path>
                  <a:path w="4747259" h="1224279">
                    <a:moveTo>
                      <a:pt x="781812" y="1223771"/>
                    </a:moveTo>
                    <a:lnTo>
                      <a:pt x="765047" y="1223771"/>
                    </a:lnTo>
                    <a:lnTo>
                      <a:pt x="765047" y="1207008"/>
                    </a:lnTo>
                    <a:lnTo>
                      <a:pt x="781812" y="1207008"/>
                    </a:lnTo>
                    <a:lnTo>
                      <a:pt x="781812" y="1223771"/>
                    </a:lnTo>
                    <a:close/>
                  </a:path>
                  <a:path w="4747259" h="1224279">
                    <a:moveTo>
                      <a:pt x="815339" y="1223771"/>
                    </a:moveTo>
                    <a:lnTo>
                      <a:pt x="798575" y="1223771"/>
                    </a:lnTo>
                    <a:lnTo>
                      <a:pt x="798575" y="1207008"/>
                    </a:lnTo>
                    <a:lnTo>
                      <a:pt x="815339" y="1207008"/>
                    </a:lnTo>
                    <a:lnTo>
                      <a:pt x="815339" y="1223771"/>
                    </a:lnTo>
                    <a:close/>
                  </a:path>
                  <a:path w="4747259" h="1224279">
                    <a:moveTo>
                      <a:pt x="848867" y="1223771"/>
                    </a:moveTo>
                    <a:lnTo>
                      <a:pt x="832103" y="1223771"/>
                    </a:lnTo>
                    <a:lnTo>
                      <a:pt x="832103" y="1207008"/>
                    </a:lnTo>
                    <a:lnTo>
                      <a:pt x="848867" y="1207008"/>
                    </a:lnTo>
                    <a:lnTo>
                      <a:pt x="848867" y="1223771"/>
                    </a:lnTo>
                    <a:close/>
                  </a:path>
                  <a:path w="4747259" h="1224279">
                    <a:moveTo>
                      <a:pt x="880871" y="1223771"/>
                    </a:moveTo>
                    <a:lnTo>
                      <a:pt x="865632" y="1223771"/>
                    </a:lnTo>
                    <a:lnTo>
                      <a:pt x="865632" y="1207008"/>
                    </a:lnTo>
                    <a:lnTo>
                      <a:pt x="880871" y="1207008"/>
                    </a:lnTo>
                    <a:lnTo>
                      <a:pt x="880871" y="1223771"/>
                    </a:lnTo>
                    <a:close/>
                  </a:path>
                  <a:path w="4747259" h="1224279">
                    <a:moveTo>
                      <a:pt x="914400" y="1223771"/>
                    </a:moveTo>
                    <a:lnTo>
                      <a:pt x="897635" y="1223771"/>
                    </a:lnTo>
                    <a:lnTo>
                      <a:pt x="897635" y="1207008"/>
                    </a:lnTo>
                    <a:lnTo>
                      <a:pt x="914400" y="1207008"/>
                    </a:lnTo>
                    <a:lnTo>
                      <a:pt x="914400" y="1223771"/>
                    </a:lnTo>
                    <a:close/>
                  </a:path>
                  <a:path w="4747259" h="1224279">
                    <a:moveTo>
                      <a:pt x="947927" y="1223771"/>
                    </a:moveTo>
                    <a:lnTo>
                      <a:pt x="931164" y="1223771"/>
                    </a:lnTo>
                    <a:lnTo>
                      <a:pt x="931164" y="1207008"/>
                    </a:lnTo>
                    <a:lnTo>
                      <a:pt x="947927" y="1207008"/>
                    </a:lnTo>
                    <a:lnTo>
                      <a:pt x="947927" y="1223771"/>
                    </a:lnTo>
                    <a:close/>
                  </a:path>
                  <a:path w="4747259" h="1224279">
                    <a:moveTo>
                      <a:pt x="981455" y="1223771"/>
                    </a:moveTo>
                    <a:lnTo>
                      <a:pt x="964691" y="1223771"/>
                    </a:lnTo>
                    <a:lnTo>
                      <a:pt x="964691" y="1207008"/>
                    </a:lnTo>
                    <a:lnTo>
                      <a:pt x="981455" y="1207008"/>
                    </a:lnTo>
                    <a:lnTo>
                      <a:pt x="981455" y="1223771"/>
                    </a:lnTo>
                    <a:close/>
                  </a:path>
                  <a:path w="4747259" h="1224279">
                    <a:moveTo>
                      <a:pt x="1014984" y="1223771"/>
                    </a:moveTo>
                    <a:lnTo>
                      <a:pt x="998219" y="1223771"/>
                    </a:lnTo>
                    <a:lnTo>
                      <a:pt x="998219" y="1207008"/>
                    </a:lnTo>
                    <a:lnTo>
                      <a:pt x="1014984" y="1207008"/>
                    </a:lnTo>
                    <a:lnTo>
                      <a:pt x="1014984" y="1223771"/>
                    </a:lnTo>
                    <a:close/>
                  </a:path>
                  <a:path w="4747259" h="1224279">
                    <a:moveTo>
                      <a:pt x="1048512" y="1223771"/>
                    </a:moveTo>
                    <a:lnTo>
                      <a:pt x="1031748" y="1223771"/>
                    </a:lnTo>
                    <a:lnTo>
                      <a:pt x="1031748" y="1207008"/>
                    </a:lnTo>
                    <a:lnTo>
                      <a:pt x="1048512" y="1207008"/>
                    </a:lnTo>
                    <a:lnTo>
                      <a:pt x="1048512" y="1223771"/>
                    </a:lnTo>
                    <a:close/>
                  </a:path>
                  <a:path w="4747259" h="1224279">
                    <a:moveTo>
                      <a:pt x="1082039" y="1223771"/>
                    </a:moveTo>
                    <a:lnTo>
                      <a:pt x="1065275" y="1223771"/>
                    </a:lnTo>
                    <a:lnTo>
                      <a:pt x="1065275" y="1207008"/>
                    </a:lnTo>
                    <a:lnTo>
                      <a:pt x="1082039" y="1207008"/>
                    </a:lnTo>
                    <a:lnTo>
                      <a:pt x="1082039" y="1223771"/>
                    </a:lnTo>
                    <a:close/>
                  </a:path>
                  <a:path w="4747259" h="1224279">
                    <a:moveTo>
                      <a:pt x="1115567" y="1223771"/>
                    </a:moveTo>
                    <a:lnTo>
                      <a:pt x="1098803" y="1223771"/>
                    </a:lnTo>
                    <a:lnTo>
                      <a:pt x="1098803" y="1207008"/>
                    </a:lnTo>
                    <a:lnTo>
                      <a:pt x="1115567" y="1207008"/>
                    </a:lnTo>
                    <a:lnTo>
                      <a:pt x="1115567" y="1223771"/>
                    </a:lnTo>
                    <a:close/>
                  </a:path>
                  <a:path w="4747259" h="1224279">
                    <a:moveTo>
                      <a:pt x="1149096" y="1223771"/>
                    </a:moveTo>
                    <a:lnTo>
                      <a:pt x="1132332" y="1223771"/>
                    </a:lnTo>
                    <a:lnTo>
                      <a:pt x="1132332" y="1207008"/>
                    </a:lnTo>
                    <a:lnTo>
                      <a:pt x="1149096" y="1207008"/>
                    </a:lnTo>
                    <a:lnTo>
                      <a:pt x="1149096" y="1223771"/>
                    </a:lnTo>
                    <a:close/>
                  </a:path>
                  <a:path w="4747259" h="1224279">
                    <a:moveTo>
                      <a:pt x="1182623" y="1223771"/>
                    </a:moveTo>
                    <a:lnTo>
                      <a:pt x="1165859" y="1223771"/>
                    </a:lnTo>
                    <a:lnTo>
                      <a:pt x="1165859" y="1207008"/>
                    </a:lnTo>
                    <a:lnTo>
                      <a:pt x="1182623" y="1207008"/>
                    </a:lnTo>
                    <a:lnTo>
                      <a:pt x="1182623" y="1223771"/>
                    </a:lnTo>
                    <a:close/>
                  </a:path>
                  <a:path w="4747259" h="1224279">
                    <a:moveTo>
                      <a:pt x="1216151" y="1223771"/>
                    </a:moveTo>
                    <a:lnTo>
                      <a:pt x="1199387" y="1223771"/>
                    </a:lnTo>
                    <a:lnTo>
                      <a:pt x="1199387" y="1207008"/>
                    </a:lnTo>
                    <a:lnTo>
                      <a:pt x="1216151" y="1207008"/>
                    </a:lnTo>
                    <a:lnTo>
                      <a:pt x="1216151" y="1223771"/>
                    </a:lnTo>
                    <a:close/>
                  </a:path>
                  <a:path w="4747259" h="1224279">
                    <a:moveTo>
                      <a:pt x="1249680" y="1223771"/>
                    </a:moveTo>
                    <a:lnTo>
                      <a:pt x="1232916" y="1223771"/>
                    </a:lnTo>
                    <a:lnTo>
                      <a:pt x="1232916" y="1207008"/>
                    </a:lnTo>
                    <a:lnTo>
                      <a:pt x="1249680" y="1207008"/>
                    </a:lnTo>
                    <a:lnTo>
                      <a:pt x="1249680" y="1223771"/>
                    </a:lnTo>
                    <a:close/>
                  </a:path>
                  <a:path w="4747259" h="1224279">
                    <a:moveTo>
                      <a:pt x="1283207" y="1223771"/>
                    </a:moveTo>
                    <a:lnTo>
                      <a:pt x="1266443" y="1223771"/>
                    </a:lnTo>
                    <a:lnTo>
                      <a:pt x="1266443" y="1207008"/>
                    </a:lnTo>
                    <a:lnTo>
                      <a:pt x="1283207" y="1207008"/>
                    </a:lnTo>
                    <a:lnTo>
                      <a:pt x="1283207" y="1223771"/>
                    </a:lnTo>
                    <a:close/>
                  </a:path>
                  <a:path w="4747259" h="1224279">
                    <a:moveTo>
                      <a:pt x="1316735" y="1223771"/>
                    </a:moveTo>
                    <a:lnTo>
                      <a:pt x="1299971" y="1223771"/>
                    </a:lnTo>
                    <a:lnTo>
                      <a:pt x="1299971" y="1207008"/>
                    </a:lnTo>
                    <a:lnTo>
                      <a:pt x="1316735" y="1207008"/>
                    </a:lnTo>
                    <a:lnTo>
                      <a:pt x="1316735" y="1223771"/>
                    </a:lnTo>
                    <a:close/>
                  </a:path>
                  <a:path w="4747259" h="1224279">
                    <a:moveTo>
                      <a:pt x="1348739" y="1223771"/>
                    </a:moveTo>
                    <a:lnTo>
                      <a:pt x="1331975" y="1223771"/>
                    </a:lnTo>
                    <a:lnTo>
                      <a:pt x="1331975" y="1207008"/>
                    </a:lnTo>
                    <a:lnTo>
                      <a:pt x="1348739" y="1207008"/>
                    </a:lnTo>
                    <a:lnTo>
                      <a:pt x="1348739" y="1223771"/>
                    </a:lnTo>
                    <a:close/>
                  </a:path>
                  <a:path w="4747259" h="1224279">
                    <a:moveTo>
                      <a:pt x="1382267" y="1223771"/>
                    </a:moveTo>
                    <a:lnTo>
                      <a:pt x="1365503" y="1223771"/>
                    </a:lnTo>
                    <a:lnTo>
                      <a:pt x="1365503" y="1207008"/>
                    </a:lnTo>
                    <a:lnTo>
                      <a:pt x="1382267" y="1207008"/>
                    </a:lnTo>
                    <a:lnTo>
                      <a:pt x="1382267" y="1223771"/>
                    </a:lnTo>
                    <a:close/>
                  </a:path>
                  <a:path w="4747259" h="1224279">
                    <a:moveTo>
                      <a:pt x="1415796" y="1223771"/>
                    </a:moveTo>
                    <a:lnTo>
                      <a:pt x="1399032" y="1223771"/>
                    </a:lnTo>
                    <a:lnTo>
                      <a:pt x="1399032" y="1207008"/>
                    </a:lnTo>
                    <a:lnTo>
                      <a:pt x="1415796" y="1207008"/>
                    </a:lnTo>
                    <a:lnTo>
                      <a:pt x="1415796" y="1223771"/>
                    </a:lnTo>
                    <a:close/>
                  </a:path>
                  <a:path w="4747259" h="1224279">
                    <a:moveTo>
                      <a:pt x="1449323" y="1223771"/>
                    </a:moveTo>
                    <a:lnTo>
                      <a:pt x="1432559" y="1223771"/>
                    </a:lnTo>
                    <a:lnTo>
                      <a:pt x="1432559" y="1207008"/>
                    </a:lnTo>
                    <a:lnTo>
                      <a:pt x="1449323" y="1207008"/>
                    </a:lnTo>
                    <a:lnTo>
                      <a:pt x="1449323" y="1223771"/>
                    </a:lnTo>
                    <a:close/>
                  </a:path>
                  <a:path w="4747259" h="1224279">
                    <a:moveTo>
                      <a:pt x="1482851" y="1223771"/>
                    </a:moveTo>
                    <a:lnTo>
                      <a:pt x="1466087" y="1223771"/>
                    </a:lnTo>
                    <a:lnTo>
                      <a:pt x="1466087" y="1207008"/>
                    </a:lnTo>
                    <a:lnTo>
                      <a:pt x="1482851" y="1207008"/>
                    </a:lnTo>
                    <a:lnTo>
                      <a:pt x="1482851" y="1223771"/>
                    </a:lnTo>
                    <a:close/>
                  </a:path>
                  <a:path w="4747259" h="1224279">
                    <a:moveTo>
                      <a:pt x="1516380" y="1223771"/>
                    </a:moveTo>
                    <a:lnTo>
                      <a:pt x="1499616" y="1223771"/>
                    </a:lnTo>
                    <a:lnTo>
                      <a:pt x="1499616" y="1207008"/>
                    </a:lnTo>
                    <a:lnTo>
                      <a:pt x="1516380" y="1207008"/>
                    </a:lnTo>
                    <a:lnTo>
                      <a:pt x="1516380" y="1223771"/>
                    </a:lnTo>
                    <a:close/>
                  </a:path>
                  <a:path w="4747259" h="1224279">
                    <a:moveTo>
                      <a:pt x="1549907" y="1223771"/>
                    </a:moveTo>
                    <a:lnTo>
                      <a:pt x="1533143" y="1223771"/>
                    </a:lnTo>
                    <a:lnTo>
                      <a:pt x="1533143" y="1207008"/>
                    </a:lnTo>
                    <a:lnTo>
                      <a:pt x="1549907" y="1207008"/>
                    </a:lnTo>
                    <a:lnTo>
                      <a:pt x="1549907" y="1223771"/>
                    </a:lnTo>
                    <a:close/>
                  </a:path>
                  <a:path w="4747259" h="1224279">
                    <a:moveTo>
                      <a:pt x="1583435" y="1223771"/>
                    </a:moveTo>
                    <a:lnTo>
                      <a:pt x="1566671" y="1223771"/>
                    </a:lnTo>
                    <a:lnTo>
                      <a:pt x="1566671" y="1207008"/>
                    </a:lnTo>
                    <a:lnTo>
                      <a:pt x="1583435" y="1207008"/>
                    </a:lnTo>
                    <a:lnTo>
                      <a:pt x="1583435" y="1223771"/>
                    </a:lnTo>
                    <a:close/>
                  </a:path>
                  <a:path w="4747259" h="1224279">
                    <a:moveTo>
                      <a:pt x="1616964" y="1223771"/>
                    </a:moveTo>
                    <a:lnTo>
                      <a:pt x="1600200" y="1223771"/>
                    </a:lnTo>
                    <a:lnTo>
                      <a:pt x="1600200" y="1207008"/>
                    </a:lnTo>
                    <a:lnTo>
                      <a:pt x="1616964" y="1207008"/>
                    </a:lnTo>
                    <a:lnTo>
                      <a:pt x="1616964" y="1223771"/>
                    </a:lnTo>
                    <a:close/>
                  </a:path>
                  <a:path w="4747259" h="1224279">
                    <a:moveTo>
                      <a:pt x="1650491" y="1223771"/>
                    </a:moveTo>
                    <a:lnTo>
                      <a:pt x="1633727" y="1223771"/>
                    </a:lnTo>
                    <a:lnTo>
                      <a:pt x="1633727" y="1207008"/>
                    </a:lnTo>
                    <a:lnTo>
                      <a:pt x="1650491" y="1207008"/>
                    </a:lnTo>
                    <a:lnTo>
                      <a:pt x="1650491" y="1223771"/>
                    </a:lnTo>
                    <a:close/>
                  </a:path>
                  <a:path w="4747259" h="1224279">
                    <a:moveTo>
                      <a:pt x="1684019" y="1223771"/>
                    </a:moveTo>
                    <a:lnTo>
                      <a:pt x="1667255" y="1223771"/>
                    </a:lnTo>
                    <a:lnTo>
                      <a:pt x="1667255" y="1207008"/>
                    </a:lnTo>
                    <a:lnTo>
                      <a:pt x="1684019" y="1207008"/>
                    </a:lnTo>
                    <a:lnTo>
                      <a:pt x="1684019" y="1223771"/>
                    </a:lnTo>
                    <a:close/>
                  </a:path>
                  <a:path w="4747259" h="1224279">
                    <a:moveTo>
                      <a:pt x="1717548" y="1223771"/>
                    </a:moveTo>
                    <a:lnTo>
                      <a:pt x="1700784" y="1223771"/>
                    </a:lnTo>
                    <a:lnTo>
                      <a:pt x="1700784" y="1207008"/>
                    </a:lnTo>
                    <a:lnTo>
                      <a:pt x="1717548" y="1207008"/>
                    </a:lnTo>
                    <a:lnTo>
                      <a:pt x="1717548" y="1223771"/>
                    </a:lnTo>
                    <a:close/>
                  </a:path>
                  <a:path w="4747259" h="1224279">
                    <a:moveTo>
                      <a:pt x="1751075" y="1223771"/>
                    </a:moveTo>
                    <a:lnTo>
                      <a:pt x="1734312" y="1223771"/>
                    </a:lnTo>
                    <a:lnTo>
                      <a:pt x="1734312" y="1207008"/>
                    </a:lnTo>
                    <a:lnTo>
                      <a:pt x="1751075" y="1207008"/>
                    </a:lnTo>
                    <a:lnTo>
                      <a:pt x="1751075" y="1223771"/>
                    </a:lnTo>
                    <a:close/>
                  </a:path>
                  <a:path w="4747259" h="1224279">
                    <a:moveTo>
                      <a:pt x="1783080" y="1223771"/>
                    </a:moveTo>
                    <a:lnTo>
                      <a:pt x="1766316" y="1223771"/>
                    </a:lnTo>
                    <a:lnTo>
                      <a:pt x="1766316" y="1207008"/>
                    </a:lnTo>
                    <a:lnTo>
                      <a:pt x="1783080" y="1207008"/>
                    </a:lnTo>
                    <a:lnTo>
                      <a:pt x="1783080" y="1223771"/>
                    </a:lnTo>
                    <a:close/>
                  </a:path>
                  <a:path w="4747259" h="1224279">
                    <a:moveTo>
                      <a:pt x="1816607" y="1223771"/>
                    </a:moveTo>
                    <a:lnTo>
                      <a:pt x="1799843" y="1223771"/>
                    </a:lnTo>
                    <a:lnTo>
                      <a:pt x="1799843" y="1207008"/>
                    </a:lnTo>
                    <a:lnTo>
                      <a:pt x="1816607" y="1207008"/>
                    </a:lnTo>
                    <a:lnTo>
                      <a:pt x="1816607" y="1223771"/>
                    </a:lnTo>
                    <a:close/>
                  </a:path>
                  <a:path w="4747259" h="1224279">
                    <a:moveTo>
                      <a:pt x="1850135" y="1223771"/>
                    </a:moveTo>
                    <a:lnTo>
                      <a:pt x="1833371" y="1223771"/>
                    </a:lnTo>
                    <a:lnTo>
                      <a:pt x="1833371" y="1207008"/>
                    </a:lnTo>
                    <a:lnTo>
                      <a:pt x="1850135" y="1207008"/>
                    </a:lnTo>
                    <a:lnTo>
                      <a:pt x="1850135" y="1223771"/>
                    </a:lnTo>
                    <a:close/>
                  </a:path>
                  <a:path w="4747259" h="1224279">
                    <a:moveTo>
                      <a:pt x="1883664" y="1223771"/>
                    </a:moveTo>
                    <a:lnTo>
                      <a:pt x="1866900" y="1223771"/>
                    </a:lnTo>
                    <a:lnTo>
                      <a:pt x="1866900" y="1207008"/>
                    </a:lnTo>
                    <a:lnTo>
                      <a:pt x="1883664" y="1207008"/>
                    </a:lnTo>
                    <a:lnTo>
                      <a:pt x="1883664" y="1223771"/>
                    </a:lnTo>
                    <a:close/>
                  </a:path>
                  <a:path w="4747259" h="1224279">
                    <a:moveTo>
                      <a:pt x="1917191" y="1223771"/>
                    </a:moveTo>
                    <a:lnTo>
                      <a:pt x="1900427" y="1223771"/>
                    </a:lnTo>
                    <a:lnTo>
                      <a:pt x="1900427" y="1207008"/>
                    </a:lnTo>
                    <a:lnTo>
                      <a:pt x="1917191" y="1207008"/>
                    </a:lnTo>
                    <a:lnTo>
                      <a:pt x="1917191" y="1223771"/>
                    </a:lnTo>
                    <a:close/>
                  </a:path>
                  <a:path w="4747259" h="1224279">
                    <a:moveTo>
                      <a:pt x="1950719" y="1223771"/>
                    </a:moveTo>
                    <a:lnTo>
                      <a:pt x="1933955" y="1223771"/>
                    </a:lnTo>
                    <a:lnTo>
                      <a:pt x="1933955" y="1207008"/>
                    </a:lnTo>
                    <a:lnTo>
                      <a:pt x="1950719" y="1207008"/>
                    </a:lnTo>
                    <a:lnTo>
                      <a:pt x="1950719" y="1223771"/>
                    </a:lnTo>
                    <a:close/>
                  </a:path>
                  <a:path w="4747259" h="1224279">
                    <a:moveTo>
                      <a:pt x="1984248" y="1223771"/>
                    </a:moveTo>
                    <a:lnTo>
                      <a:pt x="1967484" y="1223771"/>
                    </a:lnTo>
                    <a:lnTo>
                      <a:pt x="1967484" y="1207008"/>
                    </a:lnTo>
                    <a:lnTo>
                      <a:pt x="1984248" y="1207008"/>
                    </a:lnTo>
                    <a:lnTo>
                      <a:pt x="1984248" y="1223771"/>
                    </a:lnTo>
                    <a:close/>
                  </a:path>
                  <a:path w="4747259" h="1224279">
                    <a:moveTo>
                      <a:pt x="2017775" y="1223771"/>
                    </a:moveTo>
                    <a:lnTo>
                      <a:pt x="2001012" y="1223771"/>
                    </a:lnTo>
                    <a:lnTo>
                      <a:pt x="2001012" y="1207008"/>
                    </a:lnTo>
                    <a:lnTo>
                      <a:pt x="2017775" y="1207008"/>
                    </a:lnTo>
                    <a:lnTo>
                      <a:pt x="2017775" y="1223771"/>
                    </a:lnTo>
                    <a:close/>
                  </a:path>
                  <a:path w="4747259" h="1224279">
                    <a:moveTo>
                      <a:pt x="2051303" y="1223771"/>
                    </a:moveTo>
                    <a:lnTo>
                      <a:pt x="2034539" y="1223771"/>
                    </a:lnTo>
                    <a:lnTo>
                      <a:pt x="2034539" y="1207008"/>
                    </a:lnTo>
                    <a:lnTo>
                      <a:pt x="2051303" y="1207008"/>
                    </a:lnTo>
                    <a:lnTo>
                      <a:pt x="2051303" y="1223771"/>
                    </a:lnTo>
                    <a:close/>
                  </a:path>
                  <a:path w="4747259" h="1224279">
                    <a:moveTo>
                      <a:pt x="2084832" y="1223771"/>
                    </a:moveTo>
                    <a:lnTo>
                      <a:pt x="2068068" y="1223771"/>
                    </a:lnTo>
                    <a:lnTo>
                      <a:pt x="2068068" y="1207008"/>
                    </a:lnTo>
                    <a:lnTo>
                      <a:pt x="2084832" y="1207008"/>
                    </a:lnTo>
                    <a:lnTo>
                      <a:pt x="2084832" y="1223771"/>
                    </a:lnTo>
                    <a:close/>
                  </a:path>
                  <a:path w="4747259" h="1224279">
                    <a:moveTo>
                      <a:pt x="2118359" y="1223771"/>
                    </a:moveTo>
                    <a:lnTo>
                      <a:pt x="2101596" y="1223771"/>
                    </a:lnTo>
                    <a:lnTo>
                      <a:pt x="2101596" y="1207008"/>
                    </a:lnTo>
                    <a:lnTo>
                      <a:pt x="2118359" y="1207008"/>
                    </a:lnTo>
                    <a:lnTo>
                      <a:pt x="2118359" y="1223771"/>
                    </a:lnTo>
                    <a:close/>
                  </a:path>
                  <a:path w="4747259" h="1224279">
                    <a:moveTo>
                      <a:pt x="2151887" y="1223771"/>
                    </a:moveTo>
                    <a:lnTo>
                      <a:pt x="2135123" y="1223771"/>
                    </a:lnTo>
                    <a:lnTo>
                      <a:pt x="2135123" y="1207008"/>
                    </a:lnTo>
                    <a:lnTo>
                      <a:pt x="2151887" y="1207008"/>
                    </a:lnTo>
                    <a:lnTo>
                      <a:pt x="2151887" y="1223771"/>
                    </a:lnTo>
                    <a:close/>
                  </a:path>
                  <a:path w="4747259" h="1224279">
                    <a:moveTo>
                      <a:pt x="2185416" y="1223771"/>
                    </a:moveTo>
                    <a:lnTo>
                      <a:pt x="2168651" y="1223771"/>
                    </a:lnTo>
                    <a:lnTo>
                      <a:pt x="2168651" y="1207008"/>
                    </a:lnTo>
                    <a:lnTo>
                      <a:pt x="2185416" y="1207008"/>
                    </a:lnTo>
                    <a:lnTo>
                      <a:pt x="2185416" y="1223771"/>
                    </a:lnTo>
                    <a:close/>
                  </a:path>
                  <a:path w="4747259" h="1224279">
                    <a:moveTo>
                      <a:pt x="2217419" y="1223771"/>
                    </a:moveTo>
                    <a:lnTo>
                      <a:pt x="2200655" y="1223771"/>
                    </a:lnTo>
                    <a:lnTo>
                      <a:pt x="2200655" y="1207008"/>
                    </a:lnTo>
                    <a:lnTo>
                      <a:pt x="2217419" y="1207008"/>
                    </a:lnTo>
                    <a:lnTo>
                      <a:pt x="2217419" y="1223771"/>
                    </a:lnTo>
                    <a:close/>
                  </a:path>
                  <a:path w="4747259" h="1224279">
                    <a:moveTo>
                      <a:pt x="2250948" y="1223771"/>
                    </a:moveTo>
                    <a:lnTo>
                      <a:pt x="2234184" y="1223771"/>
                    </a:lnTo>
                    <a:lnTo>
                      <a:pt x="2234184" y="1207008"/>
                    </a:lnTo>
                    <a:lnTo>
                      <a:pt x="2250948" y="1207008"/>
                    </a:lnTo>
                    <a:lnTo>
                      <a:pt x="2250948" y="1223771"/>
                    </a:lnTo>
                    <a:close/>
                  </a:path>
                  <a:path w="4747259" h="1224279">
                    <a:moveTo>
                      <a:pt x="2284475" y="1223771"/>
                    </a:moveTo>
                    <a:lnTo>
                      <a:pt x="2267712" y="1223771"/>
                    </a:lnTo>
                    <a:lnTo>
                      <a:pt x="2267712" y="1207008"/>
                    </a:lnTo>
                    <a:lnTo>
                      <a:pt x="2284475" y="1207008"/>
                    </a:lnTo>
                    <a:lnTo>
                      <a:pt x="2284475" y="1223771"/>
                    </a:lnTo>
                    <a:close/>
                  </a:path>
                  <a:path w="4747259" h="1224279">
                    <a:moveTo>
                      <a:pt x="2318003" y="1223771"/>
                    </a:moveTo>
                    <a:lnTo>
                      <a:pt x="2301239" y="1223771"/>
                    </a:lnTo>
                    <a:lnTo>
                      <a:pt x="2301239" y="1207008"/>
                    </a:lnTo>
                    <a:lnTo>
                      <a:pt x="2318003" y="1207008"/>
                    </a:lnTo>
                    <a:lnTo>
                      <a:pt x="2318003" y="1223771"/>
                    </a:lnTo>
                    <a:close/>
                  </a:path>
                  <a:path w="4747259" h="1224279">
                    <a:moveTo>
                      <a:pt x="2351532" y="1223771"/>
                    </a:moveTo>
                    <a:lnTo>
                      <a:pt x="2334768" y="1223771"/>
                    </a:lnTo>
                    <a:lnTo>
                      <a:pt x="2334768" y="1207008"/>
                    </a:lnTo>
                    <a:lnTo>
                      <a:pt x="2351532" y="1207008"/>
                    </a:lnTo>
                    <a:lnTo>
                      <a:pt x="2351532" y="1223771"/>
                    </a:lnTo>
                    <a:close/>
                  </a:path>
                  <a:path w="4747259" h="1224279">
                    <a:moveTo>
                      <a:pt x="2385059" y="1223771"/>
                    </a:moveTo>
                    <a:lnTo>
                      <a:pt x="2368296" y="1223771"/>
                    </a:lnTo>
                    <a:lnTo>
                      <a:pt x="2368296" y="1207008"/>
                    </a:lnTo>
                    <a:lnTo>
                      <a:pt x="2385059" y="1207008"/>
                    </a:lnTo>
                    <a:lnTo>
                      <a:pt x="2385059" y="1223771"/>
                    </a:lnTo>
                    <a:close/>
                  </a:path>
                  <a:path w="4747259" h="1224279">
                    <a:moveTo>
                      <a:pt x="2418587" y="1223771"/>
                    </a:moveTo>
                    <a:lnTo>
                      <a:pt x="2401823" y="1223771"/>
                    </a:lnTo>
                    <a:lnTo>
                      <a:pt x="2401823" y="1207008"/>
                    </a:lnTo>
                    <a:lnTo>
                      <a:pt x="2418587" y="1207008"/>
                    </a:lnTo>
                    <a:lnTo>
                      <a:pt x="2418587" y="1223771"/>
                    </a:lnTo>
                    <a:close/>
                  </a:path>
                  <a:path w="4747259" h="1224279">
                    <a:moveTo>
                      <a:pt x="2452116" y="1223771"/>
                    </a:moveTo>
                    <a:lnTo>
                      <a:pt x="2435352" y="1223771"/>
                    </a:lnTo>
                    <a:lnTo>
                      <a:pt x="2435352" y="1207008"/>
                    </a:lnTo>
                    <a:lnTo>
                      <a:pt x="2452116" y="1207008"/>
                    </a:lnTo>
                    <a:lnTo>
                      <a:pt x="2452116" y="1223771"/>
                    </a:lnTo>
                    <a:close/>
                  </a:path>
                  <a:path w="4747259" h="1224279">
                    <a:moveTo>
                      <a:pt x="2485643" y="1223771"/>
                    </a:moveTo>
                    <a:lnTo>
                      <a:pt x="2468880" y="1223771"/>
                    </a:lnTo>
                    <a:lnTo>
                      <a:pt x="2468880" y="1207008"/>
                    </a:lnTo>
                    <a:lnTo>
                      <a:pt x="2485643" y="1207008"/>
                    </a:lnTo>
                    <a:lnTo>
                      <a:pt x="2485643" y="1223771"/>
                    </a:lnTo>
                    <a:close/>
                  </a:path>
                  <a:path w="4747259" h="1224279">
                    <a:moveTo>
                      <a:pt x="2519171" y="1223771"/>
                    </a:moveTo>
                    <a:lnTo>
                      <a:pt x="2502407" y="1223771"/>
                    </a:lnTo>
                    <a:lnTo>
                      <a:pt x="2502407" y="1207008"/>
                    </a:lnTo>
                    <a:lnTo>
                      <a:pt x="2519171" y="1207008"/>
                    </a:lnTo>
                    <a:lnTo>
                      <a:pt x="2519171" y="1223771"/>
                    </a:lnTo>
                    <a:close/>
                  </a:path>
                  <a:path w="4747259" h="1224279">
                    <a:moveTo>
                      <a:pt x="2552700" y="1223771"/>
                    </a:moveTo>
                    <a:lnTo>
                      <a:pt x="2535935" y="1223771"/>
                    </a:lnTo>
                    <a:lnTo>
                      <a:pt x="2535935" y="1207008"/>
                    </a:lnTo>
                    <a:lnTo>
                      <a:pt x="2552700" y="1207008"/>
                    </a:lnTo>
                    <a:lnTo>
                      <a:pt x="2552700" y="1223771"/>
                    </a:lnTo>
                    <a:close/>
                  </a:path>
                  <a:path w="4747259" h="1224279">
                    <a:moveTo>
                      <a:pt x="2586227" y="1223771"/>
                    </a:moveTo>
                    <a:lnTo>
                      <a:pt x="2569464" y="1223771"/>
                    </a:lnTo>
                    <a:lnTo>
                      <a:pt x="2569464" y="1207008"/>
                    </a:lnTo>
                    <a:lnTo>
                      <a:pt x="2586227" y="1207008"/>
                    </a:lnTo>
                    <a:lnTo>
                      <a:pt x="2586227" y="1223771"/>
                    </a:lnTo>
                    <a:close/>
                  </a:path>
                  <a:path w="4747259" h="1224279">
                    <a:moveTo>
                      <a:pt x="2619755" y="1223771"/>
                    </a:moveTo>
                    <a:lnTo>
                      <a:pt x="2602991" y="1223771"/>
                    </a:lnTo>
                    <a:lnTo>
                      <a:pt x="2602991" y="1207008"/>
                    </a:lnTo>
                    <a:lnTo>
                      <a:pt x="2619755" y="1207008"/>
                    </a:lnTo>
                    <a:lnTo>
                      <a:pt x="2619755" y="1223771"/>
                    </a:lnTo>
                    <a:close/>
                  </a:path>
                  <a:path w="4747259" h="1224279">
                    <a:moveTo>
                      <a:pt x="2651759" y="1223771"/>
                    </a:moveTo>
                    <a:lnTo>
                      <a:pt x="2634996" y="1223771"/>
                    </a:lnTo>
                    <a:lnTo>
                      <a:pt x="2634996" y="1207008"/>
                    </a:lnTo>
                    <a:lnTo>
                      <a:pt x="2651759" y="1207008"/>
                    </a:lnTo>
                    <a:lnTo>
                      <a:pt x="2651759" y="1223771"/>
                    </a:lnTo>
                    <a:close/>
                  </a:path>
                  <a:path w="4747259" h="1224279">
                    <a:moveTo>
                      <a:pt x="2685287" y="1223771"/>
                    </a:moveTo>
                    <a:lnTo>
                      <a:pt x="2668523" y="1223771"/>
                    </a:lnTo>
                    <a:lnTo>
                      <a:pt x="2668523" y="1207008"/>
                    </a:lnTo>
                    <a:lnTo>
                      <a:pt x="2685287" y="1207008"/>
                    </a:lnTo>
                    <a:lnTo>
                      <a:pt x="2685287" y="1223771"/>
                    </a:lnTo>
                    <a:close/>
                  </a:path>
                  <a:path w="4747259" h="1224279">
                    <a:moveTo>
                      <a:pt x="2718816" y="1223771"/>
                    </a:moveTo>
                    <a:lnTo>
                      <a:pt x="2702052" y="1223771"/>
                    </a:lnTo>
                    <a:lnTo>
                      <a:pt x="2702052" y="1207008"/>
                    </a:lnTo>
                    <a:lnTo>
                      <a:pt x="2718816" y="1207008"/>
                    </a:lnTo>
                    <a:lnTo>
                      <a:pt x="2718816" y="1223771"/>
                    </a:lnTo>
                    <a:close/>
                  </a:path>
                  <a:path w="4747259" h="1224279">
                    <a:moveTo>
                      <a:pt x="2752343" y="1223771"/>
                    </a:moveTo>
                    <a:lnTo>
                      <a:pt x="2735580" y="1223771"/>
                    </a:lnTo>
                    <a:lnTo>
                      <a:pt x="2735580" y="1207008"/>
                    </a:lnTo>
                    <a:lnTo>
                      <a:pt x="2752343" y="1207008"/>
                    </a:lnTo>
                    <a:lnTo>
                      <a:pt x="2752343" y="1223771"/>
                    </a:lnTo>
                    <a:close/>
                  </a:path>
                  <a:path w="4747259" h="1224279">
                    <a:moveTo>
                      <a:pt x="2785871" y="1223771"/>
                    </a:moveTo>
                    <a:lnTo>
                      <a:pt x="2769107" y="1223771"/>
                    </a:lnTo>
                    <a:lnTo>
                      <a:pt x="2769107" y="1207008"/>
                    </a:lnTo>
                    <a:lnTo>
                      <a:pt x="2785871" y="1207008"/>
                    </a:lnTo>
                    <a:lnTo>
                      <a:pt x="2785871" y="1223771"/>
                    </a:lnTo>
                    <a:close/>
                  </a:path>
                  <a:path w="4747259" h="1224279">
                    <a:moveTo>
                      <a:pt x="2819400" y="1223771"/>
                    </a:moveTo>
                    <a:lnTo>
                      <a:pt x="2802635" y="1223771"/>
                    </a:lnTo>
                    <a:lnTo>
                      <a:pt x="2802635" y="1207008"/>
                    </a:lnTo>
                    <a:lnTo>
                      <a:pt x="2819400" y="1207008"/>
                    </a:lnTo>
                    <a:lnTo>
                      <a:pt x="2819400" y="1223771"/>
                    </a:lnTo>
                    <a:close/>
                  </a:path>
                  <a:path w="4747259" h="1224279">
                    <a:moveTo>
                      <a:pt x="2852927" y="1223771"/>
                    </a:moveTo>
                    <a:lnTo>
                      <a:pt x="2836164" y="1223771"/>
                    </a:lnTo>
                    <a:lnTo>
                      <a:pt x="2836164" y="1207008"/>
                    </a:lnTo>
                    <a:lnTo>
                      <a:pt x="2852927" y="1207008"/>
                    </a:lnTo>
                    <a:lnTo>
                      <a:pt x="2852927" y="1223771"/>
                    </a:lnTo>
                    <a:close/>
                  </a:path>
                  <a:path w="4747259" h="1224279">
                    <a:moveTo>
                      <a:pt x="2886455" y="1223771"/>
                    </a:moveTo>
                    <a:lnTo>
                      <a:pt x="2869691" y="1223771"/>
                    </a:lnTo>
                    <a:lnTo>
                      <a:pt x="2869691" y="1207008"/>
                    </a:lnTo>
                    <a:lnTo>
                      <a:pt x="2886455" y="1207008"/>
                    </a:lnTo>
                    <a:lnTo>
                      <a:pt x="2886455" y="1223771"/>
                    </a:lnTo>
                    <a:close/>
                  </a:path>
                  <a:path w="4747259" h="1224279">
                    <a:moveTo>
                      <a:pt x="2919984" y="1223771"/>
                    </a:moveTo>
                    <a:lnTo>
                      <a:pt x="2903219" y="1223771"/>
                    </a:lnTo>
                    <a:lnTo>
                      <a:pt x="2903219" y="1207008"/>
                    </a:lnTo>
                    <a:lnTo>
                      <a:pt x="2919984" y="1207008"/>
                    </a:lnTo>
                    <a:lnTo>
                      <a:pt x="2919984" y="1223771"/>
                    </a:lnTo>
                    <a:close/>
                  </a:path>
                  <a:path w="4747259" h="1224279">
                    <a:moveTo>
                      <a:pt x="2953512" y="1223771"/>
                    </a:moveTo>
                    <a:lnTo>
                      <a:pt x="2936748" y="1223771"/>
                    </a:lnTo>
                    <a:lnTo>
                      <a:pt x="2936748" y="1207008"/>
                    </a:lnTo>
                    <a:lnTo>
                      <a:pt x="2953512" y="1207008"/>
                    </a:lnTo>
                    <a:lnTo>
                      <a:pt x="2953512" y="1223771"/>
                    </a:lnTo>
                    <a:close/>
                  </a:path>
                  <a:path w="4747259" h="1224279">
                    <a:moveTo>
                      <a:pt x="2987039" y="1223771"/>
                    </a:moveTo>
                    <a:lnTo>
                      <a:pt x="2970275" y="1223771"/>
                    </a:lnTo>
                    <a:lnTo>
                      <a:pt x="2970275" y="1207008"/>
                    </a:lnTo>
                    <a:lnTo>
                      <a:pt x="2987039" y="1207008"/>
                    </a:lnTo>
                    <a:lnTo>
                      <a:pt x="2987039" y="1223771"/>
                    </a:lnTo>
                    <a:close/>
                  </a:path>
                  <a:path w="4747259" h="1224279">
                    <a:moveTo>
                      <a:pt x="3020568" y="1223771"/>
                    </a:moveTo>
                    <a:lnTo>
                      <a:pt x="3003803" y="1223771"/>
                    </a:lnTo>
                    <a:lnTo>
                      <a:pt x="3003803" y="1207008"/>
                    </a:lnTo>
                    <a:lnTo>
                      <a:pt x="3020568" y="1207008"/>
                    </a:lnTo>
                    <a:lnTo>
                      <a:pt x="3020568" y="1223771"/>
                    </a:lnTo>
                    <a:close/>
                  </a:path>
                  <a:path w="4747259" h="1224279">
                    <a:moveTo>
                      <a:pt x="3054096" y="1223771"/>
                    </a:moveTo>
                    <a:lnTo>
                      <a:pt x="3037332" y="1223771"/>
                    </a:lnTo>
                    <a:lnTo>
                      <a:pt x="3037332" y="1207008"/>
                    </a:lnTo>
                    <a:lnTo>
                      <a:pt x="3054096" y="1207008"/>
                    </a:lnTo>
                    <a:lnTo>
                      <a:pt x="3054096" y="1223771"/>
                    </a:lnTo>
                    <a:close/>
                  </a:path>
                  <a:path w="4747259" h="1224279">
                    <a:moveTo>
                      <a:pt x="3086100" y="1223771"/>
                    </a:moveTo>
                    <a:lnTo>
                      <a:pt x="3070859" y="1223771"/>
                    </a:lnTo>
                    <a:lnTo>
                      <a:pt x="3070859" y="1207008"/>
                    </a:lnTo>
                    <a:lnTo>
                      <a:pt x="3086100" y="1207008"/>
                    </a:lnTo>
                    <a:lnTo>
                      <a:pt x="3086100" y="1223771"/>
                    </a:lnTo>
                    <a:close/>
                  </a:path>
                  <a:path w="4747259" h="1224279">
                    <a:moveTo>
                      <a:pt x="3119627" y="1223771"/>
                    </a:moveTo>
                    <a:lnTo>
                      <a:pt x="3102864" y="1223771"/>
                    </a:lnTo>
                    <a:lnTo>
                      <a:pt x="3102864" y="1207008"/>
                    </a:lnTo>
                    <a:lnTo>
                      <a:pt x="3119627" y="1207008"/>
                    </a:lnTo>
                    <a:lnTo>
                      <a:pt x="3119627" y="1223771"/>
                    </a:lnTo>
                    <a:close/>
                  </a:path>
                  <a:path w="4747259" h="1224279">
                    <a:moveTo>
                      <a:pt x="3153155" y="1223771"/>
                    </a:moveTo>
                    <a:lnTo>
                      <a:pt x="3136391" y="1223771"/>
                    </a:lnTo>
                    <a:lnTo>
                      <a:pt x="3136391" y="1207008"/>
                    </a:lnTo>
                    <a:lnTo>
                      <a:pt x="3153155" y="1207008"/>
                    </a:lnTo>
                    <a:lnTo>
                      <a:pt x="3153155" y="1223771"/>
                    </a:lnTo>
                    <a:close/>
                  </a:path>
                  <a:path w="4747259" h="1224279">
                    <a:moveTo>
                      <a:pt x="3186684" y="1223771"/>
                    </a:moveTo>
                    <a:lnTo>
                      <a:pt x="3169919" y="1223771"/>
                    </a:lnTo>
                    <a:lnTo>
                      <a:pt x="3169919" y="1207008"/>
                    </a:lnTo>
                    <a:lnTo>
                      <a:pt x="3186684" y="1207008"/>
                    </a:lnTo>
                    <a:lnTo>
                      <a:pt x="3186684" y="1223771"/>
                    </a:lnTo>
                    <a:close/>
                  </a:path>
                  <a:path w="4747259" h="1224279">
                    <a:moveTo>
                      <a:pt x="3220212" y="1223771"/>
                    </a:moveTo>
                    <a:lnTo>
                      <a:pt x="3203448" y="1223771"/>
                    </a:lnTo>
                    <a:lnTo>
                      <a:pt x="3203448" y="1207008"/>
                    </a:lnTo>
                    <a:lnTo>
                      <a:pt x="3220212" y="1207008"/>
                    </a:lnTo>
                    <a:lnTo>
                      <a:pt x="3220212" y="1223771"/>
                    </a:lnTo>
                    <a:close/>
                  </a:path>
                  <a:path w="4747259" h="1224279">
                    <a:moveTo>
                      <a:pt x="3253739" y="1223771"/>
                    </a:moveTo>
                    <a:lnTo>
                      <a:pt x="3236975" y="1223771"/>
                    </a:lnTo>
                    <a:lnTo>
                      <a:pt x="3236975" y="1207008"/>
                    </a:lnTo>
                    <a:lnTo>
                      <a:pt x="3253739" y="1207008"/>
                    </a:lnTo>
                    <a:lnTo>
                      <a:pt x="3253739" y="1223771"/>
                    </a:lnTo>
                    <a:close/>
                  </a:path>
                  <a:path w="4747259" h="1224279">
                    <a:moveTo>
                      <a:pt x="3287268" y="1223771"/>
                    </a:moveTo>
                    <a:lnTo>
                      <a:pt x="3270503" y="1223771"/>
                    </a:lnTo>
                    <a:lnTo>
                      <a:pt x="3270503" y="1207008"/>
                    </a:lnTo>
                    <a:lnTo>
                      <a:pt x="3287268" y="1207008"/>
                    </a:lnTo>
                    <a:lnTo>
                      <a:pt x="3287268" y="1223771"/>
                    </a:lnTo>
                    <a:close/>
                  </a:path>
                  <a:path w="4747259" h="1224279">
                    <a:moveTo>
                      <a:pt x="3320796" y="1223771"/>
                    </a:moveTo>
                    <a:lnTo>
                      <a:pt x="3304032" y="1223771"/>
                    </a:lnTo>
                    <a:lnTo>
                      <a:pt x="3304032" y="1207008"/>
                    </a:lnTo>
                    <a:lnTo>
                      <a:pt x="3320796" y="1207008"/>
                    </a:lnTo>
                    <a:lnTo>
                      <a:pt x="3320796" y="1223771"/>
                    </a:lnTo>
                    <a:close/>
                  </a:path>
                  <a:path w="4747259" h="1224279">
                    <a:moveTo>
                      <a:pt x="3354323" y="1223771"/>
                    </a:moveTo>
                    <a:lnTo>
                      <a:pt x="3337559" y="1223771"/>
                    </a:lnTo>
                    <a:lnTo>
                      <a:pt x="3337559" y="1207008"/>
                    </a:lnTo>
                    <a:lnTo>
                      <a:pt x="3354323" y="1207008"/>
                    </a:lnTo>
                    <a:lnTo>
                      <a:pt x="3354323" y="1223771"/>
                    </a:lnTo>
                    <a:close/>
                  </a:path>
                  <a:path w="4747259" h="1224279">
                    <a:moveTo>
                      <a:pt x="3387852" y="1223771"/>
                    </a:moveTo>
                    <a:lnTo>
                      <a:pt x="3371087" y="1223771"/>
                    </a:lnTo>
                    <a:lnTo>
                      <a:pt x="3371087" y="1207008"/>
                    </a:lnTo>
                    <a:lnTo>
                      <a:pt x="3387852" y="1207008"/>
                    </a:lnTo>
                    <a:lnTo>
                      <a:pt x="3387852" y="1223771"/>
                    </a:lnTo>
                    <a:close/>
                  </a:path>
                  <a:path w="4747259" h="1224279">
                    <a:moveTo>
                      <a:pt x="3421380" y="1223771"/>
                    </a:moveTo>
                    <a:lnTo>
                      <a:pt x="3404616" y="1223771"/>
                    </a:lnTo>
                    <a:lnTo>
                      <a:pt x="3404616" y="1207008"/>
                    </a:lnTo>
                    <a:lnTo>
                      <a:pt x="3421380" y="1207008"/>
                    </a:lnTo>
                    <a:lnTo>
                      <a:pt x="3421380" y="1223771"/>
                    </a:lnTo>
                    <a:close/>
                  </a:path>
                  <a:path w="4747259" h="1224279">
                    <a:moveTo>
                      <a:pt x="3454907" y="1223771"/>
                    </a:moveTo>
                    <a:lnTo>
                      <a:pt x="3438143" y="1223771"/>
                    </a:lnTo>
                    <a:lnTo>
                      <a:pt x="3438143" y="1207008"/>
                    </a:lnTo>
                    <a:lnTo>
                      <a:pt x="3454907" y="1207008"/>
                    </a:lnTo>
                    <a:lnTo>
                      <a:pt x="3454907" y="1223771"/>
                    </a:lnTo>
                    <a:close/>
                  </a:path>
                  <a:path w="4747259" h="1224279">
                    <a:moveTo>
                      <a:pt x="3488436" y="1223771"/>
                    </a:moveTo>
                    <a:lnTo>
                      <a:pt x="3471671" y="1223771"/>
                    </a:lnTo>
                    <a:lnTo>
                      <a:pt x="3471671" y="1207008"/>
                    </a:lnTo>
                    <a:lnTo>
                      <a:pt x="3488436" y="1207008"/>
                    </a:lnTo>
                    <a:lnTo>
                      <a:pt x="3488436" y="1223771"/>
                    </a:lnTo>
                    <a:close/>
                  </a:path>
                  <a:path w="4747259" h="1224279">
                    <a:moveTo>
                      <a:pt x="3520439" y="1223771"/>
                    </a:moveTo>
                    <a:lnTo>
                      <a:pt x="3505200" y="1223771"/>
                    </a:lnTo>
                    <a:lnTo>
                      <a:pt x="3505200" y="1207008"/>
                    </a:lnTo>
                    <a:lnTo>
                      <a:pt x="3520439" y="1207008"/>
                    </a:lnTo>
                    <a:lnTo>
                      <a:pt x="3520439" y="1223771"/>
                    </a:lnTo>
                    <a:close/>
                  </a:path>
                  <a:path w="4747259" h="1224279">
                    <a:moveTo>
                      <a:pt x="3553968" y="1223771"/>
                    </a:moveTo>
                    <a:lnTo>
                      <a:pt x="3537203" y="1223771"/>
                    </a:lnTo>
                    <a:lnTo>
                      <a:pt x="3537203" y="1207008"/>
                    </a:lnTo>
                    <a:lnTo>
                      <a:pt x="3553968" y="1207008"/>
                    </a:lnTo>
                    <a:lnTo>
                      <a:pt x="3553968" y="1223771"/>
                    </a:lnTo>
                    <a:close/>
                  </a:path>
                  <a:path w="4747259" h="1224279">
                    <a:moveTo>
                      <a:pt x="3587496" y="1223771"/>
                    </a:moveTo>
                    <a:lnTo>
                      <a:pt x="3570732" y="1223771"/>
                    </a:lnTo>
                    <a:lnTo>
                      <a:pt x="3570732" y="1207008"/>
                    </a:lnTo>
                    <a:lnTo>
                      <a:pt x="3587496" y="1207008"/>
                    </a:lnTo>
                    <a:lnTo>
                      <a:pt x="3587496" y="1223771"/>
                    </a:lnTo>
                    <a:close/>
                  </a:path>
                  <a:path w="4747259" h="1224279">
                    <a:moveTo>
                      <a:pt x="3621023" y="1223771"/>
                    </a:moveTo>
                    <a:lnTo>
                      <a:pt x="3604259" y="1223771"/>
                    </a:lnTo>
                    <a:lnTo>
                      <a:pt x="3604259" y="1207008"/>
                    </a:lnTo>
                    <a:lnTo>
                      <a:pt x="3621023" y="1207008"/>
                    </a:lnTo>
                    <a:lnTo>
                      <a:pt x="3621023" y="1223771"/>
                    </a:lnTo>
                    <a:close/>
                  </a:path>
                  <a:path w="4747259" h="1224279">
                    <a:moveTo>
                      <a:pt x="3654552" y="1223771"/>
                    </a:moveTo>
                    <a:lnTo>
                      <a:pt x="3637787" y="1223771"/>
                    </a:lnTo>
                    <a:lnTo>
                      <a:pt x="3637787" y="1207008"/>
                    </a:lnTo>
                    <a:lnTo>
                      <a:pt x="3654552" y="1207008"/>
                    </a:lnTo>
                    <a:lnTo>
                      <a:pt x="3654552" y="1223771"/>
                    </a:lnTo>
                    <a:close/>
                  </a:path>
                  <a:path w="4747259" h="1224279">
                    <a:moveTo>
                      <a:pt x="3688080" y="1223771"/>
                    </a:moveTo>
                    <a:lnTo>
                      <a:pt x="3671316" y="1223771"/>
                    </a:lnTo>
                    <a:lnTo>
                      <a:pt x="3671316" y="1207008"/>
                    </a:lnTo>
                    <a:lnTo>
                      <a:pt x="3688080" y="1207008"/>
                    </a:lnTo>
                    <a:lnTo>
                      <a:pt x="3688080" y="1223771"/>
                    </a:lnTo>
                    <a:close/>
                  </a:path>
                  <a:path w="4747259" h="1224279">
                    <a:moveTo>
                      <a:pt x="3721607" y="1223771"/>
                    </a:moveTo>
                    <a:lnTo>
                      <a:pt x="3704843" y="1223771"/>
                    </a:lnTo>
                    <a:lnTo>
                      <a:pt x="3704843" y="1207008"/>
                    </a:lnTo>
                    <a:lnTo>
                      <a:pt x="3721607" y="1207008"/>
                    </a:lnTo>
                    <a:lnTo>
                      <a:pt x="3721607" y="1223771"/>
                    </a:lnTo>
                    <a:close/>
                  </a:path>
                  <a:path w="4747259" h="1224279">
                    <a:moveTo>
                      <a:pt x="3755136" y="1223771"/>
                    </a:moveTo>
                    <a:lnTo>
                      <a:pt x="3738371" y="1223771"/>
                    </a:lnTo>
                    <a:lnTo>
                      <a:pt x="3738371" y="1207008"/>
                    </a:lnTo>
                    <a:lnTo>
                      <a:pt x="3755136" y="1207008"/>
                    </a:lnTo>
                    <a:lnTo>
                      <a:pt x="3755136" y="1223771"/>
                    </a:lnTo>
                    <a:close/>
                  </a:path>
                  <a:path w="4747259" h="1224279">
                    <a:moveTo>
                      <a:pt x="3788664" y="1223771"/>
                    </a:moveTo>
                    <a:lnTo>
                      <a:pt x="3771900" y="1223771"/>
                    </a:lnTo>
                    <a:lnTo>
                      <a:pt x="3771900" y="1207008"/>
                    </a:lnTo>
                    <a:lnTo>
                      <a:pt x="3788664" y="1207008"/>
                    </a:lnTo>
                    <a:lnTo>
                      <a:pt x="3788664" y="1223771"/>
                    </a:lnTo>
                    <a:close/>
                  </a:path>
                  <a:path w="4747259" h="1224279">
                    <a:moveTo>
                      <a:pt x="3822191" y="1223771"/>
                    </a:moveTo>
                    <a:lnTo>
                      <a:pt x="3805427" y="1223771"/>
                    </a:lnTo>
                    <a:lnTo>
                      <a:pt x="3805427" y="1207008"/>
                    </a:lnTo>
                    <a:lnTo>
                      <a:pt x="3822191" y="1207008"/>
                    </a:lnTo>
                    <a:lnTo>
                      <a:pt x="3822191" y="1223771"/>
                    </a:lnTo>
                    <a:close/>
                  </a:path>
                  <a:path w="4747259" h="1224279">
                    <a:moveTo>
                      <a:pt x="3855720" y="1223771"/>
                    </a:moveTo>
                    <a:lnTo>
                      <a:pt x="3838955" y="1223771"/>
                    </a:lnTo>
                    <a:lnTo>
                      <a:pt x="3838955" y="1207008"/>
                    </a:lnTo>
                    <a:lnTo>
                      <a:pt x="3855720" y="1207008"/>
                    </a:lnTo>
                    <a:lnTo>
                      <a:pt x="3855720" y="1223771"/>
                    </a:lnTo>
                    <a:close/>
                  </a:path>
                  <a:path w="4747259" h="1224279">
                    <a:moveTo>
                      <a:pt x="3889248" y="1223771"/>
                    </a:moveTo>
                    <a:lnTo>
                      <a:pt x="3872484" y="1223771"/>
                    </a:lnTo>
                    <a:lnTo>
                      <a:pt x="3872484" y="1207008"/>
                    </a:lnTo>
                    <a:lnTo>
                      <a:pt x="3889248" y="1207008"/>
                    </a:lnTo>
                    <a:lnTo>
                      <a:pt x="3889248" y="1223771"/>
                    </a:lnTo>
                    <a:close/>
                  </a:path>
                  <a:path w="4747259" h="1224279">
                    <a:moveTo>
                      <a:pt x="3922775" y="1223771"/>
                    </a:moveTo>
                    <a:lnTo>
                      <a:pt x="3906012" y="1223771"/>
                    </a:lnTo>
                    <a:lnTo>
                      <a:pt x="3906012" y="1207008"/>
                    </a:lnTo>
                    <a:lnTo>
                      <a:pt x="3922775" y="1207008"/>
                    </a:lnTo>
                    <a:lnTo>
                      <a:pt x="3922775" y="1223771"/>
                    </a:lnTo>
                    <a:close/>
                  </a:path>
                  <a:path w="4747259" h="1224279">
                    <a:moveTo>
                      <a:pt x="3954780" y="1223771"/>
                    </a:moveTo>
                    <a:lnTo>
                      <a:pt x="3939539" y="1223771"/>
                    </a:lnTo>
                    <a:lnTo>
                      <a:pt x="3939539" y="1207008"/>
                    </a:lnTo>
                    <a:lnTo>
                      <a:pt x="3954780" y="1207008"/>
                    </a:lnTo>
                    <a:lnTo>
                      <a:pt x="3954780" y="1223771"/>
                    </a:lnTo>
                    <a:close/>
                  </a:path>
                  <a:path w="4747259" h="1224279">
                    <a:moveTo>
                      <a:pt x="3988307" y="1223771"/>
                    </a:moveTo>
                    <a:lnTo>
                      <a:pt x="3971543" y="1223771"/>
                    </a:lnTo>
                    <a:lnTo>
                      <a:pt x="3971543" y="1207008"/>
                    </a:lnTo>
                    <a:lnTo>
                      <a:pt x="3988307" y="1207008"/>
                    </a:lnTo>
                    <a:lnTo>
                      <a:pt x="3988307" y="1223771"/>
                    </a:lnTo>
                    <a:close/>
                  </a:path>
                  <a:path w="4747259" h="1224279">
                    <a:moveTo>
                      <a:pt x="4021836" y="1223771"/>
                    </a:moveTo>
                    <a:lnTo>
                      <a:pt x="4005071" y="1223771"/>
                    </a:lnTo>
                    <a:lnTo>
                      <a:pt x="4005071" y="1207008"/>
                    </a:lnTo>
                    <a:lnTo>
                      <a:pt x="4021836" y="1207008"/>
                    </a:lnTo>
                    <a:lnTo>
                      <a:pt x="4021836" y="1223771"/>
                    </a:lnTo>
                    <a:close/>
                  </a:path>
                  <a:path w="4747259" h="1224279">
                    <a:moveTo>
                      <a:pt x="4055364" y="1223771"/>
                    </a:moveTo>
                    <a:lnTo>
                      <a:pt x="4038600" y="1223771"/>
                    </a:lnTo>
                    <a:lnTo>
                      <a:pt x="4038600" y="1207008"/>
                    </a:lnTo>
                    <a:lnTo>
                      <a:pt x="4055364" y="1207008"/>
                    </a:lnTo>
                    <a:lnTo>
                      <a:pt x="4055364" y="1223771"/>
                    </a:lnTo>
                    <a:close/>
                  </a:path>
                  <a:path w="4747259" h="1224279">
                    <a:moveTo>
                      <a:pt x="4088891" y="1223771"/>
                    </a:moveTo>
                    <a:lnTo>
                      <a:pt x="4072127" y="1223771"/>
                    </a:lnTo>
                    <a:lnTo>
                      <a:pt x="4072127" y="1207008"/>
                    </a:lnTo>
                    <a:lnTo>
                      <a:pt x="4088891" y="1207008"/>
                    </a:lnTo>
                    <a:lnTo>
                      <a:pt x="4088891" y="1223771"/>
                    </a:lnTo>
                    <a:close/>
                  </a:path>
                  <a:path w="4747259" h="1224279">
                    <a:moveTo>
                      <a:pt x="4122420" y="1223771"/>
                    </a:moveTo>
                    <a:lnTo>
                      <a:pt x="4105655" y="1223771"/>
                    </a:lnTo>
                    <a:lnTo>
                      <a:pt x="4105655" y="1207008"/>
                    </a:lnTo>
                    <a:lnTo>
                      <a:pt x="4122420" y="1207008"/>
                    </a:lnTo>
                    <a:lnTo>
                      <a:pt x="4122420" y="1223771"/>
                    </a:lnTo>
                    <a:close/>
                  </a:path>
                  <a:path w="4747259" h="1224279">
                    <a:moveTo>
                      <a:pt x="4155948" y="1223771"/>
                    </a:moveTo>
                    <a:lnTo>
                      <a:pt x="4139184" y="1223771"/>
                    </a:lnTo>
                    <a:lnTo>
                      <a:pt x="4139184" y="1207008"/>
                    </a:lnTo>
                    <a:lnTo>
                      <a:pt x="4155948" y="1207008"/>
                    </a:lnTo>
                    <a:lnTo>
                      <a:pt x="4155948" y="1223771"/>
                    </a:lnTo>
                    <a:close/>
                  </a:path>
                  <a:path w="4747259" h="1224279">
                    <a:moveTo>
                      <a:pt x="4189475" y="1223771"/>
                    </a:moveTo>
                    <a:lnTo>
                      <a:pt x="4172712" y="1223771"/>
                    </a:lnTo>
                    <a:lnTo>
                      <a:pt x="4172712" y="1207008"/>
                    </a:lnTo>
                    <a:lnTo>
                      <a:pt x="4189475" y="1207008"/>
                    </a:lnTo>
                    <a:lnTo>
                      <a:pt x="4189475" y="1223771"/>
                    </a:lnTo>
                    <a:close/>
                  </a:path>
                  <a:path w="4747259" h="1224279">
                    <a:moveTo>
                      <a:pt x="4223003" y="1223771"/>
                    </a:moveTo>
                    <a:lnTo>
                      <a:pt x="4206239" y="1223771"/>
                    </a:lnTo>
                    <a:lnTo>
                      <a:pt x="4206239" y="1207008"/>
                    </a:lnTo>
                    <a:lnTo>
                      <a:pt x="4223003" y="1207008"/>
                    </a:lnTo>
                    <a:lnTo>
                      <a:pt x="4223003" y="1223771"/>
                    </a:lnTo>
                    <a:close/>
                  </a:path>
                  <a:path w="4747259" h="1224279">
                    <a:moveTo>
                      <a:pt x="4256532" y="1223771"/>
                    </a:moveTo>
                    <a:lnTo>
                      <a:pt x="4239768" y="1223771"/>
                    </a:lnTo>
                    <a:lnTo>
                      <a:pt x="4239768" y="1207008"/>
                    </a:lnTo>
                    <a:lnTo>
                      <a:pt x="4256532" y="1207008"/>
                    </a:lnTo>
                    <a:lnTo>
                      <a:pt x="4256532" y="1223771"/>
                    </a:lnTo>
                    <a:close/>
                  </a:path>
                  <a:path w="4747259" h="1224279">
                    <a:moveTo>
                      <a:pt x="4290059" y="1223771"/>
                    </a:moveTo>
                    <a:lnTo>
                      <a:pt x="4273296" y="1223771"/>
                    </a:lnTo>
                    <a:lnTo>
                      <a:pt x="4273296" y="1207008"/>
                    </a:lnTo>
                    <a:lnTo>
                      <a:pt x="4290059" y="1207008"/>
                    </a:lnTo>
                    <a:lnTo>
                      <a:pt x="4290059" y="1223771"/>
                    </a:lnTo>
                    <a:close/>
                  </a:path>
                  <a:path w="4747259" h="1224279">
                    <a:moveTo>
                      <a:pt x="4323587" y="1223771"/>
                    </a:moveTo>
                    <a:lnTo>
                      <a:pt x="4306823" y="1223771"/>
                    </a:lnTo>
                    <a:lnTo>
                      <a:pt x="4306823" y="1207008"/>
                    </a:lnTo>
                    <a:lnTo>
                      <a:pt x="4323587" y="1207008"/>
                    </a:lnTo>
                    <a:lnTo>
                      <a:pt x="4323587" y="1223771"/>
                    </a:lnTo>
                    <a:close/>
                  </a:path>
                  <a:path w="4747259" h="1224279">
                    <a:moveTo>
                      <a:pt x="4357116" y="1223771"/>
                    </a:moveTo>
                    <a:lnTo>
                      <a:pt x="4340352" y="1223771"/>
                    </a:lnTo>
                    <a:lnTo>
                      <a:pt x="4340352" y="1207008"/>
                    </a:lnTo>
                    <a:lnTo>
                      <a:pt x="4357116" y="1207008"/>
                    </a:lnTo>
                    <a:lnTo>
                      <a:pt x="4357116" y="1223771"/>
                    </a:lnTo>
                    <a:close/>
                  </a:path>
                  <a:path w="4747259" h="1224279">
                    <a:moveTo>
                      <a:pt x="4389120" y="1223771"/>
                    </a:moveTo>
                    <a:lnTo>
                      <a:pt x="4373880" y="1223771"/>
                    </a:lnTo>
                    <a:lnTo>
                      <a:pt x="4373880" y="1207008"/>
                    </a:lnTo>
                    <a:lnTo>
                      <a:pt x="4389120" y="1207008"/>
                    </a:lnTo>
                    <a:lnTo>
                      <a:pt x="4389120" y="1223771"/>
                    </a:lnTo>
                    <a:close/>
                  </a:path>
                  <a:path w="4747259" h="1224279">
                    <a:moveTo>
                      <a:pt x="4422648" y="1223771"/>
                    </a:moveTo>
                    <a:lnTo>
                      <a:pt x="4405884" y="1223771"/>
                    </a:lnTo>
                    <a:lnTo>
                      <a:pt x="4405884" y="1207008"/>
                    </a:lnTo>
                    <a:lnTo>
                      <a:pt x="4422648" y="1207008"/>
                    </a:lnTo>
                    <a:lnTo>
                      <a:pt x="4422648" y="1223771"/>
                    </a:lnTo>
                    <a:close/>
                  </a:path>
                  <a:path w="4747259" h="1224279">
                    <a:moveTo>
                      <a:pt x="4456175" y="1223771"/>
                    </a:moveTo>
                    <a:lnTo>
                      <a:pt x="4439412" y="1223771"/>
                    </a:lnTo>
                    <a:lnTo>
                      <a:pt x="4439412" y="1207008"/>
                    </a:lnTo>
                    <a:lnTo>
                      <a:pt x="4456175" y="1207008"/>
                    </a:lnTo>
                    <a:lnTo>
                      <a:pt x="4456175" y="1223771"/>
                    </a:lnTo>
                    <a:close/>
                  </a:path>
                  <a:path w="4747259" h="1224279">
                    <a:moveTo>
                      <a:pt x="4489704" y="1223771"/>
                    </a:moveTo>
                    <a:lnTo>
                      <a:pt x="4472939" y="1223771"/>
                    </a:lnTo>
                    <a:lnTo>
                      <a:pt x="4472939" y="1207008"/>
                    </a:lnTo>
                    <a:lnTo>
                      <a:pt x="4489704" y="1207008"/>
                    </a:lnTo>
                    <a:lnTo>
                      <a:pt x="4489704" y="1223771"/>
                    </a:lnTo>
                    <a:close/>
                  </a:path>
                  <a:path w="4747259" h="1224279">
                    <a:moveTo>
                      <a:pt x="4523232" y="1223771"/>
                    </a:moveTo>
                    <a:lnTo>
                      <a:pt x="4506468" y="1223771"/>
                    </a:lnTo>
                    <a:lnTo>
                      <a:pt x="4506468" y="1207008"/>
                    </a:lnTo>
                    <a:lnTo>
                      <a:pt x="4523232" y="1207008"/>
                    </a:lnTo>
                    <a:lnTo>
                      <a:pt x="4523232" y="1223771"/>
                    </a:lnTo>
                    <a:close/>
                  </a:path>
                  <a:path w="4747259" h="1224279">
                    <a:moveTo>
                      <a:pt x="4556759" y="1223771"/>
                    </a:moveTo>
                    <a:lnTo>
                      <a:pt x="4539996" y="1223771"/>
                    </a:lnTo>
                    <a:lnTo>
                      <a:pt x="4539996" y="1207008"/>
                    </a:lnTo>
                    <a:lnTo>
                      <a:pt x="4556759" y="1207008"/>
                    </a:lnTo>
                    <a:lnTo>
                      <a:pt x="4556759" y="1223771"/>
                    </a:lnTo>
                    <a:close/>
                  </a:path>
                  <a:path w="4747259" h="1224279">
                    <a:moveTo>
                      <a:pt x="4590287" y="1223771"/>
                    </a:moveTo>
                    <a:lnTo>
                      <a:pt x="4573523" y="1223771"/>
                    </a:lnTo>
                    <a:lnTo>
                      <a:pt x="4573523" y="1207008"/>
                    </a:lnTo>
                    <a:lnTo>
                      <a:pt x="4590287" y="1207008"/>
                    </a:lnTo>
                    <a:lnTo>
                      <a:pt x="4590287" y="1223771"/>
                    </a:lnTo>
                    <a:close/>
                  </a:path>
                  <a:path w="4747259" h="1224279">
                    <a:moveTo>
                      <a:pt x="4623816" y="1223771"/>
                    </a:moveTo>
                    <a:lnTo>
                      <a:pt x="4607052" y="1223771"/>
                    </a:lnTo>
                    <a:lnTo>
                      <a:pt x="4607052" y="1207008"/>
                    </a:lnTo>
                    <a:lnTo>
                      <a:pt x="4623816" y="1207008"/>
                    </a:lnTo>
                    <a:lnTo>
                      <a:pt x="4623816" y="1223771"/>
                    </a:lnTo>
                    <a:close/>
                  </a:path>
                  <a:path w="4747259" h="1224279">
                    <a:moveTo>
                      <a:pt x="4657343" y="1223771"/>
                    </a:moveTo>
                    <a:lnTo>
                      <a:pt x="4640580" y="1223771"/>
                    </a:lnTo>
                    <a:lnTo>
                      <a:pt x="4640580" y="1207008"/>
                    </a:lnTo>
                    <a:lnTo>
                      <a:pt x="4657343" y="1207008"/>
                    </a:lnTo>
                    <a:lnTo>
                      <a:pt x="4657343" y="1223771"/>
                    </a:lnTo>
                    <a:close/>
                  </a:path>
                  <a:path w="4747259" h="1224279">
                    <a:moveTo>
                      <a:pt x="4707636" y="1207008"/>
                    </a:moveTo>
                    <a:lnTo>
                      <a:pt x="4690871" y="1207008"/>
                    </a:lnTo>
                    <a:lnTo>
                      <a:pt x="4690871" y="1190243"/>
                    </a:lnTo>
                    <a:lnTo>
                      <a:pt x="4707636" y="1190243"/>
                    </a:lnTo>
                    <a:lnTo>
                      <a:pt x="4707636" y="1207008"/>
                    </a:lnTo>
                    <a:close/>
                  </a:path>
                  <a:path w="4747259" h="1224279">
                    <a:moveTo>
                      <a:pt x="4690871" y="1223771"/>
                    </a:moveTo>
                    <a:lnTo>
                      <a:pt x="4674107" y="1223771"/>
                    </a:lnTo>
                    <a:lnTo>
                      <a:pt x="4674107" y="1207008"/>
                    </a:lnTo>
                    <a:lnTo>
                      <a:pt x="4690871" y="1207008"/>
                    </a:lnTo>
                    <a:lnTo>
                      <a:pt x="4690871" y="1223771"/>
                    </a:lnTo>
                    <a:close/>
                  </a:path>
                  <a:path w="4747259" h="1224279">
                    <a:moveTo>
                      <a:pt x="4660391" y="1182624"/>
                    </a:moveTo>
                    <a:lnTo>
                      <a:pt x="4655820" y="1181100"/>
                    </a:lnTo>
                    <a:lnTo>
                      <a:pt x="4652771" y="1178051"/>
                    </a:lnTo>
                    <a:lnTo>
                      <a:pt x="4651248" y="1173479"/>
                    </a:lnTo>
                    <a:lnTo>
                      <a:pt x="4652771" y="1168908"/>
                    </a:lnTo>
                    <a:lnTo>
                      <a:pt x="4700016" y="1089659"/>
                    </a:lnTo>
                    <a:lnTo>
                      <a:pt x="4712325" y="1110995"/>
                    </a:lnTo>
                    <a:lnTo>
                      <a:pt x="4692396" y="1110995"/>
                    </a:lnTo>
                    <a:lnTo>
                      <a:pt x="4699254" y="1123065"/>
                    </a:lnTo>
                    <a:lnTo>
                      <a:pt x="4690871" y="1123187"/>
                    </a:lnTo>
                    <a:lnTo>
                      <a:pt x="4690871" y="1137818"/>
                    </a:lnTo>
                    <a:lnTo>
                      <a:pt x="4668012" y="1178051"/>
                    </a:lnTo>
                    <a:lnTo>
                      <a:pt x="4664964" y="1181100"/>
                    </a:lnTo>
                    <a:lnTo>
                      <a:pt x="4660391" y="1182624"/>
                    </a:lnTo>
                    <a:close/>
                  </a:path>
                  <a:path w="4747259" h="1224279">
                    <a:moveTo>
                      <a:pt x="4699254" y="1123065"/>
                    </a:moveTo>
                    <a:lnTo>
                      <a:pt x="4692396" y="1110995"/>
                    </a:lnTo>
                    <a:lnTo>
                      <a:pt x="4706112" y="1110995"/>
                    </a:lnTo>
                    <a:lnTo>
                      <a:pt x="4699254" y="1123065"/>
                    </a:lnTo>
                    <a:close/>
                  </a:path>
                  <a:path w="4747259" h="1224279">
                    <a:moveTo>
                      <a:pt x="4738116" y="1182624"/>
                    </a:moveTo>
                    <a:lnTo>
                      <a:pt x="4733543" y="1181100"/>
                    </a:lnTo>
                    <a:lnTo>
                      <a:pt x="4730496" y="1178051"/>
                    </a:lnTo>
                    <a:lnTo>
                      <a:pt x="4707636" y="1137818"/>
                    </a:lnTo>
                    <a:lnTo>
                      <a:pt x="4707636" y="1123187"/>
                    </a:lnTo>
                    <a:lnTo>
                      <a:pt x="4699323" y="1123187"/>
                    </a:lnTo>
                    <a:lnTo>
                      <a:pt x="4706112" y="1110995"/>
                    </a:lnTo>
                    <a:lnTo>
                      <a:pt x="4712325" y="1110995"/>
                    </a:lnTo>
                    <a:lnTo>
                      <a:pt x="4719359" y="1123187"/>
                    </a:lnTo>
                    <a:lnTo>
                      <a:pt x="4707636" y="1123187"/>
                    </a:lnTo>
                    <a:lnTo>
                      <a:pt x="4707636" y="1137817"/>
                    </a:lnTo>
                    <a:lnTo>
                      <a:pt x="4727800" y="1137818"/>
                    </a:lnTo>
                    <a:lnTo>
                      <a:pt x="4745736" y="1168908"/>
                    </a:lnTo>
                    <a:lnTo>
                      <a:pt x="4747259" y="1173479"/>
                    </a:lnTo>
                    <a:lnTo>
                      <a:pt x="4747259" y="1178051"/>
                    </a:lnTo>
                    <a:lnTo>
                      <a:pt x="4742687" y="1181100"/>
                    </a:lnTo>
                    <a:lnTo>
                      <a:pt x="4738116" y="1182624"/>
                    </a:lnTo>
                    <a:close/>
                  </a:path>
                  <a:path w="4747259" h="1224279">
                    <a:moveTo>
                      <a:pt x="4690871" y="1137818"/>
                    </a:moveTo>
                    <a:lnTo>
                      <a:pt x="4690871" y="1123187"/>
                    </a:lnTo>
                    <a:lnTo>
                      <a:pt x="4699185" y="1123187"/>
                    </a:lnTo>
                    <a:lnTo>
                      <a:pt x="4690871" y="1137818"/>
                    </a:lnTo>
                    <a:close/>
                  </a:path>
                  <a:path w="4747259" h="1224279">
                    <a:moveTo>
                      <a:pt x="4707636" y="1139951"/>
                    </a:moveTo>
                    <a:lnTo>
                      <a:pt x="4690871" y="1139951"/>
                    </a:lnTo>
                    <a:lnTo>
                      <a:pt x="4690872" y="1137817"/>
                    </a:lnTo>
                    <a:lnTo>
                      <a:pt x="4699185" y="1123187"/>
                    </a:lnTo>
                    <a:lnTo>
                      <a:pt x="4699323" y="1123187"/>
                    </a:lnTo>
                    <a:lnTo>
                      <a:pt x="4707636" y="1137817"/>
                    </a:lnTo>
                    <a:lnTo>
                      <a:pt x="4707636" y="1139951"/>
                    </a:lnTo>
                    <a:close/>
                  </a:path>
                  <a:path w="4747259" h="1224279">
                    <a:moveTo>
                      <a:pt x="4707636" y="1173479"/>
                    </a:moveTo>
                    <a:lnTo>
                      <a:pt x="4690871" y="1173479"/>
                    </a:lnTo>
                    <a:lnTo>
                      <a:pt x="4690871" y="1156716"/>
                    </a:lnTo>
                    <a:lnTo>
                      <a:pt x="4707636" y="1156716"/>
                    </a:lnTo>
                    <a:lnTo>
                      <a:pt x="4707636" y="1173479"/>
                    </a:lnTo>
                    <a:close/>
                  </a:path>
                </a:pathLst>
              </a:custGeom>
              <a:solidFill>
                <a:srgbClr val="0C1C2B"/>
              </a:solidFill>
            </p:spPr>
            <p:txBody>
              <a:bodyPr wrap="square" lIns="0" tIns="0" rIns="0" bIns="0" rtlCol="0"/>
              <a:lstStyle/>
              <a:p>
                <a:endParaRPr sz="1630"/>
              </a:p>
            </p:txBody>
          </p:sp>
          <p:sp>
            <p:nvSpPr>
              <p:cNvPr id="175" name="object 175"/>
              <p:cNvSpPr/>
              <p:nvPr/>
            </p:nvSpPr>
            <p:spPr>
              <a:xfrm>
                <a:off x="3028188" y="4664964"/>
                <a:ext cx="181610" cy="344805"/>
              </a:xfrm>
              <a:custGeom>
                <a:avLst/>
                <a:gdLst/>
                <a:ahLst/>
                <a:cxnLst/>
                <a:rect l="l" t="t" r="r" b="b"/>
                <a:pathLst>
                  <a:path w="181610" h="344804">
                    <a:moveTo>
                      <a:pt x="89915" y="344423"/>
                    </a:moveTo>
                    <a:lnTo>
                      <a:pt x="0" y="211835"/>
                    </a:lnTo>
                    <a:lnTo>
                      <a:pt x="45719" y="211835"/>
                    </a:lnTo>
                    <a:lnTo>
                      <a:pt x="45719" y="0"/>
                    </a:lnTo>
                    <a:lnTo>
                      <a:pt x="135635" y="0"/>
                    </a:lnTo>
                    <a:lnTo>
                      <a:pt x="135635" y="211835"/>
                    </a:lnTo>
                    <a:lnTo>
                      <a:pt x="181355" y="211835"/>
                    </a:lnTo>
                    <a:lnTo>
                      <a:pt x="89915" y="344423"/>
                    </a:lnTo>
                    <a:close/>
                  </a:path>
                </a:pathLst>
              </a:custGeom>
              <a:solidFill>
                <a:srgbClr val="501D83"/>
              </a:solidFill>
            </p:spPr>
            <p:txBody>
              <a:bodyPr wrap="square" lIns="0" tIns="0" rIns="0" bIns="0" rtlCol="0"/>
              <a:lstStyle/>
              <a:p>
                <a:endParaRPr sz="1630"/>
              </a:p>
            </p:txBody>
          </p:sp>
          <p:sp>
            <p:nvSpPr>
              <p:cNvPr id="176" name="object 176"/>
              <p:cNvSpPr/>
              <p:nvPr/>
            </p:nvSpPr>
            <p:spPr>
              <a:xfrm>
                <a:off x="3028188" y="4664964"/>
                <a:ext cx="181610" cy="344805"/>
              </a:xfrm>
              <a:custGeom>
                <a:avLst/>
                <a:gdLst/>
                <a:ahLst/>
                <a:cxnLst/>
                <a:rect l="l" t="t" r="r" b="b"/>
                <a:pathLst>
                  <a:path w="181610" h="344804">
                    <a:moveTo>
                      <a:pt x="135635" y="0"/>
                    </a:moveTo>
                    <a:lnTo>
                      <a:pt x="135635" y="211835"/>
                    </a:lnTo>
                    <a:lnTo>
                      <a:pt x="181355" y="211835"/>
                    </a:lnTo>
                    <a:lnTo>
                      <a:pt x="89915" y="344423"/>
                    </a:lnTo>
                    <a:lnTo>
                      <a:pt x="0" y="211835"/>
                    </a:lnTo>
                    <a:lnTo>
                      <a:pt x="45719" y="211835"/>
                    </a:lnTo>
                    <a:lnTo>
                      <a:pt x="45719" y="0"/>
                    </a:lnTo>
                    <a:lnTo>
                      <a:pt x="135635" y="0"/>
                    </a:lnTo>
                    <a:close/>
                  </a:path>
                </a:pathLst>
              </a:custGeom>
              <a:ln w="10668">
                <a:solidFill>
                  <a:srgbClr val="38135E"/>
                </a:solidFill>
              </a:ln>
            </p:spPr>
            <p:txBody>
              <a:bodyPr wrap="square" lIns="0" tIns="0" rIns="0" bIns="0" rtlCol="0"/>
              <a:lstStyle/>
              <a:p>
                <a:endParaRPr sz="1630"/>
              </a:p>
            </p:txBody>
          </p:sp>
        </p:grpSp>
      </p:grpSp>
      <p:sp>
        <p:nvSpPr>
          <p:cNvPr id="177" name="object 177"/>
          <p:cNvSpPr txBox="1"/>
          <p:nvPr/>
        </p:nvSpPr>
        <p:spPr>
          <a:xfrm>
            <a:off x="802640" y="5078095"/>
            <a:ext cx="4698365" cy="753110"/>
          </a:xfrm>
          <a:prstGeom prst="rect">
            <a:avLst/>
          </a:prstGeom>
        </p:spPr>
        <p:txBody>
          <a:bodyPr vert="horz" wrap="square" lIns="0" tIns="14971" rIns="0" bIns="0" rtlCol="0">
            <a:spAutoFit/>
          </a:bodyPr>
          <a:lstStyle/>
          <a:p>
            <a:pPr>
              <a:lnSpc>
                <a:spcPct val="120000"/>
              </a:lnSpc>
              <a:spcBef>
                <a:spcPts val="130"/>
              </a:spcBef>
            </a:pPr>
            <a:r>
              <a:rPr lang="zh-CN" altLang="en-US" sz="2000" b="1">
                <a:latin typeface="Arial" panose="020B0604020202020204"/>
                <a:cs typeface="Arial" panose="020B0604020202020204"/>
              </a:rPr>
              <a:t>特征提取模块：</a:t>
            </a:r>
            <a:r>
              <a:rPr lang="zh-CN" altLang="en-US" sz="2000">
                <a:latin typeface="Arial" panose="020B0604020202020204"/>
                <a:cs typeface="Arial" panose="020B0604020202020204"/>
              </a:rPr>
              <a:t>将原始加密网络流量转换为特征向量</a:t>
            </a:r>
            <a:endParaRPr lang="zh-CN" altLang="en-US" sz="2000">
              <a:latin typeface="Arial" panose="020B0604020202020204"/>
              <a:cs typeface="Arial" panose="020B0604020202020204"/>
            </a:endParaRPr>
          </a:p>
        </p:txBody>
      </p:sp>
      <p:sp>
        <p:nvSpPr>
          <p:cNvPr id="178" name="object 178"/>
          <p:cNvSpPr txBox="1">
            <a:spLocks noGrp="1"/>
          </p:cNvSpPr>
          <p:nvPr>
            <p:ph type="title"/>
          </p:nvPr>
        </p:nvSpPr>
        <p:spPr>
          <a:xfrm>
            <a:off x="649084" y="568101"/>
            <a:ext cx="3448001"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框架概述</a:t>
            </a:r>
            <a:endParaRPr sz="3200" b="1" spc="-10" dirty="0">
              <a:solidFill>
                <a:srgbClr val="23366E"/>
              </a:solidFill>
              <a:latin typeface="Times New Roman" panose="02020603050405020304"/>
              <a:ea typeface="+mn-ea"/>
              <a:cs typeface="Times New Roman" panose="02020603050405020304"/>
            </a:endParaRPr>
          </a:p>
        </p:txBody>
      </p:sp>
      <p:sp>
        <p:nvSpPr>
          <p:cNvPr id="181" name="文本框 180"/>
          <p:cNvSpPr txBox="1"/>
          <p:nvPr/>
        </p:nvSpPr>
        <p:spPr>
          <a:xfrm>
            <a:off x="2918460" y="979170"/>
            <a:ext cx="7536815" cy="398780"/>
          </a:xfrm>
          <a:prstGeom prst="rect">
            <a:avLst/>
          </a:prstGeom>
          <a:noFill/>
        </p:spPr>
        <p:txBody>
          <a:bodyPr wrap="square" rtlCol="0" anchor="t">
            <a:spAutoFit/>
          </a:bodyPr>
          <a:p>
            <a:r>
              <a:rPr lang="zh-CN" altLang="en-US" sz="2000" b="1"/>
              <a:t>标签校正模块：</a:t>
            </a:r>
            <a:r>
              <a:rPr lang="zh-CN" altLang="en-US" sz="2000"/>
              <a:t>估计训练数据的分布，以检测和校正标签噪声</a:t>
            </a:r>
            <a:endParaRPr lang="zh-CN" altLang="en-US" sz="2000"/>
          </a:p>
        </p:txBody>
      </p:sp>
      <p:sp>
        <p:nvSpPr>
          <p:cNvPr id="182" name="object 176"/>
          <p:cNvSpPr/>
          <p:nvPr/>
        </p:nvSpPr>
        <p:spPr>
          <a:xfrm>
            <a:off x="3149246" y="4480199"/>
            <a:ext cx="203360" cy="386124"/>
          </a:xfrm>
          <a:custGeom>
            <a:avLst/>
            <a:gdLst/>
            <a:ahLst/>
            <a:cxnLst/>
            <a:rect l="l" t="t" r="r" b="b"/>
            <a:pathLst>
              <a:path w="181610" h="344804">
                <a:moveTo>
                  <a:pt x="135635" y="0"/>
                </a:moveTo>
                <a:lnTo>
                  <a:pt x="135635" y="211835"/>
                </a:lnTo>
                <a:lnTo>
                  <a:pt x="181355" y="211835"/>
                </a:lnTo>
                <a:lnTo>
                  <a:pt x="89915" y="344423"/>
                </a:lnTo>
                <a:lnTo>
                  <a:pt x="0" y="211835"/>
                </a:lnTo>
                <a:lnTo>
                  <a:pt x="45719" y="211835"/>
                </a:lnTo>
                <a:lnTo>
                  <a:pt x="45719" y="0"/>
                </a:lnTo>
                <a:lnTo>
                  <a:pt x="135635" y="0"/>
                </a:lnTo>
                <a:close/>
              </a:path>
            </a:pathLst>
          </a:custGeom>
          <a:ln w="10668">
            <a:solidFill>
              <a:srgbClr val="38135E"/>
            </a:solidFill>
          </a:ln>
        </p:spPr>
        <p:txBody>
          <a:bodyPr wrap="square" lIns="0" tIns="0" rIns="0" bIns="0" rtlCol="0"/>
          <a:lstStyle/>
          <a:p>
            <a:endParaRPr sz="1630"/>
          </a:p>
        </p:txBody>
      </p:sp>
      <p:grpSp>
        <p:nvGrpSpPr>
          <p:cNvPr id="185" name="组合 184"/>
          <p:cNvGrpSpPr/>
          <p:nvPr/>
        </p:nvGrpSpPr>
        <p:grpSpPr>
          <a:xfrm flipV="1">
            <a:off x="5400040" y="1425575"/>
            <a:ext cx="198120" cy="441960"/>
            <a:chOff x="9081" y="8800"/>
            <a:chExt cx="312" cy="464"/>
          </a:xfrm>
        </p:grpSpPr>
        <p:sp>
          <p:nvSpPr>
            <p:cNvPr id="183" name="object 175"/>
            <p:cNvSpPr/>
            <p:nvPr/>
          </p:nvSpPr>
          <p:spPr>
            <a:xfrm>
              <a:off x="9081" y="8800"/>
              <a:ext cx="312" cy="464"/>
            </a:xfrm>
            <a:custGeom>
              <a:avLst/>
              <a:gdLst/>
              <a:ahLst/>
              <a:cxnLst/>
              <a:rect l="l" t="t" r="r" b="b"/>
              <a:pathLst>
                <a:path w="218439" h="325120">
                  <a:moveTo>
                    <a:pt x="108203" y="324611"/>
                  </a:moveTo>
                  <a:lnTo>
                    <a:pt x="0" y="163068"/>
                  </a:lnTo>
                  <a:lnTo>
                    <a:pt x="54864" y="163068"/>
                  </a:lnTo>
                  <a:lnTo>
                    <a:pt x="54864" y="0"/>
                  </a:lnTo>
                  <a:lnTo>
                    <a:pt x="163067" y="0"/>
                  </a:lnTo>
                  <a:lnTo>
                    <a:pt x="163067" y="163068"/>
                  </a:lnTo>
                  <a:lnTo>
                    <a:pt x="217932" y="163068"/>
                  </a:lnTo>
                  <a:lnTo>
                    <a:pt x="108203" y="324611"/>
                  </a:lnTo>
                  <a:close/>
                </a:path>
              </a:pathLst>
            </a:custGeom>
            <a:solidFill>
              <a:srgbClr val="501D83"/>
            </a:solidFill>
          </p:spPr>
          <p:txBody>
            <a:bodyPr wrap="square" lIns="0" tIns="0" rIns="0" bIns="0" rtlCol="0"/>
            <a:lstStyle/>
            <a:p>
              <a:endParaRPr sz="1630"/>
            </a:p>
          </p:txBody>
        </p:sp>
        <p:sp>
          <p:nvSpPr>
            <p:cNvPr id="184" name="object 176"/>
            <p:cNvSpPr/>
            <p:nvPr/>
          </p:nvSpPr>
          <p:spPr>
            <a:xfrm>
              <a:off x="9081" y="8800"/>
              <a:ext cx="312" cy="464"/>
            </a:xfrm>
            <a:custGeom>
              <a:avLst/>
              <a:gdLst/>
              <a:ahLst/>
              <a:cxnLst/>
              <a:rect l="l" t="t" r="r" b="b"/>
              <a:pathLst>
                <a:path w="218439" h="325120">
                  <a:moveTo>
                    <a:pt x="163067" y="0"/>
                  </a:moveTo>
                  <a:lnTo>
                    <a:pt x="163067" y="163068"/>
                  </a:lnTo>
                  <a:lnTo>
                    <a:pt x="217932" y="163068"/>
                  </a:lnTo>
                  <a:lnTo>
                    <a:pt x="108203" y="324611"/>
                  </a:lnTo>
                  <a:lnTo>
                    <a:pt x="0" y="163068"/>
                  </a:lnTo>
                  <a:lnTo>
                    <a:pt x="54864" y="163068"/>
                  </a:lnTo>
                  <a:lnTo>
                    <a:pt x="54864" y="0"/>
                  </a:lnTo>
                  <a:lnTo>
                    <a:pt x="163067" y="0"/>
                  </a:lnTo>
                  <a:close/>
                </a:path>
              </a:pathLst>
            </a:custGeom>
            <a:ln w="10668">
              <a:solidFill>
                <a:srgbClr val="38135E"/>
              </a:solidFill>
            </a:ln>
          </p:spPr>
          <p:txBody>
            <a:bodyPr wrap="square" lIns="0" tIns="0" rIns="0" bIns="0" rtlCol="0"/>
            <a:lstStyle/>
            <a:p>
              <a:endParaRPr sz="1630"/>
            </a:p>
          </p:txBody>
        </p:sp>
      </p:grpSp>
      <p:sp>
        <p:nvSpPr>
          <p:cNvPr id="186" name="文本框 185"/>
          <p:cNvSpPr txBox="1"/>
          <p:nvPr/>
        </p:nvSpPr>
        <p:spPr>
          <a:xfrm>
            <a:off x="5752465" y="5078095"/>
            <a:ext cx="5074920" cy="829945"/>
          </a:xfrm>
          <a:prstGeom prst="rect">
            <a:avLst/>
          </a:prstGeom>
          <a:noFill/>
        </p:spPr>
        <p:txBody>
          <a:bodyPr wrap="square" rtlCol="0" anchor="t">
            <a:spAutoFit/>
          </a:bodyPr>
          <a:p>
            <a:pPr>
              <a:lnSpc>
                <a:spcPct val="120000"/>
              </a:lnSpc>
            </a:pPr>
            <a:r>
              <a:rPr lang="zh-CN" altLang="en-US" sz="2000" b="1"/>
              <a:t>数据增强模块：</a:t>
            </a:r>
            <a:r>
              <a:rPr lang="zh-CN" altLang="en-US" sz="2000"/>
              <a:t>生成能够代表新的加密恶意流量的新训练数据</a:t>
            </a:r>
            <a:endParaRPr lang="zh-CN" altLang="en-US" sz="2000"/>
          </a:p>
        </p:txBody>
      </p:sp>
      <p:grpSp>
        <p:nvGrpSpPr>
          <p:cNvPr id="191" name="组合 190"/>
          <p:cNvGrpSpPr/>
          <p:nvPr/>
        </p:nvGrpSpPr>
        <p:grpSpPr>
          <a:xfrm rot="10800000" flipV="1">
            <a:off x="7333615" y="4575175"/>
            <a:ext cx="198120" cy="441960"/>
            <a:chOff x="9081" y="8800"/>
            <a:chExt cx="312" cy="464"/>
          </a:xfrm>
        </p:grpSpPr>
        <p:sp>
          <p:nvSpPr>
            <p:cNvPr id="192" name="object 175"/>
            <p:cNvSpPr/>
            <p:nvPr/>
          </p:nvSpPr>
          <p:spPr>
            <a:xfrm>
              <a:off x="9081" y="8800"/>
              <a:ext cx="312" cy="464"/>
            </a:xfrm>
            <a:custGeom>
              <a:avLst/>
              <a:gdLst/>
              <a:ahLst/>
              <a:cxnLst/>
              <a:rect l="l" t="t" r="r" b="b"/>
              <a:pathLst>
                <a:path w="218439" h="325120">
                  <a:moveTo>
                    <a:pt x="108203" y="324611"/>
                  </a:moveTo>
                  <a:lnTo>
                    <a:pt x="0" y="163068"/>
                  </a:lnTo>
                  <a:lnTo>
                    <a:pt x="54864" y="163068"/>
                  </a:lnTo>
                  <a:lnTo>
                    <a:pt x="54864" y="0"/>
                  </a:lnTo>
                  <a:lnTo>
                    <a:pt x="163067" y="0"/>
                  </a:lnTo>
                  <a:lnTo>
                    <a:pt x="163067" y="163068"/>
                  </a:lnTo>
                  <a:lnTo>
                    <a:pt x="217932" y="163068"/>
                  </a:lnTo>
                  <a:lnTo>
                    <a:pt x="108203" y="324611"/>
                  </a:lnTo>
                  <a:close/>
                </a:path>
              </a:pathLst>
            </a:custGeom>
            <a:solidFill>
              <a:srgbClr val="501D83"/>
            </a:solidFill>
          </p:spPr>
          <p:txBody>
            <a:bodyPr wrap="square" lIns="0" tIns="0" rIns="0" bIns="0" rtlCol="0"/>
            <a:lstStyle/>
            <a:p>
              <a:endParaRPr sz="1630"/>
            </a:p>
          </p:txBody>
        </p:sp>
        <p:sp>
          <p:nvSpPr>
            <p:cNvPr id="193" name="object 176"/>
            <p:cNvSpPr/>
            <p:nvPr/>
          </p:nvSpPr>
          <p:spPr>
            <a:xfrm>
              <a:off x="9081" y="8800"/>
              <a:ext cx="312" cy="464"/>
            </a:xfrm>
            <a:custGeom>
              <a:avLst/>
              <a:gdLst/>
              <a:ahLst/>
              <a:cxnLst/>
              <a:rect l="l" t="t" r="r" b="b"/>
              <a:pathLst>
                <a:path w="218439" h="325120">
                  <a:moveTo>
                    <a:pt x="163067" y="0"/>
                  </a:moveTo>
                  <a:lnTo>
                    <a:pt x="163067" y="163068"/>
                  </a:lnTo>
                  <a:lnTo>
                    <a:pt x="217932" y="163068"/>
                  </a:lnTo>
                  <a:lnTo>
                    <a:pt x="108203" y="324611"/>
                  </a:lnTo>
                  <a:lnTo>
                    <a:pt x="0" y="163068"/>
                  </a:lnTo>
                  <a:lnTo>
                    <a:pt x="54864" y="163068"/>
                  </a:lnTo>
                  <a:lnTo>
                    <a:pt x="54864" y="0"/>
                  </a:lnTo>
                  <a:lnTo>
                    <a:pt x="163067" y="0"/>
                  </a:lnTo>
                  <a:close/>
                </a:path>
              </a:pathLst>
            </a:custGeom>
            <a:ln w="10668">
              <a:solidFill>
                <a:srgbClr val="38135E"/>
              </a:solidFill>
            </a:ln>
          </p:spPr>
          <p:txBody>
            <a:bodyPr wrap="square" lIns="0" tIns="0" rIns="0" bIns="0" rtlCol="0"/>
            <a:lstStyle/>
            <a:p>
              <a:endParaRPr sz="163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特征提取模块</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2699385" y="1908175"/>
            <a:ext cx="8642985" cy="766445"/>
          </a:xfrm>
          <a:prstGeom prst="rect">
            <a:avLst/>
          </a:prstGeom>
        </p:spPr>
        <p:txBody>
          <a:bodyPr vert="horz" wrap="square" lIns="0" tIns="9788" rIns="0" bIns="0" rtlCol="0">
            <a:noAutofit/>
          </a:bodyPr>
          <a:lstStyle/>
          <a:p>
            <a:pPr marL="12700" marR="5080" algn="just">
              <a:lnSpc>
                <a:spcPct val="122000"/>
              </a:lnSpc>
              <a:spcBef>
                <a:spcPts val="85"/>
              </a:spcBef>
            </a:pPr>
            <a:r>
              <a:rPr lang="zh-CN" altLang="en-US" sz="2000">
                <a:latin typeface="Arial" panose="020B0604020202020204"/>
                <a:cs typeface="Arial" panose="020B0604020202020204"/>
              </a:rPr>
              <a:t>需要处理由各种类型和版本的加密协议加密的流量，且不可忽略的标签噪声会导致特征选择不准确。</a:t>
            </a:r>
            <a:endParaRPr lang="zh-CN" altLang="en-US" sz="2000">
              <a:latin typeface="Arial" panose="020B0604020202020204"/>
              <a:cs typeface="Arial" panose="020B0604020202020204"/>
            </a:endParaRPr>
          </a:p>
        </p:txBody>
      </p:sp>
      <p:sp>
        <p:nvSpPr>
          <p:cNvPr id="4" name="object 4"/>
          <p:cNvSpPr txBox="1"/>
          <p:nvPr/>
        </p:nvSpPr>
        <p:spPr>
          <a:xfrm>
            <a:off x="4016375" y="4291330"/>
            <a:ext cx="7325995" cy="1684020"/>
          </a:xfrm>
          <a:prstGeom prst="rect">
            <a:avLst/>
          </a:prstGeom>
        </p:spPr>
        <p:txBody>
          <a:bodyPr vert="horz" wrap="square" lIns="0" tIns="67370" rIns="0" bIns="0" rtlCol="0">
            <a:noAutofit/>
          </a:bodyPr>
          <a:lstStyle/>
          <a:p>
            <a:pPr marL="213360" indent="-201295">
              <a:lnSpc>
                <a:spcPct val="120000"/>
              </a:lnSpc>
              <a:spcBef>
                <a:spcPts val="585"/>
              </a:spcBef>
              <a:buChar char="•"/>
              <a:tabLst>
                <a:tab pos="213360" algn="l"/>
                <a:tab pos="213995" algn="l"/>
              </a:tabLst>
            </a:pPr>
            <a:r>
              <a:rPr lang="zh-CN" altLang="en-US" sz="2000">
                <a:latin typeface="Arial" panose="020B0604020202020204"/>
                <a:cs typeface="Arial" panose="020B0604020202020204"/>
              </a:rPr>
              <a:t>根据五元组信息</a:t>
            </a:r>
            <a:r>
              <a:rPr lang="en-US" altLang="zh-CN" sz="2000">
                <a:latin typeface="Arial" panose="020B0604020202020204"/>
                <a:cs typeface="Arial" panose="020B0604020202020204"/>
              </a:rPr>
              <a:t>(</a:t>
            </a:r>
            <a:r>
              <a:rPr lang="zh-CN" altLang="en-US" sz="2000">
                <a:latin typeface="Arial" panose="020B0604020202020204"/>
                <a:cs typeface="Arial" panose="020B0604020202020204"/>
              </a:rPr>
              <a:t>源和目的</a:t>
            </a:r>
            <a:r>
              <a:rPr lang="en-US" altLang="zh-CN" sz="2000">
                <a:latin typeface="Arial" panose="020B0604020202020204"/>
                <a:cs typeface="Arial" panose="020B0604020202020204"/>
              </a:rPr>
              <a:t>IP</a:t>
            </a:r>
            <a:r>
              <a:rPr lang="zh-CN" altLang="en-US" sz="2000">
                <a:latin typeface="Arial" panose="020B0604020202020204"/>
                <a:cs typeface="Arial" panose="020B0604020202020204"/>
              </a:rPr>
              <a:t>地址、源和目的端口以及传输层协议</a:t>
            </a:r>
            <a:r>
              <a:rPr lang="en-US" altLang="zh-CN" sz="2000">
                <a:latin typeface="Arial" panose="020B0604020202020204"/>
                <a:cs typeface="Arial" panose="020B0604020202020204"/>
              </a:rPr>
              <a:t>)</a:t>
            </a:r>
            <a:r>
              <a:rPr lang="zh-CN" altLang="en-US" sz="2000">
                <a:latin typeface="Arial" panose="020B0604020202020204"/>
                <a:cs typeface="Arial" panose="020B0604020202020204"/>
              </a:rPr>
              <a:t>将原始加密流量划分为网络流，</a:t>
            </a:r>
            <a:r>
              <a:rPr lang="zh-CN" altLang="en-US" sz="2000">
                <a:latin typeface="Arial" panose="020B0604020202020204"/>
                <a:cs typeface="Arial" panose="020B0604020202020204"/>
              </a:rPr>
              <a:t>使用数据包长度序列（流量序列）作为输入数据。</a:t>
            </a:r>
            <a:endParaRPr lang="en-US" altLang="zh-CN" sz="2000">
              <a:latin typeface="Arial" panose="020B0604020202020204"/>
              <a:cs typeface="Arial" panose="020B0604020202020204"/>
            </a:endParaRPr>
          </a:p>
          <a:p>
            <a:pPr marL="213360" indent="-201295">
              <a:lnSpc>
                <a:spcPct val="120000"/>
              </a:lnSpc>
              <a:spcBef>
                <a:spcPts val="585"/>
              </a:spcBef>
              <a:buChar char="•"/>
              <a:tabLst>
                <a:tab pos="213360" algn="l"/>
                <a:tab pos="213995" algn="l"/>
              </a:tabLst>
            </a:pPr>
            <a:r>
              <a:rPr lang="zh-CN" altLang="en-US" sz="2000">
                <a:latin typeface="Arial" panose="020B0604020202020204"/>
                <a:cs typeface="Arial" panose="020B0604020202020204"/>
              </a:rPr>
              <a:t>使用门控循环单元</a:t>
            </a:r>
            <a:r>
              <a:rPr lang="en-US" altLang="zh-CN" sz="2000">
                <a:latin typeface="Arial" panose="020B0604020202020204"/>
                <a:cs typeface="Arial" panose="020B0604020202020204"/>
              </a:rPr>
              <a:t> (GRU) </a:t>
            </a:r>
            <a:r>
              <a:rPr lang="zh-CN" altLang="en-US" sz="2000">
                <a:latin typeface="Arial" panose="020B0604020202020204"/>
                <a:cs typeface="Arial" panose="020B0604020202020204"/>
              </a:rPr>
              <a:t>从数据包长度序列中学习流量的序列特征。</a:t>
            </a:r>
            <a:endParaRPr lang="zh-CN" altLang="en-US" sz="2000">
              <a:latin typeface="Arial" panose="020B0604020202020204"/>
              <a:cs typeface="Arial" panose="020B0604020202020204"/>
            </a:endParaRPr>
          </a:p>
        </p:txBody>
      </p:sp>
      <p:grpSp>
        <p:nvGrpSpPr>
          <p:cNvPr id="24" name="组合 23"/>
          <p:cNvGrpSpPr/>
          <p:nvPr/>
        </p:nvGrpSpPr>
        <p:grpSpPr>
          <a:xfrm>
            <a:off x="1058718" y="2845397"/>
            <a:ext cx="2575205" cy="2988890"/>
            <a:chOff x="2674" y="4159"/>
            <a:chExt cx="3219" cy="3844"/>
          </a:xfrm>
        </p:grpSpPr>
        <p:grpSp>
          <p:nvGrpSpPr>
            <p:cNvPr id="5" name="object 5"/>
            <p:cNvGrpSpPr/>
            <p:nvPr/>
          </p:nvGrpSpPr>
          <p:grpSpPr>
            <a:xfrm>
              <a:off x="2674" y="4159"/>
              <a:ext cx="3219" cy="3844"/>
              <a:chOff x="496823" y="2912363"/>
              <a:chExt cx="2254250" cy="2691765"/>
            </a:xfrm>
          </p:grpSpPr>
          <p:sp>
            <p:nvSpPr>
              <p:cNvPr id="6" name="object 6"/>
              <p:cNvSpPr/>
              <p:nvPr/>
            </p:nvSpPr>
            <p:spPr>
              <a:xfrm>
                <a:off x="496824" y="4142231"/>
                <a:ext cx="13970" cy="989330"/>
              </a:xfrm>
              <a:custGeom>
                <a:avLst/>
                <a:gdLst/>
                <a:ahLst/>
                <a:cxnLst/>
                <a:rect l="l" t="t" r="r" b="b"/>
                <a:pathLst>
                  <a:path w="13970" h="989329">
                    <a:moveTo>
                      <a:pt x="13716" y="935736"/>
                    </a:moveTo>
                    <a:lnTo>
                      <a:pt x="0" y="935736"/>
                    </a:lnTo>
                    <a:lnTo>
                      <a:pt x="0" y="989076"/>
                    </a:lnTo>
                    <a:lnTo>
                      <a:pt x="13716" y="989076"/>
                    </a:lnTo>
                    <a:lnTo>
                      <a:pt x="13716" y="935736"/>
                    </a:lnTo>
                    <a:close/>
                  </a:path>
                  <a:path w="13970" h="989329">
                    <a:moveTo>
                      <a:pt x="13716" y="841248"/>
                    </a:moveTo>
                    <a:lnTo>
                      <a:pt x="0" y="841248"/>
                    </a:lnTo>
                    <a:lnTo>
                      <a:pt x="0" y="894588"/>
                    </a:lnTo>
                    <a:lnTo>
                      <a:pt x="13716" y="894588"/>
                    </a:lnTo>
                    <a:lnTo>
                      <a:pt x="13716" y="841248"/>
                    </a:lnTo>
                    <a:close/>
                  </a:path>
                  <a:path w="13970" h="989329">
                    <a:moveTo>
                      <a:pt x="13716" y="748284"/>
                    </a:moveTo>
                    <a:lnTo>
                      <a:pt x="0" y="748284"/>
                    </a:lnTo>
                    <a:lnTo>
                      <a:pt x="0" y="801624"/>
                    </a:lnTo>
                    <a:lnTo>
                      <a:pt x="13716" y="801624"/>
                    </a:lnTo>
                    <a:lnTo>
                      <a:pt x="13716" y="748284"/>
                    </a:lnTo>
                    <a:close/>
                  </a:path>
                  <a:path w="13970" h="989329">
                    <a:moveTo>
                      <a:pt x="13716" y="653796"/>
                    </a:moveTo>
                    <a:lnTo>
                      <a:pt x="0" y="653796"/>
                    </a:lnTo>
                    <a:lnTo>
                      <a:pt x="0" y="707136"/>
                    </a:lnTo>
                    <a:lnTo>
                      <a:pt x="13716" y="707136"/>
                    </a:lnTo>
                    <a:lnTo>
                      <a:pt x="13716" y="653796"/>
                    </a:lnTo>
                    <a:close/>
                  </a:path>
                  <a:path w="13970" h="989329">
                    <a:moveTo>
                      <a:pt x="13716" y="560832"/>
                    </a:moveTo>
                    <a:lnTo>
                      <a:pt x="0" y="560832"/>
                    </a:lnTo>
                    <a:lnTo>
                      <a:pt x="0" y="614172"/>
                    </a:lnTo>
                    <a:lnTo>
                      <a:pt x="13716" y="614172"/>
                    </a:lnTo>
                    <a:lnTo>
                      <a:pt x="13716" y="560832"/>
                    </a:lnTo>
                    <a:close/>
                  </a:path>
                  <a:path w="13970" h="989329">
                    <a:moveTo>
                      <a:pt x="13716" y="467868"/>
                    </a:moveTo>
                    <a:lnTo>
                      <a:pt x="0" y="467868"/>
                    </a:lnTo>
                    <a:lnTo>
                      <a:pt x="0" y="521208"/>
                    </a:lnTo>
                    <a:lnTo>
                      <a:pt x="13716" y="521208"/>
                    </a:lnTo>
                    <a:lnTo>
                      <a:pt x="13716" y="467868"/>
                    </a:lnTo>
                    <a:close/>
                  </a:path>
                  <a:path w="13970" h="989329">
                    <a:moveTo>
                      <a:pt x="13716" y="373380"/>
                    </a:moveTo>
                    <a:lnTo>
                      <a:pt x="0" y="373380"/>
                    </a:lnTo>
                    <a:lnTo>
                      <a:pt x="0" y="426720"/>
                    </a:lnTo>
                    <a:lnTo>
                      <a:pt x="13716" y="426720"/>
                    </a:lnTo>
                    <a:lnTo>
                      <a:pt x="13716" y="373380"/>
                    </a:lnTo>
                    <a:close/>
                  </a:path>
                  <a:path w="13970" h="989329">
                    <a:moveTo>
                      <a:pt x="13716" y="280416"/>
                    </a:moveTo>
                    <a:lnTo>
                      <a:pt x="0" y="280416"/>
                    </a:lnTo>
                    <a:lnTo>
                      <a:pt x="0" y="333756"/>
                    </a:lnTo>
                    <a:lnTo>
                      <a:pt x="13716" y="333756"/>
                    </a:lnTo>
                    <a:lnTo>
                      <a:pt x="13716" y="280416"/>
                    </a:lnTo>
                    <a:close/>
                  </a:path>
                  <a:path w="13970" h="989329">
                    <a:moveTo>
                      <a:pt x="13716" y="185928"/>
                    </a:moveTo>
                    <a:lnTo>
                      <a:pt x="0" y="185928"/>
                    </a:lnTo>
                    <a:lnTo>
                      <a:pt x="0" y="240792"/>
                    </a:lnTo>
                    <a:lnTo>
                      <a:pt x="13716" y="240792"/>
                    </a:lnTo>
                    <a:lnTo>
                      <a:pt x="13716" y="185928"/>
                    </a:lnTo>
                    <a:close/>
                  </a:path>
                  <a:path w="13970" h="989329">
                    <a:moveTo>
                      <a:pt x="13716" y="92964"/>
                    </a:moveTo>
                    <a:lnTo>
                      <a:pt x="0" y="92964"/>
                    </a:lnTo>
                    <a:lnTo>
                      <a:pt x="0" y="146304"/>
                    </a:lnTo>
                    <a:lnTo>
                      <a:pt x="13716" y="146304"/>
                    </a:lnTo>
                    <a:lnTo>
                      <a:pt x="13716" y="92964"/>
                    </a:lnTo>
                    <a:close/>
                  </a:path>
                  <a:path w="13970" h="989329">
                    <a:moveTo>
                      <a:pt x="13716" y="0"/>
                    </a:moveTo>
                    <a:lnTo>
                      <a:pt x="0" y="0"/>
                    </a:lnTo>
                    <a:lnTo>
                      <a:pt x="0" y="53340"/>
                    </a:lnTo>
                    <a:lnTo>
                      <a:pt x="13716" y="53340"/>
                    </a:lnTo>
                    <a:lnTo>
                      <a:pt x="13716" y="0"/>
                    </a:lnTo>
                    <a:close/>
                  </a:path>
                </a:pathLst>
              </a:custGeom>
              <a:solidFill>
                <a:srgbClr val="0C1C2B"/>
              </a:solidFill>
            </p:spPr>
            <p:txBody>
              <a:bodyPr wrap="square" lIns="0" tIns="0" rIns="0" bIns="0" rtlCol="0"/>
              <a:lstStyle/>
              <a:p>
                <a:endParaRPr sz="1630"/>
              </a:p>
            </p:txBody>
          </p:sp>
          <p:pic>
            <p:nvPicPr>
              <p:cNvPr id="7" name="object 7"/>
              <p:cNvPicPr/>
              <p:nvPr/>
            </p:nvPicPr>
            <p:blipFill>
              <a:blip r:embed="rId1" cstate="print"/>
              <a:stretch>
                <a:fillRect/>
              </a:stretch>
            </p:blipFill>
            <p:spPr>
              <a:xfrm>
                <a:off x="496823" y="2912363"/>
                <a:ext cx="2253996" cy="2691384"/>
              </a:xfrm>
              <a:prstGeom prst="rect">
                <a:avLst/>
              </a:prstGeom>
            </p:spPr>
          </p:pic>
        </p:grpSp>
        <p:sp>
          <p:nvSpPr>
            <p:cNvPr id="8" name="object 8"/>
            <p:cNvSpPr txBox="1"/>
            <p:nvPr/>
          </p:nvSpPr>
          <p:spPr>
            <a:xfrm>
              <a:off x="2808" y="4191"/>
              <a:ext cx="132" cy="203"/>
            </a:xfrm>
            <a:prstGeom prst="rect">
              <a:avLst/>
            </a:prstGeom>
          </p:spPr>
          <p:txBody>
            <a:bodyPr vert="horz" wrap="square" lIns="0" tIns="12092" rIns="0" bIns="0" rtlCol="0">
              <a:spAutoFit/>
            </a:bodyPr>
            <a:lstStyle/>
            <a:p>
              <a:pPr marL="12700">
                <a:lnSpc>
                  <a:spcPct val="100000"/>
                </a:lnSpc>
                <a:spcBef>
                  <a:spcPts val="105"/>
                </a:spcBef>
              </a:pPr>
              <a:r>
                <a:rPr sz="950" b="1" dirty="0">
                  <a:solidFill>
                    <a:srgbClr val="FFFFFF"/>
                  </a:solidFill>
                  <a:latin typeface="Times New Roman" panose="02020603050405020304"/>
                  <a:cs typeface="Times New Roman" panose="02020603050405020304"/>
                </a:rPr>
                <a:t>1</a:t>
              </a:r>
              <a:endParaRPr sz="950">
                <a:latin typeface="Times New Roman" panose="02020603050405020304"/>
                <a:cs typeface="Times New Roman" panose="02020603050405020304"/>
              </a:endParaRPr>
            </a:p>
          </p:txBody>
        </p:sp>
        <p:sp>
          <p:nvSpPr>
            <p:cNvPr id="9" name="object 9"/>
            <p:cNvSpPr txBox="1"/>
            <p:nvPr/>
          </p:nvSpPr>
          <p:spPr>
            <a:xfrm>
              <a:off x="2738" y="5003"/>
              <a:ext cx="200" cy="2123"/>
            </a:xfrm>
            <a:prstGeom prst="rect">
              <a:avLst/>
            </a:prstGeom>
          </p:spPr>
          <p:txBody>
            <a:bodyPr vert="vert270" wrap="square" lIns="0" tIns="0" rIns="0" bIns="0" rtlCol="0">
              <a:spAutoFit/>
            </a:bodyPr>
            <a:lstStyle/>
            <a:p>
              <a:pPr marL="12700">
                <a:lnSpc>
                  <a:spcPts val="1250"/>
                </a:lnSpc>
              </a:pPr>
              <a:r>
                <a:rPr sz="950" i="1" dirty="0">
                  <a:solidFill>
                    <a:srgbClr val="0C1C2B"/>
                  </a:solidFill>
                  <a:latin typeface="Times New Roman" panose="02020603050405020304"/>
                  <a:cs typeface="Times New Roman" panose="02020603050405020304"/>
                </a:rPr>
                <a:t>Feature</a:t>
              </a:r>
              <a:r>
                <a:rPr sz="950" i="1" spc="-40" dirty="0">
                  <a:solidFill>
                    <a:srgbClr val="0C1C2B"/>
                  </a:solidFill>
                  <a:latin typeface="Times New Roman" panose="02020603050405020304"/>
                  <a:cs typeface="Times New Roman" panose="02020603050405020304"/>
                </a:rPr>
                <a:t> </a:t>
              </a:r>
              <a:r>
                <a:rPr sz="950" i="1" dirty="0">
                  <a:solidFill>
                    <a:srgbClr val="0C1C2B"/>
                  </a:solidFill>
                  <a:latin typeface="Times New Roman" panose="02020603050405020304"/>
                  <a:cs typeface="Times New Roman" panose="02020603050405020304"/>
                </a:rPr>
                <a:t>Extraction</a:t>
              </a:r>
              <a:r>
                <a:rPr sz="950" i="1" spc="-25" dirty="0">
                  <a:solidFill>
                    <a:srgbClr val="0C1C2B"/>
                  </a:solidFill>
                  <a:latin typeface="Times New Roman" panose="02020603050405020304"/>
                  <a:cs typeface="Times New Roman" panose="02020603050405020304"/>
                </a:rPr>
                <a:t> </a:t>
              </a:r>
              <a:r>
                <a:rPr sz="950" i="1" spc="-10" dirty="0">
                  <a:solidFill>
                    <a:srgbClr val="0C1C2B"/>
                  </a:solidFill>
                  <a:latin typeface="Times New Roman" panose="02020603050405020304"/>
                  <a:cs typeface="Times New Roman" panose="02020603050405020304"/>
                </a:rPr>
                <a:t>Module</a:t>
              </a:r>
              <a:endParaRPr sz="950">
                <a:latin typeface="Times New Roman" panose="02020603050405020304"/>
                <a:cs typeface="Times New Roman" panose="02020603050405020304"/>
              </a:endParaRPr>
            </a:p>
          </p:txBody>
        </p:sp>
        <p:sp>
          <p:nvSpPr>
            <p:cNvPr id="10" name="object 10"/>
            <p:cNvSpPr txBox="1"/>
            <p:nvPr/>
          </p:nvSpPr>
          <p:spPr>
            <a:xfrm>
              <a:off x="3173" y="5809"/>
              <a:ext cx="200" cy="761"/>
            </a:xfrm>
            <a:prstGeom prst="rect">
              <a:avLst/>
            </a:prstGeom>
          </p:spPr>
          <p:txBody>
            <a:bodyPr vert="vert270" wrap="square" lIns="0" tIns="0" rIns="0" bIns="0" rtlCol="0">
              <a:spAutoFit/>
            </a:bodyPr>
            <a:lstStyle/>
            <a:p>
              <a:pPr marL="12700" algn="ctr">
                <a:lnSpc>
                  <a:spcPts val="1250"/>
                </a:lnSpc>
              </a:pPr>
              <a:r>
                <a:rPr sz="950" spc="-10" dirty="0">
                  <a:solidFill>
                    <a:srgbClr val="0C1C2B"/>
                  </a:solidFill>
                  <a:latin typeface="Times New Roman" panose="02020603050405020304"/>
                  <a:cs typeface="Times New Roman" panose="02020603050405020304"/>
                </a:rPr>
                <a:t>GRU-</a:t>
              </a:r>
              <a:r>
                <a:rPr sz="950" spc="-25" dirty="0">
                  <a:solidFill>
                    <a:srgbClr val="0C1C2B"/>
                  </a:solidFill>
                  <a:latin typeface="Times New Roman" panose="02020603050405020304"/>
                  <a:cs typeface="Times New Roman" panose="02020603050405020304"/>
                </a:rPr>
                <a:t>AE</a:t>
              </a:r>
              <a:endParaRPr sz="950">
                <a:latin typeface="Times New Roman" panose="02020603050405020304"/>
                <a:cs typeface="Times New Roman" panose="02020603050405020304"/>
              </a:endParaRPr>
            </a:p>
          </p:txBody>
        </p:sp>
        <p:sp>
          <p:nvSpPr>
            <p:cNvPr id="11" name="object 11"/>
            <p:cNvSpPr txBox="1"/>
            <p:nvPr/>
          </p:nvSpPr>
          <p:spPr>
            <a:xfrm>
              <a:off x="3809" y="5249"/>
              <a:ext cx="916" cy="203"/>
            </a:xfrm>
            <a:prstGeom prst="rect">
              <a:avLst/>
            </a:prstGeom>
          </p:spPr>
          <p:txBody>
            <a:bodyPr vert="horz" wrap="square" lIns="0" tIns="12092" rIns="0" bIns="0" rtlCol="0">
              <a:spAutoFit/>
            </a:bodyPr>
            <a:lstStyle/>
            <a:p>
              <a:pPr marL="12700" algn="ctr">
                <a:lnSpc>
                  <a:spcPct val="100000"/>
                </a:lnSpc>
                <a:spcBef>
                  <a:spcPts val="105"/>
                </a:spcBef>
              </a:pPr>
              <a:r>
                <a:rPr sz="950" spc="-10" dirty="0">
                  <a:solidFill>
                    <a:srgbClr val="0C1C2B"/>
                  </a:solidFill>
                  <a:latin typeface="Times New Roman" panose="02020603050405020304"/>
                  <a:cs typeface="Times New Roman" panose="02020603050405020304"/>
                </a:rPr>
                <a:t>Embedding</a:t>
              </a:r>
              <a:endParaRPr sz="950">
                <a:latin typeface="Times New Roman" panose="02020603050405020304"/>
                <a:cs typeface="Times New Roman" panose="02020603050405020304"/>
              </a:endParaRPr>
            </a:p>
          </p:txBody>
        </p:sp>
        <p:sp>
          <p:nvSpPr>
            <p:cNvPr id="12" name="object 12"/>
            <p:cNvSpPr txBox="1"/>
            <p:nvPr/>
          </p:nvSpPr>
          <p:spPr>
            <a:xfrm>
              <a:off x="3899" y="5795"/>
              <a:ext cx="685" cy="203"/>
            </a:xfrm>
            <a:prstGeom prst="rect">
              <a:avLst/>
            </a:prstGeom>
          </p:spPr>
          <p:txBody>
            <a:bodyPr vert="horz" wrap="square" lIns="0" tIns="12092" rIns="0" bIns="0" rtlCol="0">
              <a:spAutoFit/>
            </a:bodyPr>
            <a:lstStyle/>
            <a:p>
              <a:pPr marL="12700" algn="ctr">
                <a:lnSpc>
                  <a:spcPct val="100000"/>
                </a:lnSpc>
                <a:spcBef>
                  <a:spcPts val="105"/>
                </a:spcBef>
              </a:pPr>
              <a:r>
                <a:rPr sz="950" spc="-10" dirty="0">
                  <a:solidFill>
                    <a:srgbClr val="0C1C2B"/>
                  </a:solidFill>
                  <a:latin typeface="Times New Roman" panose="02020603050405020304"/>
                  <a:cs typeface="Times New Roman" panose="02020603050405020304"/>
                </a:rPr>
                <a:t>Bi-</a:t>
              </a:r>
              <a:r>
                <a:rPr sz="950" spc="-25" dirty="0">
                  <a:solidFill>
                    <a:srgbClr val="0C1C2B"/>
                  </a:solidFill>
                  <a:latin typeface="Times New Roman" panose="02020603050405020304"/>
                  <a:cs typeface="Times New Roman" panose="02020603050405020304"/>
                </a:rPr>
                <a:t>GRU</a:t>
              </a:r>
              <a:endParaRPr sz="950">
                <a:latin typeface="Times New Roman" panose="02020603050405020304"/>
                <a:cs typeface="Times New Roman" panose="02020603050405020304"/>
              </a:endParaRPr>
            </a:p>
          </p:txBody>
        </p:sp>
        <p:sp>
          <p:nvSpPr>
            <p:cNvPr id="13" name="object 13"/>
            <p:cNvSpPr txBox="1"/>
            <p:nvPr/>
          </p:nvSpPr>
          <p:spPr>
            <a:xfrm>
              <a:off x="3224" y="4678"/>
              <a:ext cx="1824" cy="203"/>
            </a:xfrm>
            <a:prstGeom prst="rect">
              <a:avLst/>
            </a:prstGeom>
          </p:spPr>
          <p:txBody>
            <a:bodyPr vert="horz" wrap="square" lIns="0" tIns="12092" rIns="0" bIns="0" rtlCol="0">
              <a:spAutoFit/>
            </a:bodyPr>
            <a:lstStyle/>
            <a:p>
              <a:pPr marL="12700" algn="ctr">
                <a:lnSpc>
                  <a:spcPct val="100000"/>
                </a:lnSpc>
                <a:spcBef>
                  <a:spcPts val="105"/>
                </a:spcBef>
              </a:pPr>
              <a:r>
                <a:rPr sz="950" dirty="0">
                  <a:solidFill>
                    <a:srgbClr val="0C1C2B"/>
                  </a:solidFill>
                  <a:latin typeface="Times New Roman" panose="02020603050405020304"/>
                  <a:cs typeface="Times New Roman" panose="02020603050405020304"/>
                </a:rPr>
                <a:t>Packet</a:t>
              </a:r>
              <a:r>
                <a:rPr sz="950" spc="-15" dirty="0">
                  <a:solidFill>
                    <a:srgbClr val="0C1C2B"/>
                  </a:solidFill>
                  <a:latin typeface="Times New Roman" panose="02020603050405020304"/>
                  <a:cs typeface="Times New Roman" panose="02020603050405020304"/>
                </a:rPr>
                <a:t> </a:t>
              </a:r>
              <a:r>
                <a:rPr sz="950" dirty="0">
                  <a:solidFill>
                    <a:srgbClr val="0C1C2B"/>
                  </a:solidFill>
                  <a:latin typeface="Times New Roman" panose="02020603050405020304"/>
                  <a:cs typeface="Times New Roman" panose="02020603050405020304"/>
                </a:rPr>
                <a:t>length</a:t>
              </a:r>
              <a:r>
                <a:rPr sz="950" spc="5" dirty="0">
                  <a:solidFill>
                    <a:srgbClr val="0C1C2B"/>
                  </a:solidFill>
                  <a:latin typeface="Times New Roman" panose="02020603050405020304"/>
                  <a:cs typeface="Times New Roman" panose="02020603050405020304"/>
                </a:rPr>
                <a:t> </a:t>
              </a:r>
              <a:r>
                <a:rPr sz="950" spc="-10" dirty="0">
                  <a:solidFill>
                    <a:srgbClr val="0C1C2B"/>
                  </a:solidFill>
                  <a:latin typeface="Times New Roman" panose="02020603050405020304"/>
                  <a:cs typeface="Times New Roman" panose="02020603050405020304"/>
                </a:rPr>
                <a:t>sequence</a:t>
              </a:r>
              <a:endParaRPr sz="950">
                <a:latin typeface="Times New Roman" panose="02020603050405020304"/>
                <a:cs typeface="Times New Roman" panose="02020603050405020304"/>
              </a:endParaRPr>
            </a:p>
          </p:txBody>
        </p:sp>
        <p:sp>
          <p:nvSpPr>
            <p:cNvPr id="14" name="object 14"/>
            <p:cNvSpPr txBox="1"/>
            <p:nvPr/>
          </p:nvSpPr>
          <p:spPr>
            <a:xfrm>
              <a:off x="3300" y="7695"/>
              <a:ext cx="1880" cy="203"/>
            </a:xfrm>
            <a:prstGeom prst="rect">
              <a:avLst/>
            </a:prstGeom>
          </p:spPr>
          <p:txBody>
            <a:bodyPr vert="horz" wrap="square" lIns="0" tIns="12092" rIns="0" bIns="0" rtlCol="0">
              <a:spAutoFit/>
            </a:bodyPr>
            <a:lstStyle/>
            <a:p>
              <a:pPr marL="12700" algn="ctr">
                <a:lnSpc>
                  <a:spcPct val="100000"/>
                </a:lnSpc>
                <a:spcBef>
                  <a:spcPts val="105"/>
                </a:spcBef>
              </a:pPr>
              <a:r>
                <a:rPr sz="950" dirty="0">
                  <a:solidFill>
                    <a:srgbClr val="0C1C2B"/>
                  </a:solidFill>
                  <a:latin typeface="Times New Roman" panose="02020603050405020304"/>
                  <a:cs typeface="Times New Roman" panose="02020603050405020304"/>
                </a:rPr>
                <a:t>Reconstructed</a:t>
              </a:r>
              <a:r>
                <a:rPr sz="950" spc="-15" dirty="0">
                  <a:solidFill>
                    <a:srgbClr val="0C1C2B"/>
                  </a:solidFill>
                  <a:latin typeface="Times New Roman" panose="02020603050405020304"/>
                  <a:cs typeface="Times New Roman" panose="02020603050405020304"/>
                </a:rPr>
                <a:t> </a:t>
              </a:r>
              <a:r>
                <a:rPr sz="950" spc="-10" dirty="0">
                  <a:solidFill>
                    <a:srgbClr val="0C1C2B"/>
                  </a:solidFill>
                  <a:latin typeface="Times New Roman" panose="02020603050405020304"/>
                  <a:cs typeface="Times New Roman" panose="02020603050405020304"/>
                </a:rPr>
                <a:t>sequence</a:t>
              </a:r>
              <a:endParaRPr sz="950">
                <a:latin typeface="Times New Roman" panose="02020603050405020304"/>
                <a:cs typeface="Times New Roman" panose="02020603050405020304"/>
              </a:endParaRPr>
            </a:p>
          </p:txBody>
        </p:sp>
        <p:sp>
          <p:nvSpPr>
            <p:cNvPr id="15" name="object 15"/>
            <p:cNvSpPr txBox="1"/>
            <p:nvPr/>
          </p:nvSpPr>
          <p:spPr>
            <a:xfrm>
              <a:off x="3899" y="6389"/>
              <a:ext cx="685" cy="203"/>
            </a:xfrm>
            <a:prstGeom prst="rect">
              <a:avLst/>
            </a:prstGeom>
          </p:spPr>
          <p:txBody>
            <a:bodyPr vert="horz" wrap="square" lIns="0" tIns="12092" rIns="0" bIns="0" rtlCol="0">
              <a:spAutoFit/>
            </a:bodyPr>
            <a:lstStyle/>
            <a:p>
              <a:pPr marL="12700" algn="ctr">
                <a:lnSpc>
                  <a:spcPct val="100000"/>
                </a:lnSpc>
                <a:spcBef>
                  <a:spcPts val="105"/>
                </a:spcBef>
              </a:pPr>
              <a:r>
                <a:rPr sz="950" spc="-10" dirty="0">
                  <a:solidFill>
                    <a:srgbClr val="0C1C2B"/>
                  </a:solidFill>
                  <a:latin typeface="Times New Roman" panose="02020603050405020304"/>
                  <a:cs typeface="Times New Roman" panose="02020603050405020304"/>
                </a:rPr>
                <a:t>Bi-</a:t>
              </a:r>
              <a:r>
                <a:rPr sz="950" spc="-25" dirty="0">
                  <a:solidFill>
                    <a:srgbClr val="0C1C2B"/>
                  </a:solidFill>
                  <a:latin typeface="Times New Roman" panose="02020603050405020304"/>
                  <a:cs typeface="Times New Roman" panose="02020603050405020304"/>
                </a:rPr>
                <a:t>GRU</a:t>
              </a:r>
              <a:endParaRPr sz="950">
                <a:latin typeface="Times New Roman" panose="02020603050405020304"/>
                <a:cs typeface="Times New Roman" panose="02020603050405020304"/>
              </a:endParaRPr>
            </a:p>
          </p:txBody>
        </p:sp>
        <p:sp>
          <p:nvSpPr>
            <p:cNvPr id="16" name="object 16"/>
            <p:cNvSpPr txBox="1"/>
            <p:nvPr/>
          </p:nvSpPr>
          <p:spPr>
            <a:xfrm>
              <a:off x="3675" y="6903"/>
              <a:ext cx="1192" cy="203"/>
            </a:xfrm>
            <a:prstGeom prst="rect">
              <a:avLst/>
            </a:prstGeom>
          </p:spPr>
          <p:txBody>
            <a:bodyPr vert="horz" wrap="square" lIns="0" tIns="12092" rIns="0" bIns="0" rtlCol="0">
              <a:spAutoFit/>
            </a:bodyPr>
            <a:lstStyle/>
            <a:p>
              <a:pPr marL="12700" algn="ctr">
                <a:lnSpc>
                  <a:spcPct val="100000"/>
                </a:lnSpc>
                <a:spcBef>
                  <a:spcPts val="105"/>
                </a:spcBef>
              </a:pPr>
              <a:r>
                <a:rPr sz="950" spc="-10" dirty="0">
                  <a:solidFill>
                    <a:srgbClr val="0C1C2B"/>
                  </a:solidFill>
                  <a:latin typeface="Times New Roman" panose="02020603050405020304"/>
                  <a:cs typeface="Times New Roman" panose="02020603050405020304"/>
                </a:rPr>
                <a:t>Reconstruction</a:t>
              </a:r>
              <a:endParaRPr sz="950">
                <a:latin typeface="Times New Roman" panose="02020603050405020304"/>
                <a:cs typeface="Times New Roman" panose="02020603050405020304"/>
              </a:endParaRPr>
            </a:p>
          </p:txBody>
        </p:sp>
        <p:sp>
          <p:nvSpPr>
            <p:cNvPr id="17" name="object 17"/>
            <p:cNvSpPr txBox="1"/>
            <p:nvPr/>
          </p:nvSpPr>
          <p:spPr>
            <a:xfrm>
              <a:off x="5233" y="6511"/>
              <a:ext cx="604" cy="203"/>
            </a:xfrm>
            <a:prstGeom prst="rect">
              <a:avLst/>
            </a:prstGeom>
          </p:spPr>
          <p:txBody>
            <a:bodyPr vert="horz" wrap="square" lIns="0" tIns="12092" rIns="0" bIns="0" rtlCol="0">
              <a:spAutoFit/>
            </a:bodyPr>
            <a:lstStyle/>
            <a:p>
              <a:pPr marL="12700" algn="ctr">
                <a:lnSpc>
                  <a:spcPct val="100000"/>
                </a:lnSpc>
                <a:spcBef>
                  <a:spcPts val="105"/>
                </a:spcBef>
              </a:pPr>
              <a:r>
                <a:rPr sz="950" spc="-10" dirty="0">
                  <a:solidFill>
                    <a:srgbClr val="0C1C2B"/>
                  </a:solidFill>
                  <a:latin typeface="Times New Roman" panose="02020603050405020304"/>
                  <a:cs typeface="Times New Roman" panose="02020603050405020304"/>
                </a:rPr>
                <a:t>Feature</a:t>
              </a:r>
              <a:endParaRPr sz="950">
                <a:latin typeface="Times New Roman" panose="02020603050405020304"/>
                <a:cs typeface="Times New Roman" panose="02020603050405020304"/>
              </a:endParaRPr>
            </a:p>
          </p:txBody>
        </p:sp>
      </p:grpSp>
      <p:sp>
        <p:nvSpPr>
          <p:cNvPr id="18" name="object 18"/>
          <p:cNvSpPr txBox="1"/>
          <p:nvPr/>
        </p:nvSpPr>
        <p:spPr>
          <a:xfrm>
            <a:off x="1058744" y="1335455"/>
            <a:ext cx="7248405" cy="380365"/>
          </a:xfrm>
          <a:prstGeom prst="rect">
            <a:avLst/>
          </a:prstGeom>
        </p:spPr>
        <p:txBody>
          <a:bodyPr vert="horz" wrap="square" lIns="0" tIns="11516" rIns="0" bIns="0" rtlCol="0">
            <a:spAutoFit/>
          </a:bodyPr>
          <a:lstStyle/>
          <a:p>
            <a:pPr marL="12700">
              <a:lnSpc>
                <a:spcPct val="100000"/>
              </a:lnSpc>
              <a:spcBef>
                <a:spcPts val="100"/>
              </a:spcBef>
            </a:pPr>
            <a:r>
              <a:rPr lang="zh-CN" altLang="en-US" sz="2400" b="1">
                <a:latin typeface="Arial" panose="020B0604020202020204"/>
                <a:cs typeface="Arial" panose="020B0604020202020204"/>
              </a:rPr>
              <a:t>目标：</a:t>
            </a:r>
            <a:r>
              <a:rPr lang="zh-CN" altLang="en-US" sz="2400">
                <a:latin typeface="Arial" panose="020B0604020202020204"/>
                <a:cs typeface="Arial" panose="020B0604020202020204"/>
              </a:rPr>
              <a:t>将原始加密网络流量转换为特征向量</a:t>
            </a:r>
            <a:endParaRPr lang="zh-CN" altLang="en-US" sz="2400">
              <a:latin typeface="Arial" panose="020B0604020202020204"/>
              <a:cs typeface="Arial" panose="020B0604020202020204"/>
            </a:endParaRPr>
          </a:p>
        </p:txBody>
      </p:sp>
      <p:sp>
        <p:nvSpPr>
          <p:cNvPr id="19" name="object 19"/>
          <p:cNvSpPr txBox="1"/>
          <p:nvPr/>
        </p:nvSpPr>
        <p:spPr>
          <a:xfrm>
            <a:off x="1058545" y="1908175"/>
            <a:ext cx="2110105" cy="380365"/>
          </a:xfrm>
          <a:prstGeom prst="rect">
            <a:avLst/>
          </a:prstGeom>
        </p:spPr>
        <p:txBody>
          <a:bodyPr vert="horz" wrap="square" lIns="0" tIns="11516" rIns="0" bIns="0" rtlCol="0">
            <a:spAutoFit/>
          </a:bodyPr>
          <a:lstStyle/>
          <a:p>
            <a:pPr marL="12700">
              <a:lnSpc>
                <a:spcPct val="100000"/>
              </a:lnSpc>
              <a:spcBef>
                <a:spcPts val="100"/>
              </a:spcBef>
            </a:pPr>
            <a:r>
              <a:rPr sz="2400" b="1" spc="-10" dirty="0">
                <a:solidFill>
                  <a:srgbClr val="FF0000"/>
                </a:solidFill>
                <a:latin typeface="Arial" panose="020B0604020202020204"/>
                <a:cs typeface="Arial" panose="020B0604020202020204"/>
              </a:rPr>
              <a:t>Challenge:</a:t>
            </a:r>
            <a:endParaRPr sz="2400" b="1" spc="-10" dirty="0">
              <a:solidFill>
                <a:srgbClr val="FF0000"/>
              </a:solidFill>
              <a:latin typeface="Arial" panose="020B0604020202020204"/>
              <a:cs typeface="Arial" panose="020B0604020202020204"/>
            </a:endParaRPr>
          </a:p>
        </p:txBody>
      </p:sp>
      <p:grpSp>
        <p:nvGrpSpPr>
          <p:cNvPr id="20" name="object 20"/>
          <p:cNvGrpSpPr/>
          <p:nvPr/>
        </p:nvGrpSpPr>
        <p:grpSpPr>
          <a:xfrm>
            <a:off x="4016375" y="2962910"/>
            <a:ext cx="7016115" cy="970280"/>
            <a:chOff x="2967989" y="3490721"/>
            <a:chExt cx="7031990" cy="1069975"/>
          </a:xfrm>
        </p:grpSpPr>
        <p:sp>
          <p:nvSpPr>
            <p:cNvPr id="21" name="object 21"/>
            <p:cNvSpPr/>
            <p:nvPr/>
          </p:nvSpPr>
          <p:spPr>
            <a:xfrm>
              <a:off x="2973323" y="3496055"/>
              <a:ext cx="7021195" cy="1059180"/>
            </a:xfrm>
            <a:custGeom>
              <a:avLst/>
              <a:gdLst/>
              <a:ahLst/>
              <a:cxnLst/>
              <a:rect l="l" t="t" r="r" b="b"/>
              <a:pathLst>
                <a:path w="7021195" h="1059179">
                  <a:moveTo>
                    <a:pt x="6760464" y="1059179"/>
                  </a:moveTo>
                  <a:lnTo>
                    <a:pt x="262128" y="1059179"/>
                  </a:lnTo>
                  <a:lnTo>
                    <a:pt x="215007" y="1054957"/>
                  </a:lnTo>
                  <a:lnTo>
                    <a:pt x="170658" y="1042781"/>
                  </a:lnTo>
                  <a:lnTo>
                    <a:pt x="129822" y="1023394"/>
                  </a:lnTo>
                  <a:lnTo>
                    <a:pt x="93237" y="997534"/>
                  </a:lnTo>
                  <a:lnTo>
                    <a:pt x="61645" y="965942"/>
                  </a:lnTo>
                  <a:lnTo>
                    <a:pt x="35785" y="929357"/>
                  </a:lnTo>
                  <a:lnTo>
                    <a:pt x="16398" y="888521"/>
                  </a:lnTo>
                  <a:lnTo>
                    <a:pt x="4222" y="844172"/>
                  </a:lnTo>
                  <a:lnTo>
                    <a:pt x="0" y="797052"/>
                  </a:lnTo>
                  <a:lnTo>
                    <a:pt x="0" y="260604"/>
                  </a:lnTo>
                  <a:lnTo>
                    <a:pt x="4222" y="213936"/>
                  </a:lnTo>
                  <a:lnTo>
                    <a:pt x="16398" y="169941"/>
                  </a:lnTo>
                  <a:lnTo>
                    <a:pt x="35785" y="129370"/>
                  </a:lnTo>
                  <a:lnTo>
                    <a:pt x="61645" y="92976"/>
                  </a:lnTo>
                  <a:lnTo>
                    <a:pt x="93237" y="61511"/>
                  </a:lnTo>
                  <a:lnTo>
                    <a:pt x="129822" y="35729"/>
                  </a:lnTo>
                  <a:lnTo>
                    <a:pt x="170658" y="16381"/>
                  </a:lnTo>
                  <a:lnTo>
                    <a:pt x="215007" y="4220"/>
                  </a:lnTo>
                  <a:lnTo>
                    <a:pt x="262128" y="0"/>
                  </a:lnTo>
                  <a:lnTo>
                    <a:pt x="6760464" y="0"/>
                  </a:lnTo>
                  <a:lnTo>
                    <a:pt x="6807532" y="4220"/>
                  </a:lnTo>
                  <a:lnTo>
                    <a:pt x="6851741" y="16381"/>
                  </a:lnTo>
                  <a:lnTo>
                    <a:pt x="6892374" y="35729"/>
                  </a:lnTo>
                  <a:lnTo>
                    <a:pt x="6928718" y="61511"/>
                  </a:lnTo>
                  <a:lnTo>
                    <a:pt x="6960057" y="92976"/>
                  </a:lnTo>
                  <a:lnTo>
                    <a:pt x="6985677" y="129370"/>
                  </a:lnTo>
                  <a:lnTo>
                    <a:pt x="7004862" y="169941"/>
                  </a:lnTo>
                  <a:lnTo>
                    <a:pt x="7016897" y="213936"/>
                  </a:lnTo>
                  <a:lnTo>
                    <a:pt x="7021067" y="260604"/>
                  </a:lnTo>
                  <a:lnTo>
                    <a:pt x="7021067" y="797052"/>
                  </a:lnTo>
                  <a:lnTo>
                    <a:pt x="7016897" y="844172"/>
                  </a:lnTo>
                  <a:lnTo>
                    <a:pt x="7004862" y="888521"/>
                  </a:lnTo>
                  <a:lnTo>
                    <a:pt x="6985677" y="929357"/>
                  </a:lnTo>
                  <a:lnTo>
                    <a:pt x="6960057" y="965942"/>
                  </a:lnTo>
                  <a:lnTo>
                    <a:pt x="6928718" y="997534"/>
                  </a:lnTo>
                  <a:lnTo>
                    <a:pt x="6892374" y="1023394"/>
                  </a:lnTo>
                  <a:lnTo>
                    <a:pt x="6851741" y="1042781"/>
                  </a:lnTo>
                  <a:lnTo>
                    <a:pt x="6807532" y="1054957"/>
                  </a:lnTo>
                  <a:lnTo>
                    <a:pt x="6760464" y="1059179"/>
                  </a:lnTo>
                  <a:close/>
                </a:path>
              </a:pathLst>
            </a:custGeom>
            <a:solidFill>
              <a:srgbClr val="501D83"/>
            </a:solidFill>
          </p:spPr>
          <p:txBody>
            <a:bodyPr wrap="square" lIns="0" tIns="0" rIns="0" bIns="0" rtlCol="0"/>
            <a:lstStyle/>
            <a:p>
              <a:endParaRPr sz="1630"/>
            </a:p>
          </p:txBody>
        </p:sp>
        <p:sp>
          <p:nvSpPr>
            <p:cNvPr id="22" name="object 22"/>
            <p:cNvSpPr/>
            <p:nvPr/>
          </p:nvSpPr>
          <p:spPr>
            <a:xfrm>
              <a:off x="2973323" y="3496055"/>
              <a:ext cx="7021195" cy="1059180"/>
            </a:xfrm>
            <a:custGeom>
              <a:avLst/>
              <a:gdLst/>
              <a:ahLst/>
              <a:cxnLst/>
              <a:rect l="l" t="t" r="r" b="b"/>
              <a:pathLst>
                <a:path w="7021195" h="1059179">
                  <a:moveTo>
                    <a:pt x="0" y="260604"/>
                  </a:moveTo>
                  <a:lnTo>
                    <a:pt x="4222" y="213936"/>
                  </a:lnTo>
                  <a:lnTo>
                    <a:pt x="16398" y="169941"/>
                  </a:lnTo>
                  <a:lnTo>
                    <a:pt x="35785" y="129370"/>
                  </a:lnTo>
                  <a:lnTo>
                    <a:pt x="61645" y="92976"/>
                  </a:lnTo>
                  <a:lnTo>
                    <a:pt x="93237" y="61511"/>
                  </a:lnTo>
                  <a:lnTo>
                    <a:pt x="129822" y="35729"/>
                  </a:lnTo>
                  <a:lnTo>
                    <a:pt x="170658" y="16381"/>
                  </a:lnTo>
                  <a:lnTo>
                    <a:pt x="215007" y="4220"/>
                  </a:lnTo>
                  <a:lnTo>
                    <a:pt x="262128" y="0"/>
                  </a:lnTo>
                  <a:lnTo>
                    <a:pt x="6760464" y="0"/>
                  </a:lnTo>
                  <a:lnTo>
                    <a:pt x="6807532" y="4220"/>
                  </a:lnTo>
                  <a:lnTo>
                    <a:pt x="6851741" y="16381"/>
                  </a:lnTo>
                  <a:lnTo>
                    <a:pt x="6892374" y="35729"/>
                  </a:lnTo>
                  <a:lnTo>
                    <a:pt x="6928718" y="61511"/>
                  </a:lnTo>
                  <a:lnTo>
                    <a:pt x="6960057" y="92976"/>
                  </a:lnTo>
                  <a:lnTo>
                    <a:pt x="6985677" y="129370"/>
                  </a:lnTo>
                  <a:lnTo>
                    <a:pt x="7004862" y="169941"/>
                  </a:lnTo>
                  <a:lnTo>
                    <a:pt x="7016897" y="213936"/>
                  </a:lnTo>
                  <a:lnTo>
                    <a:pt x="7021067" y="260604"/>
                  </a:lnTo>
                  <a:lnTo>
                    <a:pt x="7021067" y="797052"/>
                  </a:lnTo>
                  <a:lnTo>
                    <a:pt x="7016897" y="844172"/>
                  </a:lnTo>
                  <a:lnTo>
                    <a:pt x="7004862" y="888521"/>
                  </a:lnTo>
                  <a:lnTo>
                    <a:pt x="6985677" y="929357"/>
                  </a:lnTo>
                  <a:lnTo>
                    <a:pt x="6960057" y="965942"/>
                  </a:lnTo>
                  <a:lnTo>
                    <a:pt x="6928718" y="997534"/>
                  </a:lnTo>
                  <a:lnTo>
                    <a:pt x="6892374" y="1023394"/>
                  </a:lnTo>
                  <a:lnTo>
                    <a:pt x="6851741" y="1042781"/>
                  </a:lnTo>
                  <a:lnTo>
                    <a:pt x="6807532" y="1054957"/>
                  </a:lnTo>
                  <a:lnTo>
                    <a:pt x="6760464" y="1059179"/>
                  </a:lnTo>
                  <a:lnTo>
                    <a:pt x="262128" y="1059179"/>
                  </a:lnTo>
                  <a:lnTo>
                    <a:pt x="215007" y="1054957"/>
                  </a:lnTo>
                  <a:lnTo>
                    <a:pt x="170658" y="1042781"/>
                  </a:lnTo>
                  <a:lnTo>
                    <a:pt x="129822" y="1023394"/>
                  </a:lnTo>
                  <a:lnTo>
                    <a:pt x="93237" y="997534"/>
                  </a:lnTo>
                  <a:lnTo>
                    <a:pt x="61645" y="965942"/>
                  </a:lnTo>
                  <a:lnTo>
                    <a:pt x="35785" y="929357"/>
                  </a:lnTo>
                  <a:lnTo>
                    <a:pt x="16398" y="888521"/>
                  </a:lnTo>
                  <a:lnTo>
                    <a:pt x="4222" y="844172"/>
                  </a:lnTo>
                  <a:lnTo>
                    <a:pt x="0" y="797052"/>
                  </a:lnTo>
                  <a:lnTo>
                    <a:pt x="0" y="260604"/>
                  </a:lnTo>
                  <a:close/>
                </a:path>
              </a:pathLst>
            </a:custGeom>
            <a:ln w="10668">
              <a:solidFill>
                <a:srgbClr val="38135E"/>
              </a:solidFill>
            </a:ln>
          </p:spPr>
          <p:txBody>
            <a:bodyPr wrap="square" lIns="0" tIns="0" rIns="0" bIns="0" rtlCol="0"/>
            <a:lstStyle/>
            <a:p>
              <a:endParaRPr sz="1630"/>
            </a:p>
          </p:txBody>
        </p:sp>
      </p:grpSp>
      <p:sp>
        <p:nvSpPr>
          <p:cNvPr id="23" name="object 23"/>
          <p:cNvSpPr txBox="1"/>
          <p:nvPr/>
        </p:nvSpPr>
        <p:spPr>
          <a:xfrm>
            <a:off x="4249738" y="3131185"/>
            <a:ext cx="6549390" cy="633730"/>
          </a:xfrm>
          <a:prstGeom prst="rect">
            <a:avLst/>
          </a:prstGeom>
        </p:spPr>
        <p:txBody>
          <a:bodyPr vert="horz" wrap="square" lIns="0" tIns="7485" rIns="0" bIns="0" rtlCol="0">
            <a:spAutoFit/>
          </a:bodyPr>
          <a:lstStyle/>
          <a:p>
            <a:pPr marL="12065" marR="5080" indent="635" algn="ctr">
              <a:lnSpc>
                <a:spcPct val="102000"/>
              </a:lnSpc>
              <a:spcBef>
                <a:spcPts val="65"/>
              </a:spcBef>
            </a:pPr>
            <a:r>
              <a:rPr lang="zh-CN" altLang="en-US" sz="2000">
                <a:solidFill>
                  <a:schemeClr val="bg1"/>
                </a:solidFill>
                <a:latin typeface="Arial" panose="020B0604020202020204"/>
                <a:cs typeface="Arial" panose="020B0604020202020204"/>
              </a:rPr>
              <a:t>使用</a:t>
            </a:r>
            <a:r>
              <a:rPr lang="zh-CN" altLang="en-US" sz="2000" b="1">
                <a:solidFill>
                  <a:schemeClr val="bg1"/>
                </a:solidFill>
                <a:latin typeface="Arial" panose="020B0604020202020204"/>
                <a:cs typeface="Arial" panose="020B0604020202020204"/>
              </a:rPr>
              <a:t>序列自编码器模型</a:t>
            </a:r>
            <a:r>
              <a:rPr lang="zh-CN" altLang="en-US" sz="2000">
                <a:solidFill>
                  <a:schemeClr val="bg1"/>
                </a:solidFill>
                <a:latin typeface="Arial" panose="020B0604020202020204"/>
                <a:cs typeface="Arial" panose="020B0604020202020204"/>
              </a:rPr>
              <a:t>以无监督的方式自动学习输入数据中最具代表性的特征，并最大限度地减少标签噪声的影响。</a:t>
            </a:r>
            <a:endParaRPr lang="zh-CN" altLang="en-US" sz="2000">
              <a:solidFill>
                <a:schemeClr val="bg1"/>
              </a:solidFill>
              <a:latin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标签校正模块</a:t>
            </a:r>
            <a:endParaRPr sz="3200" b="1" spc="-10" dirty="0">
              <a:solidFill>
                <a:srgbClr val="23366E"/>
              </a:solidFill>
              <a:latin typeface="Times New Roman" panose="02020603050405020304"/>
              <a:ea typeface="+mn-ea"/>
              <a:cs typeface="Times New Roman" panose="02020603050405020304"/>
            </a:endParaRPr>
          </a:p>
        </p:txBody>
      </p:sp>
      <p:sp>
        <p:nvSpPr>
          <p:cNvPr id="5" name="object 5"/>
          <p:cNvSpPr txBox="1"/>
          <p:nvPr/>
        </p:nvSpPr>
        <p:spPr>
          <a:xfrm>
            <a:off x="3662773" y="4288665"/>
            <a:ext cx="6355310" cy="1099185"/>
          </a:xfrm>
          <a:prstGeom prst="rect">
            <a:avLst/>
          </a:prstGeom>
        </p:spPr>
        <p:txBody>
          <a:bodyPr vert="horz" wrap="square" lIns="0" tIns="54702" rIns="0" bIns="0" rtlCol="0">
            <a:spAutoFit/>
          </a:bodyPr>
          <a:lstStyle/>
          <a:p>
            <a:pPr marL="251460" indent="-201295">
              <a:lnSpc>
                <a:spcPct val="100000"/>
              </a:lnSpc>
              <a:spcBef>
                <a:spcPts val="475"/>
              </a:spcBef>
              <a:buChar char="•"/>
              <a:tabLst>
                <a:tab pos="251460" algn="l"/>
                <a:tab pos="252095" algn="l"/>
              </a:tabLst>
            </a:pPr>
            <a:r>
              <a:rPr lang="zh-CN" altLang="en-US" sz="2000">
                <a:latin typeface="Arial" panose="020B0604020202020204"/>
                <a:cs typeface="Arial" panose="020B0604020202020204"/>
              </a:rPr>
              <a:t>使用</a:t>
            </a:r>
            <a:r>
              <a:rPr lang="en-US" altLang="zh-CN" sz="2000">
                <a:latin typeface="Arial" panose="020B0604020202020204"/>
                <a:cs typeface="Arial" panose="020B0604020202020204"/>
              </a:rPr>
              <a:t> MADE[1] </a:t>
            </a:r>
            <a:r>
              <a:rPr lang="zh-CN" altLang="en-US" sz="2000">
                <a:latin typeface="Arial" panose="020B0604020202020204"/>
                <a:cs typeface="Arial" panose="020B0604020202020204"/>
              </a:rPr>
              <a:t>模型估计流量数据的分布。</a:t>
            </a:r>
            <a:endParaRPr lang="en-US" altLang="zh-CN" sz="2000">
              <a:latin typeface="Arial" panose="020B0604020202020204"/>
              <a:cs typeface="Arial" panose="020B0604020202020204"/>
            </a:endParaRPr>
          </a:p>
          <a:p>
            <a:pPr marL="251460" indent="-201295">
              <a:lnSpc>
                <a:spcPct val="100000"/>
              </a:lnSpc>
              <a:spcBef>
                <a:spcPts val="475"/>
              </a:spcBef>
              <a:buChar char="•"/>
              <a:tabLst>
                <a:tab pos="251460" algn="l"/>
                <a:tab pos="252095" algn="l"/>
              </a:tabLst>
            </a:pPr>
            <a:r>
              <a:rPr lang="zh-CN" altLang="en-US" sz="2000">
                <a:latin typeface="Arial" panose="020B0604020202020204"/>
                <a:cs typeface="Arial" panose="020B0604020202020204"/>
              </a:rPr>
              <a:t>使用概率密度函数识别分布最显著的训练样本。</a:t>
            </a:r>
            <a:endParaRPr lang="en-US" altLang="zh-CN" sz="2000">
              <a:latin typeface="Arial" panose="020B0604020202020204"/>
              <a:cs typeface="Arial" panose="020B0604020202020204"/>
            </a:endParaRPr>
          </a:p>
          <a:p>
            <a:pPr marL="251460" indent="-201295">
              <a:lnSpc>
                <a:spcPct val="100000"/>
              </a:lnSpc>
              <a:spcBef>
                <a:spcPts val="475"/>
              </a:spcBef>
              <a:buChar char="•"/>
              <a:tabLst>
                <a:tab pos="251460" algn="l"/>
                <a:tab pos="252095" algn="l"/>
              </a:tabLst>
            </a:pPr>
            <a:r>
              <a:rPr lang="zh-CN" altLang="en-US" sz="2000">
                <a:latin typeface="Arial" panose="020B0604020202020204"/>
                <a:cs typeface="Arial" panose="020B0604020202020204"/>
              </a:rPr>
              <a:t>构建一个由七个经典机器学习分类器组成的集成模型。</a:t>
            </a:r>
            <a:endParaRPr lang="zh-CN" altLang="en-US" sz="2000">
              <a:latin typeface="Arial" panose="020B0604020202020204"/>
              <a:cs typeface="Arial" panose="020B0604020202020204"/>
            </a:endParaRPr>
          </a:p>
        </p:txBody>
      </p:sp>
      <p:sp>
        <p:nvSpPr>
          <p:cNvPr id="43" name="object 43"/>
          <p:cNvSpPr txBox="1"/>
          <p:nvPr/>
        </p:nvSpPr>
        <p:spPr>
          <a:xfrm>
            <a:off x="958850" y="6323965"/>
            <a:ext cx="9687560" cy="168275"/>
          </a:xfrm>
          <a:prstGeom prst="rect">
            <a:avLst/>
          </a:prstGeom>
        </p:spPr>
        <p:txBody>
          <a:bodyPr vert="horz" wrap="square" lIns="0" tIns="10364" rIns="0" bIns="0" rtlCol="0">
            <a:spAutoFit/>
          </a:bodyPr>
          <a:lstStyle/>
          <a:p>
            <a:pPr marL="12700" marR="5080">
              <a:lnSpc>
                <a:spcPct val="103000"/>
              </a:lnSpc>
              <a:spcBef>
                <a:spcPts val="90"/>
              </a:spcBef>
            </a:pPr>
            <a:r>
              <a:rPr sz="1000" dirty="0">
                <a:solidFill>
                  <a:srgbClr val="0C1C2B"/>
                </a:solidFill>
                <a:latin typeface="Arial" panose="020B0604020202020204"/>
                <a:cs typeface="Arial" panose="020B0604020202020204"/>
              </a:rPr>
              <a:t>[1]</a:t>
            </a:r>
            <a:r>
              <a:rPr sz="1000" spc="3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Germain</a:t>
            </a:r>
            <a:r>
              <a:rPr sz="1000" spc="7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M,</a:t>
            </a:r>
            <a:r>
              <a:rPr sz="1000" spc="5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Gregor</a:t>
            </a:r>
            <a:r>
              <a:rPr sz="1000" spc="4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K,</a:t>
            </a:r>
            <a:r>
              <a:rPr sz="1000" spc="3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Murray</a:t>
            </a:r>
            <a:r>
              <a:rPr sz="1000" spc="6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I,</a:t>
            </a:r>
            <a:r>
              <a:rPr sz="1000" spc="5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et</a:t>
            </a:r>
            <a:r>
              <a:rPr sz="1000" spc="6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al.</a:t>
            </a:r>
            <a:r>
              <a:rPr sz="1000" spc="4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Made:</a:t>
            </a:r>
            <a:r>
              <a:rPr sz="1000" spc="2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Masked</a:t>
            </a:r>
            <a:r>
              <a:rPr sz="1000" spc="1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autoencoder</a:t>
            </a:r>
            <a:r>
              <a:rPr sz="1000" spc="3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for</a:t>
            </a:r>
            <a:r>
              <a:rPr sz="1000" spc="4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distribution</a:t>
            </a:r>
            <a:r>
              <a:rPr sz="1000" spc="35" dirty="0">
                <a:solidFill>
                  <a:srgbClr val="0C1C2B"/>
                </a:solidFill>
                <a:latin typeface="Arial" panose="020B0604020202020204"/>
                <a:cs typeface="Arial" panose="020B0604020202020204"/>
              </a:rPr>
              <a:t> </a:t>
            </a:r>
            <a:r>
              <a:rPr sz="1000" spc="-10" dirty="0">
                <a:solidFill>
                  <a:srgbClr val="0C1C2B"/>
                </a:solidFill>
                <a:latin typeface="Arial" panose="020B0604020202020204"/>
                <a:cs typeface="Arial" panose="020B0604020202020204"/>
              </a:rPr>
              <a:t>estimation[C] </a:t>
            </a:r>
            <a:r>
              <a:rPr sz="1000" dirty="0">
                <a:solidFill>
                  <a:srgbClr val="0C1C2B"/>
                </a:solidFill>
                <a:latin typeface="Arial" panose="020B0604020202020204"/>
                <a:cs typeface="Arial" panose="020B0604020202020204"/>
              </a:rPr>
              <a:t>International</a:t>
            </a:r>
            <a:r>
              <a:rPr sz="1000" spc="4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conference</a:t>
            </a:r>
            <a:r>
              <a:rPr sz="1000" spc="3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on</a:t>
            </a:r>
            <a:r>
              <a:rPr sz="1000" spc="9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machine</a:t>
            </a:r>
            <a:r>
              <a:rPr sz="1000" spc="8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learning.</a:t>
            </a:r>
            <a:r>
              <a:rPr sz="1000" spc="5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PMLR,</a:t>
            </a:r>
            <a:r>
              <a:rPr sz="1000" spc="85"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2015:</a:t>
            </a:r>
            <a:r>
              <a:rPr sz="1000" spc="50" dirty="0">
                <a:solidFill>
                  <a:srgbClr val="0C1C2B"/>
                </a:solidFill>
                <a:latin typeface="Arial" panose="020B0604020202020204"/>
                <a:cs typeface="Arial" panose="020B0604020202020204"/>
              </a:rPr>
              <a:t> </a:t>
            </a:r>
            <a:r>
              <a:rPr sz="1000" dirty="0">
                <a:solidFill>
                  <a:srgbClr val="0C1C2B"/>
                </a:solidFill>
                <a:latin typeface="Arial" panose="020B0604020202020204"/>
                <a:cs typeface="Arial" panose="020B0604020202020204"/>
              </a:rPr>
              <a:t>881-</a:t>
            </a:r>
            <a:r>
              <a:rPr sz="1000" spc="-20" dirty="0">
                <a:solidFill>
                  <a:srgbClr val="0C1C2B"/>
                </a:solidFill>
                <a:latin typeface="Arial" panose="020B0604020202020204"/>
                <a:cs typeface="Arial" panose="020B0604020202020204"/>
              </a:rPr>
              <a:t>889.</a:t>
            </a:r>
            <a:endParaRPr sz="1000" spc="-20" dirty="0">
              <a:solidFill>
                <a:srgbClr val="0C1C2B"/>
              </a:solidFill>
              <a:latin typeface="Arial" panose="020B0604020202020204"/>
              <a:cs typeface="Arial" panose="020B0604020202020204"/>
            </a:endParaRPr>
          </a:p>
        </p:txBody>
      </p:sp>
      <p:grpSp>
        <p:nvGrpSpPr>
          <p:cNvPr id="44" name="object 44"/>
          <p:cNvGrpSpPr/>
          <p:nvPr/>
        </p:nvGrpSpPr>
        <p:grpSpPr>
          <a:xfrm>
            <a:off x="3562985" y="2840355"/>
            <a:ext cx="7713345" cy="1143635"/>
            <a:chOff x="2553462" y="3132582"/>
            <a:chExt cx="7816850" cy="1127760"/>
          </a:xfrm>
        </p:grpSpPr>
        <p:sp>
          <p:nvSpPr>
            <p:cNvPr id="45" name="object 45"/>
            <p:cNvSpPr/>
            <p:nvPr/>
          </p:nvSpPr>
          <p:spPr>
            <a:xfrm>
              <a:off x="2558796" y="3137916"/>
              <a:ext cx="7806055" cy="1117600"/>
            </a:xfrm>
            <a:custGeom>
              <a:avLst/>
              <a:gdLst/>
              <a:ahLst/>
              <a:cxnLst/>
              <a:rect l="l" t="t" r="r" b="b"/>
              <a:pathLst>
                <a:path w="7806055" h="1117600">
                  <a:moveTo>
                    <a:pt x="7551419" y="1117091"/>
                  </a:moveTo>
                  <a:lnTo>
                    <a:pt x="254507" y="1117091"/>
                  </a:lnTo>
                  <a:lnTo>
                    <a:pt x="208852" y="1112979"/>
                  </a:lnTo>
                  <a:lnTo>
                    <a:pt x="165844" y="1101128"/>
                  </a:lnTo>
                  <a:lnTo>
                    <a:pt x="126209" y="1082265"/>
                  </a:lnTo>
                  <a:lnTo>
                    <a:pt x="90676" y="1057118"/>
                  </a:lnTo>
                  <a:lnTo>
                    <a:pt x="59973" y="1026415"/>
                  </a:lnTo>
                  <a:lnTo>
                    <a:pt x="34826" y="990882"/>
                  </a:lnTo>
                  <a:lnTo>
                    <a:pt x="15963" y="951247"/>
                  </a:lnTo>
                  <a:lnTo>
                    <a:pt x="4112" y="908239"/>
                  </a:lnTo>
                  <a:lnTo>
                    <a:pt x="0" y="862583"/>
                  </a:lnTo>
                  <a:lnTo>
                    <a:pt x="0" y="254507"/>
                  </a:lnTo>
                  <a:lnTo>
                    <a:pt x="4112" y="208852"/>
                  </a:lnTo>
                  <a:lnTo>
                    <a:pt x="15963" y="165844"/>
                  </a:lnTo>
                  <a:lnTo>
                    <a:pt x="34826" y="126209"/>
                  </a:lnTo>
                  <a:lnTo>
                    <a:pt x="59973" y="90676"/>
                  </a:lnTo>
                  <a:lnTo>
                    <a:pt x="90676" y="59973"/>
                  </a:lnTo>
                  <a:lnTo>
                    <a:pt x="126209" y="34826"/>
                  </a:lnTo>
                  <a:lnTo>
                    <a:pt x="165844" y="15963"/>
                  </a:lnTo>
                  <a:lnTo>
                    <a:pt x="208852" y="4112"/>
                  </a:lnTo>
                  <a:lnTo>
                    <a:pt x="254507" y="0"/>
                  </a:lnTo>
                  <a:lnTo>
                    <a:pt x="7551419" y="0"/>
                  </a:lnTo>
                  <a:lnTo>
                    <a:pt x="7597075" y="4112"/>
                  </a:lnTo>
                  <a:lnTo>
                    <a:pt x="7640083" y="15963"/>
                  </a:lnTo>
                  <a:lnTo>
                    <a:pt x="7679718" y="34826"/>
                  </a:lnTo>
                  <a:lnTo>
                    <a:pt x="7715251" y="59973"/>
                  </a:lnTo>
                  <a:lnTo>
                    <a:pt x="7745954" y="90676"/>
                  </a:lnTo>
                  <a:lnTo>
                    <a:pt x="7771101" y="126209"/>
                  </a:lnTo>
                  <a:lnTo>
                    <a:pt x="7789964" y="165844"/>
                  </a:lnTo>
                  <a:lnTo>
                    <a:pt x="7801816" y="208852"/>
                  </a:lnTo>
                  <a:lnTo>
                    <a:pt x="7805928" y="254507"/>
                  </a:lnTo>
                  <a:lnTo>
                    <a:pt x="7805928" y="862583"/>
                  </a:lnTo>
                  <a:lnTo>
                    <a:pt x="7801816" y="908239"/>
                  </a:lnTo>
                  <a:lnTo>
                    <a:pt x="7789964" y="951247"/>
                  </a:lnTo>
                  <a:lnTo>
                    <a:pt x="7771101" y="990882"/>
                  </a:lnTo>
                  <a:lnTo>
                    <a:pt x="7745954" y="1026415"/>
                  </a:lnTo>
                  <a:lnTo>
                    <a:pt x="7715251" y="1057118"/>
                  </a:lnTo>
                  <a:lnTo>
                    <a:pt x="7679718" y="1082265"/>
                  </a:lnTo>
                  <a:lnTo>
                    <a:pt x="7640083" y="1101128"/>
                  </a:lnTo>
                  <a:lnTo>
                    <a:pt x="7597075" y="1112979"/>
                  </a:lnTo>
                  <a:lnTo>
                    <a:pt x="7551419" y="1117091"/>
                  </a:lnTo>
                  <a:close/>
                </a:path>
              </a:pathLst>
            </a:custGeom>
            <a:solidFill>
              <a:srgbClr val="501D83"/>
            </a:solidFill>
          </p:spPr>
          <p:txBody>
            <a:bodyPr wrap="square" lIns="0" tIns="0" rIns="0" bIns="0" rtlCol="0"/>
            <a:lstStyle/>
            <a:p>
              <a:endParaRPr sz="1630"/>
            </a:p>
          </p:txBody>
        </p:sp>
        <p:sp>
          <p:nvSpPr>
            <p:cNvPr id="46" name="object 46"/>
            <p:cNvSpPr/>
            <p:nvPr/>
          </p:nvSpPr>
          <p:spPr>
            <a:xfrm>
              <a:off x="2558796" y="3137916"/>
              <a:ext cx="7806055" cy="1117600"/>
            </a:xfrm>
            <a:custGeom>
              <a:avLst/>
              <a:gdLst/>
              <a:ahLst/>
              <a:cxnLst/>
              <a:rect l="l" t="t" r="r" b="b"/>
              <a:pathLst>
                <a:path w="7806055" h="1117600">
                  <a:moveTo>
                    <a:pt x="0" y="254507"/>
                  </a:moveTo>
                  <a:lnTo>
                    <a:pt x="4112" y="208852"/>
                  </a:lnTo>
                  <a:lnTo>
                    <a:pt x="15963" y="165844"/>
                  </a:lnTo>
                  <a:lnTo>
                    <a:pt x="34826" y="126209"/>
                  </a:lnTo>
                  <a:lnTo>
                    <a:pt x="59973" y="90676"/>
                  </a:lnTo>
                  <a:lnTo>
                    <a:pt x="90676" y="59973"/>
                  </a:lnTo>
                  <a:lnTo>
                    <a:pt x="126209" y="34826"/>
                  </a:lnTo>
                  <a:lnTo>
                    <a:pt x="165844" y="15963"/>
                  </a:lnTo>
                  <a:lnTo>
                    <a:pt x="208852" y="4112"/>
                  </a:lnTo>
                  <a:lnTo>
                    <a:pt x="254507" y="0"/>
                  </a:lnTo>
                  <a:lnTo>
                    <a:pt x="7551419" y="0"/>
                  </a:lnTo>
                  <a:lnTo>
                    <a:pt x="7597075" y="4112"/>
                  </a:lnTo>
                  <a:lnTo>
                    <a:pt x="7640083" y="15963"/>
                  </a:lnTo>
                  <a:lnTo>
                    <a:pt x="7679718" y="34826"/>
                  </a:lnTo>
                  <a:lnTo>
                    <a:pt x="7715251" y="59973"/>
                  </a:lnTo>
                  <a:lnTo>
                    <a:pt x="7745954" y="90676"/>
                  </a:lnTo>
                  <a:lnTo>
                    <a:pt x="7771101" y="126209"/>
                  </a:lnTo>
                  <a:lnTo>
                    <a:pt x="7789964" y="165844"/>
                  </a:lnTo>
                  <a:lnTo>
                    <a:pt x="7801816" y="208852"/>
                  </a:lnTo>
                  <a:lnTo>
                    <a:pt x="7805928" y="254507"/>
                  </a:lnTo>
                  <a:lnTo>
                    <a:pt x="7805928" y="862583"/>
                  </a:lnTo>
                  <a:lnTo>
                    <a:pt x="7801816" y="908239"/>
                  </a:lnTo>
                  <a:lnTo>
                    <a:pt x="7789964" y="951247"/>
                  </a:lnTo>
                  <a:lnTo>
                    <a:pt x="7771101" y="990882"/>
                  </a:lnTo>
                  <a:lnTo>
                    <a:pt x="7745954" y="1026415"/>
                  </a:lnTo>
                  <a:lnTo>
                    <a:pt x="7715251" y="1057118"/>
                  </a:lnTo>
                  <a:lnTo>
                    <a:pt x="7679718" y="1082265"/>
                  </a:lnTo>
                  <a:lnTo>
                    <a:pt x="7640083" y="1101128"/>
                  </a:lnTo>
                  <a:lnTo>
                    <a:pt x="7597075" y="1112979"/>
                  </a:lnTo>
                  <a:lnTo>
                    <a:pt x="7551419" y="1117091"/>
                  </a:lnTo>
                  <a:lnTo>
                    <a:pt x="254507" y="1117091"/>
                  </a:lnTo>
                  <a:lnTo>
                    <a:pt x="208852" y="1112979"/>
                  </a:lnTo>
                  <a:lnTo>
                    <a:pt x="165844" y="1101128"/>
                  </a:lnTo>
                  <a:lnTo>
                    <a:pt x="126209" y="1082265"/>
                  </a:lnTo>
                  <a:lnTo>
                    <a:pt x="90676" y="1057118"/>
                  </a:lnTo>
                  <a:lnTo>
                    <a:pt x="59973" y="1026415"/>
                  </a:lnTo>
                  <a:lnTo>
                    <a:pt x="34826" y="990882"/>
                  </a:lnTo>
                  <a:lnTo>
                    <a:pt x="15963" y="951247"/>
                  </a:lnTo>
                  <a:lnTo>
                    <a:pt x="4112" y="908239"/>
                  </a:lnTo>
                  <a:lnTo>
                    <a:pt x="0" y="862583"/>
                  </a:lnTo>
                  <a:lnTo>
                    <a:pt x="0" y="254507"/>
                  </a:lnTo>
                  <a:close/>
                </a:path>
              </a:pathLst>
            </a:custGeom>
            <a:ln w="10668">
              <a:solidFill>
                <a:srgbClr val="38135E"/>
              </a:solidFill>
            </a:ln>
          </p:spPr>
          <p:txBody>
            <a:bodyPr wrap="square" lIns="0" tIns="0" rIns="0" bIns="0" rtlCol="0"/>
            <a:lstStyle/>
            <a:p>
              <a:endParaRPr sz="1630"/>
            </a:p>
          </p:txBody>
        </p:sp>
      </p:grpSp>
      <p:sp>
        <p:nvSpPr>
          <p:cNvPr id="47" name="object 47"/>
          <p:cNvSpPr txBox="1"/>
          <p:nvPr/>
        </p:nvSpPr>
        <p:spPr>
          <a:xfrm>
            <a:off x="3841750" y="2895918"/>
            <a:ext cx="7155815" cy="1001395"/>
          </a:xfrm>
          <a:prstGeom prst="rect">
            <a:avLst/>
          </a:prstGeom>
        </p:spPr>
        <p:txBody>
          <a:bodyPr vert="horz" wrap="square" lIns="0" tIns="78311" rIns="0" bIns="0" rtlCol="0">
            <a:spAutoFit/>
          </a:bodyPr>
          <a:lstStyle/>
          <a:p>
            <a:pPr marL="29210" indent="-17145">
              <a:lnSpc>
                <a:spcPct val="100000"/>
              </a:lnSpc>
              <a:spcBef>
                <a:spcPts val="680"/>
              </a:spcBef>
            </a:pPr>
            <a:r>
              <a:rPr lang="zh-CN" altLang="en-US" sz="2000">
                <a:solidFill>
                  <a:schemeClr val="bg1"/>
                </a:solidFill>
                <a:latin typeface="Arial" panose="020B0604020202020204"/>
                <a:cs typeface="Arial" panose="020B0604020202020204"/>
              </a:rPr>
              <a:t>使用</a:t>
            </a:r>
            <a:r>
              <a:rPr lang="zh-CN" altLang="en-US" sz="2000" b="1">
                <a:solidFill>
                  <a:schemeClr val="bg1"/>
                </a:solidFill>
                <a:latin typeface="Arial" panose="020B0604020202020204"/>
                <a:cs typeface="Arial" panose="020B0604020202020204"/>
              </a:rPr>
              <a:t>深度生成模型</a:t>
            </a:r>
            <a:r>
              <a:rPr lang="zh-CN" altLang="en-US" sz="2000">
                <a:solidFill>
                  <a:schemeClr val="bg1"/>
                </a:solidFill>
                <a:latin typeface="Arial" panose="020B0604020202020204"/>
                <a:cs typeface="Arial" panose="020B0604020202020204"/>
              </a:rPr>
              <a:t>准确估计数据的分布，重新标记具有最显着分布的部分训练样本，并利用它们通过集成学习推断其他样本的标签</a:t>
            </a:r>
            <a:endParaRPr lang="zh-CN" altLang="en-US" sz="2000">
              <a:solidFill>
                <a:schemeClr val="bg1"/>
              </a:solidFill>
              <a:latin typeface="Arial" panose="020B0604020202020204"/>
              <a:cs typeface="Arial" panose="020B0604020202020204"/>
            </a:endParaRPr>
          </a:p>
        </p:txBody>
      </p:sp>
      <p:pic>
        <p:nvPicPr>
          <p:cNvPr id="52" name="图片 51"/>
          <p:cNvPicPr>
            <a:picLocks noChangeAspect="1"/>
          </p:cNvPicPr>
          <p:nvPr/>
        </p:nvPicPr>
        <p:blipFill>
          <a:blip r:embed="rId1"/>
          <a:stretch>
            <a:fillRect/>
          </a:stretch>
        </p:blipFill>
        <p:spPr>
          <a:xfrm>
            <a:off x="788670" y="2624455"/>
            <a:ext cx="2563495" cy="3533775"/>
          </a:xfrm>
          <a:prstGeom prst="rect">
            <a:avLst/>
          </a:prstGeom>
        </p:spPr>
      </p:pic>
      <p:sp>
        <p:nvSpPr>
          <p:cNvPr id="53" name="object 3"/>
          <p:cNvSpPr txBox="1"/>
          <p:nvPr/>
        </p:nvSpPr>
        <p:spPr>
          <a:xfrm>
            <a:off x="2699385" y="1908175"/>
            <a:ext cx="8642985" cy="766445"/>
          </a:xfrm>
          <a:prstGeom prst="rect">
            <a:avLst/>
          </a:prstGeom>
        </p:spPr>
        <p:txBody>
          <a:bodyPr vert="horz" wrap="square" lIns="0" tIns="9788" rIns="0" bIns="0" rtlCol="0">
            <a:noAutofit/>
          </a:bodyPr>
          <a:lstStyle/>
          <a:p>
            <a:pPr marL="12700" marR="5080" algn="just">
              <a:lnSpc>
                <a:spcPct val="122000"/>
              </a:lnSpc>
              <a:spcBef>
                <a:spcPts val="85"/>
              </a:spcBef>
            </a:pPr>
            <a:r>
              <a:rPr lang="zh-CN" altLang="en-US" sz="2000">
                <a:latin typeface="Arial" panose="020B0604020202020204"/>
                <a:cs typeface="Arial" panose="020B0604020202020204"/>
              </a:rPr>
              <a:t>高维流量数据的分布难以准确估计，且正常数据分布与恶意数据分布之间的差异可能并不显著</a:t>
            </a:r>
            <a:r>
              <a:rPr lang="en-US" altLang="zh-CN" sz="2000">
                <a:latin typeface="Arial" panose="020B0604020202020204"/>
                <a:cs typeface="Arial" panose="020B0604020202020204"/>
              </a:rPr>
              <a:t>.</a:t>
            </a:r>
            <a:endParaRPr lang="en-US" altLang="zh-CN" sz="2000">
              <a:latin typeface="Arial" panose="020B0604020202020204"/>
              <a:cs typeface="Arial" panose="020B0604020202020204"/>
            </a:endParaRPr>
          </a:p>
        </p:txBody>
      </p:sp>
      <p:sp>
        <p:nvSpPr>
          <p:cNvPr id="54" name="object 18"/>
          <p:cNvSpPr txBox="1"/>
          <p:nvPr/>
        </p:nvSpPr>
        <p:spPr>
          <a:xfrm>
            <a:off x="1058744" y="1335455"/>
            <a:ext cx="7248405" cy="380365"/>
          </a:xfrm>
          <a:prstGeom prst="rect">
            <a:avLst/>
          </a:prstGeom>
        </p:spPr>
        <p:txBody>
          <a:bodyPr vert="horz" wrap="square" lIns="0" tIns="11516" rIns="0" bIns="0" rtlCol="0">
            <a:spAutoFit/>
          </a:bodyPr>
          <a:lstStyle/>
          <a:p>
            <a:pPr marL="12700">
              <a:lnSpc>
                <a:spcPct val="100000"/>
              </a:lnSpc>
              <a:spcBef>
                <a:spcPts val="100"/>
              </a:spcBef>
            </a:pPr>
            <a:r>
              <a:rPr lang="zh-CN" altLang="en-US" sz="2400" b="1">
                <a:latin typeface="Arial" panose="020B0604020202020204"/>
                <a:cs typeface="Arial" panose="020B0604020202020204"/>
              </a:rPr>
              <a:t>目标：</a:t>
            </a:r>
            <a:r>
              <a:rPr lang="zh-CN" altLang="en-US" sz="2400">
                <a:latin typeface="Arial" panose="020B0604020202020204"/>
                <a:cs typeface="Arial" panose="020B0604020202020204"/>
              </a:rPr>
              <a:t>估计训练数据的分布以检测和纠正标签噪声</a:t>
            </a:r>
            <a:endParaRPr lang="zh-CN" altLang="en-US" sz="2400">
              <a:latin typeface="Arial" panose="020B0604020202020204"/>
              <a:cs typeface="Arial" panose="020B0604020202020204"/>
            </a:endParaRPr>
          </a:p>
        </p:txBody>
      </p:sp>
      <p:sp>
        <p:nvSpPr>
          <p:cNvPr id="55" name="object 19"/>
          <p:cNvSpPr txBox="1"/>
          <p:nvPr/>
        </p:nvSpPr>
        <p:spPr>
          <a:xfrm>
            <a:off x="1058545" y="1908175"/>
            <a:ext cx="2110105" cy="380365"/>
          </a:xfrm>
          <a:prstGeom prst="rect">
            <a:avLst/>
          </a:prstGeom>
        </p:spPr>
        <p:txBody>
          <a:bodyPr vert="horz" wrap="square" lIns="0" tIns="11516" rIns="0" bIns="0" rtlCol="0">
            <a:spAutoFit/>
          </a:bodyPr>
          <a:lstStyle/>
          <a:p>
            <a:pPr marL="12700">
              <a:lnSpc>
                <a:spcPct val="100000"/>
              </a:lnSpc>
              <a:spcBef>
                <a:spcPts val="100"/>
              </a:spcBef>
            </a:pPr>
            <a:r>
              <a:rPr sz="2400" b="1" spc="-10" dirty="0">
                <a:solidFill>
                  <a:srgbClr val="FF0000"/>
                </a:solidFill>
                <a:latin typeface="Arial" panose="020B0604020202020204"/>
                <a:cs typeface="Arial" panose="020B0604020202020204"/>
              </a:rPr>
              <a:t>Challenge:</a:t>
            </a:r>
            <a:endParaRPr sz="2400" b="1" spc="-10" dirty="0">
              <a:solidFill>
                <a:srgbClr val="FF0000"/>
              </a:solidFill>
              <a:latin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bject 40"/>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sym typeface="+mn-ea"/>
              </a:rPr>
              <a:t>数据增强模块</a:t>
            </a:r>
            <a:endParaRPr sz="3200" b="1" spc="-10" dirty="0">
              <a:solidFill>
                <a:srgbClr val="23366E"/>
              </a:solidFill>
              <a:latin typeface="Times New Roman" panose="02020603050405020304"/>
              <a:ea typeface="+mn-ea"/>
              <a:cs typeface="Times New Roman" panose="02020603050405020304"/>
            </a:endParaRPr>
          </a:p>
        </p:txBody>
      </p:sp>
      <p:grpSp>
        <p:nvGrpSpPr>
          <p:cNvPr id="41" name="object 41"/>
          <p:cNvGrpSpPr/>
          <p:nvPr/>
        </p:nvGrpSpPr>
        <p:grpSpPr>
          <a:xfrm>
            <a:off x="3470910" y="2880995"/>
            <a:ext cx="7499350" cy="798195"/>
            <a:chOff x="2458973" y="2900933"/>
            <a:chExt cx="7298690" cy="826135"/>
          </a:xfrm>
        </p:grpSpPr>
        <p:sp>
          <p:nvSpPr>
            <p:cNvPr id="42" name="object 42"/>
            <p:cNvSpPr/>
            <p:nvPr/>
          </p:nvSpPr>
          <p:spPr>
            <a:xfrm>
              <a:off x="2464307" y="2906267"/>
              <a:ext cx="7287895" cy="815340"/>
            </a:xfrm>
            <a:custGeom>
              <a:avLst/>
              <a:gdLst/>
              <a:ahLst/>
              <a:cxnLst/>
              <a:rect l="l" t="t" r="r" b="b"/>
              <a:pathLst>
                <a:path w="7287895" h="815339">
                  <a:moveTo>
                    <a:pt x="7083551" y="815340"/>
                  </a:moveTo>
                  <a:lnTo>
                    <a:pt x="204216" y="815340"/>
                  </a:lnTo>
                  <a:lnTo>
                    <a:pt x="157394" y="809950"/>
                  </a:lnTo>
                  <a:lnTo>
                    <a:pt x="114411" y="794617"/>
                  </a:lnTo>
                  <a:lnTo>
                    <a:pt x="76493" y="770593"/>
                  </a:lnTo>
                  <a:lnTo>
                    <a:pt x="44866" y="739131"/>
                  </a:lnTo>
                  <a:lnTo>
                    <a:pt x="20758" y="701484"/>
                  </a:lnTo>
                  <a:lnTo>
                    <a:pt x="5393" y="658905"/>
                  </a:lnTo>
                  <a:lnTo>
                    <a:pt x="0" y="612648"/>
                  </a:lnTo>
                  <a:lnTo>
                    <a:pt x="0" y="204216"/>
                  </a:lnTo>
                  <a:lnTo>
                    <a:pt x="5393" y="157394"/>
                  </a:lnTo>
                  <a:lnTo>
                    <a:pt x="20758" y="114411"/>
                  </a:lnTo>
                  <a:lnTo>
                    <a:pt x="44866" y="76493"/>
                  </a:lnTo>
                  <a:lnTo>
                    <a:pt x="76493" y="44866"/>
                  </a:lnTo>
                  <a:lnTo>
                    <a:pt x="114411" y="20758"/>
                  </a:lnTo>
                  <a:lnTo>
                    <a:pt x="157394" y="5393"/>
                  </a:lnTo>
                  <a:lnTo>
                    <a:pt x="204216" y="0"/>
                  </a:lnTo>
                  <a:lnTo>
                    <a:pt x="7083551" y="0"/>
                  </a:lnTo>
                  <a:lnTo>
                    <a:pt x="7130373" y="5393"/>
                  </a:lnTo>
                  <a:lnTo>
                    <a:pt x="7173356" y="20758"/>
                  </a:lnTo>
                  <a:lnTo>
                    <a:pt x="7211274" y="44866"/>
                  </a:lnTo>
                  <a:lnTo>
                    <a:pt x="7242901" y="76493"/>
                  </a:lnTo>
                  <a:lnTo>
                    <a:pt x="7267009" y="114411"/>
                  </a:lnTo>
                  <a:lnTo>
                    <a:pt x="7282373" y="157394"/>
                  </a:lnTo>
                  <a:lnTo>
                    <a:pt x="7287767" y="204216"/>
                  </a:lnTo>
                  <a:lnTo>
                    <a:pt x="7287767" y="612648"/>
                  </a:lnTo>
                  <a:lnTo>
                    <a:pt x="7282373" y="658905"/>
                  </a:lnTo>
                  <a:lnTo>
                    <a:pt x="7267009" y="701484"/>
                  </a:lnTo>
                  <a:lnTo>
                    <a:pt x="7242901" y="739131"/>
                  </a:lnTo>
                  <a:lnTo>
                    <a:pt x="7211274" y="770593"/>
                  </a:lnTo>
                  <a:lnTo>
                    <a:pt x="7173356" y="794617"/>
                  </a:lnTo>
                  <a:lnTo>
                    <a:pt x="7130373" y="809950"/>
                  </a:lnTo>
                  <a:lnTo>
                    <a:pt x="7083551" y="815340"/>
                  </a:lnTo>
                  <a:close/>
                </a:path>
              </a:pathLst>
            </a:custGeom>
            <a:solidFill>
              <a:srgbClr val="501D83"/>
            </a:solidFill>
          </p:spPr>
          <p:txBody>
            <a:bodyPr wrap="square" lIns="0" tIns="0" rIns="0" bIns="0" rtlCol="0"/>
            <a:lstStyle/>
            <a:p>
              <a:endParaRPr sz="1630"/>
            </a:p>
          </p:txBody>
        </p:sp>
        <p:sp>
          <p:nvSpPr>
            <p:cNvPr id="43" name="object 43"/>
            <p:cNvSpPr/>
            <p:nvPr/>
          </p:nvSpPr>
          <p:spPr>
            <a:xfrm>
              <a:off x="2464307" y="2906267"/>
              <a:ext cx="7287895" cy="815340"/>
            </a:xfrm>
            <a:custGeom>
              <a:avLst/>
              <a:gdLst/>
              <a:ahLst/>
              <a:cxnLst/>
              <a:rect l="l" t="t" r="r" b="b"/>
              <a:pathLst>
                <a:path w="7287895" h="815339">
                  <a:moveTo>
                    <a:pt x="0" y="204216"/>
                  </a:moveTo>
                  <a:lnTo>
                    <a:pt x="5393" y="157394"/>
                  </a:lnTo>
                  <a:lnTo>
                    <a:pt x="20758" y="114411"/>
                  </a:lnTo>
                  <a:lnTo>
                    <a:pt x="44866" y="76493"/>
                  </a:lnTo>
                  <a:lnTo>
                    <a:pt x="76493" y="44866"/>
                  </a:lnTo>
                  <a:lnTo>
                    <a:pt x="114411" y="20758"/>
                  </a:lnTo>
                  <a:lnTo>
                    <a:pt x="157394" y="5393"/>
                  </a:lnTo>
                  <a:lnTo>
                    <a:pt x="204216" y="0"/>
                  </a:lnTo>
                  <a:lnTo>
                    <a:pt x="7083551" y="0"/>
                  </a:lnTo>
                  <a:lnTo>
                    <a:pt x="7130373" y="5393"/>
                  </a:lnTo>
                  <a:lnTo>
                    <a:pt x="7173356" y="20758"/>
                  </a:lnTo>
                  <a:lnTo>
                    <a:pt x="7211274" y="44866"/>
                  </a:lnTo>
                  <a:lnTo>
                    <a:pt x="7242901" y="76493"/>
                  </a:lnTo>
                  <a:lnTo>
                    <a:pt x="7267009" y="114411"/>
                  </a:lnTo>
                  <a:lnTo>
                    <a:pt x="7282373" y="157394"/>
                  </a:lnTo>
                  <a:lnTo>
                    <a:pt x="7287767" y="204216"/>
                  </a:lnTo>
                  <a:lnTo>
                    <a:pt x="7287767" y="612648"/>
                  </a:lnTo>
                  <a:lnTo>
                    <a:pt x="7282373" y="658905"/>
                  </a:lnTo>
                  <a:lnTo>
                    <a:pt x="7267009" y="701484"/>
                  </a:lnTo>
                  <a:lnTo>
                    <a:pt x="7242901" y="739131"/>
                  </a:lnTo>
                  <a:lnTo>
                    <a:pt x="7211274" y="770593"/>
                  </a:lnTo>
                  <a:lnTo>
                    <a:pt x="7173356" y="794617"/>
                  </a:lnTo>
                  <a:lnTo>
                    <a:pt x="7130373" y="809950"/>
                  </a:lnTo>
                  <a:lnTo>
                    <a:pt x="7083551" y="815340"/>
                  </a:lnTo>
                  <a:lnTo>
                    <a:pt x="204216" y="815340"/>
                  </a:lnTo>
                  <a:lnTo>
                    <a:pt x="157394" y="809950"/>
                  </a:lnTo>
                  <a:lnTo>
                    <a:pt x="114411" y="794617"/>
                  </a:lnTo>
                  <a:lnTo>
                    <a:pt x="76493" y="770593"/>
                  </a:lnTo>
                  <a:lnTo>
                    <a:pt x="44866" y="739131"/>
                  </a:lnTo>
                  <a:lnTo>
                    <a:pt x="20758" y="701484"/>
                  </a:lnTo>
                  <a:lnTo>
                    <a:pt x="5393" y="658905"/>
                  </a:lnTo>
                  <a:lnTo>
                    <a:pt x="0" y="612648"/>
                  </a:lnTo>
                  <a:lnTo>
                    <a:pt x="0" y="204216"/>
                  </a:lnTo>
                  <a:close/>
                </a:path>
              </a:pathLst>
            </a:custGeom>
            <a:ln w="10668">
              <a:solidFill>
                <a:srgbClr val="38135E"/>
              </a:solidFill>
            </a:ln>
          </p:spPr>
          <p:txBody>
            <a:bodyPr wrap="square" lIns="0" tIns="0" rIns="0" bIns="0" rtlCol="0"/>
            <a:lstStyle/>
            <a:p>
              <a:endParaRPr sz="1630"/>
            </a:p>
          </p:txBody>
        </p:sp>
      </p:grpSp>
      <p:sp>
        <p:nvSpPr>
          <p:cNvPr id="44" name="object 44"/>
          <p:cNvSpPr txBox="1"/>
          <p:nvPr/>
        </p:nvSpPr>
        <p:spPr>
          <a:xfrm>
            <a:off x="3773805" y="2965133"/>
            <a:ext cx="6893560" cy="629920"/>
          </a:xfrm>
          <a:prstGeom prst="rect">
            <a:avLst/>
          </a:prstGeom>
        </p:spPr>
        <p:txBody>
          <a:bodyPr vert="horz" wrap="square" lIns="0" tIns="14971" rIns="0" bIns="0" rtlCol="0">
            <a:spAutoFit/>
          </a:bodyPr>
          <a:lstStyle/>
          <a:p>
            <a:pPr marL="29210" indent="-17145" algn="l">
              <a:lnSpc>
                <a:spcPct val="100000"/>
              </a:lnSpc>
              <a:spcBef>
                <a:spcPts val="680"/>
              </a:spcBef>
              <a:buClrTx/>
              <a:buSzTx/>
              <a:buFontTx/>
            </a:pPr>
            <a:r>
              <a:rPr lang="zh-CN" altLang="en-US" sz="2000">
                <a:solidFill>
                  <a:schemeClr val="bg1"/>
                </a:solidFill>
                <a:latin typeface="Arial" panose="020B0604020202020204"/>
                <a:cs typeface="Arial" panose="020B0604020202020204"/>
              </a:rPr>
              <a:t>预测新恶意样本的潜在区域，并从这些目标区域进行采样以生成新​​的多样化训练数据。</a:t>
            </a:r>
            <a:endParaRPr lang="zh-CN" altLang="en-US" sz="2000">
              <a:solidFill>
                <a:schemeClr val="bg1"/>
              </a:solidFill>
              <a:latin typeface="Arial" panose="020B0604020202020204"/>
              <a:cs typeface="Arial" panose="020B0604020202020204"/>
            </a:endParaRPr>
          </a:p>
        </p:txBody>
      </p:sp>
      <p:sp>
        <p:nvSpPr>
          <p:cNvPr id="47" name="object 47"/>
          <p:cNvSpPr txBox="1"/>
          <p:nvPr/>
        </p:nvSpPr>
        <p:spPr>
          <a:xfrm>
            <a:off x="3622675" y="3788410"/>
            <a:ext cx="2479040" cy="890270"/>
          </a:xfrm>
          <a:prstGeom prst="rect">
            <a:avLst/>
          </a:prstGeom>
        </p:spPr>
        <p:txBody>
          <a:bodyPr vert="horz" wrap="square" lIns="0" tIns="5758" rIns="0" bIns="0" rtlCol="0">
            <a:spAutoFit/>
          </a:bodyPr>
          <a:lstStyle/>
          <a:p>
            <a:pPr marL="38100" marR="30480">
              <a:lnSpc>
                <a:spcPct val="120000"/>
              </a:lnSpc>
              <a:spcBef>
                <a:spcPts val="50"/>
              </a:spcBef>
            </a:pPr>
            <a:r>
              <a:rPr sz="1600" dirty="0">
                <a:solidFill>
                  <a:srgbClr val="BF0000"/>
                </a:solidFill>
                <a:latin typeface="Cambria" panose="02040503050406030204"/>
                <a:cs typeface="Cambria" panose="02040503050406030204"/>
              </a:rPr>
              <a:t>𝑴</a:t>
            </a:r>
            <a:r>
              <a:rPr sz="1600" baseline="-16000" dirty="0">
                <a:solidFill>
                  <a:srgbClr val="BF0000"/>
                </a:solidFill>
                <a:latin typeface="Cambria" panose="02040503050406030204"/>
                <a:cs typeface="Cambria" panose="02040503050406030204"/>
              </a:rPr>
              <a:t>𝑩</a:t>
            </a:r>
            <a:r>
              <a:rPr sz="1600" dirty="0">
                <a:solidFill>
                  <a:srgbClr val="0C1C2B"/>
                </a:solidFill>
                <a:latin typeface="Arial" panose="020B0604020202020204"/>
                <a:cs typeface="Arial" panose="020B0604020202020204"/>
              </a:rPr>
              <a:t>:</a:t>
            </a:r>
            <a:r>
              <a:rPr sz="1600" spc="-5" dirty="0">
                <a:solidFill>
                  <a:srgbClr val="0C1C2B"/>
                </a:solidFill>
                <a:latin typeface="Arial" panose="020B0604020202020204"/>
                <a:cs typeface="Arial" panose="020B0604020202020204"/>
              </a:rPr>
              <a:t> </a:t>
            </a:r>
            <a:r>
              <a:rPr lang="zh-CN" altLang="en-US" sz="1600">
                <a:latin typeface="Arial" panose="020B0604020202020204"/>
                <a:cs typeface="Arial" panose="020B0604020202020204"/>
              </a:rPr>
              <a:t>攻击者可能会模仿正常行为以逃避检测（恶意行为与正常行为相似）。</a:t>
            </a:r>
            <a:endParaRPr lang="zh-CN" altLang="en-US" sz="1600">
              <a:latin typeface="Arial" panose="020B0604020202020204"/>
              <a:cs typeface="Arial" panose="020B0604020202020204"/>
            </a:endParaRPr>
          </a:p>
        </p:txBody>
      </p:sp>
      <p:sp>
        <p:nvSpPr>
          <p:cNvPr id="48" name="object 48"/>
          <p:cNvSpPr txBox="1"/>
          <p:nvPr/>
        </p:nvSpPr>
        <p:spPr>
          <a:xfrm>
            <a:off x="6208395" y="3790315"/>
            <a:ext cx="2193925" cy="595630"/>
          </a:xfrm>
          <a:prstGeom prst="rect">
            <a:avLst/>
          </a:prstGeom>
        </p:spPr>
        <p:txBody>
          <a:bodyPr vert="horz" wrap="square" lIns="0" tIns="5758" rIns="0" bIns="0" rtlCol="0">
            <a:spAutoFit/>
          </a:bodyPr>
          <a:lstStyle/>
          <a:p>
            <a:pPr marL="38100" marR="30480">
              <a:lnSpc>
                <a:spcPct val="120000"/>
              </a:lnSpc>
              <a:spcBef>
                <a:spcPts val="50"/>
              </a:spcBef>
            </a:pPr>
            <a:r>
              <a:rPr sz="1600" dirty="0">
                <a:solidFill>
                  <a:srgbClr val="BF0000"/>
                </a:solidFill>
                <a:latin typeface="Cambria" panose="02040503050406030204"/>
                <a:cs typeface="Cambria" panose="02040503050406030204"/>
              </a:rPr>
              <a:t>𝑴</a:t>
            </a:r>
            <a:r>
              <a:rPr sz="1600" baseline="-16000" dirty="0">
                <a:solidFill>
                  <a:srgbClr val="BF0000"/>
                </a:solidFill>
                <a:latin typeface="Cambria" panose="02040503050406030204"/>
                <a:cs typeface="Cambria" panose="02040503050406030204"/>
              </a:rPr>
              <a:t>𝑶</a:t>
            </a:r>
            <a:r>
              <a:rPr sz="1600" dirty="0">
                <a:solidFill>
                  <a:srgbClr val="0C1C2B"/>
                </a:solidFill>
                <a:latin typeface="Arial" panose="020B0604020202020204"/>
                <a:cs typeface="Arial" panose="020B0604020202020204"/>
              </a:rPr>
              <a:t>:</a:t>
            </a:r>
            <a:r>
              <a:rPr sz="1600" spc="80" dirty="0">
                <a:solidFill>
                  <a:srgbClr val="0C1C2B"/>
                </a:solidFill>
                <a:latin typeface="Arial" panose="020B0604020202020204"/>
                <a:cs typeface="Arial" panose="020B0604020202020204"/>
              </a:rPr>
              <a:t> </a:t>
            </a:r>
            <a:r>
              <a:rPr lang="zh-CN" altLang="en-US" sz="1600">
                <a:latin typeface="Arial" panose="020B0604020202020204"/>
                <a:cs typeface="Arial" panose="020B0604020202020204"/>
              </a:rPr>
              <a:t>新的攻击方法层出不穷，例如零日攻击等。</a:t>
            </a:r>
            <a:endParaRPr lang="zh-CN" altLang="en-US" sz="1600">
              <a:latin typeface="Arial" panose="020B0604020202020204"/>
              <a:cs typeface="Arial" panose="020B0604020202020204"/>
            </a:endParaRPr>
          </a:p>
        </p:txBody>
      </p:sp>
      <p:grpSp>
        <p:nvGrpSpPr>
          <p:cNvPr id="49" name="object 49"/>
          <p:cNvGrpSpPr/>
          <p:nvPr/>
        </p:nvGrpSpPr>
        <p:grpSpPr>
          <a:xfrm rot="0">
            <a:off x="3900805" y="4723130"/>
            <a:ext cx="1590040" cy="1388745"/>
            <a:chOff x="2866643" y="4584192"/>
            <a:chExt cx="1499870" cy="1356360"/>
          </a:xfrm>
        </p:grpSpPr>
        <p:sp>
          <p:nvSpPr>
            <p:cNvPr id="50" name="object 50"/>
            <p:cNvSpPr/>
            <p:nvPr/>
          </p:nvSpPr>
          <p:spPr>
            <a:xfrm>
              <a:off x="2878835" y="4596384"/>
              <a:ext cx="1475740" cy="1332230"/>
            </a:xfrm>
            <a:custGeom>
              <a:avLst/>
              <a:gdLst/>
              <a:ahLst/>
              <a:cxnLst/>
              <a:rect l="l" t="t" r="r" b="b"/>
              <a:pathLst>
                <a:path w="1475739" h="1332229">
                  <a:moveTo>
                    <a:pt x="0" y="222504"/>
                  </a:moveTo>
                  <a:lnTo>
                    <a:pt x="4497" y="177501"/>
                  </a:lnTo>
                  <a:lnTo>
                    <a:pt x="17406" y="135659"/>
                  </a:lnTo>
                  <a:lnTo>
                    <a:pt x="37852" y="97854"/>
                  </a:lnTo>
                  <a:lnTo>
                    <a:pt x="64960" y="64960"/>
                  </a:lnTo>
                  <a:lnTo>
                    <a:pt x="97854" y="37852"/>
                  </a:lnTo>
                  <a:lnTo>
                    <a:pt x="135659" y="17406"/>
                  </a:lnTo>
                  <a:lnTo>
                    <a:pt x="177501" y="4497"/>
                  </a:lnTo>
                  <a:lnTo>
                    <a:pt x="222504" y="0"/>
                  </a:lnTo>
                  <a:lnTo>
                    <a:pt x="1254251" y="0"/>
                  </a:lnTo>
                  <a:lnTo>
                    <a:pt x="1298751" y="4497"/>
                  </a:lnTo>
                  <a:lnTo>
                    <a:pt x="1340215" y="17406"/>
                  </a:lnTo>
                  <a:lnTo>
                    <a:pt x="1377749" y="37852"/>
                  </a:lnTo>
                  <a:lnTo>
                    <a:pt x="1410462" y="64960"/>
                  </a:lnTo>
                  <a:lnTo>
                    <a:pt x="1437459" y="97854"/>
                  </a:lnTo>
                  <a:lnTo>
                    <a:pt x="1457848" y="135659"/>
                  </a:lnTo>
                  <a:lnTo>
                    <a:pt x="1470737" y="177501"/>
                  </a:lnTo>
                  <a:lnTo>
                    <a:pt x="1475232" y="222504"/>
                  </a:lnTo>
                  <a:lnTo>
                    <a:pt x="1475232" y="1109472"/>
                  </a:lnTo>
                  <a:lnTo>
                    <a:pt x="1470737" y="1154474"/>
                  </a:lnTo>
                  <a:lnTo>
                    <a:pt x="1457848" y="1196316"/>
                  </a:lnTo>
                  <a:lnTo>
                    <a:pt x="1437459" y="1234121"/>
                  </a:lnTo>
                  <a:lnTo>
                    <a:pt x="1410462" y="1267015"/>
                  </a:lnTo>
                  <a:lnTo>
                    <a:pt x="1377749" y="1294123"/>
                  </a:lnTo>
                  <a:lnTo>
                    <a:pt x="1340215" y="1314569"/>
                  </a:lnTo>
                  <a:lnTo>
                    <a:pt x="1298751" y="1327478"/>
                  </a:lnTo>
                  <a:lnTo>
                    <a:pt x="1254251" y="1331976"/>
                  </a:lnTo>
                  <a:lnTo>
                    <a:pt x="222504" y="1331976"/>
                  </a:lnTo>
                  <a:lnTo>
                    <a:pt x="177501" y="1327478"/>
                  </a:lnTo>
                  <a:lnTo>
                    <a:pt x="135659" y="1314569"/>
                  </a:lnTo>
                  <a:lnTo>
                    <a:pt x="97854" y="1294123"/>
                  </a:lnTo>
                  <a:lnTo>
                    <a:pt x="64960" y="1267015"/>
                  </a:lnTo>
                  <a:lnTo>
                    <a:pt x="37852" y="1234121"/>
                  </a:lnTo>
                  <a:lnTo>
                    <a:pt x="17406" y="1196316"/>
                  </a:lnTo>
                  <a:lnTo>
                    <a:pt x="4497" y="1154474"/>
                  </a:lnTo>
                  <a:lnTo>
                    <a:pt x="0" y="1109472"/>
                  </a:lnTo>
                  <a:lnTo>
                    <a:pt x="0" y="222504"/>
                  </a:lnTo>
                  <a:close/>
                </a:path>
              </a:pathLst>
            </a:custGeom>
            <a:ln w="24384">
              <a:solidFill>
                <a:srgbClr val="0C1C2B"/>
              </a:solidFill>
            </a:ln>
          </p:spPr>
          <p:txBody>
            <a:bodyPr wrap="square" lIns="0" tIns="0" rIns="0" bIns="0" rtlCol="0"/>
            <a:lstStyle/>
            <a:p>
              <a:endParaRPr sz="1630"/>
            </a:p>
          </p:txBody>
        </p:sp>
        <p:sp>
          <p:nvSpPr>
            <p:cNvPr id="51" name="object 51"/>
            <p:cNvSpPr/>
            <p:nvPr/>
          </p:nvSpPr>
          <p:spPr>
            <a:xfrm>
              <a:off x="3285743" y="4904232"/>
              <a:ext cx="146685" cy="146685"/>
            </a:xfrm>
            <a:custGeom>
              <a:avLst/>
              <a:gdLst/>
              <a:ahLst/>
              <a:cxnLst/>
              <a:rect l="l" t="t" r="r" b="b"/>
              <a:pathLst>
                <a:path w="146685" h="146685">
                  <a:moveTo>
                    <a:pt x="73152" y="146303"/>
                  </a:moveTo>
                  <a:lnTo>
                    <a:pt x="44362" y="140660"/>
                  </a:lnTo>
                  <a:lnTo>
                    <a:pt x="21145" y="125158"/>
                  </a:lnTo>
                  <a:lnTo>
                    <a:pt x="5643" y="101941"/>
                  </a:lnTo>
                  <a:lnTo>
                    <a:pt x="0" y="73151"/>
                  </a:lnTo>
                  <a:lnTo>
                    <a:pt x="5643" y="45005"/>
                  </a:lnTo>
                  <a:lnTo>
                    <a:pt x="21145" y="21716"/>
                  </a:lnTo>
                  <a:lnTo>
                    <a:pt x="44362" y="5857"/>
                  </a:lnTo>
                  <a:lnTo>
                    <a:pt x="73152" y="0"/>
                  </a:lnTo>
                  <a:lnTo>
                    <a:pt x="101298" y="5857"/>
                  </a:lnTo>
                  <a:lnTo>
                    <a:pt x="124586" y="21716"/>
                  </a:lnTo>
                  <a:lnTo>
                    <a:pt x="140446" y="45005"/>
                  </a:lnTo>
                  <a:lnTo>
                    <a:pt x="146304" y="73151"/>
                  </a:lnTo>
                  <a:lnTo>
                    <a:pt x="140446" y="101941"/>
                  </a:lnTo>
                  <a:lnTo>
                    <a:pt x="124586" y="125158"/>
                  </a:lnTo>
                  <a:lnTo>
                    <a:pt x="101298" y="140660"/>
                  </a:lnTo>
                  <a:lnTo>
                    <a:pt x="73152" y="146303"/>
                  </a:lnTo>
                  <a:close/>
                </a:path>
              </a:pathLst>
            </a:custGeom>
            <a:solidFill>
              <a:srgbClr val="344B74"/>
            </a:solidFill>
          </p:spPr>
          <p:txBody>
            <a:bodyPr wrap="square" lIns="0" tIns="0" rIns="0" bIns="0" rtlCol="0"/>
            <a:lstStyle/>
            <a:p>
              <a:endParaRPr sz="1630"/>
            </a:p>
          </p:txBody>
        </p:sp>
        <p:pic>
          <p:nvPicPr>
            <p:cNvPr id="52" name="object 52"/>
            <p:cNvPicPr/>
            <p:nvPr/>
          </p:nvPicPr>
          <p:blipFill>
            <a:blip r:embed="rId1" cstate="print"/>
            <a:stretch>
              <a:fillRect/>
            </a:stretch>
          </p:blipFill>
          <p:spPr>
            <a:xfrm>
              <a:off x="3223259" y="5199887"/>
              <a:ext cx="146304" cy="146303"/>
            </a:xfrm>
            <a:prstGeom prst="rect">
              <a:avLst/>
            </a:prstGeom>
          </p:spPr>
        </p:pic>
        <p:pic>
          <p:nvPicPr>
            <p:cNvPr id="53" name="object 53"/>
            <p:cNvPicPr/>
            <p:nvPr/>
          </p:nvPicPr>
          <p:blipFill>
            <a:blip r:embed="rId2" cstate="print"/>
            <a:stretch>
              <a:fillRect/>
            </a:stretch>
          </p:blipFill>
          <p:spPr>
            <a:xfrm>
              <a:off x="3649980" y="5151119"/>
              <a:ext cx="146303" cy="146303"/>
            </a:xfrm>
            <a:prstGeom prst="rect">
              <a:avLst/>
            </a:prstGeom>
          </p:spPr>
        </p:pic>
        <p:sp>
          <p:nvSpPr>
            <p:cNvPr id="54" name="object 54"/>
            <p:cNvSpPr/>
            <p:nvPr/>
          </p:nvSpPr>
          <p:spPr>
            <a:xfrm>
              <a:off x="3422903" y="5059680"/>
              <a:ext cx="146685" cy="147955"/>
            </a:xfrm>
            <a:custGeom>
              <a:avLst/>
              <a:gdLst/>
              <a:ahLst/>
              <a:cxnLst/>
              <a:rect l="l" t="t" r="r" b="b"/>
              <a:pathLst>
                <a:path w="146685" h="147954">
                  <a:moveTo>
                    <a:pt x="73152" y="147827"/>
                  </a:moveTo>
                  <a:lnTo>
                    <a:pt x="45005" y="141946"/>
                  </a:lnTo>
                  <a:lnTo>
                    <a:pt x="21716" y="125920"/>
                  </a:lnTo>
                  <a:lnTo>
                    <a:pt x="5857" y="102179"/>
                  </a:lnTo>
                  <a:lnTo>
                    <a:pt x="0" y="73151"/>
                  </a:lnTo>
                  <a:lnTo>
                    <a:pt x="5857" y="45005"/>
                  </a:lnTo>
                  <a:lnTo>
                    <a:pt x="21717" y="21716"/>
                  </a:lnTo>
                  <a:lnTo>
                    <a:pt x="45005" y="5857"/>
                  </a:lnTo>
                  <a:lnTo>
                    <a:pt x="73152" y="0"/>
                  </a:lnTo>
                  <a:lnTo>
                    <a:pt x="101941" y="5857"/>
                  </a:lnTo>
                  <a:lnTo>
                    <a:pt x="125158" y="21716"/>
                  </a:lnTo>
                  <a:lnTo>
                    <a:pt x="140660" y="45005"/>
                  </a:lnTo>
                  <a:lnTo>
                    <a:pt x="146304" y="73151"/>
                  </a:lnTo>
                  <a:lnTo>
                    <a:pt x="140660" y="102179"/>
                  </a:lnTo>
                  <a:lnTo>
                    <a:pt x="125158" y="125920"/>
                  </a:lnTo>
                  <a:lnTo>
                    <a:pt x="101941" y="141946"/>
                  </a:lnTo>
                  <a:lnTo>
                    <a:pt x="73152" y="147827"/>
                  </a:lnTo>
                  <a:close/>
                </a:path>
              </a:pathLst>
            </a:custGeom>
            <a:solidFill>
              <a:srgbClr val="344B74"/>
            </a:solidFill>
          </p:spPr>
          <p:txBody>
            <a:bodyPr wrap="square" lIns="0" tIns="0" rIns="0" bIns="0" rtlCol="0"/>
            <a:lstStyle/>
            <a:p>
              <a:endParaRPr sz="1630"/>
            </a:p>
          </p:txBody>
        </p:sp>
        <p:pic>
          <p:nvPicPr>
            <p:cNvPr id="55" name="object 55"/>
            <p:cNvPicPr/>
            <p:nvPr/>
          </p:nvPicPr>
          <p:blipFill>
            <a:blip r:embed="rId3" cstate="print"/>
            <a:stretch>
              <a:fillRect/>
            </a:stretch>
          </p:blipFill>
          <p:spPr>
            <a:xfrm>
              <a:off x="4069080" y="4741164"/>
              <a:ext cx="147827" cy="147827"/>
            </a:xfrm>
            <a:prstGeom prst="rect">
              <a:avLst/>
            </a:prstGeom>
          </p:spPr>
        </p:pic>
        <p:pic>
          <p:nvPicPr>
            <p:cNvPr id="56" name="object 56"/>
            <p:cNvPicPr/>
            <p:nvPr/>
          </p:nvPicPr>
          <p:blipFill>
            <a:blip r:embed="rId4" cstate="print"/>
            <a:stretch>
              <a:fillRect/>
            </a:stretch>
          </p:blipFill>
          <p:spPr>
            <a:xfrm>
              <a:off x="4069080" y="5647944"/>
              <a:ext cx="147827" cy="146303"/>
            </a:xfrm>
            <a:prstGeom prst="rect">
              <a:avLst/>
            </a:prstGeom>
          </p:spPr>
        </p:pic>
        <p:pic>
          <p:nvPicPr>
            <p:cNvPr id="57" name="object 57"/>
            <p:cNvPicPr/>
            <p:nvPr/>
          </p:nvPicPr>
          <p:blipFill>
            <a:blip r:embed="rId5" cstate="print"/>
            <a:stretch>
              <a:fillRect/>
            </a:stretch>
          </p:blipFill>
          <p:spPr>
            <a:xfrm>
              <a:off x="3098291" y="5715000"/>
              <a:ext cx="147828" cy="146303"/>
            </a:xfrm>
            <a:prstGeom prst="rect">
              <a:avLst/>
            </a:prstGeom>
          </p:spPr>
        </p:pic>
        <p:sp>
          <p:nvSpPr>
            <p:cNvPr id="58" name="object 58"/>
            <p:cNvSpPr/>
            <p:nvPr/>
          </p:nvSpPr>
          <p:spPr>
            <a:xfrm>
              <a:off x="3160775" y="4796028"/>
              <a:ext cx="699770" cy="681355"/>
            </a:xfrm>
            <a:custGeom>
              <a:avLst/>
              <a:gdLst/>
              <a:ahLst/>
              <a:cxnLst/>
              <a:rect l="l" t="t" r="r" b="b"/>
              <a:pathLst>
                <a:path w="699770" h="681354">
                  <a:moveTo>
                    <a:pt x="16764" y="358140"/>
                  </a:moveTo>
                  <a:lnTo>
                    <a:pt x="0" y="358140"/>
                  </a:lnTo>
                  <a:lnTo>
                    <a:pt x="0" y="323088"/>
                  </a:lnTo>
                  <a:lnTo>
                    <a:pt x="1524" y="306324"/>
                  </a:lnTo>
                  <a:lnTo>
                    <a:pt x="3048" y="291084"/>
                  </a:lnTo>
                  <a:lnTo>
                    <a:pt x="19812" y="292608"/>
                  </a:lnTo>
                  <a:lnTo>
                    <a:pt x="18288" y="307848"/>
                  </a:lnTo>
                  <a:lnTo>
                    <a:pt x="16764" y="324611"/>
                  </a:lnTo>
                  <a:lnTo>
                    <a:pt x="16764" y="358140"/>
                  </a:lnTo>
                  <a:close/>
                </a:path>
                <a:path w="699770" h="681354">
                  <a:moveTo>
                    <a:pt x="1524" y="371856"/>
                  </a:moveTo>
                  <a:lnTo>
                    <a:pt x="0" y="359664"/>
                  </a:lnTo>
                  <a:lnTo>
                    <a:pt x="16764" y="358140"/>
                  </a:lnTo>
                  <a:lnTo>
                    <a:pt x="18288" y="370332"/>
                  </a:lnTo>
                  <a:lnTo>
                    <a:pt x="1524" y="371856"/>
                  </a:lnTo>
                  <a:close/>
                </a:path>
                <a:path w="699770" h="681354">
                  <a:moveTo>
                    <a:pt x="30480" y="245364"/>
                  </a:moveTo>
                  <a:lnTo>
                    <a:pt x="15240" y="240791"/>
                  </a:lnTo>
                  <a:lnTo>
                    <a:pt x="15240" y="239268"/>
                  </a:lnTo>
                  <a:lnTo>
                    <a:pt x="33527" y="193548"/>
                  </a:lnTo>
                  <a:lnTo>
                    <a:pt x="41148" y="178308"/>
                  </a:lnTo>
                  <a:lnTo>
                    <a:pt x="42672" y="176784"/>
                  </a:lnTo>
                  <a:lnTo>
                    <a:pt x="56388" y="185927"/>
                  </a:lnTo>
                  <a:lnTo>
                    <a:pt x="48767" y="201168"/>
                  </a:lnTo>
                  <a:lnTo>
                    <a:pt x="42672" y="214884"/>
                  </a:lnTo>
                  <a:lnTo>
                    <a:pt x="31089" y="243840"/>
                  </a:lnTo>
                  <a:lnTo>
                    <a:pt x="30480" y="243840"/>
                  </a:lnTo>
                  <a:lnTo>
                    <a:pt x="30480" y="245364"/>
                  </a:lnTo>
                  <a:close/>
                </a:path>
                <a:path w="699770" h="681354">
                  <a:moveTo>
                    <a:pt x="30480" y="245364"/>
                  </a:moveTo>
                  <a:lnTo>
                    <a:pt x="30480" y="243840"/>
                  </a:lnTo>
                  <a:lnTo>
                    <a:pt x="31089" y="243840"/>
                  </a:lnTo>
                  <a:lnTo>
                    <a:pt x="30480" y="245364"/>
                  </a:lnTo>
                  <a:close/>
                </a:path>
                <a:path w="699770" h="681354">
                  <a:moveTo>
                    <a:pt x="83820" y="144779"/>
                  </a:moveTo>
                  <a:lnTo>
                    <a:pt x="70104" y="134111"/>
                  </a:lnTo>
                  <a:lnTo>
                    <a:pt x="79248" y="123443"/>
                  </a:lnTo>
                  <a:lnTo>
                    <a:pt x="89916" y="111252"/>
                  </a:lnTo>
                  <a:lnTo>
                    <a:pt x="102108" y="100584"/>
                  </a:lnTo>
                  <a:lnTo>
                    <a:pt x="117348" y="85343"/>
                  </a:lnTo>
                  <a:lnTo>
                    <a:pt x="129540" y="97536"/>
                  </a:lnTo>
                  <a:lnTo>
                    <a:pt x="124967" y="100584"/>
                  </a:lnTo>
                  <a:lnTo>
                    <a:pt x="112775" y="112775"/>
                  </a:lnTo>
                  <a:lnTo>
                    <a:pt x="102108" y="123443"/>
                  </a:lnTo>
                  <a:lnTo>
                    <a:pt x="91440" y="135636"/>
                  </a:lnTo>
                  <a:lnTo>
                    <a:pt x="91657" y="135636"/>
                  </a:lnTo>
                  <a:lnTo>
                    <a:pt x="83820" y="144779"/>
                  </a:lnTo>
                  <a:close/>
                </a:path>
                <a:path w="699770" h="681354">
                  <a:moveTo>
                    <a:pt x="112776" y="112775"/>
                  </a:moveTo>
                  <a:lnTo>
                    <a:pt x="114300" y="111252"/>
                  </a:lnTo>
                  <a:lnTo>
                    <a:pt x="112776" y="112775"/>
                  </a:lnTo>
                  <a:close/>
                </a:path>
                <a:path w="699770" h="681354">
                  <a:moveTo>
                    <a:pt x="91657" y="135636"/>
                  </a:moveTo>
                  <a:lnTo>
                    <a:pt x="91440" y="135636"/>
                  </a:lnTo>
                  <a:lnTo>
                    <a:pt x="92964" y="134111"/>
                  </a:lnTo>
                  <a:lnTo>
                    <a:pt x="91657" y="135636"/>
                  </a:lnTo>
                  <a:close/>
                </a:path>
                <a:path w="699770" h="681354">
                  <a:moveTo>
                    <a:pt x="167640" y="68580"/>
                  </a:moveTo>
                  <a:lnTo>
                    <a:pt x="158496" y="54864"/>
                  </a:lnTo>
                  <a:lnTo>
                    <a:pt x="167640" y="50291"/>
                  </a:lnTo>
                  <a:lnTo>
                    <a:pt x="182880" y="41148"/>
                  </a:lnTo>
                  <a:lnTo>
                    <a:pt x="198120" y="33528"/>
                  </a:lnTo>
                  <a:lnTo>
                    <a:pt x="220980" y="24383"/>
                  </a:lnTo>
                  <a:lnTo>
                    <a:pt x="225551" y="39624"/>
                  </a:lnTo>
                  <a:lnTo>
                    <a:pt x="219456" y="42672"/>
                  </a:lnTo>
                  <a:lnTo>
                    <a:pt x="204216" y="48768"/>
                  </a:lnTo>
                  <a:lnTo>
                    <a:pt x="176783" y="64008"/>
                  </a:lnTo>
                  <a:lnTo>
                    <a:pt x="167640" y="68580"/>
                  </a:lnTo>
                  <a:close/>
                </a:path>
                <a:path w="699770" h="681354">
                  <a:moveTo>
                    <a:pt x="272796" y="25908"/>
                  </a:moveTo>
                  <a:lnTo>
                    <a:pt x="269748" y="9144"/>
                  </a:lnTo>
                  <a:lnTo>
                    <a:pt x="278891" y="7620"/>
                  </a:lnTo>
                  <a:lnTo>
                    <a:pt x="295656" y="4572"/>
                  </a:lnTo>
                  <a:lnTo>
                    <a:pt x="313943" y="1524"/>
                  </a:lnTo>
                  <a:lnTo>
                    <a:pt x="330708" y="0"/>
                  </a:lnTo>
                  <a:lnTo>
                    <a:pt x="336804" y="0"/>
                  </a:lnTo>
                  <a:lnTo>
                    <a:pt x="336804" y="16764"/>
                  </a:lnTo>
                  <a:lnTo>
                    <a:pt x="332232" y="16764"/>
                  </a:lnTo>
                  <a:lnTo>
                    <a:pt x="315467" y="18288"/>
                  </a:lnTo>
                  <a:lnTo>
                    <a:pt x="307086" y="19812"/>
                  </a:lnTo>
                  <a:lnTo>
                    <a:pt x="298704" y="19812"/>
                  </a:lnTo>
                  <a:lnTo>
                    <a:pt x="281940" y="22860"/>
                  </a:lnTo>
                  <a:lnTo>
                    <a:pt x="272796" y="25908"/>
                  </a:lnTo>
                  <a:close/>
                </a:path>
                <a:path w="699770" h="681354">
                  <a:moveTo>
                    <a:pt x="298704" y="21336"/>
                  </a:moveTo>
                  <a:lnTo>
                    <a:pt x="298704" y="19812"/>
                  </a:lnTo>
                  <a:lnTo>
                    <a:pt x="307086" y="19812"/>
                  </a:lnTo>
                  <a:lnTo>
                    <a:pt x="298704" y="21336"/>
                  </a:lnTo>
                  <a:close/>
                </a:path>
                <a:path w="699770" h="681354">
                  <a:moveTo>
                    <a:pt x="400812" y="21336"/>
                  </a:moveTo>
                  <a:lnTo>
                    <a:pt x="385572" y="18288"/>
                  </a:lnTo>
                  <a:lnTo>
                    <a:pt x="388620" y="3048"/>
                  </a:lnTo>
                  <a:lnTo>
                    <a:pt x="402335" y="4572"/>
                  </a:lnTo>
                  <a:lnTo>
                    <a:pt x="435864" y="10668"/>
                  </a:lnTo>
                  <a:lnTo>
                    <a:pt x="452627" y="15240"/>
                  </a:lnTo>
                  <a:lnTo>
                    <a:pt x="455675" y="16764"/>
                  </a:lnTo>
                  <a:lnTo>
                    <a:pt x="454456" y="19812"/>
                  </a:lnTo>
                  <a:lnTo>
                    <a:pt x="399288" y="19812"/>
                  </a:lnTo>
                  <a:lnTo>
                    <a:pt x="400812" y="21336"/>
                  </a:lnTo>
                  <a:close/>
                </a:path>
                <a:path w="699770" h="681354">
                  <a:moveTo>
                    <a:pt x="449580" y="32004"/>
                  </a:moveTo>
                  <a:lnTo>
                    <a:pt x="448056" y="32004"/>
                  </a:lnTo>
                  <a:lnTo>
                    <a:pt x="432816" y="27432"/>
                  </a:lnTo>
                  <a:lnTo>
                    <a:pt x="416051" y="22860"/>
                  </a:lnTo>
                  <a:lnTo>
                    <a:pt x="399288" y="19812"/>
                  </a:lnTo>
                  <a:lnTo>
                    <a:pt x="454456" y="19812"/>
                  </a:lnTo>
                  <a:lnTo>
                    <a:pt x="449580" y="32004"/>
                  </a:lnTo>
                  <a:close/>
                </a:path>
                <a:path w="699770" h="681354">
                  <a:moveTo>
                    <a:pt x="534924" y="73152"/>
                  </a:moveTo>
                  <a:lnTo>
                    <a:pt x="521208" y="64008"/>
                  </a:lnTo>
                  <a:lnTo>
                    <a:pt x="522732" y="64008"/>
                  </a:lnTo>
                  <a:lnTo>
                    <a:pt x="495300" y="50291"/>
                  </a:lnTo>
                  <a:lnTo>
                    <a:pt x="502920" y="35052"/>
                  </a:lnTo>
                  <a:lnTo>
                    <a:pt x="515112" y="41148"/>
                  </a:lnTo>
                  <a:lnTo>
                    <a:pt x="530351" y="50291"/>
                  </a:lnTo>
                  <a:lnTo>
                    <a:pt x="544067" y="57912"/>
                  </a:lnTo>
                  <a:lnTo>
                    <a:pt x="557783" y="68580"/>
                  </a:lnTo>
                  <a:lnTo>
                    <a:pt x="560832" y="70104"/>
                  </a:lnTo>
                  <a:lnTo>
                    <a:pt x="559816" y="71628"/>
                  </a:lnTo>
                  <a:lnTo>
                    <a:pt x="534924" y="71628"/>
                  </a:lnTo>
                  <a:lnTo>
                    <a:pt x="534924" y="73152"/>
                  </a:lnTo>
                  <a:close/>
                </a:path>
                <a:path w="699770" h="681354">
                  <a:moveTo>
                    <a:pt x="551688" y="83820"/>
                  </a:moveTo>
                  <a:lnTo>
                    <a:pt x="548640" y="80772"/>
                  </a:lnTo>
                  <a:lnTo>
                    <a:pt x="534924" y="71628"/>
                  </a:lnTo>
                  <a:lnTo>
                    <a:pt x="559816" y="71628"/>
                  </a:lnTo>
                  <a:lnTo>
                    <a:pt x="551688" y="83820"/>
                  </a:lnTo>
                  <a:close/>
                </a:path>
                <a:path w="699770" h="681354">
                  <a:moveTo>
                    <a:pt x="606551" y="135636"/>
                  </a:moveTo>
                  <a:lnTo>
                    <a:pt x="595883" y="123443"/>
                  </a:lnTo>
                  <a:lnTo>
                    <a:pt x="588264" y="115824"/>
                  </a:lnTo>
                  <a:lnTo>
                    <a:pt x="600456" y="103632"/>
                  </a:lnTo>
                  <a:lnTo>
                    <a:pt x="608075" y="111252"/>
                  </a:lnTo>
                  <a:lnTo>
                    <a:pt x="618743" y="123443"/>
                  </a:lnTo>
                  <a:lnTo>
                    <a:pt x="627041" y="134111"/>
                  </a:lnTo>
                  <a:lnTo>
                    <a:pt x="606551" y="134111"/>
                  </a:lnTo>
                  <a:lnTo>
                    <a:pt x="606551" y="135636"/>
                  </a:lnTo>
                  <a:close/>
                </a:path>
                <a:path w="699770" h="681354">
                  <a:moveTo>
                    <a:pt x="629412" y="166116"/>
                  </a:moveTo>
                  <a:lnTo>
                    <a:pt x="615696" y="147827"/>
                  </a:lnTo>
                  <a:lnTo>
                    <a:pt x="606551" y="134111"/>
                  </a:lnTo>
                  <a:lnTo>
                    <a:pt x="627041" y="134111"/>
                  </a:lnTo>
                  <a:lnTo>
                    <a:pt x="629412" y="137159"/>
                  </a:lnTo>
                  <a:lnTo>
                    <a:pt x="638556" y="150875"/>
                  </a:lnTo>
                  <a:lnTo>
                    <a:pt x="643127" y="156972"/>
                  </a:lnTo>
                  <a:lnTo>
                    <a:pt x="629412" y="166116"/>
                  </a:lnTo>
                  <a:close/>
                </a:path>
                <a:path w="699770" h="681354">
                  <a:moveTo>
                    <a:pt x="667512" y="245364"/>
                  </a:moveTo>
                  <a:lnTo>
                    <a:pt x="655320" y="214884"/>
                  </a:lnTo>
                  <a:lnTo>
                    <a:pt x="652272" y="208788"/>
                  </a:lnTo>
                  <a:lnTo>
                    <a:pt x="667512" y="201168"/>
                  </a:lnTo>
                  <a:lnTo>
                    <a:pt x="670559" y="208788"/>
                  </a:lnTo>
                  <a:lnTo>
                    <a:pt x="678180" y="224027"/>
                  </a:lnTo>
                  <a:lnTo>
                    <a:pt x="682751" y="239268"/>
                  </a:lnTo>
                  <a:lnTo>
                    <a:pt x="683998" y="243840"/>
                  </a:lnTo>
                  <a:lnTo>
                    <a:pt x="667512" y="243840"/>
                  </a:lnTo>
                  <a:lnTo>
                    <a:pt x="667512" y="245364"/>
                  </a:lnTo>
                  <a:close/>
                </a:path>
                <a:path w="699770" h="681354">
                  <a:moveTo>
                    <a:pt x="673608" y="269748"/>
                  </a:moveTo>
                  <a:lnTo>
                    <a:pt x="672084" y="260604"/>
                  </a:lnTo>
                  <a:lnTo>
                    <a:pt x="667512" y="243840"/>
                  </a:lnTo>
                  <a:lnTo>
                    <a:pt x="683998" y="243840"/>
                  </a:lnTo>
                  <a:lnTo>
                    <a:pt x="687324" y="256032"/>
                  </a:lnTo>
                  <a:lnTo>
                    <a:pt x="690372" y="266700"/>
                  </a:lnTo>
                  <a:lnTo>
                    <a:pt x="673608" y="269748"/>
                  </a:lnTo>
                  <a:close/>
                </a:path>
                <a:path w="699770" h="681354">
                  <a:moveTo>
                    <a:pt x="696467" y="385572"/>
                  </a:moveTo>
                  <a:lnTo>
                    <a:pt x="679704" y="384048"/>
                  </a:lnTo>
                  <a:lnTo>
                    <a:pt x="679704" y="374904"/>
                  </a:lnTo>
                  <a:lnTo>
                    <a:pt x="682751" y="341375"/>
                  </a:lnTo>
                  <a:lnTo>
                    <a:pt x="681227" y="324611"/>
                  </a:lnTo>
                  <a:lnTo>
                    <a:pt x="681227" y="318516"/>
                  </a:lnTo>
                  <a:lnTo>
                    <a:pt x="697992" y="316991"/>
                  </a:lnTo>
                  <a:lnTo>
                    <a:pt x="698118" y="324611"/>
                  </a:lnTo>
                  <a:lnTo>
                    <a:pt x="699516" y="341375"/>
                  </a:lnTo>
                  <a:lnTo>
                    <a:pt x="697992" y="358140"/>
                  </a:lnTo>
                  <a:lnTo>
                    <a:pt x="696594" y="374904"/>
                  </a:lnTo>
                  <a:lnTo>
                    <a:pt x="696467" y="385572"/>
                  </a:lnTo>
                  <a:close/>
                </a:path>
                <a:path w="699770" h="681354">
                  <a:moveTo>
                    <a:pt x="658367" y="498348"/>
                  </a:moveTo>
                  <a:lnTo>
                    <a:pt x="644651" y="490727"/>
                  </a:lnTo>
                  <a:lnTo>
                    <a:pt x="649224" y="481584"/>
                  </a:lnTo>
                  <a:lnTo>
                    <a:pt x="655320" y="467868"/>
                  </a:lnTo>
                  <a:lnTo>
                    <a:pt x="667512" y="437388"/>
                  </a:lnTo>
                  <a:lnTo>
                    <a:pt x="669035" y="431292"/>
                  </a:lnTo>
                  <a:lnTo>
                    <a:pt x="685800" y="435864"/>
                  </a:lnTo>
                  <a:lnTo>
                    <a:pt x="682751" y="443484"/>
                  </a:lnTo>
                  <a:lnTo>
                    <a:pt x="678180" y="458724"/>
                  </a:lnTo>
                  <a:lnTo>
                    <a:pt x="670559" y="473964"/>
                  </a:lnTo>
                  <a:lnTo>
                    <a:pt x="664464" y="489204"/>
                  </a:lnTo>
                  <a:lnTo>
                    <a:pt x="658367" y="498348"/>
                  </a:lnTo>
                  <a:close/>
                </a:path>
                <a:path w="699770" h="681354">
                  <a:moveTo>
                    <a:pt x="585216" y="592836"/>
                  </a:moveTo>
                  <a:lnTo>
                    <a:pt x="574548" y="580643"/>
                  </a:lnTo>
                  <a:lnTo>
                    <a:pt x="595883" y="559308"/>
                  </a:lnTo>
                  <a:lnTo>
                    <a:pt x="606551" y="547116"/>
                  </a:lnTo>
                  <a:lnTo>
                    <a:pt x="615696" y="534924"/>
                  </a:lnTo>
                  <a:lnTo>
                    <a:pt x="617220" y="531875"/>
                  </a:lnTo>
                  <a:lnTo>
                    <a:pt x="630935" y="542543"/>
                  </a:lnTo>
                  <a:lnTo>
                    <a:pt x="629412" y="545592"/>
                  </a:lnTo>
                  <a:lnTo>
                    <a:pt x="608075" y="569975"/>
                  </a:lnTo>
                  <a:lnTo>
                    <a:pt x="585216" y="592836"/>
                  </a:lnTo>
                  <a:close/>
                </a:path>
                <a:path w="699770" h="681354">
                  <a:moveTo>
                    <a:pt x="484632" y="655320"/>
                  </a:moveTo>
                  <a:lnTo>
                    <a:pt x="478535" y="640079"/>
                  </a:lnTo>
                  <a:lnTo>
                    <a:pt x="493775" y="633984"/>
                  </a:lnTo>
                  <a:lnTo>
                    <a:pt x="507492" y="626364"/>
                  </a:lnTo>
                  <a:lnTo>
                    <a:pt x="522732" y="618743"/>
                  </a:lnTo>
                  <a:lnTo>
                    <a:pt x="521208" y="618743"/>
                  </a:lnTo>
                  <a:lnTo>
                    <a:pt x="534924" y="609600"/>
                  </a:lnTo>
                  <a:lnTo>
                    <a:pt x="544067" y="624840"/>
                  </a:lnTo>
                  <a:lnTo>
                    <a:pt x="530351" y="632459"/>
                  </a:lnTo>
                  <a:lnTo>
                    <a:pt x="515112" y="641604"/>
                  </a:lnTo>
                  <a:lnTo>
                    <a:pt x="499872" y="649224"/>
                  </a:lnTo>
                  <a:lnTo>
                    <a:pt x="484632" y="655320"/>
                  </a:lnTo>
                  <a:close/>
                </a:path>
                <a:path w="699770" h="681354">
                  <a:moveTo>
                    <a:pt x="385572" y="681227"/>
                  </a:moveTo>
                  <a:lnTo>
                    <a:pt x="367283" y="681227"/>
                  </a:lnTo>
                  <a:lnTo>
                    <a:pt x="367283" y="664464"/>
                  </a:lnTo>
                  <a:lnTo>
                    <a:pt x="382524" y="664464"/>
                  </a:lnTo>
                  <a:lnTo>
                    <a:pt x="416051" y="658368"/>
                  </a:lnTo>
                  <a:lnTo>
                    <a:pt x="431292" y="655320"/>
                  </a:lnTo>
                  <a:lnTo>
                    <a:pt x="435864" y="672084"/>
                  </a:lnTo>
                  <a:lnTo>
                    <a:pt x="385572" y="681227"/>
                  </a:lnTo>
                  <a:close/>
                </a:path>
                <a:path w="699770" h="681354">
                  <a:moveTo>
                    <a:pt x="316991" y="681227"/>
                  </a:moveTo>
                  <a:lnTo>
                    <a:pt x="313943" y="681227"/>
                  </a:lnTo>
                  <a:lnTo>
                    <a:pt x="295656" y="678179"/>
                  </a:lnTo>
                  <a:lnTo>
                    <a:pt x="262127" y="672084"/>
                  </a:lnTo>
                  <a:lnTo>
                    <a:pt x="249935" y="667511"/>
                  </a:lnTo>
                  <a:lnTo>
                    <a:pt x="254508" y="652272"/>
                  </a:lnTo>
                  <a:lnTo>
                    <a:pt x="266700" y="655320"/>
                  </a:lnTo>
                  <a:lnTo>
                    <a:pt x="265175" y="655320"/>
                  </a:lnTo>
                  <a:lnTo>
                    <a:pt x="315467" y="664464"/>
                  </a:lnTo>
                  <a:lnTo>
                    <a:pt x="318516" y="664464"/>
                  </a:lnTo>
                  <a:lnTo>
                    <a:pt x="316991" y="681227"/>
                  </a:lnTo>
                  <a:close/>
                </a:path>
                <a:path w="699770" h="681354">
                  <a:moveTo>
                    <a:pt x="201167" y="650748"/>
                  </a:moveTo>
                  <a:lnTo>
                    <a:pt x="182880" y="641604"/>
                  </a:lnTo>
                  <a:lnTo>
                    <a:pt x="167640" y="632459"/>
                  </a:lnTo>
                  <a:lnTo>
                    <a:pt x="153924" y="623316"/>
                  </a:lnTo>
                  <a:lnTo>
                    <a:pt x="141732" y="615695"/>
                  </a:lnTo>
                  <a:lnTo>
                    <a:pt x="152400" y="601979"/>
                  </a:lnTo>
                  <a:lnTo>
                    <a:pt x="163067" y="609600"/>
                  </a:lnTo>
                  <a:lnTo>
                    <a:pt x="176783" y="618743"/>
                  </a:lnTo>
                  <a:lnTo>
                    <a:pt x="204216" y="633984"/>
                  </a:lnTo>
                  <a:lnTo>
                    <a:pt x="208788" y="635508"/>
                  </a:lnTo>
                  <a:lnTo>
                    <a:pt x="201167" y="650748"/>
                  </a:lnTo>
                  <a:close/>
                </a:path>
                <a:path w="699770" h="681354">
                  <a:moveTo>
                    <a:pt x="102108" y="583692"/>
                  </a:moveTo>
                  <a:lnTo>
                    <a:pt x="102108" y="582168"/>
                  </a:lnTo>
                  <a:lnTo>
                    <a:pt x="89916" y="569975"/>
                  </a:lnTo>
                  <a:lnTo>
                    <a:pt x="68580" y="545592"/>
                  </a:lnTo>
                  <a:lnTo>
                    <a:pt x="59435" y="531875"/>
                  </a:lnTo>
                  <a:lnTo>
                    <a:pt x="57912" y="530352"/>
                  </a:lnTo>
                  <a:lnTo>
                    <a:pt x="73151" y="521208"/>
                  </a:lnTo>
                  <a:lnTo>
                    <a:pt x="73151" y="522732"/>
                  </a:lnTo>
                  <a:lnTo>
                    <a:pt x="82296" y="534924"/>
                  </a:lnTo>
                  <a:lnTo>
                    <a:pt x="92964" y="547116"/>
                  </a:lnTo>
                  <a:lnTo>
                    <a:pt x="91440" y="547116"/>
                  </a:lnTo>
                  <a:lnTo>
                    <a:pt x="102108" y="559308"/>
                  </a:lnTo>
                  <a:lnTo>
                    <a:pt x="114300" y="569975"/>
                  </a:lnTo>
                  <a:lnTo>
                    <a:pt x="112775" y="569975"/>
                  </a:lnTo>
                  <a:lnTo>
                    <a:pt x="114300" y="571500"/>
                  </a:lnTo>
                  <a:lnTo>
                    <a:pt x="102108" y="583692"/>
                  </a:lnTo>
                  <a:close/>
                </a:path>
                <a:path w="699770" h="681354">
                  <a:moveTo>
                    <a:pt x="32004" y="486156"/>
                  </a:moveTo>
                  <a:lnTo>
                    <a:pt x="27432" y="473964"/>
                  </a:lnTo>
                  <a:lnTo>
                    <a:pt x="21335" y="458724"/>
                  </a:lnTo>
                  <a:lnTo>
                    <a:pt x="15240" y="441959"/>
                  </a:lnTo>
                  <a:lnTo>
                    <a:pt x="10667" y="426720"/>
                  </a:lnTo>
                  <a:lnTo>
                    <a:pt x="9143" y="422148"/>
                  </a:lnTo>
                  <a:lnTo>
                    <a:pt x="25908" y="417575"/>
                  </a:lnTo>
                  <a:lnTo>
                    <a:pt x="27432" y="422148"/>
                  </a:lnTo>
                  <a:lnTo>
                    <a:pt x="25908" y="422148"/>
                  </a:lnTo>
                  <a:lnTo>
                    <a:pt x="30480" y="437388"/>
                  </a:lnTo>
                  <a:lnTo>
                    <a:pt x="42672" y="467868"/>
                  </a:lnTo>
                  <a:lnTo>
                    <a:pt x="47243" y="480059"/>
                  </a:lnTo>
                  <a:lnTo>
                    <a:pt x="32004" y="486156"/>
                  </a:lnTo>
                  <a:close/>
                </a:path>
              </a:pathLst>
            </a:custGeom>
            <a:solidFill>
              <a:srgbClr val="0C1C2B"/>
            </a:solidFill>
          </p:spPr>
          <p:txBody>
            <a:bodyPr wrap="square" lIns="0" tIns="0" rIns="0" bIns="0" rtlCol="0"/>
            <a:lstStyle/>
            <a:p>
              <a:endParaRPr sz="1630"/>
            </a:p>
          </p:txBody>
        </p:sp>
        <p:pic>
          <p:nvPicPr>
            <p:cNvPr id="59" name="object 59"/>
            <p:cNvPicPr/>
            <p:nvPr/>
          </p:nvPicPr>
          <p:blipFill>
            <a:blip r:embed="rId6" cstate="print"/>
            <a:stretch>
              <a:fillRect/>
            </a:stretch>
          </p:blipFill>
          <p:spPr>
            <a:xfrm>
              <a:off x="2980943" y="5052060"/>
              <a:ext cx="146304" cy="146303"/>
            </a:xfrm>
            <a:prstGeom prst="rect">
              <a:avLst/>
            </a:prstGeom>
          </p:spPr>
        </p:pic>
        <p:pic>
          <p:nvPicPr>
            <p:cNvPr id="60" name="object 60"/>
            <p:cNvPicPr/>
            <p:nvPr/>
          </p:nvPicPr>
          <p:blipFill>
            <a:blip r:embed="rId7" cstate="print"/>
            <a:stretch>
              <a:fillRect/>
            </a:stretch>
          </p:blipFill>
          <p:spPr>
            <a:xfrm>
              <a:off x="2972561" y="5042154"/>
              <a:ext cx="163068" cy="164591"/>
            </a:xfrm>
            <a:prstGeom prst="rect">
              <a:avLst/>
            </a:prstGeom>
          </p:spPr>
        </p:pic>
        <p:pic>
          <p:nvPicPr>
            <p:cNvPr id="61" name="object 61"/>
            <p:cNvPicPr/>
            <p:nvPr/>
          </p:nvPicPr>
          <p:blipFill>
            <a:blip r:embed="rId8" cstate="print"/>
            <a:stretch>
              <a:fillRect/>
            </a:stretch>
          </p:blipFill>
          <p:spPr>
            <a:xfrm>
              <a:off x="3864863" y="5126736"/>
              <a:ext cx="146303" cy="144780"/>
            </a:xfrm>
            <a:prstGeom prst="rect">
              <a:avLst/>
            </a:prstGeom>
          </p:spPr>
        </p:pic>
        <p:pic>
          <p:nvPicPr>
            <p:cNvPr id="62" name="object 62"/>
            <p:cNvPicPr/>
            <p:nvPr/>
          </p:nvPicPr>
          <p:blipFill>
            <a:blip r:embed="rId9" cstate="print"/>
            <a:stretch>
              <a:fillRect/>
            </a:stretch>
          </p:blipFill>
          <p:spPr>
            <a:xfrm>
              <a:off x="3856482" y="5116830"/>
              <a:ext cx="163068" cy="163067"/>
            </a:xfrm>
            <a:prstGeom prst="rect">
              <a:avLst/>
            </a:prstGeom>
          </p:spPr>
        </p:pic>
        <p:pic>
          <p:nvPicPr>
            <p:cNvPr id="63" name="object 63"/>
            <p:cNvPicPr/>
            <p:nvPr/>
          </p:nvPicPr>
          <p:blipFill>
            <a:blip r:embed="rId10" cstate="print"/>
            <a:stretch>
              <a:fillRect/>
            </a:stretch>
          </p:blipFill>
          <p:spPr>
            <a:xfrm>
              <a:off x="3299459" y="5460492"/>
              <a:ext cx="146304" cy="144779"/>
            </a:xfrm>
            <a:prstGeom prst="rect">
              <a:avLst/>
            </a:prstGeom>
          </p:spPr>
        </p:pic>
        <p:pic>
          <p:nvPicPr>
            <p:cNvPr id="64" name="object 64"/>
            <p:cNvPicPr/>
            <p:nvPr/>
          </p:nvPicPr>
          <p:blipFill>
            <a:blip r:embed="rId11" cstate="print"/>
            <a:stretch>
              <a:fillRect/>
            </a:stretch>
          </p:blipFill>
          <p:spPr>
            <a:xfrm>
              <a:off x="3291077" y="5450586"/>
              <a:ext cx="163068" cy="163067"/>
            </a:xfrm>
            <a:prstGeom prst="rect">
              <a:avLst/>
            </a:prstGeom>
          </p:spPr>
        </p:pic>
      </p:grpSp>
      <p:grpSp>
        <p:nvGrpSpPr>
          <p:cNvPr id="65" name="object 65"/>
          <p:cNvGrpSpPr/>
          <p:nvPr/>
        </p:nvGrpSpPr>
        <p:grpSpPr>
          <a:xfrm rot="0">
            <a:off x="6435725" y="4723130"/>
            <a:ext cx="1590040" cy="1388745"/>
            <a:chOff x="5257800" y="4584192"/>
            <a:chExt cx="1499870" cy="1356360"/>
          </a:xfrm>
        </p:grpSpPr>
        <p:sp>
          <p:nvSpPr>
            <p:cNvPr id="66" name="object 66"/>
            <p:cNvSpPr/>
            <p:nvPr/>
          </p:nvSpPr>
          <p:spPr>
            <a:xfrm>
              <a:off x="5269992" y="4596384"/>
              <a:ext cx="1475740" cy="1332230"/>
            </a:xfrm>
            <a:custGeom>
              <a:avLst/>
              <a:gdLst/>
              <a:ahLst/>
              <a:cxnLst/>
              <a:rect l="l" t="t" r="r" b="b"/>
              <a:pathLst>
                <a:path w="1475740" h="1332229">
                  <a:moveTo>
                    <a:pt x="0" y="222504"/>
                  </a:moveTo>
                  <a:lnTo>
                    <a:pt x="4497" y="177501"/>
                  </a:lnTo>
                  <a:lnTo>
                    <a:pt x="17406" y="135659"/>
                  </a:lnTo>
                  <a:lnTo>
                    <a:pt x="37852" y="97854"/>
                  </a:lnTo>
                  <a:lnTo>
                    <a:pt x="64960" y="64960"/>
                  </a:lnTo>
                  <a:lnTo>
                    <a:pt x="97854" y="37852"/>
                  </a:lnTo>
                  <a:lnTo>
                    <a:pt x="135659" y="17406"/>
                  </a:lnTo>
                  <a:lnTo>
                    <a:pt x="177501" y="4497"/>
                  </a:lnTo>
                  <a:lnTo>
                    <a:pt x="222504" y="0"/>
                  </a:lnTo>
                  <a:lnTo>
                    <a:pt x="1254251" y="0"/>
                  </a:lnTo>
                  <a:lnTo>
                    <a:pt x="1298751" y="4497"/>
                  </a:lnTo>
                  <a:lnTo>
                    <a:pt x="1340215" y="17406"/>
                  </a:lnTo>
                  <a:lnTo>
                    <a:pt x="1377749" y="37852"/>
                  </a:lnTo>
                  <a:lnTo>
                    <a:pt x="1410462" y="64960"/>
                  </a:lnTo>
                  <a:lnTo>
                    <a:pt x="1437459" y="97854"/>
                  </a:lnTo>
                  <a:lnTo>
                    <a:pt x="1457848" y="135659"/>
                  </a:lnTo>
                  <a:lnTo>
                    <a:pt x="1470737" y="177501"/>
                  </a:lnTo>
                  <a:lnTo>
                    <a:pt x="1475232" y="222504"/>
                  </a:lnTo>
                  <a:lnTo>
                    <a:pt x="1475232" y="1109472"/>
                  </a:lnTo>
                  <a:lnTo>
                    <a:pt x="1470737" y="1154474"/>
                  </a:lnTo>
                  <a:lnTo>
                    <a:pt x="1457848" y="1196316"/>
                  </a:lnTo>
                  <a:lnTo>
                    <a:pt x="1437459" y="1234121"/>
                  </a:lnTo>
                  <a:lnTo>
                    <a:pt x="1410462" y="1267015"/>
                  </a:lnTo>
                  <a:lnTo>
                    <a:pt x="1377749" y="1294123"/>
                  </a:lnTo>
                  <a:lnTo>
                    <a:pt x="1340215" y="1314569"/>
                  </a:lnTo>
                  <a:lnTo>
                    <a:pt x="1298751" y="1327478"/>
                  </a:lnTo>
                  <a:lnTo>
                    <a:pt x="1254251" y="1331976"/>
                  </a:lnTo>
                  <a:lnTo>
                    <a:pt x="222504" y="1331976"/>
                  </a:lnTo>
                  <a:lnTo>
                    <a:pt x="177501" y="1327478"/>
                  </a:lnTo>
                  <a:lnTo>
                    <a:pt x="135659" y="1314569"/>
                  </a:lnTo>
                  <a:lnTo>
                    <a:pt x="97854" y="1294123"/>
                  </a:lnTo>
                  <a:lnTo>
                    <a:pt x="64960" y="1267015"/>
                  </a:lnTo>
                  <a:lnTo>
                    <a:pt x="37852" y="1234121"/>
                  </a:lnTo>
                  <a:lnTo>
                    <a:pt x="17406" y="1196316"/>
                  </a:lnTo>
                  <a:lnTo>
                    <a:pt x="4497" y="1154474"/>
                  </a:lnTo>
                  <a:lnTo>
                    <a:pt x="0" y="1109472"/>
                  </a:lnTo>
                  <a:lnTo>
                    <a:pt x="0" y="222504"/>
                  </a:lnTo>
                  <a:close/>
                </a:path>
              </a:pathLst>
            </a:custGeom>
            <a:ln w="24384">
              <a:solidFill>
                <a:srgbClr val="0C1C2B"/>
              </a:solidFill>
            </a:ln>
          </p:spPr>
          <p:txBody>
            <a:bodyPr wrap="square" lIns="0" tIns="0" rIns="0" bIns="0" rtlCol="0"/>
            <a:lstStyle/>
            <a:p>
              <a:endParaRPr sz="1630"/>
            </a:p>
          </p:txBody>
        </p:sp>
        <p:sp>
          <p:nvSpPr>
            <p:cNvPr id="67" name="object 67"/>
            <p:cNvSpPr/>
            <p:nvPr/>
          </p:nvSpPr>
          <p:spPr>
            <a:xfrm>
              <a:off x="5676900" y="4904232"/>
              <a:ext cx="146685" cy="146685"/>
            </a:xfrm>
            <a:custGeom>
              <a:avLst/>
              <a:gdLst/>
              <a:ahLst/>
              <a:cxnLst/>
              <a:rect l="l" t="t" r="r" b="b"/>
              <a:pathLst>
                <a:path w="146685" h="146685">
                  <a:moveTo>
                    <a:pt x="73152" y="146303"/>
                  </a:moveTo>
                  <a:lnTo>
                    <a:pt x="44362" y="140660"/>
                  </a:lnTo>
                  <a:lnTo>
                    <a:pt x="21145" y="125158"/>
                  </a:lnTo>
                  <a:lnTo>
                    <a:pt x="5643" y="101941"/>
                  </a:lnTo>
                  <a:lnTo>
                    <a:pt x="0" y="73151"/>
                  </a:lnTo>
                  <a:lnTo>
                    <a:pt x="5643" y="45005"/>
                  </a:lnTo>
                  <a:lnTo>
                    <a:pt x="21145" y="21716"/>
                  </a:lnTo>
                  <a:lnTo>
                    <a:pt x="44362" y="5857"/>
                  </a:lnTo>
                  <a:lnTo>
                    <a:pt x="73152" y="0"/>
                  </a:lnTo>
                  <a:lnTo>
                    <a:pt x="101298" y="5857"/>
                  </a:lnTo>
                  <a:lnTo>
                    <a:pt x="124586" y="21716"/>
                  </a:lnTo>
                  <a:lnTo>
                    <a:pt x="140446" y="45005"/>
                  </a:lnTo>
                  <a:lnTo>
                    <a:pt x="146304" y="73151"/>
                  </a:lnTo>
                  <a:lnTo>
                    <a:pt x="140446" y="101941"/>
                  </a:lnTo>
                  <a:lnTo>
                    <a:pt x="124586" y="125158"/>
                  </a:lnTo>
                  <a:lnTo>
                    <a:pt x="101298" y="140660"/>
                  </a:lnTo>
                  <a:lnTo>
                    <a:pt x="73152" y="146303"/>
                  </a:lnTo>
                  <a:close/>
                </a:path>
              </a:pathLst>
            </a:custGeom>
            <a:solidFill>
              <a:srgbClr val="344B74"/>
            </a:solidFill>
          </p:spPr>
          <p:txBody>
            <a:bodyPr wrap="square" lIns="0" tIns="0" rIns="0" bIns="0" rtlCol="0"/>
            <a:lstStyle/>
            <a:p>
              <a:endParaRPr sz="1630"/>
            </a:p>
          </p:txBody>
        </p:sp>
        <p:pic>
          <p:nvPicPr>
            <p:cNvPr id="68" name="object 68"/>
            <p:cNvPicPr/>
            <p:nvPr/>
          </p:nvPicPr>
          <p:blipFill>
            <a:blip r:embed="rId1" cstate="print"/>
            <a:stretch>
              <a:fillRect/>
            </a:stretch>
          </p:blipFill>
          <p:spPr>
            <a:xfrm>
              <a:off x="5614416" y="5199887"/>
              <a:ext cx="146303" cy="146303"/>
            </a:xfrm>
            <a:prstGeom prst="rect">
              <a:avLst/>
            </a:prstGeom>
          </p:spPr>
        </p:pic>
        <p:pic>
          <p:nvPicPr>
            <p:cNvPr id="69" name="object 69"/>
            <p:cNvPicPr/>
            <p:nvPr/>
          </p:nvPicPr>
          <p:blipFill>
            <a:blip r:embed="rId2" cstate="print"/>
            <a:stretch>
              <a:fillRect/>
            </a:stretch>
          </p:blipFill>
          <p:spPr>
            <a:xfrm>
              <a:off x="6041136" y="5151119"/>
              <a:ext cx="146303" cy="146303"/>
            </a:xfrm>
            <a:prstGeom prst="rect">
              <a:avLst/>
            </a:prstGeom>
          </p:spPr>
        </p:pic>
        <p:sp>
          <p:nvSpPr>
            <p:cNvPr id="70" name="object 70"/>
            <p:cNvSpPr/>
            <p:nvPr/>
          </p:nvSpPr>
          <p:spPr>
            <a:xfrm>
              <a:off x="5835396" y="5059680"/>
              <a:ext cx="146685" cy="146685"/>
            </a:xfrm>
            <a:custGeom>
              <a:avLst/>
              <a:gdLst/>
              <a:ahLst/>
              <a:cxnLst/>
              <a:rect l="l" t="t" r="r" b="b"/>
              <a:pathLst>
                <a:path w="146685" h="146685">
                  <a:moveTo>
                    <a:pt x="73152" y="146303"/>
                  </a:moveTo>
                  <a:lnTo>
                    <a:pt x="45005" y="140660"/>
                  </a:lnTo>
                  <a:lnTo>
                    <a:pt x="21716" y="125158"/>
                  </a:lnTo>
                  <a:lnTo>
                    <a:pt x="5857" y="101941"/>
                  </a:lnTo>
                  <a:lnTo>
                    <a:pt x="0" y="73151"/>
                  </a:lnTo>
                  <a:lnTo>
                    <a:pt x="5857" y="44362"/>
                  </a:lnTo>
                  <a:lnTo>
                    <a:pt x="21717" y="21145"/>
                  </a:lnTo>
                  <a:lnTo>
                    <a:pt x="45005" y="5643"/>
                  </a:lnTo>
                  <a:lnTo>
                    <a:pt x="73152" y="0"/>
                  </a:lnTo>
                  <a:lnTo>
                    <a:pt x="101941" y="5643"/>
                  </a:lnTo>
                  <a:lnTo>
                    <a:pt x="125158" y="21145"/>
                  </a:lnTo>
                  <a:lnTo>
                    <a:pt x="140660" y="44362"/>
                  </a:lnTo>
                  <a:lnTo>
                    <a:pt x="146304" y="73151"/>
                  </a:lnTo>
                  <a:lnTo>
                    <a:pt x="140660" y="101941"/>
                  </a:lnTo>
                  <a:lnTo>
                    <a:pt x="125158" y="125158"/>
                  </a:lnTo>
                  <a:lnTo>
                    <a:pt x="101941" y="140660"/>
                  </a:lnTo>
                  <a:lnTo>
                    <a:pt x="73152" y="146303"/>
                  </a:lnTo>
                  <a:close/>
                </a:path>
              </a:pathLst>
            </a:custGeom>
            <a:solidFill>
              <a:srgbClr val="344B74"/>
            </a:solidFill>
          </p:spPr>
          <p:txBody>
            <a:bodyPr wrap="square" lIns="0" tIns="0" rIns="0" bIns="0" rtlCol="0"/>
            <a:lstStyle/>
            <a:p>
              <a:endParaRPr sz="1630"/>
            </a:p>
          </p:txBody>
        </p:sp>
        <p:pic>
          <p:nvPicPr>
            <p:cNvPr id="71" name="object 71"/>
            <p:cNvPicPr/>
            <p:nvPr/>
          </p:nvPicPr>
          <p:blipFill>
            <a:blip r:embed="rId12" cstate="print"/>
            <a:stretch>
              <a:fillRect/>
            </a:stretch>
          </p:blipFill>
          <p:spPr>
            <a:xfrm>
              <a:off x="6460236" y="4741164"/>
              <a:ext cx="147827" cy="147827"/>
            </a:xfrm>
            <a:prstGeom prst="rect">
              <a:avLst/>
            </a:prstGeom>
          </p:spPr>
        </p:pic>
        <p:pic>
          <p:nvPicPr>
            <p:cNvPr id="72" name="object 72"/>
            <p:cNvPicPr/>
            <p:nvPr/>
          </p:nvPicPr>
          <p:blipFill>
            <a:blip r:embed="rId13" cstate="print"/>
            <a:stretch>
              <a:fillRect/>
            </a:stretch>
          </p:blipFill>
          <p:spPr>
            <a:xfrm>
              <a:off x="6460236" y="5647944"/>
              <a:ext cx="147827" cy="146303"/>
            </a:xfrm>
            <a:prstGeom prst="rect">
              <a:avLst/>
            </a:prstGeom>
          </p:spPr>
        </p:pic>
        <p:pic>
          <p:nvPicPr>
            <p:cNvPr id="73" name="object 73"/>
            <p:cNvPicPr/>
            <p:nvPr/>
          </p:nvPicPr>
          <p:blipFill>
            <a:blip r:embed="rId5" cstate="print"/>
            <a:stretch>
              <a:fillRect/>
            </a:stretch>
          </p:blipFill>
          <p:spPr>
            <a:xfrm>
              <a:off x="5489448" y="5715000"/>
              <a:ext cx="147827" cy="146303"/>
            </a:xfrm>
            <a:prstGeom prst="rect">
              <a:avLst/>
            </a:prstGeom>
          </p:spPr>
        </p:pic>
        <p:sp>
          <p:nvSpPr>
            <p:cNvPr id="74" name="object 74"/>
            <p:cNvSpPr/>
            <p:nvPr/>
          </p:nvSpPr>
          <p:spPr>
            <a:xfrm>
              <a:off x="5551932" y="4796028"/>
              <a:ext cx="699770" cy="681355"/>
            </a:xfrm>
            <a:custGeom>
              <a:avLst/>
              <a:gdLst/>
              <a:ahLst/>
              <a:cxnLst/>
              <a:rect l="l" t="t" r="r" b="b"/>
              <a:pathLst>
                <a:path w="699770" h="681354">
                  <a:moveTo>
                    <a:pt x="16764" y="358140"/>
                  </a:moveTo>
                  <a:lnTo>
                    <a:pt x="0" y="358140"/>
                  </a:lnTo>
                  <a:lnTo>
                    <a:pt x="0" y="323088"/>
                  </a:lnTo>
                  <a:lnTo>
                    <a:pt x="1523" y="306324"/>
                  </a:lnTo>
                  <a:lnTo>
                    <a:pt x="3048" y="291084"/>
                  </a:lnTo>
                  <a:lnTo>
                    <a:pt x="19812" y="292608"/>
                  </a:lnTo>
                  <a:lnTo>
                    <a:pt x="18287" y="307848"/>
                  </a:lnTo>
                  <a:lnTo>
                    <a:pt x="16764" y="324611"/>
                  </a:lnTo>
                  <a:lnTo>
                    <a:pt x="16764" y="358140"/>
                  </a:lnTo>
                  <a:close/>
                </a:path>
                <a:path w="699770" h="681354">
                  <a:moveTo>
                    <a:pt x="1523" y="371856"/>
                  </a:moveTo>
                  <a:lnTo>
                    <a:pt x="0" y="359664"/>
                  </a:lnTo>
                  <a:lnTo>
                    <a:pt x="16764" y="358140"/>
                  </a:lnTo>
                  <a:lnTo>
                    <a:pt x="18287" y="370332"/>
                  </a:lnTo>
                  <a:lnTo>
                    <a:pt x="1523" y="371856"/>
                  </a:lnTo>
                  <a:close/>
                </a:path>
                <a:path w="699770" h="681354">
                  <a:moveTo>
                    <a:pt x="30480" y="245364"/>
                  </a:moveTo>
                  <a:lnTo>
                    <a:pt x="15239" y="240791"/>
                  </a:lnTo>
                  <a:lnTo>
                    <a:pt x="15239" y="239268"/>
                  </a:lnTo>
                  <a:lnTo>
                    <a:pt x="33528" y="193548"/>
                  </a:lnTo>
                  <a:lnTo>
                    <a:pt x="41148" y="178308"/>
                  </a:lnTo>
                  <a:lnTo>
                    <a:pt x="42671" y="176784"/>
                  </a:lnTo>
                  <a:lnTo>
                    <a:pt x="56387" y="185927"/>
                  </a:lnTo>
                  <a:lnTo>
                    <a:pt x="48767" y="201168"/>
                  </a:lnTo>
                  <a:lnTo>
                    <a:pt x="42671" y="214884"/>
                  </a:lnTo>
                  <a:lnTo>
                    <a:pt x="31089" y="243840"/>
                  </a:lnTo>
                  <a:lnTo>
                    <a:pt x="30480" y="243840"/>
                  </a:lnTo>
                  <a:lnTo>
                    <a:pt x="30480" y="245364"/>
                  </a:lnTo>
                  <a:close/>
                </a:path>
                <a:path w="699770" h="681354">
                  <a:moveTo>
                    <a:pt x="30480" y="245364"/>
                  </a:moveTo>
                  <a:lnTo>
                    <a:pt x="30480" y="243840"/>
                  </a:lnTo>
                  <a:lnTo>
                    <a:pt x="31089" y="243840"/>
                  </a:lnTo>
                  <a:lnTo>
                    <a:pt x="30480" y="245364"/>
                  </a:lnTo>
                  <a:close/>
                </a:path>
                <a:path w="699770" h="681354">
                  <a:moveTo>
                    <a:pt x="83819" y="144779"/>
                  </a:moveTo>
                  <a:lnTo>
                    <a:pt x="70103" y="134111"/>
                  </a:lnTo>
                  <a:lnTo>
                    <a:pt x="79248" y="123443"/>
                  </a:lnTo>
                  <a:lnTo>
                    <a:pt x="89916" y="111252"/>
                  </a:lnTo>
                  <a:lnTo>
                    <a:pt x="102107" y="100584"/>
                  </a:lnTo>
                  <a:lnTo>
                    <a:pt x="117348" y="85343"/>
                  </a:lnTo>
                  <a:lnTo>
                    <a:pt x="129539" y="97536"/>
                  </a:lnTo>
                  <a:lnTo>
                    <a:pt x="124967" y="100584"/>
                  </a:lnTo>
                  <a:lnTo>
                    <a:pt x="112775" y="112775"/>
                  </a:lnTo>
                  <a:lnTo>
                    <a:pt x="102107" y="123443"/>
                  </a:lnTo>
                  <a:lnTo>
                    <a:pt x="91439" y="135636"/>
                  </a:lnTo>
                  <a:lnTo>
                    <a:pt x="91657" y="135636"/>
                  </a:lnTo>
                  <a:lnTo>
                    <a:pt x="83819" y="144779"/>
                  </a:lnTo>
                  <a:close/>
                </a:path>
                <a:path w="699770" h="681354">
                  <a:moveTo>
                    <a:pt x="112776" y="112775"/>
                  </a:moveTo>
                  <a:lnTo>
                    <a:pt x="114300" y="111252"/>
                  </a:lnTo>
                  <a:lnTo>
                    <a:pt x="112776" y="112775"/>
                  </a:lnTo>
                  <a:close/>
                </a:path>
                <a:path w="699770" h="681354">
                  <a:moveTo>
                    <a:pt x="91657" y="135636"/>
                  </a:moveTo>
                  <a:lnTo>
                    <a:pt x="91439" y="135636"/>
                  </a:lnTo>
                  <a:lnTo>
                    <a:pt x="92964" y="134111"/>
                  </a:lnTo>
                  <a:lnTo>
                    <a:pt x="91657" y="135636"/>
                  </a:lnTo>
                  <a:close/>
                </a:path>
                <a:path w="699770" h="681354">
                  <a:moveTo>
                    <a:pt x="167639" y="68580"/>
                  </a:moveTo>
                  <a:lnTo>
                    <a:pt x="158496" y="54864"/>
                  </a:lnTo>
                  <a:lnTo>
                    <a:pt x="167639" y="50291"/>
                  </a:lnTo>
                  <a:lnTo>
                    <a:pt x="182880" y="41148"/>
                  </a:lnTo>
                  <a:lnTo>
                    <a:pt x="198119" y="33528"/>
                  </a:lnTo>
                  <a:lnTo>
                    <a:pt x="220980" y="24383"/>
                  </a:lnTo>
                  <a:lnTo>
                    <a:pt x="225551" y="39624"/>
                  </a:lnTo>
                  <a:lnTo>
                    <a:pt x="219455" y="42672"/>
                  </a:lnTo>
                  <a:lnTo>
                    <a:pt x="204216" y="48768"/>
                  </a:lnTo>
                  <a:lnTo>
                    <a:pt x="176783" y="64008"/>
                  </a:lnTo>
                  <a:lnTo>
                    <a:pt x="167639" y="68580"/>
                  </a:lnTo>
                  <a:close/>
                </a:path>
                <a:path w="699770" h="681354">
                  <a:moveTo>
                    <a:pt x="272796" y="25908"/>
                  </a:moveTo>
                  <a:lnTo>
                    <a:pt x="269748" y="9144"/>
                  </a:lnTo>
                  <a:lnTo>
                    <a:pt x="278891" y="7620"/>
                  </a:lnTo>
                  <a:lnTo>
                    <a:pt x="295655" y="4572"/>
                  </a:lnTo>
                  <a:lnTo>
                    <a:pt x="313944" y="1524"/>
                  </a:lnTo>
                  <a:lnTo>
                    <a:pt x="330707" y="0"/>
                  </a:lnTo>
                  <a:lnTo>
                    <a:pt x="336803" y="0"/>
                  </a:lnTo>
                  <a:lnTo>
                    <a:pt x="336803" y="16764"/>
                  </a:lnTo>
                  <a:lnTo>
                    <a:pt x="332232" y="16764"/>
                  </a:lnTo>
                  <a:lnTo>
                    <a:pt x="315467" y="18288"/>
                  </a:lnTo>
                  <a:lnTo>
                    <a:pt x="307085" y="19812"/>
                  </a:lnTo>
                  <a:lnTo>
                    <a:pt x="298703" y="19812"/>
                  </a:lnTo>
                  <a:lnTo>
                    <a:pt x="281939" y="22860"/>
                  </a:lnTo>
                  <a:lnTo>
                    <a:pt x="272796" y="25908"/>
                  </a:lnTo>
                  <a:close/>
                </a:path>
                <a:path w="699770" h="681354">
                  <a:moveTo>
                    <a:pt x="298703" y="21336"/>
                  </a:moveTo>
                  <a:lnTo>
                    <a:pt x="298703" y="19812"/>
                  </a:lnTo>
                  <a:lnTo>
                    <a:pt x="307085" y="19812"/>
                  </a:lnTo>
                  <a:lnTo>
                    <a:pt x="298703" y="21336"/>
                  </a:lnTo>
                  <a:close/>
                </a:path>
                <a:path w="699770" h="681354">
                  <a:moveTo>
                    <a:pt x="400812" y="21336"/>
                  </a:moveTo>
                  <a:lnTo>
                    <a:pt x="385571" y="18288"/>
                  </a:lnTo>
                  <a:lnTo>
                    <a:pt x="388619" y="3048"/>
                  </a:lnTo>
                  <a:lnTo>
                    <a:pt x="402335" y="4572"/>
                  </a:lnTo>
                  <a:lnTo>
                    <a:pt x="435864" y="10668"/>
                  </a:lnTo>
                  <a:lnTo>
                    <a:pt x="452628" y="15240"/>
                  </a:lnTo>
                  <a:lnTo>
                    <a:pt x="455675" y="16764"/>
                  </a:lnTo>
                  <a:lnTo>
                    <a:pt x="454456" y="19812"/>
                  </a:lnTo>
                  <a:lnTo>
                    <a:pt x="399287" y="19812"/>
                  </a:lnTo>
                  <a:lnTo>
                    <a:pt x="400812" y="21336"/>
                  </a:lnTo>
                  <a:close/>
                </a:path>
                <a:path w="699770" h="681354">
                  <a:moveTo>
                    <a:pt x="449580" y="32004"/>
                  </a:moveTo>
                  <a:lnTo>
                    <a:pt x="448055" y="32004"/>
                  </a:lnTo>
                  <a:lnTo>
                    <a:pt x="432816" y="27432"/>
                  </a:lnTo>
                  <a:lnTo>
                    <a:pt x="416051" y="22860"/>
                  </a:lnTo>
                  <a:lnTo>
                    <a:pt x="399287" y="19812"/>
                  </a:lnTo>
                  <a:lnTo>
                    <a:pt x="454456" y="19812"/>
                  </a:lnTo>
                  <a:lnTo>
                    <a:pt x="449580" y="32004"/>
                  </a:lnTo>
                  <a:close/>
                </a:path>
                <a:path w="699770" h="681354">
                  <a:moveTo>
                    <a:pt x="534923" y="73152"/>
                  </a:moveTo>
                  <a:lnTo>
                    <a:pt x="521207" y="64008"/>
                  </a:lnTo>
                  <a:lnTo>
                    <a:pt x="522732" y="64008"/>
                  </a:lnTo>
                  <a:lnTo>
                    <a:pt x="495300" y="50291"/>
                  </a:lnTo>
                  <a:lnTo>
                    <a:pt x="502919" y="35052"/>
                  </a:lnTo>
                  <a:lnTo>
                    <a:pt x="515112" y="41148"/>
                  </a:lnTo>
                  <a:lnTo>
                    <a:pt x="530351" y="50291"/>
                  </a:lnTo>
                  <a:lnTo>
                    <a:pt x="544067" y="57912"/>
                  </a:lnTo>
                  <a:lnTo>
                    <a:pt x="557783" y="68580"/>
                  </a:lnTo>
                  <a:lnTo>
                    <a:pt x="560832" y="70104"/>
                  </a:lnTo>
                  <a:lnTo>
                    <a:pt x="559816" y="71628"/>
                  </a:lnTo>
                  <a:lnTo>
                    <a:pt x="534923" y="71628"/>
                  </a:lnTo>
                  <a:lnTo>
                    <a:pt x="534923" y="73152"/>
                  </a:lnTo>
                  <a:close/>
                </a:path>
                <a:path w="699770" h="681354">
                  <a:moveTo>
                    <a:pt x="551687" y="83820"/>
                  </a:moveTo>
                  <a:lnTo>
                    <a:pt x="548639" y="80772"/>
                  </a:lnTo>
                  <a:lnTo>
                    <a:pt x="534923" y="71628"/>
                  </a:lnTo>
                  <a:lnTo>
                    <a:pt x="559816" y="71628"/>
                  </a:lnTo>
                  <a:lnTo>
                    <a:pt x="551687" y="83820"/>
                  </a:lnTo>
                  <a:close/>
                </a:path>
                <a:path w="699770" h="681354">
                  <a:moveTo>
                    <a:pt x="606551" y="135636"/>
                  </a:moveTo>
                  <a:lnTo>
                    <a:pt x="595883" y="123443"/>
                  </a:lnTo>
                  <a:lnTo>
                    <a:pt x="588264" y="115824"/>
                  </a:lnTo>
                  <a:lnTo>
                    <a:pt x="600455" y="103632"/>
                  </a:lnTo>
                  <a:lnTo>
                    <a:pt x="608075" y="111252"/>
                  </a:lnTo>
                  <a:lnTo>
                    <a:pt x="618744" y="123443"/>
                  </a:lnTo>
                  <a:lnTo>
                    <a:pt x="627041" y="134111"/>
                  </a:lnTo>
                  <a:lnTo>
                    <a:pt x="606551" y="134111"/>
                  </a:lnTo>
                  <a:lnTo>
                    <a:pt x="606551" y="135636"/>
                  </a:lnTo>
                  <a:close/>
                </a:path>
                <a:path w="699770" h="681354">
                  <a:moveTo>
                    <a:pt x="629412" y="166116"/>
                  </a:moveTo>
                  <a:lnTo>
                    <a:pt x="615696" y="147827"/>
                  </a:lnTo>
                  <a:lnTo>
                    <a:pt x="606551" y="134111"/>
                  </a:lnTo>
                  <a:lnTo>
                    <a:pt x="627041" y="134111"/>
                  </a:lnTo>
                  <a:lnTo>
                    <a:pt x="629412" y="137159"/>
                  </a:lnTo>
                  <a:lnTo>
                    <a:pt x="638555" y="150875"/>
                  </a:lnTo>
                  <a:lnTo>
                    <a:pt x="643128" y="156972"/>
                  </a:lnTo>
                  <a:lnTo>
                    <a:pt x="629412" y="166116"/>
                  </a:lnTo>
                  <a:close/>
                </a:path>
                <a:path w="699770" h="681354">
                  <a:moveTo>
                    <a:pt x="667512" y="245364"/>
                  </a:moveTo>
                  <a:lnTo>
                    <a:pt x="655319" y="214884"/>
                  </a:lnTo>
                  <a:lnTo>
                    <a:pt x="652271" y="208788"/>
                  </a:lnTo>
                  <a:lnTo>
                    <a:pt x="667512" y="201168"/>
                  </a:lnTo>
                  <a:lnTo>
                    <a:pt x="670560" y="208788"/>
                  </a:lnTo>
                  <a:lnTo>
                    <a:pt x="678180" y="224027"/>
                  </a:lnTo>
                  <a:lnTo>
                    <a:pt x="682751" y="239268"/>
                  </a:lnTo>
                  <a:lnTo>
                    <a:pt x="683998" y="243840"/>
                  </a:lnTo>
                  <a:lnTo>
                    <a:pt x="667512" y="243840"/>
                  </a:lnTo>
                  <a:lnTo>
                    <a:pt x="667512" y="245364"/>
                  </a:lnTo>
                  <a:close/>
                </a:path>
                <a:path w="699770" h="681354">
                  <a:moveTo>
                    <a:pt x="673607" y="269748"/>
                  </a:moveTo>
                  <a:lnTo>
                    <a:pt x="672083" y="260604"/>
                  </a:lnTo>
                  <a:lnTo>
                    <a:pt x="667512" y="243840"/>
                  </a:lnTo>
                  <a:lnTo>
                    <a:pt x="683998" y="243840"/>
                  </a:lnTo>
                  <a:lnTo>
                    <a:pt x="687323" y="256032"/>
                  </a:lnTo>
                  <a:lnTo>
                    <a:pt x="690371" y="266700"/>
                  </a:lnTo>
                  <a:lnTo>
                    <a:pt x="673607" y="269748"/>
                  </a:lnTo>
                  <a:close/>
                </a:path>
                <a:path w="699770" h="681354">
                  <a:moveTo>
                    <a:pt x="696467" y="385572"/>
                  </a:moveTo>
                  <a:lnTo>
                    <a:pt x="679703" y="384048"/>
                  </a:lnTo>
                  <a:lnTo>
                    <a:pt x="679703" y="374904"/>
                  </a:lnTo>
                  <a:lnTo>
                    <a:pt x="682751" y="341375"/>
                  </a:lnTo>
                  <a:lnTo>
                    <a:pt x="681228" y="324611"/>
                  </a:lnTo>
                  <a:lnTo>
                    <a:pt x="681228" y="318516"/>
                  </a:lnTo>
                  <a:lnTo>
                    <a:pt x="697991" y="316991"/>
                  </a:lnTo>
                  <a:lnTo>
                    <a:pt x="697991" y="323088"/>
                  </a:lnTo>
                  <a:lnTo>
                    <a:pt x="699516" y="341375"/>
                  </a:lnTo>
                  <a:lnTo>
                    <a:pt x="697991" y="358140"/>
                  </a:lnTo>
                  <a:lnTo>
                    <a:pt x="696594" y="374904"/>
                  </a:lnTo>
                  <a:lnTo>
                    <a:pt x="696467" y="385572"/>
                  </a:lnTo>
                  <a:close/>
                </a:path>
                <a:path w="699770" h="681354">
                  <a:moveTo>
                    <a:pt x="658367" y="498348"/>
                  </a:moveTo>
                  <a:lnTo>
                    <a:pt x="644651" y="490727"/>
                  </a:lnTo>
                  <a:lnTo>
                    <a:pt x="649223" y="481584"/>
                  </a:lnTo>
                  <a:lnTo>
                    <a:pt x="655319" y="467868"/>
                  </a:lnTo>
                  <a:lnTo>
                    <a:pt x="667512" y="437388"/>
                  </a:lnTo>
                  <a:lnTo>
                    <a:pt x="669035" y="431292"/>
                  </a:lnTo>
                  <a:lnTo>
                    <a:pt x="684275" y="435864"/>
                  </a:lnTo>
                  <a:lnTo>
                    <a:pt x="682751" y="443484"/>
                  </a:lnTo>
                  <a:lnTo>
                    <a:pt x="678180" y="458724"/>
                  </a:lnTo>
                  <a:lnTo>
                    <a:pt x="670560" y="473964"/>
                  </a:lnTo>
                  <a:lnTo>
                    <a:pt x="664464" y="489204"/>
                  </a:lnTo>
                  <a:lnTo>
                    <a:pt x="658367" y="498348"/>
                  </a:lnTo>
                  <a:close/>
                </a:path>
                <a:path w="699770" h="681354">
                  <a:moveTo>
                    <a:pt x="585216" y="592836"/>
                  </a:moveTo>
                  <a:lnTo>
                    <a:pt x="574548" y="580643"/>
                  </a:lnTo>
                  <a:lnTo>
                    <a:pt x="595883" y="559308"/>
                  </a:lnTo>
                  <a:lnTo>
                    <a:pt x="606551" y="547116"/>
                  </a:lnTo>
                  <a:lnTo>
                    <a:pt x="615696" y="534924"/>
                  </a:lnTo>
                  <a:lnTo>
                    <a:pt x="617219" y="531875"/>
                  </a:lnTo>
                  <a:lnTo>
                    <a:pt x="630935" y="542543"/>
                  </a:lnTo>
                  <a:lnTo>
                    <a:pt x="629412" y="545592"/>
                  </a:lnTo>
                  <a:lnTo>
                    <a:pt x="608075" y="569975"/>
                  </a:lnTo>
                  <a:lnTo>
                    <a:pt x="585216" y="592836"/>
                  </a:lnTo>
                  <a:close/>
                </a:path>
                <a:path w="699770" h="681354">
                  <a:moveTo>
                    <a:pt x="484632" y="655320"/>
                  </a:moveTo>
                  <a:lnTo>
                    <a:pt x="478535" y="640079"/>
                  </a:lnTo>
                  <a:lnTo>
                    <a:pt x="493775" y="633984"/>
                  </a:lnTo>
                  <a:lnTo>
                    <a:pt x="507491" y="626364"/>
                  </a:lnTo>
                  <a:lnTo>
                    <a:pt x="522732" y="618743"/>
                  </a:lnTo>
                  <a:lnTo>
                    <a:pt x="521207" y="618743"/>
                  </a:lnTo>
                  <a:lnTo>
                    <a:pt x="534923" y="609600"/>
                  </a:lnTo>
                  <a:lnTo>
                    <a:pt x="544067" y="624840"/>
                  </a:lnTo>
                  <a:lnTo>
                    <a:pt x="530351" y="632459"/>
                  </a:lnTo>
                  <a:lnTo>
                    <a:pt x="515112" y="641604"/>
                  </a:lnTo>
                  <a:lnTo>
                    <a:pt x="499871" y="649224"/>
                  </a:lnTo>
                  <a:lnTo>
                    <a:pt x="484632" y="655320"/>
                  </a:lnTo>
                  <a:close/>
                </a:path>
                <a:path w="699770" h="681354">
                  <a:moveTo>
                    <a:pt x="385571" y="681227"/>
                  </a:moveTo>
                  <a:lnTo>
                    <a:pt x="367283" y="681227"/>
                  </a:lnTo>
                  <a:lnTo>
                    <a:pt x="367283" y="664464"/>
                  </a:lnTo>
                  <a:lnTo>
                    <a:pt x="382523" y="664464"/>
                  </a:lnTo>
                  <a:lnTo>
                    <a:pt x="416051" y="658368"/>
                  </a:lnTo>
                  <a:lnTo>
                    <a:pt x="431291" y="655320"/>
                  </a:lnTo>
                  <a:lnTo>
                    <a:pt x="435864" y="672084"/>
                  </a:lnTo>
                  <a:lnTo>
                    <a:pt x="385571" y="681227"/>
                  </a:lnTo>
                  <a:close/>
                </a:path>
                <a:path w="699770" h="681354">
                  <a:moveTo>
                    <a:pt x="316991" y="681227"/>
                  </a:moveTo>
                  <a:lnTo>
                    <a:pt x="313944" y="681227"/>
                  </a:lnTo>
                  <a:lnTo>
                    <a:pt x="295655" y="678179"/>
                  </a:lnTo>
                  <a:lnTo>
                    <a:pt x="262128" y="672084"/>
                  </a:lnTo>
                  <a:lnTo>
                    <a:pt x="249935" y="667511"/>
                  </a:lnTo>
                  <a:lnTo>
                    <a:pt x="254507" y="652272"/>
                  </a:lnTo>
                  <a:lnTo>
                    <a:pt x="266700" y="655320"/>
                  </a:lnTo>
                  <a:lnTo>
                    <a:pt x="265175" y="655320"/>
                  </a:lnTo>
                  <a:lnTo>
                    <a:pt x="315467" y="664464"/>
                  </a:lnTo>
                  <a:lnTo>
                    <a:pt x="318516" y="664464"/>
                  </a:lnTo>
                  <a:lnTo>
                    <a:pt x="316991" y="681227"/>
                  </a:lnTo>
                  <a:close/>
                </a:path>
                <a:path w="699770" h="681354">
                  <a:moveTo>
                    <a:pt x="201167" y="650748"/>
                  </a:moveTo>
                  <a:lnTo>
                    <a:pt x="182880" y="641604"/>
                  </a:lnTo>
                  <a:lnTo>
                    <a:pt x="167639" y="632459"/>
                  </a:lnTo>
                  <a:lnTo>
                    <a:pt x="153923" y="623316"/>
                  </a:lnTo>
                  <a:lnTo>
                    <a:pt x="141732" y="615695"/>
                  </a:lnTo>
                  <a:lnTo>
                    <a:pt x="152400" y="601979"/>
                  </a:lnTo>
                  <a:lnTo>
                    <a:pt x="163067" y="609600"/>
                  </a:lnTo>
                  <a:lnTo>
                    <a:pt x="176783" y="618743"/>
                  </a:lnTo>
                  <a:lnTo>
                    <a:pt x="204216" y="633984"/>
                  </a:lnTo>
                  <a:lnTo>
                    <a:pt x="208787" y="635508"/>
                  </a:lnTo>
                  <a:lnTo>
                    <a:pt x="201167" y="650748"/>
                  </a:lnTo>
                  <a:close/>
                </a:path>
                <a:path w="699770" h="681354">
                  <a:moveTo>
                    <a:pt x="102107" y="583692"/>
                  </a:moveTo>
                  <a:lnTo>
                    <a:pt x="102107" y="582168"/>
                  </a:lnTo>
                  <a:lnTo>
                    <a:pt x="89916" y="569975"/>
                  </a:lnTo>
                  <a:lnTo>
                    <a:pt x="68580" y="545592"/>
                  </a:lnTo>
                  <a:lnTo>
                    <a:pt x="59435" y="531875"/>
                  </a:lnTo>
                  <a:lnTo>
                    <a:pt x="57912" y="530352"/>
                  </a:lnTo>
                  <a:lnTo>
                    <a:pt x="73151" y="521208"/>
                  </a:lnTo>
                  <a:lnTo>
                    <a:pt x="73151" y="522732"/>
                  </a:lnTo>
                  <a:lnTo>
                    <a:pt x="82296" y="534924"/>
                  </a:lnTo>
                  <a:lnTo>
                    <a:pt x="92964" y="547116"/>
                  </a:lnTo>
                  <a:lnTo>
                    <a:pt x="91439" y="547116"/>
                  </a:lnTo>
                  <a:lnTo>
                    <a:pt x="102107" y="559308"/>
                  </a:lnTo>
                  <a:lnTo>
                    <a:pt x="114300" y="569975"/>
                  </a:lnTo>
                  <a:lnTo>
                    <a:pt x="112775" y="569975"/>
                  </a:lnTo>
                  <a:lnTo>
                    <a:pt x="114300" y="571500"/>
                  </a:lnTo>
                  <a:lnTo>
                    <a:pt x="102107" y="583692"/>
                  </a:lnTo>
                  <a:close/>
                </a:path>
                <a:path w="699770" h="681354">
                  <a:moveTo>
                    <a:pt x="32003" y="486156"/>
                  </a:moveTo>
                  <a:lnTo>
                    <a:pt x="27432" y="473964"/>
                  </a:lnTo>
                  <a:lnTo>
                    <a:pt x="21335" y="458724"/>
                  </a:lnTo>
                  <a:lnTo>
                    <a:pt x="15239" y="441959"/>
                  </a:lnTo>
                  <a:lnTo>
                    <a:pt x="10667" y="426720"/>
                  </a:lnTo>
                  <a:lnTo>
                    <a:pt x="9144" y="422148"/>
                  </a:lnTo>
                  <a:lnTo>
                    <a:pt x="25907" y="417575"/>
                  </a:lnTo>
                  <a:lnTo>
                    <a:pt x="27432" y="422148"/>
                  </a:lnTo>
                  <a:lnTo>
                    <a:pt x="25907" y="422148"/>
                  </a:lnTo>
                  <a:lnTo>
                    <a:pt x="30480" y="437388"/>
                  </a:lnTo>
                  <a:lnTo>
                    <a:pt x="42671" y="467868"/>
                  </a:lnTo>
                  <a:lnTo>
                    <a:pt x="47244" y="480059"/>
                  </a:lnTo>
                  <a:lnTo>
                    <a:pt x="32003" y="486156"/>
                  </a:lnTo>
                  <a:close/>
                </a:path>
              </a:pathLst>
            </a:custGeom>
            <a:solidFill>
              <a:srgbClr val="0C1C2B"/>
            </a:solidFill>
          </p:spPr>
          <p:txBody>
            <a:bodyPr wrap="square" lIns="0" tIns="0" rIns="0" bIns="0" rtlCol="0"/>
            <a:lstStyle/>
            <a:p>
              <a:endParaRPr sz="1630"/>
            </a:p>
          </p:txBody>
        </p:sp>
        <p:pic>
          <p:nvPicPr>
            <p:cNvPr id="75" name="object 75"/>
            <p:cNvPicPr/>
            <p:nvPr/>
          </p:nvPicPr>
          <p:blipFill>
            <a:blip r:embed="rId14" cstate="print"/>
            <a:stretch>
              <a:fillRect/>
            </a:stretch>
          </p:blipFill>
          <p:spPr>
            <a:xfrm>
              <a:off x="6568439" y="5423916"/>
              <a:ext cx="146304" cy="144780"/>
            </a:xfrm>
            <a:prstGeom prst="rect">
              <a:avLst/>
            </a:prstGeom>
          </p:spPr>
        </p:pic>
        <p:pic>
          <p:nvPicPr>
            <p:cNvPr id="76" name="object 76"/>
            <p:cNvPicPr/>
            <p:nvPr/>
          </p:nvPicPr>
          <p:blipFill>
            <a:blip r:embed="rId15" cstate="print"/>
            <a:stretch>
              <a:fillRect/>
            </a:stretch>
          </p:blipFill>
          <p:spPr>
            <a:xfrm>
              <a:off x="6560057" y="5414010"/>
              <a:ext cx="163067" cy="163067"/>
            </a:xfrm>
            <a:prstGeom prst="rect">
              <a:avLst/>
            </a:prstGeom>
          </p:spPr>
        </p:pic>
        <p:pic>
          <p:nvPicPr>
            <p:cNvPr id="77" name="object 77"/>
            <p:cNvPicPr/>
            <p:nvPr/>
          </p:nvPicPr>
          <p:blipFill>
            <a:blip r:embed="rId16" cstate="print"/>
            <a:stretch>
              <a:fillRect/>
            </a:stretch>
          </p:blipFill>
          <p:spPr>
            <a:xfrm>
              <a:off x="5289803" y="5638800"/>
              <a:ext cx="146303" cy="144780"/>
            </a:xfrm>
            <a:prstGeom prst="rect">
              <a:avLst/>
            </a:prstGeom>
          </p:spPr>
        </p:pic>
        <p:pic>
          <p:nvPicPr>
            <p:cNvPr id="78" name="object 78"/>
            <p:cNvPicPr/>
            <p:nvPr/>
          </p:nvPicPr>
          <p:blipFill>
            <a:blip r:embed="rId17" cstate="print"/>
            <a:stretch>
              <a:fillRect/>
            </a:stretch>
          </p:blipFill>
          <p:spPr>
            <a:xfrm>
              <a:off x="5281421" y="5628894"/>
              <a:ext cx="163068" cy="163067"/>
            </a:xfrm>
            <a:prstGeom prst="rect">
              <a:avLst/>
            </a:prstGeom>
          </p:spPr>
        </p:pic>
        <p:pic>
          <p:nvPicPr>
            <p:cNvPr id="79" name="object 79"/>
            <p:cNvPicPr/>
            <p:nvPr/>
          </p:nvPicPr>
          <p:blipFill>
            <a:blip r:embed="rId18" cstate="print"/>
            <a:stretch>
              <a:fillRect/>
            </a:stretch>
          </p:blipFill>
          <p:spPr>
            <a:xfrm>
              <a:off x="6236207" y="5757672"/>
              <a:ext cx="146304" cy="146304"/>
            </a:xfrm>
            <a:prstGeom prst="rect">
              <a:avLst/>
            </a:prstGeom>
          </p:spPr>
        </p:pic>
        <p:pic>
          <p:nvPicPr>
            <p:cNvPr id="80" name="object 80"/>
            <p:cNvPicPr/>
            <p:nvPr/>
          </p:nvPicPr>
          <p:blipFill>
            <a:blip r:embed="rId19" cstate="print"/>
            <a:stretch>
              <a:fillRect/>
            </a:stretch>
          </p:blipFill>
          <p:spPr>
            <a:xfrm>
              <a:off x="6227825" y="5747765"/>
              <a:ext cx="163068" cy="164591"/>
            </a:xfrm>
            <a:prstGeom prst="rect">
              <a:avLst/>
            </a:prstGeom>
          </p:spPr>
        </p:pic>
      </p:grpSp>
      <p:sp>
        <p:nvSpPr>
          <p:cNvPr id="81" name="object 81"/>
          <p:cNvSpPr txBox="1"/>
          <p:nvPr/>
        </p:nvSpPr>
        <p:spPr>
          <a:xfrm>
            <a:off x="8655685" y="3790315"/>
            <a:ext cx="2213610" cy="586105"/>
          </a:xfrm>
          <a:prstGeom prst="rect">
            <a:avLst/>
          </a:prstGeom>
        </p:spPr>
        <p:txBody>
          <a:bodyPr vert="horz" wrap="square" lIns="0" tIns="10940" rIns="0" bIns="0" rtlCol="0">
            <a:spAutoFit/>
          </a:bodyPr>
          <a:lstStyle/>
          <a:p>
            <a:pPr marL="38100" marR="30480">
              <a:lnSpc>
                <a:spcPct val="117000"/>
              </a:lnSpc>
              <a:spcBef>
                <a:spcPts val="95"/>
              </a:spcBef>
            </a:pPr>
            <a:r>
              <a:rPr sz="1600" dirty="0">
                <a:solidFill>
                  <a:srgbClr val="1F4D79"/>
                </a:solidFill>
                <a:latin typeface="Cambria" panose="02040503050406030204"/>
                <a:cs typeface="Cambria" panose="02040503050406030204"/>
              </a:rPr>
              <a:t>𝑵</a:t>
            </a:r>
            <a:r>
              <a:rPr sz="1600" baseline="-16000" dirty="0">
                <a:solidFill>
                  <a:srgbClr val="1F4D79"/>
                </a:solidFill>
                <a:latin typeface="Cambria" panose="02040503050406030204"/>
                <a:cs typeface="Cambria" panose="02040503050406030204"/>
              </a:rPr>
              <a:t>𝑩</a:t>
            </a:r>
            <a:r>
              <a:rPr sz="1600" dirty="0">
                <a:solidFill>
                  <a:srgbClr val="0C1C2B"/>
                </a:solidFill>
                <a:latin typeface="Arial" panose="020B0604020202020204"/>
                <a:cs typeface="Arial" panose="020B0604020202020204"/>
              </a:rPr>
              <a:t>:</a:t>
            </a:r>
            <a:r>
              <a:rPr sz="1600" spc="30" dirty="0">
                <a:solidFill>
                  <a:srgbClr val="0C1C2B"/>
                </a:solidFill>
                <a:latin typeface="Arial" panose="020B0604020202020204"/>
                <a:cs typeface="Arial" panose="020B0604020202020204"/>
              </a:rPr>
              <a:t> </a:t>
            </a:r>
            <a:r>
              <a:rPr lang="zh-CN" altLang="en-US" sz="1600">
                <a:latin typeface="Arial" panose="020B0604020202020204"/>
                <a:cs typeface="Arial" panose="020B0604020202020204"/>
              </a:rPr>
              <a:t>为避免数据不平衡，还应生成正常样本。</a:t>
            </a:r>
            <a:endParaRPr lang="zh-CN" altLang="en-US" sz="1600">
              <a:latin typeface="Arial" panose="020B0604020202020204"/>
              <a:cs typeface="Arial" panose="020B0604020202020204"/>
            </a:endParaRPr>
          </a:p>
        </p:txBody>
      </p:sp>
      <p:grpSp>
        <p:nvGrpSpPr>
          <p:cNvPr id="82" name="object 82"/>
          <p:cNvGrpSpPr/>
          <p:nvPr/>
        </p:nvGrpSpPr>
        <p:grpSpPr>
          <a:xfrm rot="0">
            <a:off x="8869680" y="4723130"/>
            <a:ext cx="1590040" cy="1388745"/>
            <a:chOff x="7554468" y="4584192"/>
            <a:chExt cx="1499870" cy="1356360"/>
          </a:xfrm>
        </p:grpSpPr>
        <p:sp>
          <p:nvSpPr>
            <p:cNvPr id="83" name="object 83"/>
            <p:cNvSpPr/>
            <p:nvPr/>
          </p:nvSpPr>
          <p:spPr>
            <a:xfrm>
              <a:off x="7566660" y="4596384"/>
              <a:ext cx="1475740" cy="1332230"/>
            </a:xfrm>
            <a:custGeom>
              <a:avLst/>
              <a:gdLst/>
              <a:ahLst/>
              <a:cxnLst/>
              <a:rect l="l" t="t" r="r" b="b"/>
              <a:pathLst>
                <a:path w="1475740" h="1332229">
                  <a:moveTo>
                    <a:pt x="0" y="222504"/>
                  </a:moveTo>
                  <a:lnTo>
                    <a:pt x="4560" y="177501"/>
                  </a:lnTo>
                  <a:lnTo>
                    <a:pt x="17621" y="135659"/>
                  </a:lnTo>
                  <a:lnTo>
                    <a:pt x="38254" y="97854"/>
                  </a:lnTo>
                  <a:lnTo>
                    <a:pt x="65532" y="64960"/>
                  </a:lnTo>
                  <a:lnTo>
                    <a:pt x="98524" y="37852"/>
                  </a:lnTo>
                  <a:lnTo>
                    <a:pt x="136302" y="17406"/>
                  </a:lnTo>
                  <a:lnTo>
                    <a:pt x="177938" y="4497"/>
                  </a:lnTo>
                  <a:lnTo>
                    <a:pt x="222504" y="0"/>
                  </a:lnTo>
                  <a:lnTo>
                    <a:pt x="1254251" y="0"/>
                  </a:lnTo>
                  <a:lnTo>
                    <a:pt x="1298751" y="4497"/>
                  </a:lnTo>
                  <a:lnTo>
                    <a:pt x="1340215" y="17406"/>
                  </a:lnTo>
                  <a:lnTo>
                    <a:pt x="1377749" y="37852"/>
                  </a:lnTo>
                  <a:lnTo>
                    <a:pt x="1410462" y="64960"/>
                  </a:lnTo>
                  <a:lnTo>
                    <a:pt x="1437459" y="97854"/>
                  </a:lnTo>
                  <a:lnTo>
                    <a:pt x="1457848" y="135659"/>
                  </a:lnTo>
                  <a:lnTo>
                    <a:pt x="1470737" y="177501"/>
                  </a:lnTo>
                  <a:lnTo>
                    <a:pt x="1475232" y="222504"/>
                  </a:lnTo>
                  <a:lnTo>
                    <a:pt x="1475232" y="1109472"/>
                  </a:lnTo>
                  <a:lnTo>
                    <a:pt x="1470737" y="1154474"/>
                  </a:lnTo>
                  <a:lnTo>
                    <a:pt x="1457848" y="1196316"/>
                  </a:lnTo>
                  <a:lnTo>
                    <a:pt x="1437459" y="1234121"/>
                  </a:lnTo>
                  <a:lnTo>
                    <a:pt x="1410462" y="1267015"/>
                  </a:lnTo>
                  <a:lnTo>
                    <a:pt x="1377749" y="1294123"/>
                  </a:lnTo>
                  <a:lnTo>
                    <a:pt x="1340215" y="1314569"/>
                  </a:lnTo>
                  <a:lnTo>
                    <a:pt x="1298751" y="1327478"/>
                  </a:lnTo>
                  <a:lnTo>
                    <a:pt x="1254251" y="1331976"/>
                  </a:lnTo>
                  <a:lnTo>
                    <a:pt x="222504" y="1331976"/>
                  </a:lnTo>
                  <a:lnTo>
                    <a:pt x="177938" y="1327478"/>
                  </a:lnTo>
                  <a:lnTo>
                    <a:pt x="136302" y="1314569"/>
                  </a:lnTo>
                  <a:lnTo>
                    <a:pt x="98524" y="1294123"/>
                  </a:lnTo>
                  <a:lnTo>
                    <a:pt x="65532" y="1267015"/>
                  </a:lnTo>
                  <a:lnTo>
                    <a:pt x="38254" y="1234121"/>
                  </a:lnTo>
                  <a:lnTo>
                    <a:pt x="17621" y="1196316"/>
                  </a:lnTo>
                  <a:lnTo>
                    <a:pt x="4560" y="1154474"/>
                  </a:lnTo>
                  <a:lnTo>
                    <a:pt x="0" y="1109472"/>
                  </a:lnTo>
                  <a:lnTo>
                    <a:pt x="0" y="222504"/>
                  </a:lnTo>
                  <a:close/>
                </a:path>
              </a:pathLst>
            </a:custGeom>
            <a:ln w="24384">
              <a:solidFill>
                <a:srgbClr val="0C1C2B"/>
              </a:solidFill>
            </a:ln>
          </p:spPr>
          <p:txBody>
            <a:bodyPr wrap="square" lIns="0" tIns="0" rIns="0" bIns="0" rtlCol="0"/>
            <a:lstStyle/>
            <a:p>
              <a:endParaRPr sz="1630"/>
            </a:p>
          </p:txBody>
        </p:sp>
        <p:sp>
          <p:nvSpPr>
            <p:cNvPr id="84" name="object 84"/>
            <p:cNvSpPr/>
            <p:nvPr/>
          </p:nvSpPr>
          <p:spPr>
            <a:xfrm>
              <a:off x="7973568" y="4904232"/>
              <a:ext cx="146685" cy="146685"/>
            </a:xfrm>
            <a:custGeom>
              <a:avLst/>
              <a:gdLst/>
              <a:ahLst/>
              <a:cxnLst/>
              <a:rect l="l" t="t" r="r" b="b"/>
              <a:pathLst>
                <a:path w="146684" h="146685">
                  <a:moveTo>
                    <a:pt x="73152" y="146303"/>
                  </a:moveTo>
                  <a:lnTo>
                    <a:pt x="44362" y="140660"/>
                  </a:lnTo>
                  <a:lnTo>
                    <a:pt x="21145" y="125158"/>
                  </a:lnTo>
                  <a:lnTo>
                    <a:pt x="5643" y="101941"/>
                  </a:lnTo>
                  <a:lnTo>
                    <a:pt x="0" y="73151"/>
                  </a:lnTo>
                  <a:lnTo>
                    <a:pt x="5643" y="45005"/>
                  </a:lnTo>
                  <a:lnTo>
                    <a:pt x="21145" y="21716"/>
                  </a:lnTo>
                  <a:lnTo>
                    <a:pt x="44362" y="5857"/>
                  </a:lnTo>
                  <a:lnTo>
                    <a:pt x="73152" y="0"/>
                  </a:lnTo>
                  <a:lnTo>
                    <a:pt x="101941" y="5857"/>
                  </a:lnTo>
                  <a:lnTo>
                    <a:pt x="125158" y="21716"/>
                  </a:lnTo>
                  <a:lnTo>
                    <a:pt x="140660" y="45005"/>
                  </a:lnTo>
                  <a:lnTo>
                    <a:pt x="146304" y="73151"/>
                  </a:lnTo>
                  <a:lnTo>
                    <a:pt x="140660" y="101941"/>
                  </a:lnTo>
                  <a:lnTo>
                    <a:pt x="125158" y="125158"/>
                  </a:lnTo>
                  <a:lnTo>
                    <a:pt x="101941" y="140660"/>
                  </a:lnTo>
                  <a:lnTo>
                    <a:pt x="73152" y="146303"/>
                  </a:lnTo>
                  <a:close/>
                </a:path>
              </a:pathLst>
            </a:custGeom>
            <a:solidFill>
              <a:srgbClr val="344B74"/>
            </a:solidFill>
          </p:spPr>
          <p:txBody>
            <a:bodyPr wrap="square" lIns="0" tIns="0" rIns="0" bIns="0" rtlCol="0"/>
            <a:lstStyle/>
            <a:p>
              <a:endParaRPr sz="1630"/>
            </a:p>
          </p:txBody>
        </p:sp>
        <p:pic>
          <p:nvPicPr>
            <p:cNvPr id="85" name="object 85"/>
            <p:cNvPicPr/>
            <p:nvPr/>
          </p:nvPicPr>
          <p:blipFill>
            <a:blip r:embed="rId20" cstate="print"/>
            <a:stretch>
              <a:fillRect/>
            </a:stretch>
          </p:blipFill>
          <p:spPr>
            <a:xfrm>
              <a:off x="7911084" y="5199887"/>
              <a:ext cx="146303" cy="146303"/>
            </a:xfrm>
            <a:prstGeom prst="rect">
              <a:avLst/>
            </a:prstGeom>
          </p:spPr>
        </p:pic>
        <p:pic>
          <p:nvPicPr>
            <p:cNvPr id="86" name="object 86"/>
            <p:cNvPicPr/>
            <p:nvPr/>
          </p:nvPicPr>
          <p:blipFill>
            <a:blip r:embed="rId21" cstate="print"/>
            <a:stretch>
              <a:fillRect/>
            </a:stretch>
          </p:blipFill>
          <p:spPr>
            <a:xfrm>
              <a:off x="8337803" y="5151119"/>
              <a:ext cx="146303" cy="146303"/>
            </a:xfrm>
            <a:prstGeom prst="rect">
              <a:avLst/>
            </a:prstGeom>
          </p:spPr>
        </p:pic>
        <p:sp>
          <p:nvSpPr>
            <p:cNvPr id="87" name="object 87"/>
            <p:cNvSpPr/>
            <p:nvPr/>
          </p:nvSpPr>
          <p:spPr>
            <a:xfrm>
              <a:off x="8129016" y="5044440"/>
              <a:ext cx="147955" cy="147955"/>
            </a:xfrm>
            <a:custGeom>
              <a:avLst/>
              <a:gdLst/>
              <a:ahLst/>
              <a:cxnLst/>
              <a:rect l="l" t="t" r="r" b="b"/>
              <a:pathLst>
                <a:path w="147954" h="147954">
                  <a:moveTo>
                    <a:pt x="74676" y="147827"/>
                  </a:moveTo>
                  <a:lnTo>
                    <a:pt x="45648" y="141970"/>
                  </a:lnTo>
                  <a:lnTo>
                    <a:pt x="21907" y="126110"/>
                  </a:lnTo>
                  <a:lnTo>
                    <a:pt x="5881" y="102822"/>
                  </a:lnTo>
                  <a:lnTo>
                    <a:pt x="0" y="74675"/>
                  </a:lnTo>
                  <a:lnTo>
                    <a:pt x="5881" y="45648"/>
                  </a:lnTo>
                  <a:lnTo>
                    <a:pt x="21907" y="21907"/>
                  </a:lnTo>
                  <a:lnTo>
                    <a:pt x="45648" y="5881"/>
                  </a:lnTo>
                  <a:lnTo>
                    <a:pt x="74676" y="0"/>
                  </a:lnTo>
                  <a:lnTo>
                    <a:pt x="102822" y="5881"/>
                  </a:lnTo>
                  <a:lnTo>
                    <a:pt x="126111" y="21907"/>
                  </a:lnTo>
                  <a:lnTo>
                    <a:pt x="141970" y="45648"/>
                  </a:lnTo>
                  <a:lnTo>
                    <a:pt x="147828" y="74675"/>
                  </a:lnTo>
                  <a:lnTo>
                    <a:pt x="141970" y="102822"/>
                  </a:lnTo>
                  <a:lnTo>
                    <a:pt x="126111" y="126110"/>
                  </a:lnTo>
                  <a:lnTo>
                    <a:pt x="102822" y="141970"/>
                  </a:lnTo>
                  <a:lnTo>
                    <a:pt x="74676" y="147827"/>
                  </a:lnTo>
                  <a:close/>
                </a:path>
              </a:pathLst>
            </a:custGeom>
            <a:solidFill>
              <a:srgbClr val="344B74"/>
            </a:solidFill>
          </p:spPr>
          <p:txBody>
            <a:bodyPr wrap="square" lIns="0" tIns="0" rIns="0" bIns="0" rtlCol="0"/>
            <a:lstStyle/>
            <a:p>
              <a:endParaRPr sz="1630"/>
            </a:p>
          </p:txBody>
        </p:sp>
        <p:pic>
          <p:nvPicPr>
            <p:cNvPr id="88" name="object 88"/>
            <p:cNvPicPr/>
            <p:nvPr/>
          </p:nvPicPr>
          <p:blipFill>
            <a:blip r:embed="rId22" cstate="print"/>
            <a:stretch>
              <a:fillRect/>
            </a:stretch>
          </p:blipFill>
          <p:spPr>
            <a:xfrm>
              <a:off x="8756903" y="4741164"/>
              <a:ext cx="147827" cy="147827"/>
            </a:xfrm>
            <a:prstGeom prst="rect">
              <a:avLst/>
            </a:prstGeom>
          </p:spPr>
        </p:pic>
        <p:pic>
          <p:nvPicPr>
            <p:cNvPr id="89" name="object 89"/>
            <p:cNvPicPr/>
            <p:nvPr/>
          </p:nvPicPr>
          <p:blipFill>
            <a:blip r:embed="rId23" cstate="print"/>
            <a:stretch>
              <a:fillRect/>
            </a:stretch>
          </p:blipFill>
          <p:spPr>
            <a:xfrm>
              <a:off x="8756903" y="5647944"/>
              <a:ext cx="147827" cy="146303"/>
            </a:xfrm>
            <a:prstGeom prst="rect">
              <a:avLst/>
            </a:prstGeom>
          </p:spPr>
        </p:pic>
        <p:pic>
          <p:nvPicPr>
            <p:cNvPr id="90" name="object 90"/>
            <p:cNvPicPr/>
            <p:nvPr/>
          </p:nvPicPr>
          <p:blipFill>
            <a:blip r:embed="rId24" cstate="print"/>
            <a:stretch>
              <a:fillRect/>
            </a:stretch>
          </p:blipFill>
          <p:spPr>
            <a:xfrm>
              <a:off x="7786116" y="5715000"/>
              <a:ext cx="147827" cy="146303"/>
            </a:xfrm>
            <a:prstGeom prst="rect">
              <a:avLst/>
            </a:prstGeom>
          </p:spPr>
        </p:pic>
        <p:sp>
          <p:nvSpPr>
            <p:cNvPr id="91" name="object 91"/>
            <p:cNvSpPr/>
            <p:nvPr/>
          </p:nvSpPr>
          <p:spPr>
            <a:xfrm>
              <a:off x="7848600" y="4796028"/>
              <a:ext cx="699770" cy="681355"/>
            </a:xfrm>
            <a:custGeom>
              <a:avLst/>
              <a:gdLst/>
              <a:ahLst/>
              <a:cxnLst/>
              <a:rect l="l" t="t" r="r" b="b"/>
              <a:pathLst>
                <a:path w="699770" h="681354">
                  <a:moveTo>
                    <a:pt x="1523" y="371856"/>
                  </a:moveTo>
                  <a:lnTo>
                    <a:pt x="0" y="358140"/>
                  </a:lnTo>
                  <a:lnTo>
                    <a:pt x="0" y="323088"/>
                  </a:lnTo>
                  <a:lnTo>
                    <a:pt x="1523" y="306324"/>
                  </a:lnTo>
                  <a:lnTo>
                    <a:pt x="3048" y="291084"/>
                  </a:lnTo>
                  <a:lnTo>
                    <a:pt x="19812" y="292608"/>
                  </a:lnTo>
                  <a:lnTo>
                    <a:pt x="18287" y="307848"/>
                  </a:lnTo>
                  <a:lnTo>
                    <a:pt x="16764" y="324611"/>
                  </a:lnTo>
                  <a:lnTo>
                    <a:pt x="16764" y="358140"/>
                  </a:lnTo>
                  <a:lnTo>
                    <a:pt x="18287" y="370332"/>
                  </a:lnTo>
                  <a:lnTo>
                    <a:pt x="1523" y="371856"/>
                  </a:lnTo>
                  <a:close/>
                </a:path>
                <a:path w="699770" h="681354">
                  <a:moveTo>
                    <a:pt x="32003" y="245364"/>
                  </a:moveTo>
                  <a:lnTo>
                    <a:pt x="15239" y="240791"/>
                  </a:lnTo>
                  <a:lnTo>
                    <a:pt x="15239" y="239268"/>
                  </a:lnTo>
                  <a:lnTo>
                    <a:pt x="33528" y="193548"/>
                  </a:lnTo>
                  <a:lnTo>
                    <a:pt x="42671" y="178308"/>
                  </a:lnTo>
                  <a:lnTo>
                    <a:pt x="42671" y="176784"/>
                  </a:lnTo>
                  <a:lnTo>
                    <a:pt x="56387" y="185927"/>
                  </a:lnTo>
                  <a:lnTo>
                    <a:pt x="48767" y="201168"/>
                  </a:lnTo>
                  <a:lnTo>
                    <a:pt x="42671" y="214884"/>
                  </a:lnTo>
                  <a:lnTo>
                    <a:pt x="36576" y="230124"/>
                  </a:lnTo>
                  <a:lnTo>
                    <a:pt x="32461" y="243840"/>
                  </a:lnTo>
                  <a:lnTo>
                    <a:pt x="32003" y="243840"/>
                  </a:lnTo>
                  <a:lnTo>
                    <a:pt x="32003" y="245364"/>
                  </a:lnTo>
                  <a:close/>
                </a:path>
                <a:path w="699770" h="681354">
                  <a:moveTo>
                    <a:pt x="32003" y="245364"/>
                  </a:moveTo>
                  <a:lnTo>
                    <a:pt x="32003" y="243840"/>
                  </a:lnTo>
                  <a:lnTo>
                    <a:pt x="32461" y="243840"/>
                  </a:lnTo>
                  <a:lnTo>
                    <a:pt x="32003" y="245364"/>
                  </a:lnTo>
                  <a:close/>
                </a:path>
                <a:path w="699770" h="681354">
                  <a:moveTo>
                    <a:pt x="83819" y="144779"/>
                  </a:moveTo>
                  <a:lnTo>
                    <a:pt x="71628" y="134111"/>
                  </a:lnTo>
                  <a:lnTo>
                    <a:pt x="79248" y="123443"/>
                  </a:lnTo>
                  <a:lnTo>
                    <a:pt x="114300" y="88391"/>
                  </a:lnTo>
                  <a:lnTo>
                    <a:pt x="118871" y="85343"/>
                  </a:lnTo>
                  <a:lnTo>
                    <a:pt x="129539" y="97536"/>
                  </a:lnTo>
                  <a:lnTo>
                    <a:pt x="124967" y="100584"/>
                  </a:lnTo>
                  <a:lnTo>
                    <a:pt x="115633" y="111252"/>
                  </a:lnTo>
                  <a:lnTo>
                    <a:pt x="114300" y="111252"/>
                  </a:lnTo>
                  <a:lnTo>
                    <a:pt x="102107" y="123443"/>
                  </a:lnTo>
                  <a:lnTo>
                    <a:pt x="103632" y="123443"/>
                  </a:lnTo>
                  <a:lnTo>
                    <a:pt x="94297" y="134111"/>
                  </a:lnTo>
                  <a:lnTo>
                    <a:pt x="92964" y="134111"/>
                  </a:lnTo>
                  <a:lnTo>
                    <a:pt x="83819" y="144779"/>
                  </a:lnTo>
                  <a:close/>
                </a:path>
                <a:path w="699770" h="681354">
                  <a:moveTo>
                    <a:pt x="114300" y="112775"/>
                  </a:moveTo>
                  <a:lnTo>
                    <a:pt x="114300" y="111252"/>
                  </a:lnTo>
                  <a:lnTo>
                    <a:pt x="115633" y="111252"/>
                  </a:lnTo>
                  <a:lnTo>
                    <a:pt x="114300" y="112775"/>
                  </a:lnTo>
                  <a:close/>
                </a:path>
                <a:path w="699770" h="681354">
                  <a:moveTo>
                    <a:pt x="92964" y="135636"/>
                  </a:moveTo>
                  <a:lnTo>
                    <a:pt x="92964" y="134111"/>
                  </a:lnTo>
                  <a:lnTo>
                    <a:pt x="94297" y="134111"/>
                  </a:lnTo>
                  <a:lnTo>
                    <a:pt x="92964" y="135636"/>
                  </a:lnTo>
                  <a:close/>
                </a:path>
                <a:path w="699770" h="681354">
                  <a:moveTo>
                    <a:pt x="167639" y="68580"/>
                  </a:moveTo>
                  <a:lnTo>
                    <a:pt x="160019" y="54864"/>
                  </a:lnTo>
                  <a:lnTo>
                    <a:pt x="167639" y="48768"/>
                  </a:lnTo>
                  <a:lnTo>
                    <a:pt x="198119" y="33528"/>
                  </a:lnTo>
                  <a:lnTo>
                    <a:pt x="220980" y="24383"/>
                  </a:lnTo>
                  <a:lnTo>
                    <a:pt x="227076" y="39624"/>
                  </a:lnTo>
                  <a:lnTo>
                    <a:pt x="204216" y="48768"/>
                  </a:lnTo>
                  <a:lnTo>
                    <a:pt x="205739" y="48768"/>
                  </a:lnTo>
                  <a:lnTo>
                    <a:pt x="190500" y="56388"/>
                  </a:lnTo>
                  <a:lnTo>
                    <a:pt x="176783" y="64008"/>
                  </a:lnTo>
                  <a:lnTo>
                    <a:pt x="167639" y="68580"/>
                  </a:lnTo>
                  <a:close/>
                </a:path>
                <a:path w="699770" h="681354">
                  <a:moveTo>
                    <a:pt x="272796" y="25908"/>
                  </a:moveTo>
                  <a:lnTo>
                    <a:pt x="269748" y="9144"/>
                  </a:lnTo>
                  <a:lnTo>
                    <a:pt x="278892" y="7620"/>
                  </a:lnTo>
                  <a:lnTo>
                    <a:pt x="295655" y="4572"/>
                  </a:lnTo>
                  <a:lnTo>
                    <a:pt x="313944" y="1524"/>
                  </a:lnTo>
                  <a:lnTo>
                    <a:pt x="330707" y="0"/>
                  </a:lnTo>
                  <a:lnTo>
                    <a:pt x="336803" y="0"/>
                  </a:lnTo>
                  <a:lnTo>
                    <a:pt x="338328" y="16764"/>
                  </a:lnTo>
                  <a:lnTo>
                    <a:pt x="332232" y="16764"/>
                  </a:lnTo>
                  <a:lnTo>
                    <a:pt x="315467" y="18288"/>
                  </a:lnTo>
                  <a:lnTo>
                    <a:pt x="307085" y="19812"/>
                  </a:lnTo>
                  <a:lnTo>
                    <a:pt x="298703" y="19812"/>
                  </a:lnTo>
                  <a:lnTo>
                    <a:pt x="281939" y="22860"/>
                  </a:lnTo>
                  <a:lnTo>
                    <a:pt x="272796" y="25908"/>
                  </a:lnTo>
                  <a:close/>
                </a:path>
                <a:path w="699770" h="681354">
                  <a:moveTo>
                    <a:pt x="298703" y="21336"/>
                  </a:moveTo>
                  <a:lnTo>
                    <a:pt x="298703" y="19812"/>
                  </a:lnTo>
                  <a:lnTo>
                    <a:pt x="307085" y="19812"/>
                  </a:lnTo>
                  <a:lnTo>
                    <a:pt x="298703" y="21336"/>
                  </a:lnTo>
                  <a:close/>
                </a:path>
                <a:path w="699770" h="681354">
                  <a:moveTo>
                    <a:pt x="400812" y="21336"/>
                  </a:moveTo>
                  <a:lnTo>
                    <a:pt x="387096" y="18288"/>
                  </a:lnTo>
                  <a:lnTo>
                    <a:pt x="388619" y="3048"/>
                  </a:lnTo>
                  <a:lnTo>
                    <a:pt x="402335" y="4572"/>
                  </a:lnTo>
                  <a:lnTo>
                    <a:pt x="419100" y="7620"/>
                  </a:lnTo>
                  <a:lnTo>
                    <a:pt x="437387" y="10668"/>
                  </a:lnTo>
                  <a:lnTo>
                    <a:pt x="452628" y="15240"/>
                  </a:lnTo>
                  <a:lnTo>
                    <a:pt x="455676" y="16764"/>
                  </a:lnTo>
                  <a:lnTo>
                    <a:pt x="454457" y="19812"/>
                  </a:lnTo>
                  <a:lnTo>
                    <a:pt x="399287" y="19812"/>
                  </a:lnTo>
                  <a:lnTo>
                    <a:pt x="400812" y="21336"/>
                  </a:lnTo>
                  <a:close/>
                </a:path>
                <a:path w="699770" h="681354">
                  <a:moveTo>
                    <a:pt x="449580" y="32004"/>
                  </a:moveTo>
                  <a:lnTo>
                    <a:pt x="448055" y="32004"/>
                  </a:lnTo>
                  <a:lnTo>
                    <a:pt x="432816" y="27432"/>
                  </a:lnTo>
                  <a:lnTo>
                    <a:pt x="416051" y="22860"/>
                  </a:lnTo>
                  <a:lnTo>
                    <a:pt x="399287" y="19812"/>
                  </a:lnTo>
                  <a:lnTo>
                    <a:pt x="454457" y="19812"/>
                  </a:lnTo>
                  <a:lnTo>
                    <a:pt x="449580" y="32004"/>
                  </a:lnTo>
                  <a:close/>
                </a:path>
                <a:path w="699770" h="681354">
                  <a:moveTo>
                    <a:pt x="534923" y="73152"/>
                  </a:moveTo>
                  <a:lnTo>
                    <a:pt x="521207" y="64008"/>
                  </a:lnTo>
                  <a:lnTo>
                    <a:pt x="522732" y="64008"/>
                  </a:lnTo>
                  <a:lnTo>
                    <a:pt x="507492" y="56388"/>
                  </a:lnTo>
                  <a:lnTo>
                    <a:pt x="509016" y="56388"/>
                  </a:lnTo>
                  <a:lnTo>
                    <a:pt x="495300" y="50291"/>
                  </a:lnTo>
                  <a:lnTo>
                    <a:pt x="502919" y="35052"/>
                  </a:lnTo>
                  <a:lnTo>
                    <a:pt x="516635" y="41148"/>
                  </a:lnTo>
                  <a:lnTo>
                    <a:pt x="530351" y="50291"/>
                  </a:lnTo>
                  <a:lnTo>
                    <a:pt x="544067" y="57912"/>
                  </a:lnTo>
                  <a:lnTo>
                    <a:pt x="557783" y="68580"/>
                  </a:lnTo>
                  <a:lnTo>
                    <a:pt x="562355" y="70104"/>
                  </a:lnTo>
                  <a:lnTo>
                    <a:pt x="561170" y="71628"/>
                  </a:lnTo>
                  <a:lnTo>
                    <a:pt x="534923" y="71628"/>
                  </a:lnTo>
                  <a:lnTo>
                    <a:pt x="534923" y="73152"/>
                  </a:lnTo>
                  <a:close/>
                </a:path>
                <a:path w="699770" h="681354">
                  <a:moveTo>
                    <a:pt x="551687" y="83820"/>
                  </a:moveTo>
                  <a:lnTo>
                    <a:pt x="548639" y="80772"/>
                  </a:lnTo>
                  <a:lnTo>
                    <a:pt x="534923" y="71628"/>
                  </a:lnTo>
                  <a:lnTo>
                    <a:pt x="561170" y="71628"/>
                  </a:lnTo>
                  <a:lnTo>
                    <a:pt x="551687" y="83820"/>
                  </a:lnTo>
                  <a:close/>
                </a:path>
                <a:path w="699770" h="681354">
                  <a:moveTo>
                    <a:pt x="606551" y="135636"/>
                  </a:moveTo>
                  <a:lnTo>
                    <a:pt x="595883" y="123443"/>
                  </a:lnTo>
                  <a:lnTo>
                    <a:pt x="588264" y="115824"/>
                  </a:lnTo>
                  <a:lnTo>
                    <a:pt x="600455" y="103632"/>
                  </a:lnTo>
                  <a:lnTo>
                    <a:pt x="608076" y="111252"/>
                  </a:lnTo>
                  <a:lnTo>
                    <a:pt x="618744" y="123443"/>
                  </a:lnTo>
                  <a:lnTo>
                    <a:pt x="627041" y="134111"/>
                  </a:lnTo>
                  <a:lnTo>
                    <a:pt x="606551" y="134111"/>
                  </a:lnTo>
                  <a:lnTo>
                    <a:pt x="606551" y="135636"/>
                  </a:lnTo>
                  <a:close/>
                </a:path>
                <a:path w="699770" h="681354">
                  <a:moveTo>
                    <a:pt x="629412" y="166116"/>
                  </a:moveTo>
                  <a:lnTo>
                    <a:pt x="615696" y="147827"/>
                  </a:lnTo>
                  <a:lnTo>
                    <a:pt x="606551" y="134111"/>
                  </a:lnTo>
                  <a:lnTo>
                    <a:pt x="627041" y="134111"/>
                  </a:lnTo>
                  <a:lnTo>
                    <a:pt x="629412" y="137159"/>
                  </a:lnTo>
                  <a:lnTo>
                    <a:pt x="638555" y="150875"/>
                  </a:lnTo>
                  <a:lnTo>
                    <a:pt x="643128" y="156972"/>
                  </a:lnTo>
                  <a:lnTo>
                    <a:pt x="629412" y="166116"/>
                  </a:lnTo>
                  <a:close/>
                </a:path>
                <a:path w="699770" h="681354">
                  <a:moveTo>
                    <a:pt x="667512" y="245364"/>
                  </a:moveTo>
                  <a:lnTo>
                    <a:pt x="655319" y="214884"/>
                  </a:lnTo>
                  <a:lnTo>
                    <a:pt x="656844" y="214884"/>
                  </a:lnTo>
                  <a:lnTo>
                    <a:pt x="653796" y="208788"/>
                  </a:lnTo>
                  <a:lnTo>
                    <a:pt x="669035" y="201168"/>
                  </a:lnTo>
                  <a:lnTo>
                    <a:pt x="678180" y="224027"/>
                  </a:lnTo>
                  <a:lnTo>
                    <a:pt x="682751" y="239268"/>
                  </a:lnTo>
                  <a:lnTo>
                    <a:pt x="683998" y="243840"/>
                  </a:lnTo>
                  <a:lnTo>
                    <a:pt x="667512" y="243840"/>
                  </a:lnTo>
                  <a:lnTo>
                    <a:pt x="667512" y="245364"/>
                  </a:lnTo>
                  <a:close/>
                </a:path>
                <a:path w="699770" h="681354">
                  <a:moveTo>
                    <a:pt x="673607" y="269748"/>
                  </a:moveTo>
                  <a:lnTo>
                    <a:pt x="672084" y="260604"/>
                  </a:lnTo>
                  <a:lnTo>
                    <a:pt x="667512" y="243840"/>
                  </a:lnTo>
                  <a:lnTo>
                    <a:pt x="683998" y="243840"/>
                  </a:lnTo>
                  <a:lnTo>
                    <a:pt x="687323" y="256032"/>
                  </a:lnTo>
                  <a:lnTo>
                    <a:pt x="690371" y="266700"/>
                  </a:lnTo>
                  <a:lnTo>
                    <a:pt x="673607" y="269748"/>
                  </a:lnTo>
                  <a:close/>
                </a:path>
                <a:path w="699770" h="681354">
                  <a:moveTo>
                    <a:pt x="696467" y="385572"/>
                  </a:moveTo>
                  <a:lnTo>
                    <a:pt x="679703" y="384048"/>
                  </a:lnTo>
                  <a:lnTo>
                    <a:pt x="681228" y="374904"/>
                  </a:lnTo>
                  <a:lnTo>
                    <a:pt x="681228" y="358140"/>
                  </a:lnTo>
                  <a:lnTo>
                    <a:pt x="682751" y="341375"/>
                  </a:lnTo>
                  <a:lnTo>
                    <a:pt x="681228" y="324611"/>
                  </a:lnTo>
                  <a:lnTo>
                    <a:pt x="681228" y="318516"/>
                  </a:lnTo>
                  <a:lnTo>
                    <a:pt x="697992" y="316991"/>
                  </a:lnTo>
                  <a:lnTo>
                    <a:pt x="698119" y="324611"/>
                  </a:lnTo>
                  <a:lnTo>
                    <a:pt x="699516" y="341375"/>
                  </a:lnTo>
                  <a:lnTo>
                    <a:pt x="697992" y="358140"/>
                  </a:lnTo>
                  <a:lnTo>
                    <a:pt x="696467" y="376427"/>
                  </a:lnTo>
                  <a:lnTo>
                    <a:pt x="696467" y="385572"/>
                  </a:lnTo>
                  <a:close/>
                </a:path>
                <a:path w="699770" h="681354">
                  <a:moveTo>
                    <a:pt x="659892" y="499872"/>
                  </a:moveTo>
                  <a:lnTo>
                    <a:pt x="644651" y="490727"/>
                  </a:lnTo>
                  <a:lnTo>
                    <a:pt x="649223" y="481584"/>
                  </a:lnTo>
                  <a:lnTo>
                    <a:pt x="656844" y="467868"/>
                  </a:lnTo>
                  <a:lnTo>
                    <a:pt x="655319" y="467868"/>
                  </a:lnTo>
                  <a:lnTo>
                    <a:pt x="662939" y="452627"/>
                  </a:lnTo>
                  <a:lnTo>
                    <a:pt x="661416" y="452627"/>
                  </a:lnTo>
                  <a:lnTo>
                    <a:pt x="667512" y="437388"/>
                  </a:lnTo>
                  <a:lnTo>
                    <a:pt x="669035" y="431292"/>
                  </a:lnTo>
                  <a:lnTo>
                    <a:pt x="685800" y="435864"/>
                  </a:lnTo>
                  <a:lnTo>
                    <a:pt x="682751" y="443484"/>
                  </a:lnTo>
                  <a:lnTo>
                    <a:pt x="678180" y="458724"/>
                  </a:lnTo>
                  <a:lnTo>
                    <a:pt x="672084" y="473964"/>
                  </a:lnTo>
                  <a:lnTo>
                    <a:pt x="664464" y="489204"/>
                  </a:lnTo>
                  <a:lnTo>
                    <a:pt x="659892" y="499872"/>
                  </a:lnTo>
                  <a:close/>
                </a:path>
                <a:path w="699770" h="681354">
                  <a:moveTo>
                    <a:pt x="585216" y="592836"/>
                  </a:moveTo>
                  <a:lnTo>
                    <a:pt x="574548" y="580643"/>
                  </a:lnTo>
                  <a:lnTo>
                    <a:pt x="595883" y="559308"/>
                  </a:lnTo>
                  <a:lnTo>
                    <a:pt x="606551" y="547116"/>
                  </a:lnTo>
                  <a:lnTo>
                    <a:pt x="615696" y="534924"/>
                  </a:lnTo>
                  <a:lnTo>
                    <a:pt x="618744" y="531875"/>
                  </a:lnTo>
                  <a:lnTo>
                    <a:pt x="630935" y="542543"/>
                  </a:lnTo>
                  <a:lnTo>
                    <a:pt x="629412" y="545592"/>
                  </a:lnTo>
                  <a:lnTo>
                    <a:pt x="608076" y="569975"/>
                  </a:lnTo>
                  <a:lnTo>
                    <a:pt x="585216" y="592836"/>
                  </a:lnTo>
                  <a:close/>
                </a:path>
                <a:path w="699770" h="681354">
                  <a:moveTo>
                    <a:pt x="486155" y="655320"/>
                  </a:moveTo>
                  <a:lnTo>
                    <a:pt x="484632" y="655320"/>
                  </a:lnTo>
                  <a:lnTo>
                    <a:pt x="478535" y="640079"/>
                  </a:lnTo>
                  <a:lnTo>
                    <a:pt x="493776" y="633984"/>
                  </a:lnTo>
                  <a:lnTo>
                    <a:pt x="509016" y="626364"/>
                  </a:lnTo>
                  <a:lnTo>
                    <a:pt x="507492" y="626364"/>
                  </a:lnTo>
                  <a:lnTo>
                    <a:pt x="522732" y="618743"/>
                  </a:lnTo>
                  <a:lnTo>
                    <a:pt x="521207" y="618743"/>
                  </a:lnTo>
                  <a:lnTo>
                    <a:pt x="534923" y="609600"/>
                  </a:lnTo>
                  <a:lnTo>
                    <a:pt x="544067" y="624840"/>
                  </a:lnTo>
                  <a:lnTo>
                    <a:pt x="530351" y="632459"/>
                  </a:lnTo>
                  <a:lnTo>
                    <a:pt x="516635" y="641604"/>
                  </a:lnTo>
                  <a:lnTo>
                    <a:pt x="501396" y="649224"/>
                  </a:lnTo>
                  <a:lnTo>
                    <a:pt x="486155" y="655320"/>
                  </a:lnTo>
                  <a:close/>
                </a:path>
                <a:path w="699770" h="681354">
                  <a:moveTo>
                    <a:pt x="385571" y="681227"/>
                  </a:moveTo>
                  <a:lnTo>
                    <a:pt x="367283" y="681227"/>
                  </a:lnTo>
                  <a:lnTo>
                    <a:pt x="367283" y="664464"/>
                  </a:lnTo>
                  <a:lnTo>
                    <a:pt x="382523" y="664464"/>
                  </a:lnTo>
                  <a:lnTo>
                    <a:pt x="400812" y="661416"/>
                  </a:lnTo>
                  <a:lnTo>
                    <a:pt x="399287" y="661416"/>
                  </a:lnTo>
                  <a:lnTo>
                    <a:pt x="416051" y="658368"/>
                  </a:lnTo>
                  <a:lnTo>
                    <a:pt x="431292" y="655320"/>
                  </a:lnTo>
                  <a:lnTo>
                    <a:pt x="435864" y="672084"/>
                  </a:lnTo>
                  <a:lnTo>
                    <a:pt x="385571" y="681227"/>
                  </a:lnTo>
                  <a:close/>
                </a:path>
                <a:path w="699770" h="681354">
                  <a:moveTo>
                    <a:pt x="316992" y="681227"/>
                  </a:moveTo>
                  <a:lnTo>
                    <a:pt x="313944" y="681227"/>
                  </a:lnTo>
                  <a:lnTo>
                    <a:pt x="295655" y="678179"/>
                  </a:lnTo>
                  <a:lnTo>
                    <a:pt x="262128" y="672084"/>
                  </a:lnTo>
                  <a:lnTo>
                    <a:pt x="249935" y="667511"/>
                  </a:lnTo>
                  <a:lnTo>
                    <a:pt x="254507" y="652272"/>
                  </a:lnTo>
                  <a:lnTo>
                    <a:pt x="266700" y="655320"/>
                  </a:lnTo>
                  <a:lnTo>
                    <a:pt x="265176" y="655320"/>
                  </a:lnTo>
                  <a:lnTo>
                    <a:pt x="315467" y="664464"/>
                  </a:lnTo>
                  <a:lnTo>
                    <a:pt x="318516" y="664464"/>
                  </a:lnTo>
                  <a:lnTo>
                    <a:pt x="316992" y="681227"/>
                  </a:lnTo>
                  <a:close/>
                </a:path>
                <a:path w="699770" h="681354">
                  <a:moveTo>
                    <a:pt x="201167" y="650748"/>
                  </a:moveTo>
                  <a:lnTo>
                    <a:pt x="182880" y="641604"/>
                  </a:lnTo>
                  <a:lnTo>
                    <a:pt x="167639" y="632459"/>
                  </a:lnTo>
                  <a:lnTo>
                    <a:pt x="153923" y="623316"/>
                  </a:lnTo>
                  <a:lnTo>
                    <a:pt x="141732" y="615695"/>
                  </a:lnTo>
                  <a:lnTo>
                    <a:pt x="152400" y="601979"/>
                  </a:lnTo>
                  <a:lnTo>
                    <a:pt x="163067" y="609600"/>
                  </a:lnTo>
                  <a:lnTo>
                    <a:pt x="176783" y="618743"/>
                  </a:lnTo>
                  <a:lnTo>
                    <a:pt x="190500" y="626364"/>
                  </a:lnTo>
                  <a:lnTo>
                    <a:pt x="205739" y="633984"/>
                  </a:lnTo>
                  <a:lnTo>
                    <a:pt x="204216" y="633984"/>
                  </a:lnTo>
                  <a:lnTo>
                    <a:pt x="208787" y="635508"/>
                  </a:lnTo>
                  <a:lnTo>
                    <a:pt x="201167" y="650748"/>
                  </a:lnTo>
                  <a:close/>
                </a:path>
                <a:path w="699770" h="681354">
                  <a:moveTo>
                    <a:pt x="103632" y="583692"/>
                  </a:moveTo>
                  <a:lnTo>
                    <a:pt x="102107" y="582168"/>
                  </a:lnTo>
                  <a:lnTo>
                    <a:pt x="91439" y="569975"/>
                  </a:lnTo>
                  <a:lnTo>
                    <a:pt x="79248" y="557784"/>
                  </a:lnTo>
                  <a:lnTo>
                    <a:pt x="68580" y="545592"/>
                  </a:lnTo>
                  <a:lnTo>
                    <a:pt x="59435" y="531875"/>
                  </a:lnTo>
                  <a:lnTo>
                    <a:pt x="57912" y="530352"/>
                  </a:lnTo>
                  <a:lnTo>
                    <a:pt x="73151" y="521208"/>
                  </a:lnTo>
                  <a:lnTo>
                    <a:pt x="73151" y="522732"/>
                  </a:lnTo>
                  <a:lnTo>
                    <a:pt x="82296" y="534924"/>
                  </a:lnTo>
                  <a:lnTo>
                    <a:pt x="103632" y="559308"/>
                  </a:lnTo>
                  <a:lnTo>
                    <a:pt x="102107" y="559308"/>
                  </a:lnTo>
                  <a:lnTo>
                    <a:pt x="114300" y="569975"/>
                  </a:lnTo>
                  <a:lnTo>
                    <a:pt x="114300" y="571500"/>
                  </a:lnTo>
                  <a:lnTo>
                    <a:pt x="103632" y="583692"/>
                  </a:lnTo>
                  <a:close/>
                </a:path>
                <a:path w="699770" h="681354">
                  <a:moveTo>
                    <a:pt x="33528" y="486156"/>
                  </a:moveTo>
                  <a:lnTo>
                    <a:pt x="27432" y="473964"/>
                  </a:lnTo>
                  <a:lnTo>
                    <a:pt x="21335" y="458724"/>
                  </a:lnTo>
                  <a:lnTo>
                    <a:pt x="15239" y="441959"/>
                  </a:lnTo>
                  <a:lnTo>
                    <a:pt x="10667" y="426720"/>
                  </a:lnTo>
                  <a:lnTo>
                    <a:pt x="9144" y="422148"/>
                  </a:lnTo>
                  <a:lnTo>
                    <a:pt x="25907" y="417575"/>
                  </a:lnTo>
                  <a:lnTo>
                    <a:pt x="27432" y="422148"/>
                  </a:lnTo>
                  <a:lnTo>
                    <a:pt x="36576" y="452627"/>
                  </a:lnTo>
                  <a:lnTo>
                    <a:pt x="42671" y="467868"/>
                  </a:lnTo>
                  <a:lnTo>
                    <a:pt x="48767" y="478536"/>
                  </a:lnTo>
                  <a:lnTo>
                    <a:pt x="33528" y="486156"/>
                  </a:lnTo>
                  <a:close/>
                </a:path>
              </a:pathLst>
            </a:custGeom>
            <a:solidFill>
              <a:srgbClr val="0C1C2B"/>
            </a:solidFill>
          </p:spPr>
          <p:txBody>
            <a:bodyPr wrap="square" lIns="0" tIns="0" rIns="0" bIns="0" rtlCol="0"/>
            <a:lstStyle/>
            <a:p>
              <a:endParaRPr sz="1630"/>
            </a:p>
          </p:txBody>
        </p:sp>
        <p:pic>
          <p:nvPicPr>
            <p:cNvPr id="92" name="object 92"/>
            <p:cNvPicPr/>
            <p:nvPr/>
          </p:nvPicPr>
          <p:blipFill>
            <a:blip r:embed="rId25" cstate="print"/>
            <a:stretch>
              <a:fillRect/>
            </a:stretch>
          </p:blipFill>
          <p:spPr>
            <a:xfrm>
              <a:off x="8154923" y="5295900"/>
              <a:ext cx="147828" cy="144780"/>
            </a:xfrm>
            <a:prstGeom prst="rect">
              <a:avLst/>
            </a:prstGeom>
          </p:spPr>
        </p:pic>
        <p:pic>
          <p:nvPicPr>
            <p:cNvPr id="93" name="object 93"/>
            <p:cNvPicPr/>
            <p:nvPr/>
          </p:nvPicPr>
          <p:blipFill>
            <a:blip r:embed="rId26" cstate="print"/>
            <a:stretch>
              <a:fillRect/>
            </a:stretch>
          </p:blipFill>
          <p:spPr>
            <a:xfrm>
              <a:off x="8146541" y="5285994"/>
              <a:ext cx="164591" cy="163067"/>
            </a:xfrm>
            <a:prstGeom prst="rect">
              <a:avLst/>
            </a:prstGeom>
          </p:spPr>
        </p:pic>
        <p:pic>
          <p:nvPicPr>
            <p:cNvPr id="94" name="object 94"/>
            <p:cNvPicPr/>
            <p:nvPr/>
          </p:nvPicPr>
          <p:blipFill>
            <a:blip r:embed="rId27" cstate="print"/>
            <a:stretch>
              <a:fillRect/>
            </a:stretch>
          </p:blipFill>
          <p:spPr>
            <a:xfrm>
              <a:off x="8182355" y="4844796"/>
              <a:ext cx="147828" cy="144780"/>
            </a:xfrm>
            <a:prstGeom prst="rect">
              <a:avLst/>
            </a:prstGeom>
          </p:spPr>
        </p:pic>
        <p:sp>
          <p:nvSpPr>
            <p:cNvPr id="95" name="object 95"/>
            <p:cNvSpPr/>
            <p:nvPr/>
          </p:nvSpPr>
          <p:spPr>
            <a:xfrm>
              <a:off x="8182355" y="4843271"/>
              <a:ext cx="147955" cy="146685"/>
            </a:xfrm>
            <a:custGeom>
              <a:avLst/>
              <a:gdLst/>
              <a:ahLst/>
              <a:cxnLst/>
              <a:rect l="l" t="t" r="r" b="b"/>
              <a:pathLst>
                <a:path w="147954" h="146685">
                  <a:moveTo>
                    <a:pt x="0" y="73151"/>
                  </a:moveTo>
                  <a:lnTo>
                    <a:pt x="5881" y="45005"/>
                  </a:lnTo>
                  <a:lnTo>
                    <a:pt x="21907" y="21716"/>
                  </a:lnTo>
                  <a:lnTo>
                    <a:pt x="45648" y="5857"/>
                  </a:lnTo>
                  <a:lnTo>
                    <a:pt x="74676" y="0"/>
                  </a:lnTo>
                  <a:lnTo>
                    <a:pt x="102822" y="5857"/>
                  </a:lnTo>
                  <a:lnTo>
                    <a:pt x="126111" y="21716"/>
                  </a:lnTo>
                  <a:lnTo>
                    <a:pt x="141970" y="45005"/>
                  </a:lnTo>
                  <a:lnTo>
                    <a:pt x="147828" y="73151"/>
                  </a:lnTo>
                  <a:lnTo>
                    <a:pt x="141970" y="101941"/>
                  </a:lnTo>
                  <a:lnTo>
                    <a:pt x="126111" y="125158"/>
                  </a:lnTo>
                  <a:lnTo>
                    <a:pt x="102822" y="140660"/>
                  </a:lnTo>
                  <a:lnTo>
                    <a:pt x="74676" y="146303"/>
                  </a:lnTo>
                  <a:lnTo>
                    <a:pt x="45648" y="140660"/>
                  </a:lnTo>
                  <a:lnTo>
                    <a:pt x="21907" y="125158"/>
                  </a:lnTo>
                  <a:lnTo>
                    <a:pt x="5881" y="101941"/>
                  </a:lnTo>
                  <a:lnTo>
                    <a:pt x="0" y="73151"/>
                  </a:lnTo>
                </a:path>
              </a:pathLst>
            </a:custGeom>
            <a:ln w="16764">
              <a:solidFill>
                <a:srgbClr val="2F4857"/>
              </a:solidFill>
            </a:ln>
          </p:spPr>
          <p:txBody>
            <a:bodyPr wrap="square" lIns="0" tIns="0" rIns="0" bIns="0" rtlCol="0"/>
            <a:lstStyle/>
            <a:p>
              <a:endParaRPr sz="1630"/>
            </a:p>
          </p:txBody>
        </p:sp>
        <p:pic>
          <p:nvPicPr>
            <p:cNvPr id="96" name="object 96"/>
            <p:cNvPicPr/>
            <p:nvPr/>
          </p:nvPicPr>
          <p:blipFill>
            <a:blip r:embed="rId28" cstate="print"/>
            <a:stretch>
              <a:fillRect/>
            </a:stretch>
          </p:blipFill>
          <p:spPr>
            <a:xfrm>
              <a:off x="8346948" y="4977384"/>
              <a:ext cx="146303" cy="146303"/>
            </a:xfrm>
            <a:prstGeom prst="rect">
              <a:avLst/>
            </a:prstGeom>
          </p:spPr>
        </p:pic>
        <p:sp>
          <p:nvSpPr>
            <p:cNvPr id="97" name="object 97"/>
            <p:cNvSpPr/>
            <p:nvPr/>
          </p:nvSpPr>
          <p:spPr>
            <a:xfrm>
              <a:off x="8346948" y="4975860"/>
              <a:ext cx="146685" cy="147955"/>
            </a:xfrm>
            <a:custGeom>
              <a:avLst/>
              <a:gdLst/>
              <a:ahLst/>
              <a:cxnLst/>
              <a:rect l="l" t="t" r="r" b="b"/>
              <a:pathLst>
                <a:path w="146684" h="147954">
                  <a:moveTo>
                    <a:pt x="0" y="74675"/>
                  </a:moveTo>
                  <a:lnTo>
                    <a:pt x="5643" y="45648"/>
                  </a:lnTo>
                  <a:lnTo>
                    <a:pt x="21145" y="21907"/>
                  </a:lnTo>
                  <a:lnTo>
                    <a:pt x="44362" y="5881"/>
                  </a:lnTo>
                  <a:lnTo>
                    <a:pt x="73152" y="0"/>
                  </a:lnTo>
                  <a:lnTo>
                    <a:pt x="101941" y="5881"/>
                  </a:lnTo>
                  <a:lnTo>
                    <a:pt x="125158" y="21907"/>
                  </a:lnTo>
                  <a:lnTo>
                    <a:pt x="140660" y="45648"/>
                  </a:lnTo>
                  <a:lnTo>
                    <a:pt x="146304" y="74675"/>
                  </a:lnTo>
                  <a:lnTo>
                    <a:pt x="140660" y="102822"/>
                  </a:lnTo>
                  <a:lnTo>
                    <a:pt x="125158" y="126110"/>
                  </a:lnTo>
                  <a:lnTo>
                    <a:pt x="101941" y="141970"/>
                  </a:lnTo>
                  <a:lnTo>
                    <a:pt x="73152" y="147827"/>
                  </a:lnTo>
                  <a:lnTo>
                    <a:pt x="44362" y="141970"/>
                  </a:lnTo>
                  <a:lnTo>
                    <a:pt x="21145" y="126110"/>
                  </a:lnTo>
                  <a:lnTo>
                    <a:pt x="5643" y="102822"/>
                  </a:lnTo>
                  <a:lnTo>
                    <a:pt x="0" y="74675"/>
                  </a:lnTo>
                </a:path>
              </a:pathLst>
            </a:custGeom>
            <a:ln w="16764">
              <a:solidFill>
                <a:srgbClr val="2F4857"/>
              </a:solidFill>
            </a:ln>
          </p:spPr>
          <p:txBody>
            <a:bodyPr wrap="square" lIns="0" tIns="0" rIns="0" bIns="0" rtlCol="0"/>
            <a:lstStyle/>
            <a:p>
              <a:endParaRPr sz="1630"/>
            </a:p>
          </p:txBody>
        </p:sp>
      </p:grpSp>
      <p:sp>
        <p:nvSpPr>
          <p:cNvPr id="98" name="object 98"/>
          <p:cNvSpPr txBox="1"/>
          <p:nvPr/>
        </p:nvSpPr>
        <p:spPr>
          <a:xfrm>
            <a:off x="7414895" y="6212840"/>
            <a:ext cx="1666240" cy="400685"/>
          </a:xfrm>
          <a:prstGeom prst="rect">
            <a:avLst/>
          </a:prstGeom>
        </p:spPr>
        <p:txBody>
          <a:bodyPr vert="horz" wrap="square" lIns="0" tIns="12092" rIns="0" bIns="0" rtlCol="0">
            <a:spAutoFit/>
          </a:bodyPr>
          <a:lstStyle/>
          <a:p>
            <a:pPr marL="22860">
              <a:lnSpc>
                <a:spcPct val="100000"/>
              </a:lnSpc>
              <a:spcBef>
                <a:spcPts val="105"/>
              </a:spcBef>
            </a:pPr>
            <a:r>
              <a:rPr sz="950" i="1" dirty="0">
                <a:solidFill>
                  <a:srgbClr val="0C1C2B"/>
                </a:solidFill>
                <a:latin typeface="Times New Roman" panose="02020603050405020304"/>
                <a:cs typeface="Times New Roman" panose="02020603050405020304"/>
              </a:rPr>
              <a:t>Generated</a:t>
            </a:r>
            <a:r>
              <a:rPr sz="950" i="1" spc="-20" dirty="0">
                <a:solidFill>
                  <a:srgbClr val="0C1C2B"/>
                </a:solidFill>
                <a:latin typeface="Times New Roman" panose="02020603050405020304"/>
                <a:cs typeface="Times New Roman" panose="02020603050405020304"/>
              </a:rPr>
              <a:t> </a:t>
            </a:r>
            <a:r>
              <a:rPr sz="950" i="1" dirty="0">
                <a:solidFill>
                  <a:srgbClr val="0C1C2B"/>
                </a:solidFill>
                <a:latin typeface="Times New Roman" panose="02020603050405020304"/>
                <a:cs typeface="Times New Roman" panose="02020603050405020304"/>
              </a:rPr>
              <a:t>normal</a:t>
            </a:r>
            <a:r>
              <a:rPr sz="950" i="1" spc="-25" dirty="0">
                <a:solidFill>
                  <a:srgbClr val="0C1C2B"/>
                </a:solidFill>
                <a:latin typeface="Times New Roman" panose="02020603050405020304"/>
                <a:cs typeface="Times New Roman" panose="02020603050405020304"/>
              </a:rPr>
              <a:t> </a:t>
            </a:r>
            <a:r>
              <a:rPr sz="950" i="1" spc="-10" dirty="0">
                <a:solidFill>
                  <a:srgbClr val="0C1C2B"/>
                </a:solidFill>
                <a:latin typeface="Times New Roman" panose="02020603050405020304"/>
                <a:cs typeface="Times New Roman" panose="02020603050405020304"/>
              </a:rPr>
              <a:t>sample</a:t>
            </a:r>
            <a:endParaRPr sz="950">
              <a:latin typeface="Times New Roman" panose="02020603050405020304"/>
              <a:cs typeface="Times New Roman" panose="02020603050405020304"/>
            </a:endParaRPr>
          </a:p>
          <a:p>
            <a:pPr marL="12700">
              <a:lnSpc>
                <a:spcPct val="100000"/>
              </a:lnSpc>
              <a:spcBef>
                <a:spcPts val="755"/>
              </a:spcBef>
            </a:pPr>
            <a:r>
              <a:rPr sz="950" i="1" dirty="0">
                <a:solidFill>
                  <a:srgbClr val="0C1C2B"/>
                </a:solidFill>
                <a:latin typeface="Times New Roman" panose="02020603050405020304"/>
                <a:cs typeface="Times New Roman" panose="02020603050405020304"/>
              </a:rPr>
              <a:t>Generated</a:t>
            </a:r>
            <a:r>
              <a:rPr sz="950" i="1" spc="-20" dirty="0">
                <a:solidFill>
                  <a:srgbClr val="0C1C2B"/>
                </a:solidFill>
                <a:latin typeface="Times New Roman" panose="02020603050405020304"/>
                <a:cs typeface="Times New Roman" panose="02020603050405020304"/>
              </a:rPr>
              <a:t> </a:t>
            </a:r>
            <a:r>
              <a:rPr sz="950" i="1" dirty="0">
                <a:solidFill>
                  <a:srgbClr val="0C1C2B"/>
                </a:solidFill>
                <a:latin typeface="Times New Roman" panose="02020603050405020304"/>
                <a:cs typeface="Times New Roman" panose="02020603050405020304"/>
              </a:rPr>
              <a:t>malicious</a:t>
            </a:r>
            <a:r>
              <a:rPr sz="950" i="1" spc="-20" dirty="0">
                <a:solidFill>
                  <a:srgbClr val="0C1C2B"/>
                </a:solidFill>
                <a:latin typeface="Times New Roman" panose="02020603050405020304"/>
                <a:cs typeface="Times New Roman" panose="02020603050405020304"/>
              </a:rPr>
              <a:t> </a:t>
            </a:r>
            <a:r>
              <a:rPr sz="950" i="1" spc="-10" dirty="0">
                <a:solidFill>
                  <a:srgbClr val="0C1C2B"/>
                </a:solidFill>
                <a:latin typeface="Times New Roman" panose="02020603050405020304"/>
                <a:cs typeface="Times New Roman" panose="02020603050405020304"/>
              </a:rPr>
              <a:t>Sample</a:t>
            </a:r>
            <a:endParaRPr sz="950">
              <a:latin typeface="Times New Roman" panose="02020603050405020304"/>
              <a:cs typeface="Times New Roman" panose="02020603050405020304"/>
            </a:endParaRPr>
          </a:p>
        </p:txBody>
      </p:sp>
      <p:pic>
        <p:nvPicPr>
          <p:cNvPr id="99" name="object 99"/>
          <p:cNvPicPr/>
          <p:nvPr/>
        </p:nvPicPr>
        <p:blipFill>
          <a:blip r:embed="rId29" cstate="print"/>
          <a:stretch>
            <a:fillRect/>
          </a:stretch>
        </p:blipFill>
        <p:spPr>
          <a:xfrm>
            <a:off x="5290185" y="6238240"/>
            <a:ext cx="168275" cy="162560"/>
          </a:xfrm>
          <a:prstGeom prst="rect">
            <a:avLst/>
          </a:prstGeom>
        </p:spPr>
      </p:pic>
      <p:sp>
        <p:nvSpPr>
          <p:cNvPr id="100" name="object 100"/>
          <p:cNvSpPr txBox="1"/>
          <p:nvPr/>
        </p:nvSpPr>
        <p:spPr>
          <a:xfrm>
            <a:off x="5541645" y="6217920"/>
            <a:ext cx="896620" cy="158750"/>
          </a:xfrm>
          <a:prstGeom prst="rect">
            <a:avLst/>
          </a:prstGeom>
        </p:spPr>
        <p:txBody>
          <a:bodyPr vert="horz" wrap="square" lIns="0" tIns="12092" rIns="0" bIns="0" rtlCol="0">
            <a:spAutoFit/>
          </a:bodyPr>
          <a:lstStyle/>
          <a:p>
            <a:pPr marL="12700">
              <a:lnSpc>
                <a:spcPct val="100000"/>
              </a:lnSpc>
              <a:spcBef>
                <a:spcPts val="105"/>
              </a:spcBef>
            </a:pPr>
            <a:r>
              <a:rPr sz="950" i="1" dirty="0">
                <a:solidFill>
                  <a:srgbClr val="0C1C2B"/>
                </a:solidFill>
                <a:latin typeface="Times New Roman" panose="02020603050405020304"/>
                <a:cs typeface="Times New Roman" panose="02020603050405020304"/>
              </a:rPr>
              <a:t>Normal</a:t>
            </a:r>
            <a:r>
              <a:rPr sz="950" i="1" spc="-35" dirty="0">
                <a:solidFill>
                  <a:srgbClr val="0C1C2B"/>
                </a:solidFill>
                <a:latin typeface="Times New Roman" panose="02020603050405020304"/>
                <a:cs typeface="Times New Roman" panose="02020603050405020304"/>
              </a:rPr>
              <a:t> </a:t>
            </a:r>
            <a:r>
              <a:rPr sz="950" i="1" spc="-10" dirty="0">
                <a:solidFill>
                  <a:srgbClr val="0C1C2B"/>
                </a:solidFill>
                <a:latin typeface="Times New Roman" panose="02020603050405020304"/>
                <a:cs typeface="Times New Roman" panose="02020603050405020304"/>
              </a:rPr>
              <a:t>sample</a:t>
            </a:r>
            <a:endParaRPr sz="950">
              <a:latin typeface="Times New Roman" panose="02020603050405020304"/>
              <a:cs typeface="Times New Roman" panose="02020603050405020304"/>
            </a:endParaRPr>
          </a:p>
        </p:txBody>
      </p:sp>
      <p:sp>
        <p:nvSpPr>
          <p:cNvPr id="101" name="object 101"/>
          <p:cNvSpPr txBox="1"/>
          <p:nvPr/>
        </p:nvSpPr>
        <p:spPr>
          <a:xfrm>
            <a:off x="5541645" y="6503035"/>
            <a:ext cx="1032510" cy="158750"/>
          </a:xfrm>
          <a:prstGeom prst="rect">
            <a:avLst/>
          </a:prstGeom>
        </p:spPr>
        <p:txBody>
          <a:bodyPr vert="horz" wrap="square" lIns="0" tIns="12092" rIns="0" bIns="0" rtlCol="0">
            <a:spAutoFit/>
          </a:bodyPr>
          <a:lstStyle/>
          <a:p>
            <a:pPr marL="12700">
              <a:lnSpc>
                <a:spcPct val="100000"/>
              </a:lnSpc>
              <a:spcBef>
                <a:spcPts val="105"/>
              </a:spcBef>
            </a:pPr>
            <a:r>
              <a:rPr sz="950" i="1" dirty="0">
                <a:solidFill>
                  <a:srgbClr val="0C1C2B"/>
                </a:solidFill>
                <a:latin typeface="Times New Roman" panose="02020603050405020304"/>
                <a:cs typeface="Times New Roman" panose="02020603050405020304"/>
              </a:rPr>
              <a:t>Malicious</a:t>
            </a:r>
            <a:r>
              <a:rPr sz="950" i="1" spc="-30" dirty="0">
                <a:solidFill>
                  <a:srgbClr val="0C1C2B"/>
                </a:solidFill>
                <a:latin typeface="Times New Roman" panose="02020603050405020304"/>
                <a:cs typeface="Times New Roman" panose="02020603050405020304"/>
              </a:rPr>
              <a:t> </a:t>
            </a:r>
            <a:r>
              <a:rPr sz="950" i="1" spc="-10" dirty="0">
                <a:solidFill>
                  <a:srgbClr val="0C1C2B"/>
                </a:solidFill>
                <a:latin typeface="Times New Roman" panose="02020603050405020304"/>
                <a:cs typeface="Times New Roman" panose="02020603050405020304"/>
              </a:rPr>
              <a:t>sample</a:t>
            </a:r>
            <a:endParaRPr sz="950">
              <a:latin typeface="Times New Roman" panose="02020603050405020304"/>
              <a:cs typeface="Times New Roman" panose="02020603050405020304"/>
            </a:endParaRPr>
          </a:p>
        </p:txBody>
      </p:sp>
      <p:pic>
        <p:nvPicPr>
          <p:cNvPr id="102" name="object 102"/>
          <p:cNvPicPr/>
          <p:nvPr/>
        </p:nvPicPr>
        <p:blipFill>
          <a:blip r:embed="rId30" cstate="print"/>
          <a:stretch>
            <a:fillRect/>
          </a:stretch>
        </p:blipFill>
        <p:spPr>
          <a:xfrm>
            <a:off x="5290185" y="6523990"/>
            <a:ext cx="168275" cy="160655"/>
          </a:xfrm>
          <a:prstGeom prst="rect">
            <a:avLst/>
          </a:prstGeom>
        </p:spPr>
      </p:pic>
      <p:grpSp>
        <p:nvGrpSpPr>
          <p:cNvPr id="103" name="object 103"/>
          <p:cNvGrpSpPr/>
          <p:nvPr/>
        </p:nvGrpSpPr>
        <p:grpSpPr>
          <a:xfrm rot="0">
            <a:off x="7140575" y="6220460"/>
            <a:ext cx="184150" cy="178435"/>
            <a:chOff x="5923025" y="6046470"/>
            <a:chExt cx="173990" cy="173990"/>
          </a:xfrm>
        </p:grpSpPr>
        <p:pic>
          <p:nvPicPr>
            <p:cNvPr id="104" name="object 104"/>
            <p:cNvPicPr/>
            <p:nvPr/>
          </p:nvPicPr>
          <p:blipFill>
            <a:blip r:embed="rId31" cstate="print"/>
            <a:stretch>
              <a:fillRect/>
            </a:stretch>
          </p:blipFill>
          <p:spPr>
            <a:xfrm>
              <a:off x="5931407" y="6056376"/>
              <a:ext cx="156972" cy="155447"/>
            </a:xfrm>
            <a:prstGeom prst="rect">
              <a:avLst/>
            </a:prstGeom>
          </p:spPr>
        </p:pic>
        <p:pic>
          <p:nvPicPr>
            <p:cNvPr id="105" name="object 105"/>
            <p:cNvPicPr/>
            <p:nvPr/>
          </p:nvPicPr>
          <p:blipFill>
            <a:blip r:embed="rId32" cstate="print"/>
            <a:stretch>
              <a:fillRect/>
            </a:stretch>
          </p:blipFill>
          <p:spPr>
            <a:xfrm>
              <a:off x="5923025" y="6046470"/>
              <a:ext cx="173736" cy="173735"/>
            </a:xfrm>
            <a:prstGeom prst="rect">
              <a:avLst/>
            </a:prstGeom>
          </p:spPr>
        </p:pic>
      </p:grpSp>
      <p:grpSp>
        <p:nvGrpSpPr>
          <p:cNvPr id="106" name="object 106"/>
          <p:cNvGrpSpPr/>
          <p:nvPr/>
        </p:nvGrpSpPr>
        <p:grpSpPr>
          <a:xfrm rot="0">
            <a:off x="7129145" y="6487160"/>
            <a:ext cx="186055" cy="179705"/>
            <a:chOff x="5912357" y="6307073"/>
            <a:chExt cx="175260" cy="175260"/>
          </a:xfrm>
        </p:grpSpPr>
        <p:pic>
          <p:nvPicPr>
            <p:cNvPr id="107" name="object 107"/>
            <p:cNvPicPr/>
            <p:nvPr/>
          </p:nvPicPr>
          <p:blipFill>
            <a:blip r:embed="rId33" cstate="print"/>
            <a:stretch>
              <a:fillRect/>
            </a:stretch>
          </p:blipFill>
          <p:spPr>
            <a:xfrm>
              <a:off x="5920739" y="6316980"/>
              <a:ext cx="158496" cy="156971"/>
            </a:xfrm>
            <a:prstGeom prst="rect">
              <a:avLst/>
            </a:prstGeom>
          </p:spPr>
        </p:pic>
        <p:pic>
          <p:nvPicPr>
            <p:cNvPr id="108" name="object 108"/>
            <p:cNvPicPr/>
            <p:nvPr/>
          </p:nvPicPr>
          <p:blipFill>
            <a:blip r:embed="rId34" cstate="print"/>
            <a:stretch>
              <a:fillRect/>
            </a:stretch>
          </p:blipFill>
          <p:spPr>
            <a:xfrm>
              <a:off x="5912357" y="6307073"/>
              <a:ext cx="175259" cy="175259"/>
            </a:xfrm>
            <a:prstGeom prst="rect">
              <a:avLst/>
            </a:prstGeom>
          </p:spPr>
        </p:pic>
      </p:grpSp>
      <p:pic>
        <p:nvPicPr>
          <p:cNvPr id="110" name="图片 109"/>
          <p:cNvPicPr>
            <a:picLocks noChangeAspect="1"/>
          </p:cNvPicPr>
          <p:nvPr/>
        </p:nvPicPr>
        <p:blipFill>
          <a:blip r:embed="rId35"/>
          <a:stretch>
            <a:fillRect/>
          </a:stretch>
        </p:blipFill>
        <p:spPr>
          <a:xfrm>
            <a:off x="457200" y="2775585"/>
            <a:ext cx="2928620" cy="3448050"/>
          </a:xfrm>
          <a:prstGeom prst="rect">
            <a:avLst/>
          </a:prstGeom>
        </p:spPr>
      </p:pic>
      <p:sp>
        <p:nvSpPr>
          <p:cNvPr id="111" name="object 3"/>
          <p:cNvSpPr txBox="1"/>
          <p:nvPr/>
        </p:nvSpPr>
        <p:spPr>
          <a:xfrm>
            <a:off x="2699385" y="1908175"/>
            <a:ext cx="8642985" cy="766445"/>
          </a:xfrm>
          <a:prstGeom prst="rect">
            <a:avLst/>
          </a:prstGeom>
        </p:spPr>
        <p:txBody>
          <a:bodyPr vert="horz" wrap="square" lIns="0" tIns="9788" rIns="0" bIns="0" rtlCol="0">
            <a:noAutofit/>
          </a:bodyPr>
          <a:lstStyle/>
          <a:p>
            <a:pPr marL="12700" marR="5080" algn="just">
              <a:lnSpc>
                <a:spcPct val="122000"/>
              </a:lnSpc>
              <a:spcBef>
                <a:spcPts val="85"/>
              </a:spcBef>
            </a:pPr>
            <a:r>
              <a:rPr lang="zh-CN" altLang="en-US" sz="2000">
                <a:latin typeface="Arial" panose="020B0604020202020204"/>
                <a:cs typeface="Arial" panose="020B0604020202020204"/>
              </a:rPr>
              <a:t>生成的数据应具有多样性，否则可能会限制模型的泛化能力，并且新恶意样本的分布可能与现有训练数据不一致。</a:t>
            </a:r>
            <a:endParaRPr lang="zh-CN" altLang="en-US" sz="2000">
              <a:latin typeface="Arial" panose="020B0604020202020204"/>
              <a:cs typeface="Arial" panose="020B0604020202020204"/>
            </a:endParaRPr>
          </a:p>
        </p:txBody>
      </p:sp>
      <p:sp>
        <p:nvSpPr>
          <p:cNvPr id="112" name="object 18"/>
          <p:cNvSpPr txBox="1"/>
          <p:nvPr/>
        </p:nvSpPr>
        <p:spPr>
          <a:xfrm>
            <a:off x="1058744" y="1335455"/>
            <a:ext cx="7248405" cy="380365"/>
          </a:xfrm>
          <a:prstGeom prst="rect">
            <a:avLst/>
          </a:prstGeom>
        </p:spPr>
        <p:txBody>
          <a:bodyPr vert="horz" wrap="square" lIns="0" tIns="11516" rIns="0" bIns="0" rtlCol="0">
            <a:spAutoFit/>
          </a:bodyPr>
          <a:lstStyle/>
          <a:p>
            <a:pPr marL="12700">
              <a:lnSpc>
                <a:spcPct val="100000"/>
              </a:lnSpc>
              <a:spcBef>
                <a:spcPts val="100"/>
              </a:spcBef>
            </a:pPr>
            <a:r>
              <a:rPr lang="zh-CN" altLang="en-US" sz="2400" b="1">
                <a:latin typeface="Arial" panose="020B0604020202020204"/>
                <a:cs typeface="Arial" panose="020B0604020202020204"/>
              </a:rPr>
              <a:t>目标：</a:t>
            </a:r>
            <a:r>
              <a:rPr lang="zh-CN" altLang="en-US" sz="2400">
                <a:latin typeface="Arial" panose="020B0604020202020204"/>
                <a:cs typeface="Arial" panose="020B0604020202020204"/>
              </a:rPr>
              <a:t>生成能够代表新型加密恶意流量的训练数据</a:t>
            </a:r>
            <a:endParaRPr lang="zh-CN" altLang="en-US" sz="2400">
              <a:latin typeface="Arial" panose="020B0604020202020204"/>
              <a:cs typeface="Arial" panose="020B0604020202020204"/>
            </a:endParaRPr>
          </a:p>
        </p:txBody>
      </p:sp>
      <p:sp>
        <p:nvSpPr>
          <p:cNvPr id="113" name="object 19"/>
          <p:cNvSpPr txBox="1"/>
          <p:nvPr/>
        </p:nvSpPr>
        <p:spPr>
          <a:xfrm>
            <a:off x="1058545" y="1908175"/>
            <a:ext cx="2110105" cy="380365"/>
          </a:xfrm>
          <a:prstGeom prst="rect">
            <a:avLst/>
          </a:prstGeom>
        </p:spPr>
        <p:txBody>
          <a:bodyPr vert="horz" wrap="square" lIns="0" tIns="11516" rIns="0" bIns="0" rtlCol="0">
            <a:spAutoFit/>
          </a:bodyPr>
          <a:lstStyle/>
          <a:p>
            <a:pPr marL="12700">
              <a:lnSpc>
                <a:spcPct val="100000"/>
              </a:lnSpc>
              <a:spcBef>
                <a:spcPts val="100"/>
              </a:spcBef>
            </a:pPr>
            <a:r>
              <a:rPr sz="2400" b="1" spc="-10" dirty="0">
                <a:solidFill>
                  <a:srgbClr val="FF0000"/>
                </a:solidFill>
                <a:latin typeface="Arial" panose="020B0604020202020204"/>
                <a:cs typeface="Arial" panose="020B0604020202020204"/>
              </a:rPr>
              <a:t>Challenge:</a:t>
            </a:r>
            <a:endParaRPr sz="2400" b="1" spc="-10" dirty="0">
              <a:solidFill>
                <a:srgbClr val="FF0000"/>
              </a:solidFill>
              <a:latin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数据增强模块</a:t>
            </a:r>
            <a:endParaRPr sz="3200" b="1" spc="-10" dirty="0">
              <a:solidFill>
                <a:srgbClr val="23366E"/>
              </a:solidFill>
              <a:latin typeface="Times New Roman" panose="02020603050405020304"/>
              <a:ea typeface="+mn-ea"/>
              <a:cs typeface="Times New Roman" panose="02020603050405020304"/>
            </a:endParaRPr>
          </a:p>
        </p:txBody>
      </p:sp>
      <p:pic>
        <p:nvPicPr>
          <p:cNvPr id="7" name="object 7"/>
          <p:cNvPicPr/>
          <p:nvPr/>
        </p:nvPicPr>
        <p:blipFill>
          <a:blip r:embed="rId1" cstate="print"/>
          <a:stretch>
            <a:fillRect/>
          </a:stretch>
        </p:blipFill>
        <p:spPr>
          <a:xfrm>
            <a:off x="6693535" y="2993390"/>
            <a:ext cx="4796790" cy="2534285"/>
          </a:xfrm>
          <a:prstGeom prst="rect">
            <a:avLst/>
          </a:prstGeom>
        </p:spPr>
      </p:pic>
      <p:sp>
        <p:nvSpPr>
          <p:cNvPr id="112" name="object 18"/>
          <p:cNvSpPr txBox="1"/>
          <p:nvPr/>
        </p:nvSpPr>
        <p:spPr>
          <a:xfrm>
            <a:off x="1058744" y="1335455"/>
            <a:ext cx="7248405" cy="380365"/>
          </a:xfrm>
          <a:prstGeom prst="rect">
            <a:avLst/>
          </a:prstGeom>
        </p:spPr>
        <p:txBody>
          <a:bodyPr vert="horz" wrap="square" lIns="0" tIns="11516" rIns="0" bIns="0" rtlCol="0">
            <a:spAutoFit/>
          </a:bodyPr>
          <a:lstStyle/>
          <a:p>
            <a:pPr marL="12700">
              <a:lnSpc>
                <a:spcPct val="100000"/>
              </a:lnSpc>
              <a:spcBef>
                <a:spcPts val="100"/>
              </a:spcBef>
            </a:pPr>
            <a:r>
              <a:rPr lang="zh-CN" altLang="en-US" sz="2400" b="1">
                <a:latin typeface="Arial" panose="020B0604020202020204"/>
                <a:cs typeface="Arial" panose="020B0604020202020204"/>
              </a:rPr>
              <a:t>目标：</a:t>
            </a:r>
            <a:r>
              <a:rPr lang="zh-CN" altLang="en-US" sz="2400">
                <a:latin typeface="Arial" panose="020B0604020202020204"/>
                <a:cs typeface="Arial" panose="020B0604020202020204"/>
              </a:rPr>
              <a:t>生成能够代表新的加密恶意流量的新训练数据</a:t>
            </a:r>
            <a:endParaRPr lang="zh-CN" altLang="en-US" sz="2400">
              <a:latin typeface="Arial" panose="020B0604020202020204"/>
              <a:cs typeface="Arial" panose="020B0604020202020204"/>
            </a:endParaRPr>
          </a:p>
        </p:txBody>
      </p:sp>
      <p:sp>
        <p:nvSpPr>
          <p:cNvPr id="9" name="文本框 8"/>
          <p:cNvSpPr txBox="1"/>
          <p:nvPr/>
        </p:nvSpPr>
        <p:spPr>
          <a:xfrm>
            <a:off x="1327150" y="1837690"/>
            <a:ext cx="9829165" cy="1087755"/>
          </a:xfrm>
          <a:prstGeom prst="rect">
            <a:avLst/>
          </a:prstGeom>
          <a:noFill/>
        </p:spPr>
        <p:txBody>
          <a:bodyPr wrap="square" rtlCol="0" anchor="t">
            <a:spAutoFit/>
          </a:bodyPr>
          <a:p>
            <a:pPr marL="285750" indent="-285750">
              <a:lnSpc>
                <a:spcPct val="120000"/>
              </a:lnSpc>
              <a:buFont typeface="Arial" panose="020B0604020202020204" pitchFamily="34" charset="0"/>
              <a:buChar char="•"/>
            </a:pPr>
            <a:r>
              <a:rPr lang="zh-CN" altLang="en-US"/>
              <a:t>现有的数据增强方法只能生成与现有样本相似的样本。</a:t>
            </a:r>
            <a:endParaRPr lang="zh-CN" altLang="en-US"/>
          </a:p>
          <a:p>
            <a:pPr marL="285750" lvl="0" indent="-285750">
              <a:lnSpc>
                <a:spcPct val="120000"/>
              </a:lnSpc>
              <a:buFont typeface="Arial" panose="020B0604020202020204" pitchFamily="34" charset="0"/>
              <a:buChar char="•"/>
            </a:pPr>
            <a:r>
              <a:rPr lang="zh-CN" altLang="en-US"/>
              <a:t>提出一种改进的生成对抗网络（</a:t>
            </a:r>
            <a:r>
              <a:rPr lang="en-US" altLang="zh-CN"/>
              <a:t>GAN</a:t>
            </a:r>
            <a:r>
              <a:rPr lang="zh-CN" altLang="en-US"/>
              <a:t>），使其能够拟合三个特定区域的分布来生成样本。</a:t>
            </a:r>
            <a:endParaRPr lang="zh-CN" altLang="en-US"/>
          </a:p>
          <a:p>
            <a:pPr marL="742950" lvl="1" indent="-285750">
              <a:lnSpc>
                <a:spcPct val="120000"/>
              </a:lnSpc>
              <a:buFont typeface="Arial" panose="020B0604020202020204" pitchFamily="34" charset="0"/>
              <a:buChar char="•"/>
            </a:pPr>
            <a:r>
              <a:rPr lang="zh-CN" altLang="en-US"/>
              <a:t>利用</a:t>
            </a:r>
            <a:r>
              <a:rPr lang="en-US" altLang="zh-CN"/>
              <a:t>MADE</a:t>
            </a:r>
            <a:r>
              <a:rPr lang="zh-CN" altLang="en-US"/>
              <a:t>方法</a:t>
            </a:r>
            <a:r>
              <a:rPr lang="zh-CN" altLang="en-US" b="1"/>
              <a:t>构建这三个特定区域</a:t>
            </a:r>
            <a:r>
              <a:rPr lang="zh-CN" altLang="en-US"/>
              <a:t>。</a:t>
            </a:r>
            <a:endParaRPr lang="zh-CN" altLang="en-US"/>
          </a:p>
        </p:txBody>
      </p:sp>
      <p:sp>
        <p:nvSpPr>
          <p:cNvPr id="10" name="文本框 9"/>
          <p:cNvSpPr txBox="1"/>
          <p:nvPr/>
        </p:nvSpPr>
        <p:spPr>
          <a:xfrm>
            <a:off x="1771650" y="3924300"/>
            <a:ext cx="4108450" cy="700405"/>
          </a:xfrm>
          <a:prstGeom prst="rect">
            <a:avLst/>
          </a:prstGeom>
          <a:noFill/>
        </p:spPr>
        <p:txBody>
          <a:bodyPr wrap="square" rtlCol="0" anchor="t">
            <a:spAutoFit/>
          </a:bodyPr>
          <a:p>
            <a:pPr marL="285750" indent="-285750">
              <a:lnSpc>
                <a:spcPct val="110000"/>
              </a:lnSpc>
              <a:buFont typeface="Arial" panose="020B0604020202020204" pitchFamily="34" charset="0"/>
              <a:buChar char="•"/>
            </a:pPr>
            <a:r>
              <a:rPr lang="zh-CN" altLang="en-US"/>
              <a:t>为</a:t>
            </a:r>
            <a:r>
              <a:rPr lang="en-US" altLang="zh-CN"/>
              <a:t> 3 </a:t>
            </a:r>
            <a:r>
              <a:rPr lang="zh-CN" altLang="en-US"/>
              <a:t>个区域设计</a:t>
            </a:r>
            <a:r>
              <a:rPr lang="en-US" altLang="zh-CN"/>
              <a:t> </a:t>
            </a:r>
            <a:r>
              <a:rPr lang="en-US" altLang="zh-CN" b="1"/>
              <a:t>3 </a:t>
            </a:r>
            <a:r>
              <a:rPr lang="zh-CN" altLang="en-US" b="1"/>
              <a:t>个生成器</a:t>
            </a:r>
            <a:endParaRPr lang="zh-CN" altLang="en-US"/>
          </a:p>
          <a:p>
            <a:pPr marL="285750" indent="-285750">
              <a:lnSpc>
                <a:spcPct val="110000"/>
              </a:lnSpc>
              <a:buFont typeface="Arial" panose="020B0604020202020204" pitchFamily="34" charset="0"/>
              <a:buChar char="•"/>
            </a:pPr>
            <a:r>
              <a:rPr lang="zh-CN" altLang="en-US"/>
              <a:t>为每个</a:t>
            </a:r>
            <a:r>
              <a:rPr lang="zh-CN" altLang="en-US">
                <a:sym typeface="+mn-ea"/>
              </a:rPr>
              <a:t>生成器</a:t>
            </a:r>
            <a:r>
              <a:rPr lang="zh-CN" altLang="en-US"/>
              <a:t>设计</a:t>
            </a:r>
            <a:r>
              <a:rPr lang="zh-CN" altLang="en-US" b="1"/>
              <a:t>新的损失函数</a:t>
            </a:r>
            <a:endParaRPr lang="zh-CN" altLang="en-US" b="1"/>
          </a:p>
        </p:txBody>
      </p:sp>
      <p:pic>
        <p:nvPicPr>
          <p:cNvPr id="11" name="图片 10"/>
          <p:cNvPicPr>
            <a:picLocks noChangeAspect="1"/>
          </p:cNvPicPr>
          <p:nvPr/>
        </p:nvPicPr>
        <p:blipFill>
          <a:blip r:embed="rId2"/>
          <a:stretch>
            <a:fillRect/>
          </a:stretch>
        </p:blipFill>
        <p:spPr>
          <a:xfrm>
            <a:off x="1506220" y="2882265"/>
            <a:ext cx="5171440" cy="1086485"/>
          </a:xfrm>
          <a:prstGeom prst="rect">
            <a:avLst/>
          </a:prstGeom>
        </p:spPr>
      </p:pic>
      <p:pic>
        <p:nvPicPr>
          <p:cNvPr id="12" name="图片 11"/>
          <p:cNvPicPr>
            <a:picLocks noChangeAspect="1"/>
          </p:cNvPicPr>
          <p:nvPr/>
        </p:nvPicPr>
        <p:blipFill>
          <a:blip r:embed="rId3"/>
          <a:stretch>
            <a:fillRect/>
          </a:stretch>
        </p:blipFill>
        <p:spPr>
          <a:xfrm>
            <a:off x="1506220" y="4613275"/>
            <a:ext cx="5187315" cy="12007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085" y="715705"/>
            <a:ext cx="282036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实验评估</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963295" y="1404620"/>
            <a:ext cx="6654800" cy="1168400"/>
          </a:xfrm>
          <a:prstGeom prst="rect">
            <a:avLst/>
          </a:prstGeom>
        </p:spPr>
        <p:txBody>
          <a:bodyPr vert="horz" wrap="square" lIns="0" tIns="10364" rIns="0" bIns="0" rtlCol="0">
            <a:noAutofit/>
          </a:bodyPr>
          <a:lstStyle/>
          <a:p>
            <a:pPr marL="213360" marR="5080" indent="-201295">
              <a:lnSpc>
                <a:spcPct val="116000"/>
              </a:lnSpc>
              <a:spcBef>
                <a:spcPts val="90"/>
              </a:spcBef>
              <a:buChar char="•"/>
              <a:tabLst>
                <a:tab pos="213995" algn="l"/>
                <a:tab pos="1092835" algn="l"/>
              </a:tabLst>
            </a:pPr>
            <a:r>
              <a:rPr lang="zh-CN" altLang="en-US" spc="-10" dirty="0">
                <a:solidFill>
                  <a:srgbClr val="0C1C2B"/>
                </a:solidFill>
                <a:latin typeface="Arial" panose="020B0604020202020204"/>
                <a:cs typeface="Arial" panose="020B0604020202020204"/>
              </a:rPr>
              <a:t>数据集：</a:t>
            </a:r>
            <a:r>
              <a:rPr lang="en-US" altLang="zh-CN" spc="-10" dirty="0">
                <a:solidFill>
                  <a:srgbClr val="0C1C2B"/>
                </a:solidFill>
                <a:latin typeface="Arial" panose="020B0604020202020204"/>
                <a:cs typeface="Arial" panose="020B0604020202020204"/>
              </a:rPr>
              <a:t>CIRA-CIC-DoHBrw-2020 (DoHBrw) </a:t>
            </a:r>
            <a:endParaRPr lang="en-US" altLang="zh-CN" spc="-10" dirty="0">
              <a:solidFill>
                <a:srgbClr val="0C1C2B"/>
              </a:solidFill>
              <a:latin typeface="Arial" panose="020B0604020202020204"/>
              <a:cs typeface="Arial" panose="020B0604020202020204"/>
            </a:endParaRPr>
          </a:p>
          <a:p>
            <a:pPr marL="469265" marR="5080" lvl="1" indent="457200">
              <a:lnSpc>
                <a:spcPct val="116000"/>
              </a:lnSpc>
              <a:spcBef>
                <a:spcPts val="90"/>
              </a:spcBef>
              <a:buNone/>
              <a:tabLst>
                <a:tab pos="213995" algn="l"/>
                <a:tab pos="1092835" algn="l"/>
              </a:tabLst>
            </a:pPr>
            <a:r>
              <a:rPr lang="en-US" altLang="zh-CN" spc="-10" dirty="0">
                <a:solidFill>
                  <a:srgbClr val="0C1C2B"/>
                </a:solidFill>
                <a:latin typeface="Arial" panose="020B0604020202020204"/>
                <a:cs typeface="Arial" panose="020B0604020202020204"/>
              </a:rPr>
              <a:t>CSE-CIC-IDS2018 (IDS)	</a:t>
            </a:r>
            <a:endParaRPr lang="en-US" altLang="zh-CN" spc="-10" dirty="0">
              <a:solidFill>
                <a:srgbClr val="0C1C2B"/>
              </a:solidFill>
              <a:latin typeface="Arial" panose="020B0604020202020204"/>
              <a:cs typeface="Arial" panose="020B0604020202020204"/>
            </a:endParaRPr>
          </a:p>
          <a:p>
            <a:pPr marL="469265" marR="5080" lvl="1" indent="0">
              <a:lnSpc>
                <a:spcPct val="116000"/>
              </a:lnSpc>
              <a:spcBef>
                <a:spcPts val="90"/>
              </a:spcBef>
              <a:buNone/>
              <a:tabLst>
                <a:tab pos="213995" algn="l"/>
                <a:tab pos="1092835" algn="l"/>
              </a:tabLst>
            </a:pPr>
            <a:r>
              <a:rPr lang="en-US" altLang="zh-CN" spc="-10" dirty="0">
                <a:solidFill>
                  <a:srgbClr val="0C1C2B"/>
                </a:solidFill>
                <a:latin typeface="Arial" panose="020B0604020202020204"/>
                <a:cs typeface="Arial" panose="020B0604020202020204"/>
              </a:rPr>
              <a:t>IDS</a:t>
            </a:r>
            <a:r>
              <a:rPr lang="zh-CN" altLang="en-US" spc="-10" dirty="0">
                <a:solidFill>
                  <a:srgbClr val="0C1C2B"/>
                </a:solidFill>
                <a:latin typeface="Arial" panose="020B0604020202020204"/>
                <a:cs typeface="Arial" panose="020B0604020202020204"/>
              </a:rPr>
              <a:t>（用于训练）</a:t>
            </a:r>
            <a:r>
              <a:rPr lang="en-US" altLang="zh-CN" spc="-10" dirty="0">
                <a:solidFill>
                  <a:srgbClr val="0C1C2B"/>
                </a:solidFill>
                <a:latin typeface="Arial" panose="020B0604020202020204"/>
                <a:cs typeface="Arial" panose="020B0604020202020204"/>
              </a:rPr>
              <a:t>/DoHBrw</a:t>
            </a:r>
            <a:r>
              <a:rPr lang="zh-CN" altLang="en-US" spc="-10" dirty="0">
                <a:solidFill>
                  <a:srgbClr val="0C1C2B"/>
                </a:solidFill>
                <a:latin typeface="Arial" panose="020B0604020202020204"/>
                <a:cs typeface="Arial" panose="020B0604020202020204"/>
              </a:rPr>
              <a:t>（用于测试</a:t>
            </a:r>
            <a:r>
              <a:rPr lang="zh-CN" altLang="en-US" sz="1405" spc="-10" dirty="0">
                <a:solidFill>
                  <a:srgbClr val="0C1C2B"/>
                </a:solidFill>
                <a:latin typeface="Arial" panose="020B0604020202020204"/>
                <a:cs typeface="Arial" panose="020B0604020202020204"/>
              </a:rPr>
              <a:t>）</a:t>
            </a:r>
            <a:endParaRPr sz="1405">
              <a:latin typeface="Arial" panose="020B0604020202020204"/>
              <a:cs typeface="Arial" panose="020B0604020202020204"/>
            </a:endParaRPr>
          </a:p>
        </p:txBody>
      </p:sp>
      <p:pic>
        <p:nvPicPr>
          <p:cNvPr id="7" name="object 7"/>
          <p:cNvPicPr/>
          <p:nvPr/>
        </p:nvPicPr>
        <p:blipFill>
          <a:blip r:embed="rId1" cstate="print"/>
          <a:stretch>
            <a:fillRect/>
          </a:stretch>
        </p:blipFill>
        <p:spPr>
          <a:xfrm>
            <a:off x="963295" y="4264025"/>
            <a:ext cx="6226810" cy="260985"/>
          </a:xfrm>
          <a:prstGeom prst="rect">
            <a:avLst/>
          </a:prstGeom>
        </p:spPr>
      </p:pic>
      <p:sp>
        <p:nvSpPr>
          <p:cNvPr id="10" name="文本框 9"/>
          <p:cNvSpPr txBox="1"/>
          <p:nvPr/>
        </p:nvSpPr>
        <p:spPr>
          <a:xfrm>
            <a:off x="963295" y="2495550"/>
            <a:ext cx="6684010" cy="1419860"/>
          </a:xfrm>
          <a:prstGeom prst="rect">
            <a:avLst/>
          </a:prstGeom>
          <a:noFill/>
        </p:spPr>
        <p:txBody>
          <a:bodyPr wrap="square" rtlCol="0">
            <a:spAutoFit/>
          </a:bodyPr>
          <a:p>
            <a:pPr marL="213360" marR="5080" indent="-201295" algn="l">
              <a:lnSpc>
                <a:spcPct val="120000"/>
              </a:lnSpc>
              <a:spcBef>
                <a:spcPts val="90"/>
              </a:spcBef>
              <a:buClrTx/>
              <a:buSzTx/>
              <a:buFontTx/>
              <a:buChar char="•"/>
              <a:tabLst>
                <a:tab pos="213995" algn="l"/>
                <a:tab pos="1092835" algn="l"/>
              </a:tabLst>
            </a:pPr>
            <a:r>
              <a:rPr lang="zh-CN" altLang="en-US" spc="-10" dirty="0">
                <a:solidFill>
                  <a:srgbClr val="0C1C2B"/>
                </a:solidFill>
                <a:latin typeface="Arial" panose="020B0604020202020204"/>
                <a:cs typeface="Arial" panose="020B0604020202020204"/>
              </a:rPr>
              <a:t>基线方法：</a:t>
            </a:r>
            <a:endParaRPr lang="zh-CN" altLang="en-US" spc="-10" dirty="0">
              <a:solidFill>
                <a:srgbClr val="0C1C2B"/>
              </a:solidFill>
              <a:latin typeface="Arial" panose="020B0604020202020204"/>
              <a:cs typeface="Arial" panose="020B0604020202020204"/>
            </a:endParaRPr>
          </a:p>
          <a:p>
            <a:pPr marL="742950" lvl="1" indent="-285750">
              <a:lnSpc>
                <a:spcPct val="120000"/>
              </a:lnSpc>
              <a:buFont typeface="Arial" panose="020B0604020202020204" pitchFamily="34" charset="0"/>
              <a:buChar char="•"/>
            </a:pPr>
            <a:r>
              <a:rPr lang="zh-CN" altLang="en-US"/>
              <a:t>流量检测：</a:t>
            </a:r>
            <a:r>
              <a:rPr lang="en-US" altLang="zh-CN" b="1"/>
              <a:t>FS-Net (FS)</a:t>
            </a:r>
            <a:r>
              <a:rPr lang="zh-CN" altLang="en-US" b="1"/>
              <a:t>、</a:t>
            </a:r>
            <a:r>
              <a:rPr lang="en-US" altLang="zh-CN" b="1"/>
              <a:t>ETA</a:t>
            </a:r>
            <a:endParaRPr lang="en-US" altLang="zh-CN" b="1"/>
          </a:p>
          <a:p>
            <a:pPr marL="742950" lvl="1" indent="-285750">
              <a:lnSpc>
                <a:spcPct val="120000"/>
              </a:lnSpc>
              <a:buFont typeface="Arial" panose="020B0604020202020204" pitchFamily="34" charset="0"/>
              <a:buChar char="•"/>
            </a:pPr>
            <a:r>
              <a:rPr lang="zh-CN" altLang="en-US"/>
              <a:t>鲁棒</a:t>
            </a:r>
            <a:r>
              <a:rPr lang="zh-CN" altLang="en-US"/>
              <a:t>恶意软件检测：</a:t>
            </a:r>
            <a:r>
              <a:rPr lang="zh-CN" altLang="en-US" b="1"/>
              <a:t>差分训练</a:t>
            </a:r>
            <a:r>
              <a:rPr lang="en-US" altLang="zh-CN" b="1"/>
              <a:t> (DT)</a:t>
            </a:r>
            <a:r>
              <a:rPr lang="zh-CN" altLang="en-US" b="1"/>
              <a:t>、</a:t>
            </a:r>
            <a:r>
              <a:rPr lang="en-US" altLang="zh-CN" b="1"/>
              <a:t>ODDS</a:t>
            </a:r>
            <a:endParaRPr lang="en-US" altLang="zh-CN"/>
          </a:p>
          <a:p>
            <a:pPr marL="742950" lvl="1" indent="-285750">
              <a:lnSpc>
                <a:spcPct val="120000"/>
              </a:lnSpc>
              <a:buFont typeface="Arial" panose="020B0604020202020204" pitchFamily="34" charset="0"/>
              <a:buChar char="•"/>
            </a:pPr>
            <a:r>
              <a:rPr lang="zh-CN" altLang="en-US"/>
              <a:t>鲁棒机器学习：</a:t>
            </a:r>
            <a:r>
              <a:rPr lang="en-US" altLang="zh-CN" b="1"/>
              <a:t>SMOTE</a:t>
            </a:r>
            <a:r>
              <a:rPr lang="zh-CN" altLang="en-US" b="1"/>
              <a:t>、</a:t>
            </a:r>
            <a:r>
              <a:rPr lang="en-US" altLang="zh-CN" b="1"/>
              <a:t>Co-teaching (Co)[7]</a:t>
            </a:r>
            <a:endParaRPr lang="en-US" altLang="zh-CN" b="1"/>
          </a:p>
        </p:txBody>
      </p:sp>
      <p:sp>
        <p:nvSpPr>
          <p:cNvPr id="11" name="文本框 10"/>
          <p:cNvSpPr txBox="1"/>
          <p:nvPr/>
        </p:nvSpPr>
        <p:spPr>
          <a:xfrm>
            <a:off x="963295" y="4758690"/>
            <a:ext cx="7081520" cy="1751965"/>
          </a:xfrm>
          <a:prstGeom prst="rect">
            <a:avLst/>
          </a:prstGeom>
          <a:noFill/>
        </p:spPr>
        <p:txBody>
          <a:bodyPr wrap="square" rtlCol="0">
            <a:spAutoFit/>
          </a:bodyPr>
          <a:p>
            <a:pPr marL="285750" indent="-285750">
              <a:lnSpc>
                <a:spcPct val="120000"/>
              </a:lnSpc>
              <a:buFont typeface="Arial" panose="020B0604020202020204" pitchFamily="34" charset="0"/>
              <a:buChar char="•"/>
            </a:pPr>
            <a:r>
              <a:rPr lang="zh-CN" altLang="en-US"/>
              <a:t>指标：良性</a:t>
            </a:r>
            <a:r>
              <a:rPr lang="en-US" altLang="zh-CN"/>
              <a:t>/</a:t>
            </a:r>
            <a:r>
              <a:rPr lang="zh-CN" altLang="en-US"/>
              <a:t>恶意样本比例为</a:t>
            </a:r>
            <a:r>
              <a:rPr lang="en-US" altLang="zh-CN"/>
              <a:t> </a:t>
            </a:r>
            <a:r>
              <a:rPr lang="en-US" altLang="zh-CN" b="1"/>
              <a:t>10:1 </a:t>
            </a:r>
            <a:r>
              <a:rPr lang="zh-CN" altLang="en-US" b="1"/>
              <a:t>时的</a:t>
            </a:r>
            <a:r>
              <a:rPr lang="en-US" altLang="zh-CN" b="1"/>
              <a:t> F1 </a:t>
            </a:r>
            <a:r>
              <a:rPr lang="zh-CN" altLang="en-US" b="1"/>
              <a:t>分数</a:t>
            </a:r>
            <a:endParaRPr lang="en-US" altLang="zh-CN" b="1"/>
          </a:p>
          <a:p>
            <a:pPr marL="742950" lvl="1" indent="-285750">
              <a:lnSpc>
                <a:spcPct val="120000"/>
              </a:lnSpc>
              <a:buFont typeface="Arial" panose="020B0604020202020204" pitchFamily="34" charset="0"/>
              <a:buChar char="•"/>
            </a:pPr>
            <a:r>
              <a:rPr lang="zh-CN" altLang="en-US"/>
              <a:t>此比例使</a:t>
            </a:r>
            <a:r>
              <a:rPr lang="en-US" altLang="zh-CN"/>
              <a:t> F1 </a:t>
            </a:r>
            <a:r>
              <a:rPr lang="zh-CN" altLang="en-US"/>
              <a:t>分数结果更具说服力</a:t>
            </a:r>
            <a:r>
              <a:rPr lang="en-US" altLang="zh-CN"/>
              <a:t>[8]</a:t>
            </a:r>
            <a:endParaRPr lang="en-US" altLang="zh-CN"/>
          </a:p>
          <a:p>
            <a:pPr marL="285750" indent="-285750">
              <a:lnSpc>
                <a:spcPct val="120000"/>
              </a:lnSpc>
              <a:buFont typeface="Arial" panose="020B0604020202020204" pitchFamily="34" charset="0"/>
              <a:buChar char="•"/>
            </a:pPr>
            <a:r>
              <a:rPr lang="zh-CN" altLang="en-US"/>
              <a:t>训练标签噪声比例：</a:t>
            </a:r>
            <a:r>
              <a:rPr lang="en-US" altLang="zh-CN"/>
              <a:t>20%</a:t>
            </a:r>
            <a:r>
              <a:rPr lang="zh-CN" altLang="en-US"/>
              <a:t>、</a:t>
            </a:r>
            <a:r>
              <a:rPr lang="en-US" altLang="zh-CN"/>
              <a:t>25%</a:t>
            </a:r>
            <a:r>
              <a:rPr lang="zh-CN" altLang="en-US"/>
              <a:t>、</a:t>
            </a:r>
            <a:r>
              <a:rPr lang="en-US" altLang="zh-CN"/>
              <a:t>30%</a:t>
            </a:r>
            <a:r>
              <a:rPr lang="zh-CN" altLang="en-US"/>
              <a:t>、</a:t>
            </a:r>
            <a:r>
              <a:rPr lang="en-US" altLang="zh-CN"/>
              <a:t>35%</a:t>
            </a:r>
            <a:r>
              <a:rPr lang="zh-CN" altLang="en-US"/>
              <a:t>、</a:t>
            </a:r>
            <a:r>
              <a:rPr lang="en-US" altLang="zh-CN"/>
              <a:t>40%</a:t>
            </a:r>
            <a:r>
              <a:rPr lang="zh-CN" altLang="en-US"/>
              <a:t>、</a:t>
            </a:r>
            <a:r>
              <a:rPr lang="en-US" altLang="zh-CN"/>
              <a:t>45%</a:t>
            </a:r>
            <a:endParaRPr lang="en-US" altLang="zh-CN"/>
          </a:p>
          <a:p>
            <a:pPr marL="742950" lvl="1" indent="-285750">
              <a:lnSpc>
                <a:spcPct val="120000"/>
              </a:lnSpc>
              <a:buFont typeface="Arial" panose="020B0604020202020204" pitchFamily="34" charset="0"/>
              <a:buChar char="•"/>
            </a:pPr>
            <a:r>
              <a:rPr lang="zh-CN" altLang="en-US"/>
              <a:t>随机、对称地对样本进行错误标记。</a:t>
            </a:r>
            <a:endParaRPr lang="en-US" altLang="zh-CN"/>
          </a:p>
          <a:p>
            <a:pPr marL="285750" indent="-285750">
              <a:lnSpc>
                <a:spcPct val="120000"/>
              </a:lnSpc>
              <a:buFont typeface="Arial" panose="020B0604020202020204" pitchFamily="34" charset="0"/>
              <a:buChar char="•"/>
            </a:pPr>
            <a:r>
              <a:rPr lang="zh-CN" altLang="en-US"/>
              <a:t>训练集大小：每种类型的样本数量分别为</a:t>
            </a:r>
            <a:r>
              <a:rPr lang="en-US" altLang="zh-CN"/>
              <a:t> 250</a:t>
            </a:r>
            <a:r>
              <a:rPr lang="zh-CN" altLang="en-US"/>
              <a:t>、</a:t>
            </a:r>
            <a:r>
              <a:rPr lang="en-US" altLang="zh-CN"/>
              <a:t>500 </a:t>
            </a:r>
            <a:r>
              <a:rPr lang="zh-CN" altLang="en-US"/>
              <a:t>或</a:t>
            </a:r>
            <a:r>
              <a:rPr lang="en-US" altLang="zh-CN"/>
              <a:t> 1000 </a:t>
            </a:r>
            <a:r>
              <a:rPr lang="zh-CN" altLang="en-US"/>
              <a:t>个。</a:t>
            </a:r>
            <a:endParaRPr lang="zh-CN" altLang="en-US"/>
          </a:p>
        </p:txBody>
      </p:sp>
      <p:pic>
        <p:nvPicPr>
          <p:cNvPr id="12" name="图片 11"/>
          <p:cNvPicPr>
            <a:picLocks noChangeAspect="1"/>
          </p:cNvPicPr>
          <p:nvPr/>
        </p:nvPicPr>
        <p:blipFill>
          <a:blip r:embed="rId2"/>
          <a:stretch>
            <a:fillRect/>
          </a:stretch>
        </p:blipFill>
        <p:spPr>
          <a:xfrm>
            <a:off x="7258050" y="1687830"/>
            <a:ext cx="4913630" cy="3740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总体性能</a:t>
            </a:r>
            <a:r>
              <a:rPr sz="3200" b="1" spc="-10" dirty="0">
                <a:solidFill>
                  <a:srgbClr val="23366E"/>
                </a:solidFill>
                <a:latin typeface="Times New Roman" panose="02020603050405020304"/>
                <a:ea typeface="+mn-ea"/>
                <a:cs typeface="Times New Roman" panose="02020603050405020304"/>
                <a:sym typeface="+mn-ea"/>
              </a:rPr>
              <a:t>检测</a:t>
            </a:r>
            <a:endParaRPr sz="3200" b="1" spc="-10" dirty="0">
              <a:solidFill>
                <a:srgbClr val="23366E"/>
              </a:solidFill>
              <a:latin typeface="Times New Roman" panose="02020603050405020304"/>
              <a:ea typeface="+mn-ea"/>
              <a:cs typeface="Times New Roman" panose="02020603050405020304"/>
              <a:sym typeface="+mn-ea"/>
            </a:endParaRPr>
          </a:p>
        </p:txBody>
      </p:sp>
      <p:pic>
        <p:nvPicPr>
          <p:cNvPr id="4" name="object 4"/>
          <p:cNvPicPr/>
          <p:nvPr/>
        </p:nvPicPr>
        <p:blipFill>
          <a:blip r:embed="rId1" cstate="print"/>
          <a:stretch>
            <a:fillRect/>
          </a:stretch>
        </p:blipFill>
        <p:spPr>
          <a:xfrm>
            <a:off x="2340610" y="3333750"/>
            <a:ext cx="7132955" cy="1757045"/>
          </a:xfrm>
          <a:prstGeom prst="rect">
            <a:avLst/>
          </a:prstGeom>
        </p:spPr>
      </p:pic>
      <p:grpSp>
        <p:nvGrpSpPr>
          <p:cNvPr id="5" name="object 5"/>
          <p:cNvGrpSpPr/>
          <p:nvPr/>
        </p:nvGrpSpPr>
        <p:grpSpPr>
          <a:xfrm>
            <a:off x="1965325" y="5257800"/>
            <a:ext cx="8260080" cy="892175"/>
            <a:chOff x="791718" y="5075682"/>
            <a:chExt cx="9109075" cy="883919"/>
          </a:xfrm>
        </p:grpSpPr>
        <p:sp>
          <p:nvSpPr>
            <p:cNvPr id="6" name="object 6"/>
            <p:cNvSpPr/>
            <p:nvPr/>
          </p:nvSpPr>
          <p:spPr>
            <a:xfrm>
              <a:off x="797052" y="5081016"/>
              <a:ext cx="9098280" cy="873760"/>
            </a:xfrm>
            <a:custGeom>
              <a:avLst/>
              <a:gdLst/>
              <a:ahLst/>
              <a:cxnLst/>
              <a:rect l="l" t="t" r="r" b="b"/>
              <a:pathLst>
                <a:path w="9098280" h="873760">
                  <a:moveTo>
                    <a:pt x="8773667" y="873251"/>
                  </a:moveTo>
                  <a:lnTo>
                    <a:pt x="326136" y="873251"/>
                  </a:lnTo>
                  <a:lnTo>
                    <a:pt x="278006" y="869709"/>
                  </a:lnTo>
                  <a:lnTo>
                    <a:pt x="232048" y="859420"/>
                  </a:lnTo>
                  <a:lnTo>
                    <a:pt x="188769" y="842893"/>
                  </a:lnTo>
                  <a:lnTo>
                    <a:pt x="148678" y="820636"/>
                  </a:lnTo>
                  <a:lnTo>
                    <a:pt x="112283" y="793159"/>
                  </a:lnTo>
                  <a:lnTo>
                    <a:pt x="80093" y="760968"/>
                  </a:lnTo>
                  <a:lnTo>
                    <a:pt x="52615" y="724573"/>
                  </a:lnTo>
                  <a:lnTo>
                    <a:pt x="30358" y="684482"/>
                  </a:lnTo>
                  <a:lnTo>
                    <a:pt x="13831" y="641203"/>
                  </a:lnTo>
                  <a:lnTo>
                    <a:pt x="3542" y="595245"/>
                  </a:lnTo>
                  <a:lnTo>
                    <a:pt x="0" y="547116"/>
                  </a:lnTo>
                  <a:lnTo>
                    <a:pt x="0" y="324612"/>
                  </a:lnTo>
                  <a:lnTo>
                    <a:pt x="3542" y="276518"/>
                  </a:lnTo>
                  <a:lnTo>
                    <a:pt x="13831" y="230657"/>
                  </a:lnTo>
                  <a:lnTo>
                    <a:pt x="30358" y="187524"/>
                  </a:lnTo>
                  <a:lnTo>
                    <a:pt x="52615" y="147612"/>
                  </a:lnTo>
                  <a:lnTo>
                    <a:pt x="80093" y="111418"/>
                  </a:lnTo>
                  <a:lnTo>
                    <a:pt x="112283" y="79434"/>
                  </a:lnTo>
                  <a:lnTo>
                    <a:pt x="148678" y="52157"/>
                  </a:lnTo>
                  <a:lnTo>
                    <a:pt x="188769" y="30080"/>
                  </a:lnTo>
                  <a:lnTo>
                    <a:pt x="232048" y="13698"/>
                  </a:lnTo>
                  <a:lnTo>
                    <a:pt x="278006" y="3507"/>
                  </a:lnTo>
                  <a:lnTo>
                    <a:pt x="326136" y="0"/>
                  </a:lnTo>
                  <a:lnTo>
                    <a:pt x="8773667" y="0"/>
                  </a:lnTo>
                  <a:lnTo>
                    <a:pt x="8821761" y="3507"/>
                  </a:lnTo>
                  <a:lnTo>
                    <a:pt x="8867622" y="13698"/>
                  </a:lnTo>
                  <a:lnTo>
                    <a:pt x="8910755" y="30080"/>
                  </a:lnTo>
                  <a:lnTo>
                    <a:pt x="8950667" y="52157"/>
                  </a:lnTo>
                  <a:lnTo>
                    <a:pt x="8986862" y="79434"/>
                  </a:lnTo>
                  <a:lnTo>
                    <a:pt x="9018845" y="111418"/>
                  </a:lnTo>
                  <a:lnTo>
                    <a:pt x="9046122" y="147612"/>
                  </a:lnTo>
                  <a:lnTo>
                    <a:pt x="9068199" y="187524"/>
                  </a:lnTo>
                  <a:lnTo>
                    <a:pt x="9084581" y="230657"/>
                  </a:lnTo>
                  <a:lnTo>
                    <a:pt x="9094772" y="276518"/>
                  </a:lnTo>
                  <a:lnTo>
                    <a:pt x="9098280" y="324612"/>
                  </a:lnTo>
                  <a:lnTo>
                    <a:pt x="9098280" y="547116"/>
                  </a:lnTo>
                  <a:lnTo>
                    <a:pt x="9094772" y="595245"/>
                  </a:lnTo>
                  <a:lnTo>
                    <a:pt x="9084581" y="641203"/>
                  </a:lnTo>
                  <a:lnTo>
                    <a:pt x="9068199" y="684482"/>
                  </a:lnTo>
                  <a:lnTo>
                    <a:pt x="9046122" y="724573"/>
                  </a:lnTo>
                  <a:lnTo>
                    <a:pt x="9018845" y="760968"/>
                  </a:lnTo>
                  <a:lnTo>
                    <a:pt x="8986862" y="793159"/>
                  </a:lnTo>
                  <a:lnTo>
                    <a:pt x="8950667" y="820636"/>
                  </a:lnTo>
                  <a:lnTo>
                    <a:pt x="8910755" y="842893"/>
                  </a:lnTo>
                  <a:lnTo>
                    <a:pt x="8867622" y="859420"/>
                  </a:lnTo>
                  <a:lnTo>
                    <a:pt x="8821761" y="869709"/>
                  </a:lnTo>
                  <a:lnTo>
                    <a:pt x="8773667" y="873251"/>
                  </a:lnTo>
                  <a:close/>
                </a:path>
              </a:pathLst>
            </a:custGeom>
            <a:solidFill>
              <a:srgbClr val="501D83"/>
            </a:solidFill>
          </p:spPr>
          <p:txBody>
            <a:bodyPr wrap="square" lIns="0" tIns="0" rIns="0" bIns="0" rtlCol="0"/>
            <a:lstStyle/>
            <a:p>
              <a:endParaRPr sz="1630"/>
            </a:p>
          </p:txBody>
        </p:sp>
        <p:sp>
          <p:nvSpPr>
            <p:cNvPr id="7" name="object 7"/>
            <p:cNvSpPr/>
            <p:nvPr/>
          </p:nvSpPr>
          <p:spPr>
            <a:xfrm>
              <a:off x="797052" y="5081016"/>
              <a:ext cx="9098280" cy="873760"/>
            </a:xfrm>
            <a:custGeom>
              <a:avLst/>
              <a:gdLst/>
              <a:ahLst/>
              <a:cxnLst/>
              <a:rect l="l" t="t" r="r" b="b"/>
              <a:pathLst>
                <a:path w="9098280" h="873760">
                  <a:moveTo>
                    <a:pt x="0" y="324612"/>
                  </a:moveTo>
                  <a:lnTo>
                    <a:pt x="3542" y="276518"/>
                  </a:lnTo>
                  <a:lnTo>
                    <a:pt x="13831" y="230657"/>
                  </a:lnTo>
                  <a:lnTo>
                    <a:pt x="30358" y="187524"/>
                  </a:lnTo>
                  <a:lnTo>
                    <a:pt x="52615" y="147612"/>
                  </a:lnTo>
                  <a:lnTo>
                    <a:pt x="80093" y="111418"/>
                  </a:lnTo>
                  <a:lnTo>
                    <a:pt x="112283" y="79434"/>
                  </a:lnTo>
                  <a:lnTo>
                    <a:pt x="148678" y="52157"/>
                  </a:lnTo>
                  <a:lnTo>
                    <a:pt x="188769" y="30080"/>
                  </a:lnTo>
                  <a:lnTo>
                    <a:pt x="232048" y="13698"/>
                  </a:lnTo>
                  <a:lnTo>
                    <a:pt x="278006" y="3507"/>
                  </a:lnTo>
                  <a:lnTo>
                    <a:pt x="326136" y="0"/>
                  </a:lnTo>
                  <a:lnTo>
                    <a:pt x="8773667" y="0"/>
                  </a:lnTo>
                  <a:lnTo>
                    <a:pt x="8821761" y="3507"/>
                  </a:lnTo>
                  <a:lnTo>
                    <a:pt x="8867622" y="13698"/>
                  </a:lnTo>
                  <a:lnTo>
                    <a:pt x="8910755" y="30080"/>
                  </a:lnTo>
                  <a:lnTo>
                    <a:pt x="8950667" y="52157"/>
                  </a:lnTo>
                  <a:lnTo>
                    <a:pt x="8986862" y="79434"/>
                  </a:lnTo>
                  <a:lnTo>
                    <a:pt x="9018845" y="111418"/>
                  </a:lnTo>
                  <a:lnTo>
                    <a:pt x="9046122" y="147612"/>
                  </a:lnTo>
                  <a:lnTo>
                    <a:pt x="9068199" y="187524"/>
                  </a:lnTo>
                  <a:lnTo>
                    <a:pt x="9084581" y="230657"/>
                  </a:lnTo>
                  <a:lnTo>
                    <a:pt x="9094772" y="276518"/>
                  </a:lnTo>
                  <a:lnTo>
                    <a:pt x="9098280" y="324612"/>
                  </a:lnTo>
                  <a:lnTo>
                    <a:pt x="9098280" y="547116"/>
                  </a:lnTo>
                  <a:lnTo>
                    <a:pt x="9094772" y="595245"/>
                  </a:lnTo>
                  <a:lnTo>
                    <a:pt x="9084581" y="641203"/>
                  </a:lnTo>
                  <a:lnTo>
                    <a:pt x="9068199" y="684482"/>
                  </a:lnTo>
                  <a:lnTo>
                    <a:pt x="9046122" y="724573"/>
                  </a:lnTo>
                  <a:lnTo>
                    <a:pt x="9018845" y="760968"/>
                  </a:lnTo>
                  <a:lnTo>
                    <a:pt x="8986862" y="793159"/>
                  </a:lnTo>
                  <a:lnTo>
                    <a:pt x="8950667" y="820636"/>
                  </a:lnTo>
                  <a:lnTo>
                    <a:pt x="8910755" y="842893"/>
                  </a:lnTo>
                  <a:lnTo>
                    <a:pt x="8867622" y="859420"/>
                  </a:lnTo>
                  <a:lnTo>
                    <a:pt x="8821761" y="869709"/>
                  </a:lnTo>
                  <a:lnTo>
                    <a:pt x="8773667" y="873251"/>
                  </a:lnTo>
                  <a:lnTo>
                    <a:pt x="326136" y="873251"/>
                  </a:lnTo>
                  <a:lnTo>
                    <a:pt x="278006" y="869709"/>
                  </a:lnTo>
                  <a:lnTo>
                    <a:pt x="232048" y="859420"/>
                  </a:lnTo>
                  <a:lnTo>
                    <a:pt x="188769" y="842893"/>
                  </a:lnTo>
                  <a:lnTo>
                    <a:pt x="148678" y="820636"/>
                  </a:lnTo>
                  <a:lnTo>
                    <a:pt x="112283" y="793159"/>
                  </a:lnTo>
                  <a:lnTo>
                    <a:pt x="80093" y="760968"/>
                  </a:lnTo>
                  <a:lnTo>
                    <a:pt x="52615" y="724573"/>
                  </a:lnTo>
                  <a:lnTo>
                    <a:pt x="30358" y="684482"/>
                  </a:lnTo>
                  <a:lnTo>
                    <a:pt x="13831" y="641203"/>
                  </a:lnTo>
                  <a:lnTo>
                    <a:pt x="3542" y="595245"/>
                  </a:lnTo>
                  <a:lnTo>
                    <a:pt x="0" y="547116"/>
                  </a:lnTo>
                  <a:lnTo>
                    <a:pt x="0" y="324612"/>
                  </a:lnTo>
                  <a:close/>
                </a:path>
              </a:pathLst>
            </a:custGeom>
            <a:ln w="10668">
              <a:solidFill>
                <a:srgbClr val="38135E"/>
              </a:solidFill>
            </a:ln>
          </p:spPr>
          <p:txBody>
            <a:bodyPr wrap="square" lIns="0" tIns="0" rIns="0" bIns="0" rtlCol="0"/>
            <a:lstStyle/>
            <a:p>
              <a:endParaRPr sz="1630"/>
            </a:p>
          </p:txBody>
        </p:sp>
      </p:grpSp>
      <p:sp>
        <p:nvSpPr>
          <p:cNvPr id="8" name="object 8"/>
          <p:cNvSpPr txBox="1"/>
          <p:nvPr/>
        </p:nvSpPr>
        <p:spPr>
          <a:xfrm>
            <a:off x="2340610" y="5366385"/>
            <a:ext cx="7630795" cy="675005"/>
          </a:xfrm>
          <a:prstGeom prst="rect">
            <a:avLst/>
          </a:prstGeom>
        </p:spPr>
        <p:txBody>
          <a:bodyPr vert="horz" wrap="square" lIns="0" tIns="59885" rIns="0" bIns="0" rtlCol="0">
            <a:spAutoFit/>
          </a:bodyPr>
          <a:lstStyle/>
          <a:p>
            <a:pPr marL="12700">
              <a:lnSpc>
                <a:spcPct val="100000"/>
              </a:lnSpc>
              <a:spcBef>
                <a:spcPts val="420"/>
              </a:spcBef>
            </a:pPr>
            <a:r>
              <a:rPr lang="zh-CN" altLang="en-US" sz="2000">
                <a:solidFill>
                  <a:schemeClr val="bg1"/>
                </a:solidFill>
                <a:latin typeface="Arial" panose="020B0604020202020204"/>
                <a:cs typeface="Arial" panose="020B0604020202020204"/>
              </a:rPr>
              <a:t>当噪声比为</a:t>
            </a:r>
            <a:r>
              <a:rPr lang="en-US" altLang="zh-CN" sz="2000">
                <a:solidFill>
                  <a:schemeClr val="bg1"/>
                </a:solidFill>
                <a:latin typeface="Arial" panose="020B0604020202020204"/>
                <a:cs typeface="Arial" panose="020B0604020202020204"/>
              </a:rPr>
              <a:t> 45% </a:t>
            </a:r>
            <a:r>
              <a:rPr lang="zh-CN" altLang="en-US" sz="2000">
                <a:solidFill>
                  <a:schemeClr val="bg1"/>
                </a:solidFill>
                <a:latin typeface="Arial" panose="020B0604020202020204"/>
                <a:cs typeface="Arial" panose="020B0604020202020204"/>
              </a:rPr>
              <a:t>时，</a:t>
            </a:r>
            <a:r>
              <a:rPr lang="zh-CN" altLang="en-US" sz="2000">
                <a:solidFill>
                  <a:schemeClr val="bg1"/>
                </a:solidFill>
                <a:latin typeface="Arial" panose="020B0604020202020204"/>
                <a:cs typeface="Arial" panose="020B0604020202020204"/>
              </a:rPr>
              <a:t>该系统仍然获得了</a:t>
            </a:r>
            <a:r>
              <a:rPr lang="en-US" altLang="zh-CN" sz="2000" b="1">
                <a:solidFill>
                  <a:schemeClr val="bg1"/>
                </a:solidFill>
                <a:latin typeface="Arial" panose="020B0604020202020204"/>
                <a:cs typeface="Arial" panose="020B0604020202020204"/>
              </a:rPr>
              <a:t> 0.770</a:t>
            </a:r>
            <a:r>
              <a:rPr lang="zh-CN" altLang="en-US" sz="2000" b="1">
                <a:solidFill>
                  <a:schemeClr val="bg1"/>
                </a:solidFill>
                <a:latin typeface="Arial" panose="020B0604020202020204"/>
                <a:cs typeface="Arial" panose="020B0604020202020204"/>
              </a:rPr>
              <a:t>、</a:t>
            </a:r>
            <a:r>
              <a:rPr lang="en-US" altLang="zh-CN" sz="2000" b="1">
                <a:solidFill>
                  <a:schemeClr val="bg1"/>
                </a:solidFill>
                <a:latin typeface="Arial" panose="020B0604020202020204"/>
                <a:cs typeface="Arial" panose="020B0604020202020204"/>
              </a:rPr>
              <a:t>0.776 </a:t>
            </a:r>
            <a:r>
              <a:rPr lang="zh-CN" altLang="en-US" sz="2000" b="1">
                <a:solidFill>
                  <a:schemeClr val="bg1"/>
                </a:solidFill>
                <a:latin typeface="Arial" panose="020B0604020202020204"/>
                <a:cs typeface="Arial" panose="020B0604020202020204"/>
              </a:rPr>
              <a:t>和</a:t>
            </a:r>
            <a:r>
              <a:rPr lang="en-US" altLang="zh-CN" sz="2000" b="1">
                <a:solidFill>
                  <a:schemeClr val="bg1"/>
                </a:solidFill>
                <a:latin typeface="Arial" panose="020B0604020202020204"/>
                <a:cs typeface="Arial" panose="020B0604020202020204"/>
              </a:rPr>
              <a:t> 0.855 </a:t>
            </a:r>
            <a:r>
              <a:rPr lang="zh-CN" altLang="en-US" sz="2000" b="1">
                <a:solidFill>
                  <a:schemeClr val="bg1"/>
                </a:solidFill>
                <a:latin typeface="Arial" panose="020B0604020202020204"/>
                <a:cs typeface="Arial" panose="020B0604020202020204"/>
              </a:rPr>
              <a:t>的</a:t>
            </a:r>
            <a:r>
              <a:rPr lang="en-US" altLang="zh-CN" sz="2000" b="1">
                <a:solidFill>
                  <a:schemeClr val="bg1"/>
                </a:solidFill>
                <a:latin typeface="Arial" panose="020B0604020202020204"/>
                <a:cs typeface="Arial" panose="020B0604020202020204"/>
              </a:rPr>
              <a:t> F1 </a:t>
            </a:r>
            <a:r>
              <a:rPr lang="zh-CN" altLang="en-US" sz="2000" b="1">
                <a:solidFill>
                  <a:schemeClr val="bg1"/>
                </a:solidFill>
                <a:latin typeface="Arial" panose="020B0604020202020204"/>
                <a:cs typeface="Arial" panose="020B0604020202020204"/>
              </a:rPr>
              <a:t>分数</a:t>
            </a:r>
            <a:r>
              <a:rPr lang="zh-CN" altLang="en-US" sz="2000">
                <a:solidFill>
                  <a:schemeClr val="bg1"/>
                </a:solidFill>
                <a:latin typeface="Arial" panose="020B0604020202020204"/>
                <a:cs typeface="Arial" panose="020B0604020202020204"/>
              </a:rPr>
              <a:t>，与基线相比，</a:t>
            </a:r>
            <a:r>
              <a:rPr lang="zh-CN" altLang="en-US" sz="2000" b="1">
                <a:solidFill>
                  <a:schemeClr val="bg1"/>
                </a:solidFill>
                <a:latin typeface="Arial" panose="020B0604020202020204"/>
                <a:cs typeface="Arial" panose="020B0604020202020204"/>
              </a:rPr>
              <a:t>平均提高了</a:t>
            </a:r>
            <a:r>
              <a:rPr lang="en-US" altLang="zh-CN" sz="2000" b="1">
                <a:solidFill>
                  <a:schemeClr val="bg1"/>
                </a:solidFill>
                <a:latin typeface="Arial" panose="020B0604020202020204"/>
                <a:cs typeface="Arial" panose="020B0604020202020204"/>
              </a:rPr>
              <a:t> 352.6%</a:t>
            </a:r>
            <a:r>
              <a:rPr lang="zh-CN" altLang="en-US" sz="2000" b="1">
                <a:solidFill>
                  <a:schemeClr val="bg1"/>
                </a:solidFill>
                <a:latin typeface="Arial" panose="020B0604020202020204"/>
                <a:cs typeface="Arial" panose="020B0604020202020204"/>
              </a:rPr>
              <a:t>、</a:t>
            </a:r>
            <a:r>
              <a:rPr lang="en-US" altLang="zh-CN" sz="2000" b="1">
                <a:solidFill>
                  <a:schemeClr val="bg1"/>
                </a:solidFill>
                <a:latin typeface="Arial" panose="020B0604020202020204"/>
                <a:cs typeface="Arial" panose="020B0604020202020204"/>
              </a:rPr>
              <a:t>284.3% </a:t>
            </a:r>
            <a:r>
              <a:rPr lang="zh-CN" altLang="en-US" sz="2000" b="1">
                <a:solidFill>
                  <a:schemeClr val="bg1"/>
                </a:solidFill>
                <a:latin typeface="Arial" panose="020B0604020202020204"/>
                <a:cs typeface="Arial" panose="020B0604020202020204"/>
              </a:rPr>
              <a:t>和</a:t>
            </a:r>
            <a:r>
              <a:rPr lang="en-US" altLang="zh-CN" sz="2000" b="1">
                <a:solidFill>
                  <a:schemeClr val="bg1"/>
                </a:solidFill>
                <a:latin typeface="Arial" panose="020B0604020202020204"/>
                <a:cs typeface="Arial" panose="020B0604020202020204"/>
              </a:rPr>
              <a:t> 214.9%</a:t>
            </a:r>
            <a:endParaRPr lang="en-US" altLang="zh-CN" sz="2000" b="1">
              <a:solidFill>
                <a:schemeClr val="bg1"/>
              </a:solidFill>
              <a:latin typeface="Arial" panose="020B0604020202020204"/>
              <a:cs typeface="Arial" panose="020B0604020202020204"/>
            </a:endParaRPr>
          </a:p>
        </p:txBody>
      </p:sp>
      <p:pic>
        <p:nvPicPr>
          <p:cNvPr id="9" name="图片 8"/>
          <p:cNvPicPr>
            <a:picLocks noChangeAspect="1"/>
          </p:cNvPicPr>
          <p:nvPr/>
        </p:nvPicPr>
        <p:blipFill>
          <a:blip r:embed="rId2"/>
          <a:stretch>
            <a:fillRect/>
          </a:stretch>
        </p:blipFill>
        <p:spPr>
          <a:xfrm>
            <a:off x="2595245" y="1332865"/>
            <a:ext cx="6624000" cy="19012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模仿现实世界的标签噪音</a:t>
            </a:r>
            <a:endParaRPr sz="3200" b="1" spc="-10" dirty="0">
              <a:solidFill>
                <a:srgbClr val="23366E"/>
              </a:solidFill>
              <a:latin typeface="Times New Roman" panose="02020603050405020304"/>
              <a:ea typeface="+mn-ea"/>
              <a:cs typeface="Times New Roman" panose="02020603050405020304"/>
            </a:endParaRPr>
          </a:p>
        </p:txBody>
      </p:sp>
      <p:pic>
        <p:nvPicPr>
          <p:cNvPr id="4" name="object 4"/>
          <p:cNvPicPr/>
          <p:nvPr/>
        </p:nvPicPr>
        <p:blipFill>
          <a:blip r:embed="rId1" cstate="print"/>
          <a:stretch>
            <a:fillRect/>
          </a:stretch>
        </p:blipFill>
        <p:spPr>
          <a:xfrm>
            <a:off x="3261995" y="2956560"/>
            <a:ext cx="5661660" cy="2165350"/>
          </a:xfrm>
          <a:prstGeom prst="rect">
            <a:avLst/>
          </a:prstGeom>
        </p:spPr>
      </p:pic>
      <p:grpSp>
        <p:nvGrpSpPr>
          <p:cNvPr id="5" name="object 5"/>
          <p:cNvGrpSpPr/>
          <p:nvPr/>
        </p:nvGrpSpPr>
        <p:grpSpPr>
          <a:xfrm>
            <a:off x="1801495" y="5248910"/>
            <a:ext cx="8613140" cy="916305"/>
            <a:chOff x="1081277" y="4941570"/>
            <a:chExt cx="8531860" cy="883919"/>
          </a:xfrm>
        </p:grpSpPr>
        <p:sp>
          <p:nvSpPr>
            <p:cNvPr id="6" name="object 6"/>
            <p:cNvSpPr/>
            <p:nvPr/>
          </p:nvSpPr>
          <p:spPr>
            <a:xfrm>
              <a:off x="1086611" y="4946904"/>
              <a:ext cx="8521065" cy="873760"/>
            </a:xfrm>
            <a:custGeom>
              <a:avLst/>
              <a:gdLst/>
              <a:ahLst/>
              <a:cxnLst/>
              <a:rect l="l" t="t" r="r" b="b"/>
              <a:pathLst>
                <a:path w="8521065" h="873760">
                  <a:moveTo>
                    <a:pt x="8194548" y="873251"/>
                  </a:moveTo>
                  <a:lnTo>
                    <a:pt x="324612" y="873251"/>
                  </a:lnTo>
                  <a:lnTo>
                    <a:pt x="276518" y="869709"/>
                  </a:lnTo>
                  <a:lnTo>
                    <a:pt x="230657" y="859420"/>
                  </a:lnTo>
                  <a:lnTo>
                    <a:pt x="187524" y="842893"/>
                  </a:lnTo>
                  <a:lnTo>
                    <a:pt x="147612" y="820636"/>
                  </a:lnTo>
                  <a:lnTo>
                    <a:pt x="111418" y="793159"/>
                  </a:lnTo>
                  <a:lnTo>
                    <a:pt x="79434" y="760968"/>
                  </a:lnTo>
                  <a:lnTo>
                    <a:pt x="52157" y="724573"/>
                  </a:lnTo>
                  <a:lnTo>
                    <a:pt x="30080" y="684482"/>
                  </a:lnTo>
                  <a:lnTo>
                    <a:pt x="13698" y="641203"/>
                  </a:lnTo>
                  <a:lnTo>
                    <a:pt x="3507" y="595245"/>
                  </a:lnTo>
                  <a:lnTo>
                    <a:pt x="0" y="547116"/>
                  </a:lnTo>
                  <a:lnTo>
                    <a:pt x="0" y="324612"/>
                  </a:lnTo>
                  <a:lnTo>
                    <a:pt x="3507" y="276518"/>
                  </a:lnTo>
                  <a:lnTo>
                    <a:pt x="13698" y="230657"/>
                  </a:lnTo>
                  <a:lnTo>
                    <a:pt x="30080" y="187524"/>
                  </a:lnTo>
                  <a:lnTo>
                    <a:pt x="52157" y="147612"/>
                  </a:lnTo>
                  <a:lnTo>
                    <a:pt x="79434" y="111418"/>
                  </a:lnTo>
                  <a:lnTo>
                    <a:pt x="111418" y="79434"/>
                  </a:lnTo>
                  <a:lnTo>
                    <a:pt x="147612" y="52157"/>
                  </a:lnTo>
                  <a:lnTo>
                    <a:pt x="187524" y="30080"/>
                  </a:lnTo>
                  <a:lnTo>
                    <a:pt x="230657" y="13698"/>
                  </a:lnTo>
                  <a:lnTo>
                    <a:pt x="276518" y="3507"/>
                  </a:lnTo>
                  <a:lnTo>
                    <a:pt x="324612" y="0"/>
                  </a:lnTo>
                  <a:lnTo>
                    <a:pt x="8194548" y="0"/>
                  </a:lnTo>
                  <a:lnTo>
                    <a:pt x="8242677" y="3507"/>
                  </a:lnTo>
                  <a:lnTo>
                    <a:pt x="8288635" y="13698"/>
                  </a:lnTo>
                  <a:lnTo>
                    <a:pt x="8331914" y="30080"/>
                  </a:lnTo>
                  <a:lnTo>
                    <a:pt x="8372005" y="52157"/>
                  </a:lnTo>
                  <a:lnTo>
                    <a:pt x="8408400" y="79434"/>
                  </a:lnTo>
                  <a:lnTo>
                    <a:pt x="8440591" y="111418"/>
                  </a:lnTo>
                  <a:lnTo>
                    <a:pt x="8468068" y="147612"/>
                  </a:lnTo>
                  <a:lnTo>
                    <a:pt x="8490325" y="187524"/>
                  </a:lnTo>
                  <a:lnTo>
                    <a:pt x="8506852" y="230657"/>
                  </a:lnTo>
                  <a:lnTo>
                    <a:pt x="8517141" y="276518"/>
                  </a:lnTo>
                  <a:lnTo>
                    <a:pt x="8520683" y="324612"/>
                  </a:lnTo>
                  <a:lnTo>
                    <a:pt x="8520683" y="547116"/>
                  </a:lnTo>
                  <a:lnTo>
                    <a:pt x="8517141" y="595245"/>
                  </a:lnTo>
                  <a:lnTo>
                    <a:pt x="8506852" y="641203"/>
                  </a:lnTo>
                  <a:lnTo>
                    <a:pt x="8490325" y="684482"/>
                  </a:lnTo>
                  <a:lnTo>
                    <a:pt x="8468068" y="724573"/>
                  </a:lnTo>
                  <a:lnTo>
                    <a:pt x="8440591" y="760968"/>
                  </a:lnTo>
                  <a:lnTo>
                    <a:pt x="8408400" y="793159"/>
                  </a:lnTo>
                  <a:lnTo>
                    <a:pt x="8372005" y="820636"/>
                  </a:lnTo>
                  <a:lnTo>
                    <a:pt x="8331914" y="842893"/>
                  </a:lnTo>
                  <a:lnTo>
                    <a:pt x="8288635" y="859420"/>
                  </a:lnTo>
                  <a:lnTo>
                    <a:pt x="8242677" y="869709"/>
                  </a:lnTo>
                  <a:lnTo>
                    <a:pt x="8194548" y="873251"/>
                  </a:lnTo>
                  <a:close/>
                </a:path>
              </a:pathLst>
            </a:custGeom>
            <a:solidFill>
              <a:srgbClr val="501D83"/>
            </a:solidFill>
          </p:spPr>
          <p:txBody>
            <a:bodyPr wrap="square" lIns="0" tIns="0" rIns="0" bIns="0" rtlCol="0"/>
            <a:lstStyle/>
            <a:p>
              <a:endParaRPr sz="1630"/>
            </a:p>
          </p:txBody>
        </p:sp>
        <p:sp>
          <p:nvSpPr>
            <p:cNvPr id="7" name="object 7"/>
            <p:cNvSpPr/>
            <p:nvPr/>
          </p:nvSpPr>
          <p:spPr>
            <a:xfrm>
              <a:off x="1086611" y="4946904"/>
              <a:ext cx="8521065" cy="873760"/>
            </a:xfrm>
            <a:custGeom>
              <a:avLst/>
              <a:gdLst/>
              <a:ahLst/>
              <a:cxnLst/>
              <a:rect l="l" t="t" r="r" b="b"/>
              <a:pathLst>
                <a:path w="8521065" h="873760">
                  <a:moveTo>
                    <a:pt x="0" y="324612"/>
                  </a:moveTo>
                  <a:lnTo>
                    <a:pt x="3507" y="276518"/>
                  </a:lnTo>
                  <a:lnTo>
                    <a:pt x="13698" y="230657"/>
                  </a:lnTo>
                  <a:lnTo>
                    <a:pt x="30080" y="187524"/>
                  </a:lnTo>
                  <a:lnTo>
                    <a:pt x="52157" y="147612"/>
                  </a:lnTo>
                  <a:lnTo>
                    <a:pt x="79434" y="111418"/>
                  </a:lnTo>
                  <a:lnTo>
                    <a:pt x="111418" y="79434"/>
                  </a:lnTo>
                  <a:lnTo>
                    <a:pt x="147612" y="52157"/>
                  </a:lnTo>
                  <a:lnTo>
                    <a:pt x="187524" y="30080"/>
                  </a:lnTo>
                  <a:lnTo>
                    <a:pt x="230657" y="13698"/>
                  </a:lnTo>
                  <a:lnTo>
                    <a:pt x="276518" y="3507"/>
                  </a:lnTo>
                  <a:lnTo>
                    <a:pt x="324612" y="0"/>
                  </a:lnTo>
                  <a:lnTo>
                    <a:pt x="8194548" y="0"/>
                  </a:lnTo>
                  <a:lnTo>
                    <a:pt x="8242677" y="3507"/>
                  </a:lnTo>
                  <a:lnTo>
                    <a:pt x="8288635" y="13698"/>
                  </a:lnTo>
                  <a:lnTo>
                    <a:pt x="8331914" y="30080"/>
                  </a:lnTo>
                  <a:lnTo>
                    <a:pt x="8372005" y="52157"/>
                  </a:lnTo>
                  <a:lnTo>
                    <a:pt x="8408400" y="79434"/>
                  </a:lnTo>
                  <a:lnTo>
                    <a:pt x="8440591" y="111418"/>
                  </a:lnTo>
                  <a:lnTo>
                    <a:pt x="8468068" y="147612"/>
                  </a:lnTo>
                  <a:lnTo>
                    <a:pt x="8490325" y="187524"/>
                  </a:lnTo>
                  <a:lnTo>
                    <a:pt x="8506852" y="230657"/>
                  </a:lnTo>
                  <a:lnTo>
                    <a:pt x="8517141" y="276518"/>
                  </a:lnTo>
                  <a:lnTo>
                    <a:pt x="8520683" y="324612"/>
                  </a:lnTo>
                  <a:lnTo>
                    <a:pt x="8520683" y="547116"/>
                  </a:lnTo>
                  <a:lnTo>
                    <a:pt x="8517141" y="595245"/>
                  </a:lnTo>
                  <a:lnTo>
                    <a:pt x="8506852" y="641203"/>
                  </a:lnTo>
                  <a:lnTo>
                    <a:pt x="8490325" y="684482"/>
                  </a:lnTo>
                  <a:lnTo>
                    <a:pt x="8468068" y="724573"/>
                  </a:lnTo>
                  <a:lnTo>
                    <a:pt x="8440591" y="760968"/>
                  </a:lnTo>
                  <a:lnTo>
                    <a:pt x="8408400" y="793159"/>
                  </a:lnTo>
                  <a:lnTo>
                    <a:pt x="8372005" y="820636"/>
                  </a:lnTo>
                  <a:lnTo>
                    <a:pt x="8331914" y="842893"/>
                  </a:lnTo>
                  <a:lnTo>
                    <a:pt x="8288635" y="859420"/>
                  </a:lnTo>
                  <a:lnTo>
                    <a:pt x="8242677" y="869709"/>
                  </a:lnTo>
                  <a:lnTo>
                    <a:pt x="8194548" y="873251"/>
                  </a:lnTo>
                  <a:lnTo>
                    <a:pt x="324612" y="873251"/>
                  </a:lnTo>
                  <a:lnTo>
                    <a:pt x="276518" y="869709"/>
                  </a:lnTo>
                  <a:lnTo>
                    <a:pt x="230657" y="859420"/>
                  </a:lnTo>
                  <a:lnTo>
                    <a:pt x="187524" y="842893"/>
                  </a:lnTo>
                  <a:lnTo>
                    <a:pt x="147612" y="820636"/>
                  </a:lnTo>
                  <a:lnTo>
                    <a:pt x="111418" y="793159"/>
                  </a:lnTo>
                  <a:lnTo>
                    <a:pt x="79434" y="760968"/>
                  </a:lnTo>
                  <a:lnTo>
                    <a:pt x="52157" y="724573"/>
                  </a:lnTo>
                  <a:lnTo>
                    <a:pt x="30080" y="684482"/>
                  </a:lnTo>
                  <a:lnTo>
                    <a:pt x="13698" y="641203"/>
                  </a:lnTo>
                  <a:lnTo>
                    <a:pt x="3507" y="595245"/>
                  </a:lnTo>
                  <a:lnTo>
                    <a:pt x="0" y="547116"/>
                  </a:lnTo>
                  <a:lnTo>
                    <a:pt x="0" y="324612"/>
                  </a:lnTo>
                  <a:close/>
                </a:path>
              </a:pathLst>
            </a:custGeom>
            <a:ln w="10668">
              <a:solidFill>
                <a:srgbClr val="38135E"/>
              </a:solidFill>
            </a:ln>
          </p:spPr>
          <p:txBody>
            <a:bodyPr wrap="square" lIns="0" tIns="0" rIns="0" bIns="0" rtlCol="0"/>
            <a:lstStyle/>
            <a:p>
              <a:endParaRPr sz="1630"/>
            </a:p>
          </p:txBody>
        </p:sp>
      </p:grpSp>
      <p:sp>
        <p:nvSpPr>
          <p:cNvPr id="8" name="object 8"/>
          <p:cNvSpPr txBox="1"/>
          <p:nvPr/>
        </p:nvSpPr>
        <p:spPr>
          <a:xfrm>
            <a:off x="2246630" y="5332095"/>
            <a:ext cx="7722870" cy="749935"/>
          </a:xfrm>
          <a:prstGeom prst="rect">
            <a:avLst/>
          </a:prstGeom>
        </p:spPr>
        <p:txBody>
          <a:bodyPr vert="horz" wrap="square" lIns="0" tIns="11516" rIns="0" bIns="0" rtlCol="0">
            <a:spAutoFit/>
          </a:bodyPr>
          <a:lstStyle/>
          <a:p>
            <a:pPr marL="591185" marR="5080" indent="-579120">
              <a:lnSpc>
                <a:spcPct val="120000"/>
              </a:lnSpc>
              <a:spcBef>
                <a:spcPts val="100"/>
              </a:spcBef>
            </a:pPr>
            <a:r>
              <a:rPr lang="zh-CN" altLang="en-US" sz="2000">
                <a:solidFill>
                  <a:schemeClr val="bg1"/>
                </a:solidFill>
                <a:latin typeface="Arial" panose="020B0604020202020204"/>
                <a:cs typeface="Arial" panose="020B0604020202020204"/>
              </a:rPr>
              <a:t>检测系统</a:t>
            </a:r>
            <a:r>
              <a:rPr lang="zh-CN" altLang="en-US" sz="2000" b="1">
                <a:solidFill>
                  <a:schemeClr val="bg1"/>
                </a:solidFill>
                <a:latin typeface="Arial" panose="020B0604020202020204"/>
                <a:cs typeface="Arial" panose="020B0604020202020204"/>
              </a:rPr>
              <a:t>平均</a:t>
            </a:r>
            <a:r>
              <a:rPr lang="en-US" altLang="zh-CN" sz="2000" b="1">
                <a:solidFill>
                  <a:schemeClr val="bg1"/>
                </a:solidFill>
                <a:latin typeface="Arial" panose="020B0604020202020204"/>
                <a:cs typeface="Arial" panose="020B0604020202020204"/>
              </a:rPr>
              <a:t> F1 </a:t>
            </a:r>
            <a:r>
              <a:rPr lang="zh-CN" altLang="en-US" sz="2000" b="1">
                <a:solidFill>
                  <a:schemeClr val="bg1"/>
                </a:solidFill>
                <a:latin typeface="Arial" panose="020B0604020202020204"/>
                <a:cs typeface="Arial" panose="020B0604020202020204"/>
              </a:rPr>
              <a:t>值分别为</a:t>
            </a:r>
            <a:r>
              <a:rPr lang="en-US" altLang="zh-CN" sz="2000" b="1">
                <a:solidFill>
                  <a:schemeClr val="bg1"/>
                </a:solidFill>
                <a:latin typeface="Arial" panose="020B0604020202020204"/>
                <a:cs typeface="Arial" panose="020B0604020202020204"/>
              </a:rPr>
              <a:t> 0.797</a:t>
            </a:r>
            <a:r>
              <a:rPr lang="zh-CN" altLang="en-US" sz="2000" b="1">
                <a:solidFill>
                  <a:schemeClr val="bg1"/>
                </a:solidFill>
                <a:latin typeface="Arial" panose="020B0604020202020204"/>
                <a:cs typeface="Arial" panose="020B0604020202020204"/>
              </a:rPr>
              <a:t>、</a:t>
            </a:r>
            <a:r>
              <a:rPr lang="en-US" altLang="zh-CN" sz="2000" b="1">
                <a:solidFill>
                  <a:schemeClr val="bg1"/>
                </a:solidFill>
                <a:latin typeface="Arial" panose="020B0604020202020204"/>
                <a:cs typeface="Arial" panose="020B0604020202020204"/>
              </a:rPr>
              <a:t>0.800 </a:t>
            </a:r>
            <a:r>
              <a:rPr lang="zh-CN" altLang="en-US" sz="2000" b="1">
                <a:solidFill>
                  <a:schemeClr val="bg1"/>
                </a:solidFill>
                <a:latin typeface="Arial" panose="020B0604020202020204"/>
                <a:cs typeface="Arial" panose="020B0604020202020204"/>
              </a:rPr>
              <a:t>和</a:t>
            </a:r>
            <a:r>
              <a:rPr lang="en-US" altLang="zh-CN" sz="2000" b="1">
                <a:solidFill>
                  <a:schemeClr val="bg1"/>
                </a:solidFill>
                <a:latin typeface="Arial" panose="020B0604020202020204"/>
                <a:cs typeface="Arial" panose="020B0604020202020204"/>
              </a:rPr>
              <a:t> 0.867</a:t>
            </a:r>
            <a:r>
              <a:rPr lang="zh-CN" altLang="en-US" sz="2000">
                <a:solidFill>
                  <a:schemeClr val="bg1"/>
                </a:solidFill>
                <a:latin typeface="Arial" panose="020B0604020202020204"/>
                <a:cs typeface="Arial" panose="020B0604020202020204"/>
              </a:rPr>
              <a:t>，与所有基线相比，</a:t>
            </a:r>
            <a:r>
              <a:rPr lang="zh-CN" altLang="en-US" sz="2000" b="1">
                <a:solidFill>
                  <a:schemeClr val="bg1"/>
                </a:solidFill>
                <a:latin typeface="Arial" panose="020B0604020202020204"/>
                <a:cs typeface="Arial" panose="020B0604020202020204"/>
              </a:rPr>
              <a:t>平均提高了</a:t>
            </a:r>
            <a:r>
              <a:rPr lang="en-US" altLang="zh-CN" sz="2000" b="1">
                <a:solidFill>
                  <a:schemeClr val="bg1"/>
                </a:solidFill>
                <a:latin typeface="Arial" panose="020B0604020202020204"/>
                <a:cs typeface="Arial" panose="020B0604020202020204"/>
              </a:rPr>
              <a:t> 166.5%</a:t>
            </a:r>
            <a:r>
              <a:rPr lang="zh-CN" altLang="en-US" sz="2000" b="1">
                <a:solidFill>
                  <a:schemeClr val="bg1"/>
                </a:solidFill>
                <a:latin typeface="Arial" panose="020B0604020202020204"/>
                <a:cs typeface="Arial" panose="020B0604020202020204"/>
              </a:rPr>
              <a:t>、</a:t>
            </a:r>
            <a:r>
              <a:rPr lang="en-US" altLang="zh-CN" sz="2000" b="1">
                <a:solidFill>
                  <a:schemeClr val="bg1"/>
                </a:solidFill>
                <a:latin typeface="Arial" panose="020B0604020202020204"/>
                <a:cs typeface="Arial" panose="020B0604020202020204"/>
              </a:rPr>
              <a:t>154.6% </a:t>
            </a:r>
            <a:r>
              <a:rPr lang="zh-CN" altLang="en-US" sz="2000" b="1">
                <a:solidFill>
                  <a:schemeClr val="bg1"/>
                </a:solidFill>
                <a:latin typeface="Arial" panose="020B0604020202020204"/>
                <a:cs typeface="Arial" panose="020B0604020202020204"/>
              </a:rPr>
              <a:t>和</a:t>
            </a:r>
            <a:r>
              <a:rPr lang="en-US" altLang="zh-CN" sz="2000" b="1">
                <a:solidFill>
                  <a:schemeClr val="bg1"/>
                </a:solidFill>
                <a:latin typeface="Arial" panose="020B0604020202020204"/>
                <a:cs typeface="Arial" panose="020B0604020202020204"/>
              </a:rPr>
              <a:t> 165.2%</a:t>
            </a:r>
            <a:endParaRPr lang="en-US" altLang="zh-CN" sz="2000" b="1">
              <a:solidFill>
                <a:schemeClr val="bg1"/>
              </a:solidFill>
              <a:latin typeface="Arial" panose="020B0604020202020204"/>
              <a:cs typeface="Arial" panose="020B0604020202020204"/>
            </a:endParaRPr>
          </a:p>
        </p:txBody>
      </p:sp>
      <p:sp>
        <p:nvSpPr>
          <p:cNvPr id="9" name="文本框 8"/>
          <p:cNvSpPr txBox="1"/>
          <p:nvPr/>
        </p:nvSpPr>
        <p:spPr>
          <a:xfrm>
            <a:off x="1073785" y="1457960"/>
            <a:ext cx="10045700" cy="1445260"/>
          </a:xfrm>
          <a:prstGeom prst="rect">
            <a:avLst/>
          </a:prstGeom>
          <a:noFill/>
        </p:spPr>
        <p:txBody>
          <a:bodyPr wrap="square" rtlCol="0">
            <a:spAutoFit/>
          </a:bodyPr>
          <a:p>
            <a:pPr marL="285750" indent="-285750">
              <a:lnSpc>
                <a:spcPct val="110000"/>
              </a:lnSpc>
              <a:buFont typeface="Arial" panose="020B0604020202020204" pitchFamily="34" charset="0"/>
              <a:buChar char="•"/>
            </a:pPr>
            <a:r>
              <a:rPr lang="zh-CN" altLang="en-US" sz="2000"/>
              <a:t>良性数据被错误标记：</a:t>
            </a:r>
            <a:r>
              <a:rPr lang="zh-CN" altLang="en-US" sz="2000" b="1"/>
              <a:t>未见过</a:t>
            </a:r>
            <a:r>
              <a:rPr lang="en-US" altLang="zh-CN" sz="2000" b="1"/>
              <a:t>/</a:t>
            </a:r>
            <a:r>
              <a:rPr lang="zh-CN" altLang="en-US" sz="2000" b="1"/>
              <a:t>不常见的域名</a:t>
            </a:r>
            <a:endParaRPr lang="en-US" altLang="zh-CN" sz="2000" b="1"/>
          </a:p>
          <a:p>
            <a:pPr marL="742950" lvl="1" indent="-285750">
              <a:lnSpc>
                <a:spcPct val="110000"/>
              </a:lnSpc>
              <a:buFont typeface="Arial" panose="020B0604020202020204" pitchFamily="34" charset="0"/>
              <a:buChar char="•"/>
            </a:pPr>
            <a:r>
              <a:rPr lang="zh-CN" altLang="en-US" sz="2000"/>
              <a:t>如果域名不在</a:t>
            </a:r>
            <a:r>
              <a:rPr lang="en-US" altLang="zh-CN" sz="2000"/>
              <a:t> Alexa </a:t>
            </a:r>
            <a:r>
              <a:rPr lang="zh-CN" altLang="en-US" sz="2000"/>
              <a:t>排名前</a:t>
            </a:r>
            <a:r>
              <a:rPr lang="en-US" altLang="zh-CN" sz="2000"/>
              <a:t> 100 </a:t>
            </a:r>
            <a:r>
              <a:rPr lang="zh-CN" altLang="en-US" sz="2000"/>
              <a:t>万的列表中，则该良性流量会被错误标记。</a:t>
            </a:r>
            <a:endParaRPr lang="en-US" altLang="zh-CN" sz="2000"/>
          </a:p>
          <a:p>
            <a:pPr marL="285750" indent="-285750">
              <a:lnSpc>
                <a:spcPct val="110000"/>
              </a:lnSpc>
              <a:buFont typeface="Arial" panose="020B0604020202020204" pitchFamily="34" charset="0"/>
              <a:buChar char="•"/>
            </a:pPr>
            <a:r>
              <a:rPr lang="zh-CN" altLang="en-US" sz="2000"/>
              <a:t>恶意数据被错误标记：</a:t>
            </a:r>
            <a:r>
              <a:rPr lang="zh-CN" altLang="en-US" sz="2000" b="1"/>
              <a:t>缺少特定类型的威胁情报</a:t>
            </a:r>
            <a:endParaRPr lang="en-US" altLang="zh-CN" sz="2000"/>
          </a:p>
          <a:p>
            <a:pPr marL="742950" lvl="1" indent="-285750">
              <a:lnSpc>
                <a:spcPct val="110000"/>
              </a:lnSpc>
              <a:buFont typeface="Arial" panose="020B0604020202020204" pitchFamily="34" charset="0"/>
              <a:buChar char="•"/>
            </a:pPr>
            <a:r>
              <a:rPr lang="zh-CN" altLang="en-US" sz="2000"/>
              <a:t>在数据集中选择一种恶意类型，则该类型的所有样本都会被错误标记。</a:t>
            </a:r>
            <a:endParaRPr lang="zh-C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评估标签校正和数据增强模块</a:t>
            </a:r>
            <a:endParaRPr sz="3200" b="1" spc="-10" dirty="0">
              <a:solidFill>
                <a:srgbClr val="23366E"/>
              </a:solidFill>
              <a:latin typeface="Times New Roman" panose="02020603050405020304"/>
              <a:ea typeface="+mn-ea"/>
              <a:cs typeface="Times New Roman" panose="02020603050405020304"/>
            </a:endParaRPr>
          </a:p>
        </p:txBody>
      </p:sp>
      <p:pic>
        <p:nvPicPr>
          <p:cNvPr id="3" name="object 3"/>
          <p:cNvPicPr/>
          <p:nvPr/>
        </p:nvPicPr>
        <p:blipFill>
          <a:blip r:embed="rId1" cstate="print"/>
          <a:stretch>
            <a:fillRect/>
          </a:stretch>
        </p:blipFill>
        <p:spPr>
          <a:xfrm>
            <a:off x="1572895" y="2001520"/>
            <a:ext cx="4232275" cy="2470150"/>
          </a:xfrm>
          <a:prstGeom prst="rect">
            <a:avLst/>
          </a:prstGeom>
        </p:spPr>
      </p:pic>
      <p:pic>
        <p:nvPicPr>
          <p:cNvPr id="4" name="object 4"/>
          <p:cNvPicPr/>
          <p:nvPr/>
        </p:nvPicPr>
        <p:blipFill>
          <a:blip r:embed="rId2" cstate="print"/>
          <a:stretch>
            <a:fillRect/>
          </a:stretch>
        </p:blipFill>
        <p:spPr>
          <a:xfrm>
            <a:off x="6172200" y="1971675"/>
            <a:ext cx="5046980" cy="2402205"/>
          </a:xfrm>
          <a:prstGeom prst="rect">
            <a:avLst/>
          </a:prstGeom>
        </p:spPr>
      </p:pic>
      <p:grpSp>
        <p:nvGrpSpPr>
          <p:cNvPr id="5" name="object 5"/>
          <p:cNvGrpSpPr/>
          <p:nvPr/>
        </p:nvGrpSpPr>
        <p:grpSpPr>
          <a:xfrm>
            <a:off x="2924620" y="4800360"/>
            <a:ext cx="6729016" cy="700771"/>
            <a:chOff x="1849373" y="4793742"/>
            <a:chExt cx="7420609" cy="772795"/>
          </a:xfrm>
        </p:grpSpPr>
        <p:sp>
          <p:nvSpPr>
            <p:cNvPr id="6" name="object 6"/>
            <p:cNvSpPr/>
            <p:nvPr/>
          </p:nvSpPr>
          <p:spPr>
            <a:xfrm>
              <a:off x="1854707" y="4799076"/>
              <a:ext cx="7409815" cy="762000"/>
            </a:xfrm>
            <a:custGeom>
              <a:avLst/>
              <a:gdLst/>
              <a:ahLst/>
              <a:cxnLst/>
              <a:rect l="l" t="t" r="r" b="b"/>
              <a:pathLst>
                <a:path w="7409815" h="762000">
                  <a:moveTo>
                    <a:pt x="7126223" y="762000"/>
                  </a:moveTo>
                  <a:lnTo>
                    <a:pt x="283464" y="762000"/>
                  </a:lnTo>
                  <a:lnTo>
                    <a:pt x="237382" y="758301"/>
                  </a:lnTo>
                  <a:lnTo>
                    <a:pt x="193706" y="747589"/>
                  </a:lnTo>
                  <a:lnTo>
                    <a:pt x="153011" y="730439"/>
                  </a:lnTo>
                  <a:lnTo>
                    <a:pt x="115872" y="707428"/>
                  </a:lnTo>
                  <a:lnTo>
                    <a:pt x="82867" y="679132"/>
                  </a:lnTo>
                  <a:lnTo>
                    <a:pt x="54571" y="646127"/>
                  </a:lnTo>
                  <a:lnTo>
                    <a:pt x="31560" y="608988"/>
                  </a:lnTo>
                  <a:lnTo>
                    <a:pt x="14410" y="568293"/>
                  </a:lnTo>
                  <a:lnTo>
                    <a:pt x="3698" y="524617"/>
                  </a:lnTo>
                  <a:lnTo>
                    <a:pt x="0" y="478536"/>
                  </a:lnTo>
                  <a:lnTo>
                    <a:pt x="0" y="284988"/>
                  </a:lnTo>
                  <a:lnTo>
                    <a:pt x="3698" y="238864"/>
                  </a:lnTo>
                  <a:lnTo>
                    <a:pt x="14410" y="195071"/>
                  </a:lnTo>
                  <a:lnTo>
                    <a:pt x="31560" y="154205"/>
                  </a:lnTo>
                  <a:lnTo>
                    <a:pt x="54571" y="116860"/>
                  </a:lnTo>
                  <a:lnTo>
                    <a:pt x="82867" y="83629"/>
                  </a:lnTo>
                  <a:lnTo>
                    <a:pt x="115872" y="55107"/>
                  </a:lnTo>
                  <a:lnTo>
                    <a:pt x="153011" y="31889"/>
                  </a:lnTo>
                  <a:lnTo>
                    <a:pt x="193706" y="14569"/>
                  </a:lnTo>
                  <a:lnTo>
                    <a:pt x="237382" y="3741"/>
                  </a:lnTo>
                  <a:lnTo>
                    <a:pt x="283464" y="0"/>
                  </a:lnTo>
                  <a:lnTo>
                    <a:pt x="7126223" y="0"/>
                  </a:lnTo>
                  <a:lnTo>
                    <a:pt x="7172305" y="3741"/>
                  </a:lnTo>
                  <a:lnTo>
                    <a:pt x="7215981" y="14569"/>
                  </a:lnTo>
                  <a:lnTo>
                    <a:pt x="7256676" y="31889"/>
                  </a:lnTo>
                  <a:lnTo>
                    <a:pt x="7293815" y="55107"/>
                  </a:lnTo>
                  <a:lnTo>
                    <a:pt x="7326820" y="83629"/>
                  </a:lnTo>
                  <a:lnTo>
                    <a:pt x="7355116" y="116860"/>
                  </a:lnTo>
                  <a:lnTo>
                    <a:pt x="7378127" y="154205"/>
                  </a:lnTo>
                  <a:lnTo>
                    <a:pt x="7395276" y="195071"/>
                  </a:lnTo>
                  <a:lnTo>
                    <a:pt x="7405989" y="238864"/>
                  </a:lnTo>
                  <a:lnTo>
                    <a:pt x="7409687" y="284988"/>
                  </a:lnTo>
                  <a:lnTo>
                    <a:pt x="7409687" y="478536"/>
                  </a:lnTo>
                  <a:lnTo>
                    <a:pt x="7405989" y="524617"/>
                  </a:lnTo>
                  <a:lnTo>
                    <a:pt x="7395276" y="568293"/>
                  </a:lnTo>
                  <a:lnTo>
                    <a:pt x="7378127" y="608988"/>
                  </a:lnTo>
                  <a:lnTo>
                    <a:pt x="7355116" y="646127"/>
                  </a:lnTo>
                  <a:lnTo>
                    <a:pt x="7326820" y="679132"/>
                  </a:lnTo>
                  <a:lnTo>
                    <a:pt x="7293815" y="707428"/>
                  </a:lnTo>
                  <a:lnTo>
                    <a:pt x="7256676" y="730439"/>
                  </a:lnTo>
                  <a:lnTo>
                    <a:pt x="7215981" y="747589"/>
                  </a:lnTo>
                  <a:lnTo>
                    <a:pt x="7172305" y="758301"/>
                  </a:lnTo>
                  <a:lnTo>
                    <a:pt x="7126223" y="762000"/>
                  </a:lnTo>
                  <a:close/>
                </a:path>
              </a:pathLst>
            </a:custGeom>
            <a:solidFill>
              <a:srgbClr val="501D83"/>
            </a:solidFill>
          </p:spPr>
          <p:txBody>
            <a:bodyPr wrap="square" lIns="0" tIns="0" rIns="0" bIns="0" rtlCol="0"/>
            <a:lstStyle/>
            <a:p>
              <a:endParaRPr sz="1630"/>
            </a:p>
          </p:txBody>
        </p:sp>
        <p:sp>
          <p:nvSpPr>
            <p:cNvPr id="7" name="object 7"/>
            <p:cNvSpPr/>
            <p:nvPr/>
          </p:nvSpPr>
          <p:spPr>
            <a:xfrm>
              <a:off x="1854707" y="4799076"/>
              <a:ext cx="7409815" cy="762000"/>
            </a:xfrm>
            <a:custGeom>
              <a:avLst/>
              <a:gdLst/>
              <a:ahLst/>
              <a:cxnLst/>
              <a:rect l="l" t="t" r="r" b="b"/>
              <a:pathLst>
                <a:path w="7409815" h="762000">
                  <a:moveTo>
                    <a:pt x="0" y="284988"/>
                  </a:moveTo>
                  <a:lnTo>
                    <a:pt x="3698" y="238864"/>
                  </a:lnTo>
                  <a:lnTo>
                    <a:pt x="14410" y="195071"/>
                  </a:lnTo>
                  <a:lnTo>
                    <a:pt x="31560" y="154205"/>
                  </a:lnTo>
                  <a:lnTo>
                    <a:pt x="54571" y="116860"/>
                  </a:lnTo>
                  <a:lnTo>
                    <a:pt x="82867" y="83629"/>
                  </a:lnTo>
                  <a:lnTo>
                    <a:pt x="115872" y="55107"/>
                  </a:lnTo>
                  <a:lnTo>
                    <a:pt x="153011" y="31889"/>
                  </a:lnTo>
                  <a:lnTo>
                    <a:pt x="193706" y="14569"/>
                  </a:lnTo>
                  <a:lnTo>
                    <a:pt x="237382" y="3741"/>
                  </a:lnTo>
                  <a:lnTo>
                    <a:pt x="283464" y="0"/>
                  </a:lnTo>
                  <a:lnTo>
                    <a:pt x="7126223" y="0"/>
                  </a:lnTo>
                  <a:lnTo>
                    <a:pt x="7172305" y="3741"/>
                  </a:lnTo>
                  <a:lnTo>
                    <a:pt x="7215981" y="14569"/>
                  </a:lnTo>
                  <a:lnTo>
                    <a:pt x="7256676" y="31889"/>
                  </a:lnTo>
                  <a:lnTo>
                    <a:pt x="7293815" y="55107"/>
                  </a:lnTo>
                  <a:lnTo>
                    <a:pt x="7326820" y="83629"/>
                  </a:lnTo>
                  <a:lnTo>
                    <a:pt x="7355116" y="116860"/>
                  </a:lnTo>
                  <a:lnTo>
                    <a:pt x="7378127" y="154205"/>
                  </a:lnTo>
                  <a:lnTo>
                    <a:pt x="7395276" y="195071"/>
                  </a:lnTo>
                  <a:lnTo>
                    <a:pt x="7405989" y="238864"/>
                  </a:lnTo>
                  <a:lnTo>
                    <a:pt x="7409687" y="284988"/>
                  </a:lnTo>
                  <a:lnTo>
                    <a:pt x="7409687" y="478536"/>
                  </a:lnTo>
                  <a:lnTo>
                    <a:pt x="7405989" y="524617"/>
                  </a:lnTo>
                  <a:lnTo>
                    <a:pt x="7395276" y="568293"/>
                  </a:lnTo>
                  <a:lnTo>
                    <a:pt x="7378127" y="608988"/>
                  </a:lnTo>
                  <a:lnTo>
                    <a:pt x="7355116" y="646127"/>
                  </a:lnTo>
                  <a:lnTo>
                    <a:pt x="7326820" y="679132"/>
                  </a:lnTo>
                  <a:lnTo>
                    <a:pt x="7293815" y="707428"/>
                  </a:lnTo>
                  <a:lnTo>
                    <a:pt x="7256676" y="730439"/>
                  </a:lnTo>
                  <a:lnTo>
                    <a:pt x="7215981" y="747589"/>
                  </a:lnTo>
                  <a:lnTo>
                    <a:pt x="7172305" y="758301"/>
                  </a:lnTo>
                  <a:lnTo>
                    <a:pt x="7126223" y="762000"/>
                  </a:lnTo>
                  <a:lnTo>
                    <a:pt x="283464" y="762000"/>
                  </a:lnTo>
                  <a:lnTo>
                    <a:pt x="237382" y="758301"/>
                  </a:lnTo>
                  <a:lnTo>
                    <a:pt x="193706" y="747589"/>
                  </a:lnTo>
                  <a:lnTo>
                    <a:pt x="153011" y="730439"/>
                  </a:lnTo>
                  <a:lnTo>
                    <a:pt x="115872" y="707428"/>
                  </a:lnTo>
                  <a:lnTo>
                    <a:pt x="82867" y="679132"/>
                  </a:lnTo>
                  <a:lnTo>
                    <a:pt x="54571" y="646127"/>
                  </a:lnTo>
                  <a:lnTo>
                    <a:pt x="31560" y="608988"/>
                  </a:lnTo>
                  <a:lnTo>
                    <a:pt x="14410" y="568293"/>
                  </a:lnTo>
                  <a:lnTo>
                    <a:pt x="3698" y="524617"/>
                  </a:lnTo>
                  <a:lnTo>
                    <a:pt x="0" y="478536"/>
                  </a:lnTo>
                  <a:lnTo>
                    <a:pt x="0" y="284988"/>
                  </a:lnTo>
                  <a:close/>
                </a:path>
              </a:pathLst>
            </a:custGeom>
            <a:ln w="10668">
              <a:solidFill>
                <a:srgbClr val="38135E"/>
              </a:solidFill>
            </a:ln>
          </p:spPr>
          <p:txBody>
            <a:bodyPr wrap="square" lIns="0" tIns="0" rIns="0" bIns="0" rtlCol="0"/>
            <a:lstStyle/>
            <a:p>
              <a:endParaRPr sz="1630"/>
            </a:p>
          </p:txBody>
        </p:sp>
      </p:grpSp>
      <p:sp>
        <p:nvSpPr>
          <p:cNvPr id="8" name="object 8"/>
          <p:cNvSpPr txBox="1"/>
          <p:nvPr/>
        </p:nvSpPr>
        <p:spPr>
          <a:xfrm>
            <a:off x="3271683" y="4988479"/>
            <a:ext cx="6032275" cy="318770"/>
          </a:xfrm>
          <a:prstGeom prst="rect">
            <a:avLst/>
          </a:prstGeom>
        </p:spPr>
        <p:txBody>
          <a:bodyPr vert="horz" wrap="square" lIns="0" tIns="11516" rIns="0" bIns="0" rtlCol="0">
            <a:spAutoFit/>
          </a:bodyPr>
          <a:lstStyle/>
          <a:p>
            <a:pPr marL="12700" algn="ctr">
              <a:lnSpc>
                <a:spcPct val="100000"/>
              </a:lnSpc>
              <a:spcBef>
                <a:spcPts val="100"/>
              </a:spcBef>
            </a:pPr>
            <a:r>
              <a:rPr lang="zh-CN" altLang="en-US" sz="2000" b="1">
                <a:solidFill>
                  <a:schemeClr val="bg1"/>
                </a:solidFill>
                <a:latin typeface="Arial" panose="020B0604020202020204"/>
                <a:cs typeface="Arial" panose="020B0604020202020204"/>
              </a:rPr>
              <a:t>上述两个模块都比基线模型更有效</a:t>
            </a:r>
            <a:endParaRPr lang="zh-CN" altLang="en-US" sz="1905">
              <a:latin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7351" y="687119"/>
            <a:ext cx="4911733"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参数敏感度分析</a:t>
            </a:r>
            <a:endParaRPr sz="3200" b="1" spc="-10" dirty="0">
              <a:solidFill>
                <a:srgbClr val="23366E"/>
              </a:solidFill>
              <a:latin typeface="Times New Roman" panose="02020603050405020304"/>
              <a:ea typeface="+mn-ea"/>
              <a:cs typeface="Times New Roman" panose="02020603050405020304"/>
            </a:endParaRPr>
          </a:p>
        </p:txBody>
      </p:sp>
      <p:grpSp>
        <p:nvGrpSpPr>
          <p:cNvPr id="3" name="object 3"/>
          <p:cNvGrpSpPr/>
          <p:nvPr/>
        </p:nvGrpSpPr>
        <p:grpSpPr>
          <a:xfrm>
            <a:off x="4421505" y="1833245"/>
            <a:ext cx="7670895" cy="2030450"/>
            <a:chOff x="3662172" y="2437477"/>
            <a:chExt cx="6937521" cy="1842516"/>
          </a:xfrm>
        </p:grpSpPr>
        <p:pic>
          <p:nvPicPr>
            <p:cNvPr id="4" name="object 4"/>
            <p:cNvPicPr/>
            <p:nvPr/>
          </p:nvPicPr>
          <p:blipFill>
            <a:blip r:embed="rId1" cstate="print"/>
            <a:stretch>
              <a:fillRect/>
            </a:stretch>
          </p:blipFill>
          <p:spPr>
            <a:xfrm>
              <a:off x="7307580" y="2778924"/>
              <a:ext cx="3292113" cy="1500847"/>
            </a:xfrm>
            <a:prstGeom prst="rect">
              <a:avLst/>
            </a:prstGeom>
          </p:spPr>
        </p:pic>
        <p:pic>
          <p:nvPicPr>
            <p:cNvPr id="5" name="object 5"/>
            <p:cNvPicPr/>
            <p:nvPr/>
          </p:nvPicPr>
          <p:blipFill>
            <a:blip r:embed="rId2" cstate="print"/>
            <a:stretch>
              <a:fillRect/>
            </a:stretch>
          </p:blipFill>
          <p:spPr>
            <a:xfrm>
              <a:off x="3662172" y="2437477"/>
              <a:ext cx="3653027" cy="1842516"/>
            </a:xfrm>
            <a:prstGeom prst="rect">
              <a:avLst/>
            </a:prstGeom>
          </p:spPr>
        </p:pic>
      </p:grpSp>
      <p:sp>
        <p:nvSpPr>
          <p:cNvPr id="6" name="object 6"/>
          <p:cNvSpPr txBox="1"/>
          <p:nvPr/>
        </p:nvSpPr>
        <p:spPr>
          <a:xfrm>
            <a:off x="9453163" y="3985895"/>
            <a:ext cx="1638204" cy="259715"/>
          </a:xfrm>
          <a:prstGeom prst="rect">
            <a:avLst/>
          </a:prstGeom>
        </p:spPr>
        <p:txBody>
          <a:bodyPr vert="horz" wrap="square" lIns="0" tIns="14395" rIns="0" bIns="0" rtlCol="0">
            <a:spAutoFit/>
          </a:bodyPr>
          <a:lstStyle/>
          <a:p>
            <a:pPr marL="12700" algn="ctr">
              <a:lnSpc>
                <a:spcPct val="100000"/>
              </a:lnSpc>
              <a:spcBef>
                <a:spcPts val="125"/>
              </a:spcBef>
            </a:pPr>
            <a:r>
              <a:rPr lang="zh-CN" altLang="en-US" sz="1600">
                <a:latin typeface="Arial" panose="020B0604020202020204"/>
                <a:cs typeface="Arial" panose="020B0604020202020204"/>
              </a:rPr>
              <a:t>标签校正模块</a:t>
            </a:r>
            <a:endParaRPr lang="zh-CN" altLang="en-US" sz="1600">
              <a:latin typeface="Arial" panose="020B0604020202020204"/>
              <a:cs typeface="Arial" panose="020B0604020202020204"/>
            </a:endParaRPr>
          </a:p>
        </p:txBody>
      </p:sp>
      <p:pic>
        <p:nvPicPr>
          <p:cNvPr id="7" name="object 7"/>
          <p:cNvPicPr/>
          <p:nvPr/>
        </p:nvPicPr>
        <p:blipFill>
          <a:blip r:embed="rId3" cstate="print"/>
          <a:stretch>
            <a:fillRect/>
          </a:stretch>
        </p:blipFill>
        <p:spPr>
          <a:xfrm>
            <a:off x="898525" y="1761490"/>
            <a:ext cx="3399155" cy="2174240"/>
          </a:xfrm>
          <a:prstGeom prst="rect">
            <a:avLst/>
          </a:prstGeom>
        </p:spPr>
      </p:pic>
      <p:sp>
        <p:nvSpPr>
          <p:cNvPr id="9" name="object 9"/>
          <p:cNvSpPr txBox="1"/>
          <p:nvPr/>
        </p:nvSpPr>
        <p:spPr>
          <a:xfrm>
            <a:off x="5058410" y="3985895"/>
            <a:ext cx="2765425" cy="259715"/>
          </a:xfrm>
          <a:prstGeom prst="rect">
            <a:avLst/>
          </a:prstGeom>
        </p:spPr>
        <p:txBody>
          <a:bodyPr vert="horz" wrap="square" lIns="0" tIns="14395" rIns="0" bIns="0" rtlCol="0">
            <a:spAutoFit/>
          </a:bodyPr>
          <a:lstStyle/>
          <a:p>
            <a:pPr marL="12700" algn="ctr">
              <a:lnSpc>
                <a:spcPct val="100000"/>
              </a:lnSpc>
              <a:spcBef>
                <a:spcPts val="125"/>
              </a:spcBef>
            </a:pPr>
            <a:r>
              <a:rPr lang="zh-CN" altLang="en-US" sz="1600">
                <a:latin typeface="Arial" panose="020B0604020202020204"/>
                <a:cs typeface="Arial" panose="020B0604020202020204"/>
              </a:rPr>
              <a:t>尽量减少</a:t>
            </a:r>
            <a:r>
              <a:rPr lang="en-US" altLang="zh-CN" sz="1600">
                <a:latin typeface="Arial" panose="020B0604020202020204"/>
                <a:cs typeface="Arial" panose="020B0604020202020204"/>
              </a:rPr>
              <a:t> GAN </a:t>
            </a:r>
            <a:r>
              <a:rPr lang="zh-CN" altLang="en-US" sz="1600">
                <a:latin typeface="Arial" panose="020B0604020202020204"/>
                <a:cs typeface="Arial" panose="020B0604020202020204"/>
              </a:rPr>
              <a:t>模型的崩溃</a:t>
            </a:r>
            <a:endParaRPr lang="zh-CN" altLang="en-US" sz="1600">
              <a:latin typeface="Arial" panose="020B0604020202020204"/>
              <a:cs typeface="Arial" panose="020B0604020202020204"/>
            </a:endParaRPr>
          </a:p>
        </p:txBody>
      </p:sp>
      <p:grpSp>
        <p:nvGrpSpPr>
          <p:cNvPr id="10" name="object 10"/>
          <p:cNvGrpSpPr/>
          <p:nvPr/>
        </p:nvGrpSpPr>
        <p:grpSpPr>
          <a:xfrm>
            <a:off x="2913566" y="5305095"/>
            <a:ext cx="6776234" cy="652403"/>
            <a:chOff x="1837182" y="5034533"/>
            <a:chExt cx="7472680" cy="719455"/>
          </a:xfrm>
        </p:grpSpPr>
        <p:sp>
          <p:nvSpPr>
            <p:cNvPr id="11" name="object 11"/>
            <p:cNvSpPr/>
            <p:nvPr/>
          </p:nvSpPr>
          <p:spPr>
            <a:xfrm>
              <a:off x="1842516" y="5039867"/>
              <a:ext cx="7461884" cy="708660"/>
            </a:xfrm>
            <a:custGeom>
              <a:avLst/>
              <a:gdLst/>
              <a:ahLst/>
              <a:cxnLst/>
              <a:rect l="l" t="t" r="r" b="b"/>
              <a:pathLst>
                <a:path w="7461884" h="708660">
                  <a:moveTo>
                    <a:pt x="7222235" y="708660"/>
                  </a:moveTo>
                  <a:lnTo>
                    <a:pt x="237743" y="708660"/>
                  </a:lnTo>
                  <a:lnTo>
                    <a:pt x="189898" y="703817"/>
                  </a:lnTo>
                  <a:lnTo>
                    <a:pt x="145303" y="689919"/>
                  </a:lnTo>
                  <a:lnTo>
                    <a:pt x="104923" y="667913"/>
                  </a:lnTo>
                  <a:lnTo>
                    <a:pt x="69722" y="638746"/>
                  </a:lnTo>
                  <a:lnTo>
                    <a:pt x="40665" y="603364"/>
                  </a:lnTo>
                  <a:lnTo>
                    <a:pt x="18716" y="562713"/>
                  </a:lnTo>
                  <a:lnTo>
                    <a:pt x="4839" y="517740"/>
                  </a:lnTo>
                  <a:lnTo>
                    <a:pt x="0" y="469392"/>
                  </a:lnTo>
                  <a:lnTo>
                    <a:pt x="0" y="239268"/>
                  </a:lnTo>
                  <a:lnTo>
                    <a:pt x="4839" y="190919"/>
                  </a:lnTo>
                  <a:lnTo>
                    <a:pt x="18716" y="145946"/>
                  </a:lnTo>
                  <a:lnTo>
                    <a:pt x="40665" y="105295"/>
                  </a:lnTo>
                  <a:lnTo>
                    <a:pt x="69722" y="69913"/>
                  </a:lnTo>
                  <a:lnTo>
                    <a:pt x="104923" y="40746"/>
                  </a:lnTo>
                  <a:lnTo>
                    <a:pt x="145303" y="18740"/>
                  </a:lnTo>
                  <a:lnTo>
                    <a:pt x="189898" y="4842"/>
                  </a:lnTo>
                  <a:lnTo>
                    <a:pt x="237743" y="0"/>
                  </a:lnTo>
                  <a:lnTo>
                    <a:pt x="7222235" y="0"/>
                  </a:lnTo>
                  <a:lnTo>
                    <a:pt x="7270584" y="4842"/>
                  </a:lnTo>
                  <a:lnTo>
                    <a:pt x="7315557" y="18740"/>
                  </a:lnTo>
                  <a:lnTo>
                    <a:pt x="7356207" y="40746"/>
                  </a:lnTo>
                  <a:lnTo>
                    <a:pt x="7391590" y="69913"/>
                  </a:lnTo>
                  <a:lnTo>
                    <a:pt x="7420757" y="105295"/>
                  </a:lnTo>
                  <a:lnTo>
                    <a:pt x="7442763" y="145946"/>
                  </a:lnTo>
                  <a:lnTo>
                    <a:pt x="7456660" y="190919"/>
                  </a:lnTo>
                  <a:lnTo>
                    <a:pt x="7461503" y="239268"/>
                  </a:lnTo>
                  <a:lnTo>
                    <a:pt x="7461503" y="469392"/>
                  </a:lnTo>
                  <a:lnTo>
                    <a:pt x="7456660" y="517740"/>
                  </a:lnTo>
                  <a:lnTo>
                    <a:pt x="7442763" y="562713"/>
                  </a:lnTo>
                  <a:lnTo>
                    <a:pt x="7420757" y="603364"/>
                  </a:lnTo>
                  <a:lnTo>
                    <a:pt x="7391590" y="638746"/>
                  </a:lnTo>
                  <a:lnTo>
                    <a:pt x="7356207" y="667913"/>
                  </a:lnTo>
                  <a:lnTo>
                    <a:pt x="7315557" y="689919"/>
                  </a:lnTo>
                  <a:lnTo>
                    <a:pt x="7270584" y="703817"/>
                  </a:lnTo>
                  <a:lnTo>
                    <a:pt x="7222235" y="708660"/>
                  </a:lnTo>
                  <a:close/>
                </a:path>
              </a:pathLst>
            </a:custGeom>
            <a:solidFill>
              <a:srgbClr val="501D83"/>
            </a:solidFill>
          </p:spPr>
          <p:txBody>
            <a:bodyPr wrap="square" lIns="0" tIns="0" rIns="0" bIns="0" rtlCol="0"/>
            <a:lstStyle/>
            <a:p>
              <a:endParaRPr sz="1630"/>
            </a:p>
          </p:txBody>
        </p:sp>
        <p:sp>
          <p:nvSpPr>
            <p:cNvPr id="12" name="object 12"/>
            <p:cNvSpPr/>
            <p:nvPr/>
          </p:nvSpPr>
          <p:spPr>
            <a:xfrm>
              <a:off x="1842516" y="5039867"/>
              <a:ext cx="7461884" cy="708660"/>
            </a:xfrm>
            <a:custGeom>
              <a:avLst/>
              <a:gdLst/>
              <a:ahLst/>
              <a:cxnLst/>
              <a:rect l="l" t="t" r="r" b="b"/>
              <a:pathLst>
                <a:path w="7461884" h="708660">
                  <a:moveTo>
                    <a:pt x="0" y="239268"/>
                  </a:moveTo>
                  <a:lnTo>
                    <a:pt x="4839" y="190919"/>
                  </a:lnTo>
                  <a:lnTo>
                    <a:pt x="18716" y="145946"/>
                  </a:lnTo>
                  <a:lnTo>
                    <a:pt x="40665" y="105295"/>
                  </a:lnTo>
                  <a:lnTo>
                    <a:pt x="69722" y="69913"/>
                  </a:lnTo>
                  <a:lnTo>
                    <a:pt x="104923" y="40746"/>
                  </a:lnTo>
                  <a:lnTo>
                    <a:pt x="145303" y="18740"/>
                  </a:lnTo>
                  <a:lnTo>
                    <a:pt x="189898" y="4842"/>
                  </a:lnTo>
                  <a:lnTo>
                    <a:pt x="237743" y="0"/>
                  </a:lnTo>
                  <a:lnTo>
                    <a:pt x="7222235" y="0"/>
                  </a:lnTo>
                  <a:lnTo>
                    <a:pt x="7270584" y="4842"/>
                  </a:lnTo>
                  <a:lnTo>
                    <a:pt x="7315557" y="18740"/>
                  </a:lnTo>
                  <a:lnTo>
                    <a:pt x="7356207" y="40746"/>
                  </a:lnTo>
                  <a:lnTo>
                    <a:pt x="7391590" y="69913"/>
                  </a:lnTo>
                  <a:lnTo>
                    <a:pt x="7420757" y="105295"/>
                  </a:lnTo>
                  <a:lnTo>
                    <a:pt x="7442763" y="145946"/>
                  </a:lnTo>
                  <a:lnTo>
                    <a:pt x="7456660" y="190919"/>
                  </a:lnTo>
                  <a:lnTo>
                    <a:pt x="7461503" y="239268"/>
                  </a:lnTo>
                  <a:lnTo>
                    <a:pt x="7461503" y="469392"/>
                  </a:lnTo>
                  <a:lnTo>
                    <a:pt x="7456660" y="517740"/>
                  </a:lnTo>
                  <a:lnTo>
                    <a:pt x="7442763" y="562713"/>
                  </a:lnTo>
                  <a:lnTo>
                    <a:pt x="7420757" y="603364"/>
                  </a:lnTo>
                  <a:lnTo>
                    <a:pt x="7391590" y="638746"/>
                  </a:lnTo>
                  <a:lnTo>
                    <a:pt x="7356207" y="667913"/>
                  </a:lnTo>
                  <a:lnTo>
                    <a:pt x="7315557" y="689919"/>
                  </a:lnTo>
                  <a:lnTo>
                    <a:pt x="7270584" y="703817"/>
                  </a:lnTo>
                  <a:lnTo>
                    <a:pt x="7222235" y="708660"/>
                  </a:lnTo>
                  <a:lnTo>
                    <a:pt x="237743" y="708660"/>
                  </a:lnTo>
                  <a:lnTo>
                    <a:pt x="189898" y="703817"/>
                  </a:lnTo>
                  <a:lnTo>
                    <a:pt x="145303" y="689919"/>
                  </a:lnTo>
                  <a:lnTo>
                    <a:pt x="104923" y="667913"/>
                  </a:lnTo>
                  <a:lnTo>
                    <a:pt x="69722" y="638746"/>
                  </a:lnTo>
                  <a:lnTo>
                    <a:pt x="40665" y="603364"/>
                  </a:lnTo>
                  <a:lnTo>
                    <a:pt x="18716" y="562713"/>
                  </a:lnTo>
                  <a:lnTo>
                    <a:pt x="4839" y="517740"/>
                  </a:lnTo>
                  <a:lnTo>
                    <a:pt x="0" y="469392"/>
                  </a:lnTo>
                  <a:lnTo>
                    <a:pt x="0" y="239268"/>
                  </a:lnTo>
                  <a:close/>
                </a:path>
              </a:pathLst>
            </a:custGeom>
            <a:ln w="10668">
              <a:solidFill>
                <a:srgbClr val="38135E"/>
              </a:solidFill>
            </a:ln>
          </p:spPr>
          <p:txBody>
            <a:bodyPr wrap="square" lIns="0" tIns="0" rIns="0" bIns="0" rtlCol="0"/>
            <a:lstStyle/>
            <a:p>
              <a:endParaRPr sz="1630"/>
            </a:p>
          </p:txBody>
        </p:sp>
      </p:grpSp>
      <p:sp>
        <p:nvSpPr>
          <p:cNvPr id="13" name="object 13"/>
          <p:cNvSpPr txBox="1"/>
          <p:nvPr/>
        </p:nvSpPr>
        <p:spPr>
          <a:xfrm>
            <a:off x="3263417" y="5469826"/>
            <a:ext cx="6075462" cy="318770"/>
          </a:xfrm>
          <a:prstGeom prst="rect">
            <a:avLst/>
          </a:prstGeom>
        </p:spPr>
        <p:txBody>
          <a:bodyPr vert="horz" wrap="square" lIns="0" tIns="11516" rIns="0" bIns="0" rtlCol="0">
            <a:spAutoFit/>
          </a:bodyPr>
          <a:lstStyle/>
          <a:p>
            <a:pPr marL="12700" algn="ctr">
              <a:lnSpc>
                <a:spcPct val="100000"/>
              </a:lnSpc>
              <a:spcBef>
                <a:spcPts val="100"/>
              </a:spcBef>
            </a:pPr>
            <a:r>
              <a:rPr lang="zh-CN" sz="2000" b="1" dirty="0">
                <a:solidFill>
                  <a:srgbClr val="FFFFFF"/>
                </a:solidFill>
                <a:latin typeface="Arial" panose="020B0604020202020204"/>
                <a:cs typeface="Arial" panose="020B0604020202020204"/>
              </a:rPr>
              <a:t>本文</a:t>
            </a:r>
            <a:r>
              <a:rPr sz="2000" b="1" dirty="0">
                <a:solidFill>
                  <a:srgbClr val="FFFFFF"/>
                </a:solidFill>
                <a:latin typeface="Arial" panose="020B0604020202020204"/>
                <a:cs typeface="Arial" panose="020B0604020202020204"/>
              </a:rPr>
              <a:t>的框架对所有超参数都不敏感</a:t>
            </a:r>
            <a:endParaRPr lang="zh-CN" altLang="en-US" sz="2000" b="1" dirty="0">
              <a:solidFill>
                <a:srgbClr val="FFFFFF"/>
              </a:solidFill>
              <a:latin typeface="Arial" panose="020B0604020202020204"/>
              <a:cs typeface="Arial" panose="020B0604020202020204"/>
            </a:endParaRPr>
          </a:p>
        </p:txBody>
      </p:sp>
      <p:sp>
        <p:nvSpPr>
          <p:cNvPr id="15" name="文本框 14"/>
          <p:cNvSpPr txBox="1"/>
          <p:nvPr/>
        </p:nvSpPr>
        <p:spPr>
          <a:xfrm>
            <a:off x="898525" y="3985895"/>
            <a:ext cx="3399155" cy="583565"/>
          </a:xfrm>
          <a:prstGeom prst="rect">
            <a:avLst/>
          </a:prstGeom>
          <a:noFill/>
        </p:spPr>
        <p:txBody>
          <a:bodyPr wrap="square" rtlCol="0" anchor="t">
            <a:spAutoFit/>
          </a:bodyPr>
          <a:p>
            <a:pPr algn="ctr"/>
            <a:r>
              <a:rPr lang="zh-CN" altLang="en-US" sz="1600"/>
              <a:t>控制生成样本的目标区域的大小和位置</a:t>
            </a:r>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8400" y="709106"/>
            <a:ext cx="10969200" cy="504190"/>
          </a:xfrm>
          <a:prstGeom prst="rect">
            <a:avLst/>
          </a:prstGeom>
        </p:spPr>
        <p:txBody>
          <a:bodyPr vert="horz" wrap="square" lIns="0" tIns="12092" rIns="0" bIns="0" rtlCol="0">
            <a:spAutoFit/>
          </a:bodyPr>
          <a:lstStyle/>
          <a:p>
            <a:pPr marL="12700" algn="l">
              <a:lnSpc>
                <a:spcPct val="100000"/>
              </a:lnSpc>
              <a:spcBef>
                <a:spcPts val="105"/>
              </a:spcBef>
              <a:buClrTx/>
              <a:buSzTx/>
              <a:buFontTx/>
            </a:pPr>
            <a:r>
              <a:rPr sz="3200" b="1" spc="-10" dirty="0">
                <a:solidFill>
                  <a:srgbClr val="23366E"/>
                </a:solidFill>
                <a:latin typeface="Times New Roman" panose="02020603050405020304"/>
                <a:ea typeface="+mn-ea"/>
                <a:cs typeface="Times New Roman" panose="02020603050405020304"/>
              </a:rPr>
              <a:t>现网实验</a:t>
            </a:r>
            <a:endParaRPr sz="3200" b="1" spc="-10" dirty="0">
              <a:solidFill>
                <a:srgbClr val="23366E"/>
              </a:solidFill>
              <a:latin typeface="Times New Roman" panose="02020603050405020304"/>
              <a:ea typeface="+mn-ea"/>
              <a:cs typeface="Times New Roman" panose="02020603050405020304"/>
            </a:endParaRPr>
          </a:p>
        </p:txBody>
      </p:sp>
      <p:sp>
        <p:nvSpPr>
          <p:cNvPr id="3" name="object 3"/>
          <p:cNvSpPr txBox="1"/>
          <p:nvPr/>
        </p:nvSpPr>
        <p:spPr>
          <a:xfrm>
            <a:off x="1132840" y="1374140"/>
            <a:ext cx="10173970" cy="1075055"/>
          </a:xfrm>
          <a:prstGeom prst="rect">
            <a:avLst/>
          </a:prstGeom>
        </p:spPr>
        <p:txBody>
          <a:bodyPr vert="horz" wrap="square" lIns="0" tIns="10940" rIns="0" bIns="0" rtlCol="0">
            <a:spAutoFit/>
          </a:bodyPr>
          <a:lstStyle/>
          <a:p>
            <a:pPr marL="213360" marR="5080" indent="-201295">
              <a:lnSpc>
                <a:spcPct val="114000"/>
              </a:lnSpc>
              <a:spcBef>
                <a:spcPts val="95"/>
              </a:spcBef>
              <a:buChar char="•"/>
              <a:tabLst>
                <a:tab pos="213995" algn="l"/>
                <a:tab pos="213995" algn="l"/>
              </a:tabLst>
            </a:pPr>
            <a:r>
              <a:rPr lang="zh-CN" altLang="en-US" sz="2000">
                <a:latin typeface="Arial" panose="020B0604020202020204"/>
                <a:cs typeface="Arial" panose="020B0604020202020204"/>
              </a:rPr>
              <a:t>总共获得了超过</a:t>
            </a:r>
            <a:r>
              <a:rPr lang="en-US" altLang="zh-CN" sz="2000">
                <a:latin typeface="Arial" panose="020B0604020202020204"/>
                <a:cs typeface="Arial" panose="020B0604020202020204"/>
              </a:rPr>
              <a:t> 290 </a:t>
            </a:r>
            <a:r>
              <a:rPr lang="zh-CN" altLang="en-US" sz="2000">
                <a:latin typeface="Arial" panose="020B0604020202020204"/>
                <a:cs typeface="Arial" panose="020B0604020202020204"/>
              </a:rPr>
              <a:t>万条良性加密流量和</a:t>
            </a:r>
            <a:r>
              <a:rPr lang="en-US" altLang="zh-CN" sz="2000">
                <a:latin typeface="Arial" panose="020B0604020202020204"/>
                <a:cs typeface="Arial" panose="020B0604020202020204"/>
              </a:rPr>
              <a:t> 79 </a:t>
            </a:r>
            <a:r>
              <a:rPr lang="zh-CN" altLang="en-US" sz="2000">
                <a:latin typeface="Arial" panose="020B0604020202020204"/>
                <a:cs typeface="Arial" panose="020B0604020202020204"/>
              </a:rPr>
              <a:t>万条恶意加密流量，时间戳范围从</a:t>
            </a:r>
            <a:r>
              <a:rPr lang="en-US" altLang="zh-CN" sz="2000">
                <a:latin typeface="Arial" panose="020B0604020202020204"/>
                <a:cs typeface="Arial" panose="020B0604020202020204"/>
              </a:rPr>
              <a:t> 2017 </a:t>
            </a:r>
            <a:r>
              <a:rPr lang="zh-CN" altLang="en-US" sz="2000">
                <a:latin typeface="Arial" panose="020B0604020202020204"/>
                <a:cs typeface="Arial" panose="020B0604020202020204"/>
              </a:rPr>
              <a:t>年</a:t>
            </a:r>
            <a:r>
              <a:rPr lang="en-US" altLang="zh-CN" sz="2000">
                <a:latin typeface="Arial" panose="020B0604020202020204"/>
                <a:cs typeface="Arial" panose="020B0604020202020204"/>
              </a:rPr>
              <a:t> 11 </a:t>
            </a:r>
            <a:r>
              <a:rPr lang="zh-CN" altLang="en-US" sz="2000">
                <a:latin typeface="Arial" panose="020B0604020202020204"/>
                <a:cs typeface="Arial" panose="020B0604020202020204"/>
              </a:rPr>
              <a:t>月到</a:t>
            </a:r>
            <a:r>
              <a:rPr lang="en-US" altLang="zh-CN" sz="2000">
                <a:latin typeface="Arial" panose="020B0604020202020204"/>
                <a:cs typeface="Arial" panose="020B0604020202020204"/>
              </a:rPr>
              <a:t> 2021 </a:t>
            </a:r>
            <a:r>
              <a:rPr lang="zh-CN" altLang="en-US" sz="2000">
                <a:latin typeface="Arial" panose="020B0604020202020204"/>
                <a:cs typeface="Arial" panose="020B0604020202020204"/>
              </a:rPr>
              <a:t>年</a:t>
            </a:r>
            <a:r>
              <a:rPr lang="en-US" altLang="zh-CN" sz="2000">
                <a:latin typeface="Arial" panose="020B0604020202020204"/>
                <a:cs typeface="Arial" panose="020B0604020202020204"/>
              </a:rPr>
              <a:t> 2 </a:t>
            </a:r>
            <a:r>
              <a:rPr lang="zh-CN" altLang="en-US" sz="2000">
                <a:latin typeface="Arial" panose="020B0604020202020204"/>
                <a:cs typeface="Arial" panose="020B0604020202020204"/>
              </a:rPr>
              <a:t>月，这些数据由一家网络安全企业在其服务区域内通过互联网收集。</a:t>
            </a:r>
            <a:endParaRPr lang="en-US" altLang="zh-CN" sz="2000">
              <a:latin typeface="Arial" panose="020B0604020202020204"/>
              <a:cs typeface="Arial" panose="020B0604020202020204"/>
            </a:endParaRPr>
          </a:p>
          <a:p>
            <a:pPr marL="213360" marR="5080" indent="-201295">
              <a:lnSpc>
                <a:spcPct val="114000"/>
              </a:lnSpc>
              <a:spcBef>
                <a:spcPts val="95"/>
              </a:spcBef>
              <a:buChar char="•"/>
              <a:tabLst>
                <a:tab pos="213995" algn="l"/>
                <a:tab pos="213995" algn="l"/>
              </a:tabLst>
            </a:pPr>
            <a:r>
              <a:rPr lang="zh-CN" altLang="en-US" sz="2000">
                <a:latin typeface="Arial" panose="020B0604020202020204"/>
                <a:cs typeface="Arial" panose="020B0604020202020204"/>
              </a:rPr>
              <a:t>使用</a:t>
            </a:r>
            <a:r>
              <a:rPr lang="en-US" altLang="zh-CN" sz="2000">
                <a:latin typeface="Arial" panose="020B0604020202020204"/>
                <a:cs typeface="Arial" panose="020B0604020202020204"/>
              </a:rPr>
              <a:t> 2017 </a:t>
            </a:r>
            <a:r>
              <a:rPr lang="zh-CN" altLang="en-US" sz="2000">
                <a:latin typeface="Arial" panose="020B0604020202020204"/>
                <a:cs typeface="Arial" panose="020B0604020202020204"/>
              </a:rPr>
              <a:t>年收集的流量数据作为训练集，其余数据作为测试集。</a:t>
            </a:r>
            <a:endParaRPr lang="zh-CN" altLang="en-US" sz="2000">
              <a:latin typeface="Arial" panose="020B0604020202020204"/>
              <a:cs typeface="Arial" panose="020B0604020202020204"/>
            </a:endParaRPr>
          </a:p>
        </p:txBody>
      </p:sp>
      <p:pic>
        <p:nvPicPr>
          <p:cNvPr id="4" name="object 4"/>
          <p:cNvPicPr/>
          <p:nvPr/>
        </p:nvPicPr>
        <p:blipFill>
          <a:blip r:embed="rId1" cstate="print"/>
          <a:stretch>
            <a:fillRect/>
          </a:stretch>
        </p:blipFill>
        <p:spPr>
          <a:xfrm>
            <a:off x="2844165" y="2799715"/>
            <a:ext cx="6175375" cy="2307590"/>
          </a:xfrm>
          <a:prstGeom prst="rect">
            <a:avLst/>
          </a:prstGeom>
        </p:spPr>
      </p:pic>
      <p:grpSp>
        <p:nvGrpSpPr>
          <p:cNvPr id="5" name="object 5"/>
          <p:cNvGrpSpPr/>
          <p:nvPr/>
        </p:nvGrpSpPr>
        <p:grpSpPr>
          <a:xfrm>
            <a:off x="1684655" y="5262880"/>
            <a:ext cx="8495030" cy="651510"/>
            <a:chOff x="776478" y="5157977"/>
            <a:chExt cx="8876030" cy="718185"/>
          </a:xfrm>
        </p:grpSpPr>
        <p:sp>
          <p:nvSpPr>
            <p:cNvPr id="6" name="object 6"/>
            <p:cNvSpPr/>
            <p:nvPr/>
          </p:nvSpPr>
          <p:spPr>
            <a:xfrm>
              <a:off x="781812" y="5163311"/>
              <a:ext cx="8865235" cy="707390"/>
            </a:xfrm>
            <a:custGeom>
              <a:avLst/>
              <a:gdLst/>
              <a:ahLst/>
              <a:cxnLst/>
              <a:rect l="l" t="t" r="r" b="b"/>
              <a:pathLst>
                <a:path w="8865235" h="707389">
                  <a:moveTo>
                    <a:pt x="8627364" y="707135"/>
                  </a:moveTo>
                  <a:lnTo>
                    <a:pt x="239268" y="707135"/>
                  </a:lnTo>
                  <a:lnTo>
                    <a:pt x="190919" y="702293"/>
                  </a:lnTo>
                  <a:lnTo>
                    <a:pt x="145946" y="688395"/>
                  </a:lnTo>
                  <a:lnTo>
                    <a:pt x="105295" y="666389"/>
                  </a:lnTo>
                  <a:lnTo>
                    <a:pt x="69913" y="637222"/>
                  </a:lnTo>
                  <a:lnTo>
                    <a:pt x="40746" y="601840"/>
                  </a:lnTo>
                  <a:lnTo>
                    <a:pt x="18740" y="561189"/>
                  </a:lnTo>
                  <a:lnTo>
                    <a:pt x="4842" y="516216"/>
                  </a:lnTo>
                  <a:lnTo>
                    <a:pt x="0" y="467867"/>
                  </a:lnTo>
                  <a:lnTo>
                    <a:pt x="0" y="237743"/>
                  </a:lnTo>
                  <a:lnTo>
                    <a:pt x="4842" y="189898"/>
                  </a:lnTo>
                  <a:lnTo>
                    <a:pt x="18740" y="145303"/>
                  </a:lnTo>
                  <a:lnTo>
                    <a:pt x="40746" y="104923"/>
                  </a:lnTo>
                  <a:lnTo>
                    <a:pt x="69913" y="69722"/>
                  </a:lnTo>
                  <a:lnTo>
                    <a:pt x="105295" y="40665"/>
                  </a:lnTo>
                  <a:lnTo>
                    <a:pt x="145946" y="18716"/>
                  </a:lnTo>
                  <a:lnTo>
                    <a:pt x="190919" y="4839"/>
                  </a:lnTo>
                  <a:lnTo>
                    <a:pt x="239268" y="0"/>
                  </a:lnTo>
                  <a:lnTo>
                    <a:pt x="8627364" y="0"/>
                  </a:lnTo>
                  <a:lnTo>
                    <a:pt x="8675209" y="4839"/>
                  </a:lnTo>
                  <a:lnTo>
                    <a:pt x="8719804" y="18716"/>
                  </a:lnTo>
                  <a:lnTo>
                    <a:pt x="8760184" y="40665"/>
                  </a:lnTo>
                  <a:lnTo>
                    <a:pt x="8795384" y="69722"/>
                  </a:lnTo>
                  <a:lnTo>
                    <a:pt x="8824442" y="104923"/>
                  </a:lnTo>
                  <a:lnTo>
                    <a:pt x="8846391" y="145303"/>
                  </a:lnTo>
                  <a:lnTo>
                    <a:pt x="8860267" y="189898"/>
                  </a:lnTo>
                  <a:lnTo>
                    <a:pt x="8865107" y="237743"/>
                  </a:lnTo>
                  <a:lnTo>
                    <a:pt x="8865107" y="467867"/>
                  </a:lnTo>
                  <a:lnTo>
                    <a:pt x="8860267" y="516216"/>
                  </a:lnTo>
                  <a:lnTo>
                    <a:pt x="8846391" y="561189"/>
                  </a:lnTo>
                  <a:lnTo>
                    <a:pt x="8824442" y="601840"/>
                  </a:lnTo>
                  <a:lnTo>
                    <a:pt x="8795384" y="637222"/>
                  </a:lnTo>
                  <a:lnTo>
                    <a:pt x="8760184" y="666389"/>
                  </a:lnTo>
                  <a:lnTo>
                    <a:pt x="8719804" y="688395"/>
                  </a:lnTo>
                  <a:lnTo>
                    <a:pt x="8675209" y="702293"/>
                  </a:lnTo>
                  <a:lnTo>
                    <a:pt x="8627364" y="707135"/>
                  </a:lnTo>
                  <a:close/>
                </a:path>
              </a:pathLst>
            </a:custGeom>
            <a:solidFill>
              <a:srgbClr val="501D83"/>
            </a:solidFill>
          </p:spPr>
          <p:txBody>
            <a:bodyPr wrap="square" lIns="0" tIns="0" rIns="0" bIns="0" rtlCol="0"/>
            <a:lstStyle/>
            <a:p>
              <a:endParaRPr sz="1630"/>
            </a:p>
          </p:txBody>
        </p:sp>
        <p:sp>
          <p:nvSpPr>
            <p:cNvPr id="7" name="object 7"/>
            <p:cNvSpPr/>
            <p:nvPr/>
          </p:nvSpPr>
          <p:spPr>
            <a:xfrm>
              <a:off x="781812" y="5163311"/>
              <a:ext cx="8865235" cy="707390"/>
            </a:xfrm>
            <a:custGeom>
              <a:avLst/>
              <a:gdLst/>
              <a:ahLst/>
              <a:cxnLst/>
              <a:rect l="l" t="t" r="r" b="b"/>
              <a:pathLst>
                <a:path w="8865235" h="707389">
                  <a:moveTo>
                    <a:pt x="0" y="237743"/>
                  </a:moveTo>
                  <a:lnTo>
                    <a:pt x="4842" y="189898"/>
                  </a:lnTo>
                  <a:lnTo>
                    <a:pt x="18740" y="145303"/>
                  </a:lnTo>
                  <a:lnTo>
                    <a:pt x="40746" y="104923"/>
                  </a:lnTo>
                  <a:lnTo>
                    <a:pt x="69913" y="69722"/>
                  </a:lnTo>
                  <a:lnTo>
                    <a:pt x="105295" y="40665"/>
                  </a:lnTo>
                  <a:lnTo>
                    <a:pt x="145946" y="18716"/>
                  </a:lnTo>
                  <a:lnTo>
                    <a:pt x="190919" y="4839"/>
                  </a:lnTo>
                  <a:lnTo>
                    <a:pt x="239268" y="0"/>
                  </a:lnTo>
                  <a:lnTo>
                    <a:pt x="8627364" y="0"/>
                  </a:lnTo>
                  <a:lnTo>
                    <a:pt x="8675209" y="4839"/>
                  </a:lnTo>
                  <a:lnTo>
                    <a:pt x="8719804" y="18716"/>
                  </a:lnTo>
                  <a:lnTo>
                    <a:pt x="8760184" y="40665"/>
                  </a:lnTo>
                  <a:lnTo>
                    <a:pt x="8795384" y="69722"/>
                  </a:lnTo>
                  <a:lnTo>
                    <a:pt x="8824442" y="104923"/>
                  </a:lnTo>
                  <a:lnTo>
                    <a:pt x="8846391" y="145303"/>
                  </a:lnTo>
                  <a:lnTo>
                    <a:pt x="8860267" y="189898"/>
                  </a:lnTo>
                  <a:lnTo>
                    <a:pt x="8865107" y="237743"/>
                  </a:lnTo>
                  <a:lnTo>
                    <a:pt x="8865107" y="467867"/>
                  </a:lnTo>
                  <a:lnTo>
                    <a:pt x="8860267" y="516216"/>
                  </a:lnTo>
                  <a:lnTo>
                    <a:pt x="8846391" y="561189"/>
                  </a:lnTo>
                  <a:lnTo>
                    <a:pt x="8824442" y="601840"/>
                  </a:lnTo>
                  <a:lnTo>
                    <a:pt x="8795384" y="637222"/>
                  </a:lnTo>
                  <a:lnTo>
                    <a:pt x="8760184" y="666389"/>
                  </a:lnTo>
                  <a:lnTo>
                    <a:pt x="8719804" y="688395"/>
                  </a:lnTo>
                  <a:lnTo>
                    <a:pt x="8675209" y="702293"/>
                  </a:lnTo>
                  <a:lnTo>
                    <a:pt x="8627364" y="707135"/>
                  </a:lnTo>
                  <a:lnTo>
                    <a:pt x="239268" y="707135"/>
                  </a:lnTo>
                  <a:lnTo>
                    <a:pt x="190919" y="702293"/>
                  </a:lnTo>
                  <a:lnTo>
                    <a:pt x="145946" y="688395"/>
                  </a:lnTo>
                  <a:lnTo>
                    <a:pt x="105295" y="666389"/>
                  </a:lnTo>
                  <a:lnTo>
                    <a:pt x="69913" y="637222"/>
                  </a:lnTo>
                  <a:lnTo>
                    <a:pt x="40746" y="601840"/>
                  </a:lnTo>
                  <a:lnTo>
                    <a:pt x="18740" y="561189"/>
                  </a:lnTo>
                  <a:lnTo>
                    <a:pt x="4842" y="516216"/>
                  </a:lnTo>
                  <a:lnTo>
                    <a:pt x="0" y="467867"/>
                  </a:lnTo>
                  <a:lnTo>
                    <a:pt x="0" y="237743"/>
                  </a:lnTo>
                  <a:close/>
                </a:path>
              </a:pathLst>
            </a:custGeom>
            <a:ln w="10668">
              <a:solidFill>
                <a:srgbClr val="38135E"/>
              </a:solidFill>
            </a:ln>
          </p:spPr>
          <p:txBody>
            <a:bodyPr wrap="square" lIns="0" tIns="0" rIns="0" bIns="0" rtlCol="0"/>
            <a:lstStyle/>
            <a:p>
              <a:endParaRPr sz="1630"/>
            </a:p>
          </p:txBody>
        </p:sp>
      </p:grpSp>
      <p:sp>
        <p:nvSpPr>
          <p:cNvPr id="8" name="object 8"/>
          <p:cNvSpPr txBox="1"/>
          <p:nvPr/>
        </p:nvSpPr>
        <p:spPr>
          <a:xfrm>
            <a:off x="2138680" y="5429250"/>
            <a:ext cx="7586980" cy="318770"/>
          </a:xfrm>
          <a:prstGeom prst="rect">
            <a:avLst/>
          </a:prstGeom>
        </p:spPr>
        <p:txBody>
          <a:bodyPr vert="horz" wrap="square" lIns="0" tIns="11516" rIns="0" bIns="0" rtlCol="0">
            <a:spAutoFit/>
          </a:bodyPr>
          <a:lstStyle/>
          <a:p>
            <a:pPr marL="12700">
              <a:lnSpc>
                <a:spcPct val="100000"/>
              </a:lnSpc>
              <a:spcBef>
                <a:spcPts val="100"/>
              </a:spcBef>
            </a:pPr>
            <a:r>
              <a:rPr lang="zh-CN" sz="2000" dirty="0">
                <a:solidFill>
                  <a:srgbClr val="FFFFFF"/>
                </a:solidFill>
                <a:latin typeface="Arial" panose="020B0604020202020204"/>
                <a:cs typeface="Arial" panose="020B0604020202020204"/>
              </a:rPr>
              <a:t>检测</a:t>
            </a:r>
            <a:r>
              <a:rPr sz="2000" dirty="0">
                <a:solidFill>
                  <a:srgbClr val="FFFFFF"/>
                </a:solidFill>
                <a:latin typeface="Arial" panose="020B0604020202020204"/>
                <a:cs typeface="Arial" panose="020B0604020202020204"/>
              </a:rPr>
              <a:t>系统将基线水平从</a:t>
            </a:r>
            <a:r>
              <a:rPr sz="2000" b="1" dirty="0">
                <a:solidFill>
                  <a:srgbClr val="FFFFFF"/>
                </a:solidFill>
                <a:latin typeface="Arial" panose="020B0604020202020204"/>
                <a:cs typeface="Arial" panose="020B0604020202020204"/>
              </a:rPr>
              <a:t> 89.2% 提高到 445.5%，平均提高272.5%。</a:t>
            </a:r>
            <a:endParaRPr sz="2000" b="1" dirty="0">
              <a:solidFill>
                <a:srgbClr val="FFFFFF"/>
              </a:solidFill>
              <a:latin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017963" y="2828835"/>
            <a:ext cx="4156075" cy="1198880"/>
          </a:xfrm>
          <a:prstGeom prst="rect">
            <a:avLst/>
          </a:prstGeom>
          <a:noFill/>
        </p:spPr>
        <p:txBody>
          <a:bodyPr wrap="none" rtlCol="0">
            <a:spAutoFit/>
          </a:bodyPr>
          <a:lstStyle/>
          <a:p>
            <a:pPr algn="ctr"/>
            <a:r>
              <a:rPr lang="en-US" altLang="zh-CN" sz="7200" dirty="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rPr>
              <a:t>THANK YOU</a:t>
            </a:r>
            <a:endParaRPr lang="en-US" altLang="zh-CN" sz="7200" dirty="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endParaRPr>
          </a:p>
        </p:txBody>
      </p:sp>
      <p:grpSp>
        <p:nvGrpSpPr>
          <p:cNvPr id="17" name="组合 16"/>
          <p:cNvGrpSpPr/>
          <p:nvPr/>
        </p:nvGrpSpPr>
        <p:grpSpPr>
          <a:xfrm>
            <a:off x="2858860" y="3428999"/>
            <a:ext cx="6474279" cy="0"/>
            <a:chOff x="4129088" y="2457450"/>
            <a:chExt cx="6474279" cy="0"/>
          </a:xfrm>
        </p:grpSpPr>
        <p:cxnSp>
          <p:nvCxnSpPr>
            <p:cNvPr id="18" name="直接连接符 17"/>
            <p:cNvCxnSpPr/>
            <p:nvPr/>
          </p:nvCxnSpPr>
          <p:spPr>
            <a:xfrm>
              <a:off x="4129088"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cxnSp>
          <p:nvCxnSpPr>
            <p:cNvPr id="19" name="直接连接符 18"/>
            <p:cNvCxnSpPr/>
            <p:nvPr/>
          </p:nvCxnSpPr>
          <p:spPr>
            <a:xfrm>
              <a:off x="9631817"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gr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3646</Words>
  <Application>WPS 演示</Application>
  <PresentationFormat>宽屏</PresentationFormat>
  <Paragraphs>287</Paragraphs>
  <Slides>17</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Wingdings</vt:lpstr>
      <vt:lpstr>Times New Roman</vt:lpstr>
      <vt:lpstr>Arial</vt:lpstr>
      <vt:lpstr>微软雅黑</vt:lpstr>
      <vt:lpstr>Cambria</vt:lpstr>
      <vt:lpstr>Impact</vt:lpstr>
      <vt:lpstr>Arial Unicode MS</vt:lpstr>
      <vt:lpstr>Calibri</vt:lpstr>
      <vt:lpstr>WPS</vt:lpstr>
      <vt:lpstr>PowerPoint 演示文稿</vt:lpstr>
      <vt:lpstr>基于机器学习/深度学习的加密恶意流量检测</vt:lpstr>
      <vt:lpstr>什么是低质量训练数据</vt:lpstr>
      <vt:lpstr>可能的解决方案？</vt:lpstr>
      <vt:lpstr>良性数据的分布较为密集，而恶意数据的分布则较为稀疏。</vt:lpstr>
      <vt:lpstr>框架概述</vt:lpstr>
      <vt:lpstr>特征提取模块</vt:lpstr>
      <vt:lpstr>标签校正模块</vt:lpstr>
      <vt:lpstr>数据增强模块</vt:lpstr>
      <vt:lpstr>数据增强模块</vt:lpstr>
      <vt:lpstr>实验评估</vt:lpstr>
      <vt:lpstr>总体性能检测</vt:lpstr>
      <vt:lpstr>模仿现实世界的标签噪音</vt:lpstr>
      <vt:lpstr>评估标签校正和数据增强模块</vt:lpstr>
      <vt:lpstr>参数敏感度分析</vt:lpstr>
      <vt:lpstr>现网实验</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谭柘</cp:lastModifiedBy>
  <cp:revision>285</cp:revision>
  <dcterms:created xsi:type="dcterms:W3CDTF">2019-06-19T02:08:00Z</dcterms:created>
  <dcterms:modified xsi:type="dcterms:W3CDTF">2025-12-14T14:31:30Z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F9A75B56510348EC98B65CAB244D0752_11</vt:lpwstr>
  </property>
</Properties>
</file>