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8" r:id="rId4"/>
    <p:sldId id="276" r:id="rId5"/>
    <p:sldId id="273" r:id="rId7"/>
    <p:sldId id="274" r:id="rId8"/>
    <p:sldId id="269" r:id="rId9"/>
    <p:sldId id="277" r:id="rId10"/>
    <p:sldId id="272" r:id="rId11"/>
    <p:sldId id="275" r:id="rId12"/>
    <p:sldId id="278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4C3C"/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7"/>
    <p:restoredTop sz="86377"/>
  </p:normalViewPr>
  <p:slideViewPr>
    <p:cSldViewPr snapToGrid="0" snapToObjects="1">
      <p:cViewPr varScale="1">
        <p:scale>
          <a:sx n="137" d="100"/>
          <a:sy n="137" d="100"/>
        </p:scale>
        <p:origin x="1128" y="0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隧道协议的广泛使用与安全缺陷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隧道协议（如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IPIP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6in4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4in6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GUE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等）是互联网中连接隔离网络、构建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VPN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的基础。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这些协议在设计上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默认不提供认证或加密机制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，依赖上层协议（如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IPsec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）来保障安全。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然而，现实中很多系统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未正确配置安全机制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，导致隧道接口可以接受来自任意源的未加密流量。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现实问题的严重性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这些“漏洞主机”可被滥用于：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地址欺骗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（绕过源地址过滤）；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单向代理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（隐藏攻击者身份）；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访问内网资源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新型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攻击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Ping-Pong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放大攻击、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时间透镜攻击、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EDoS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经济消耗攻击）。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3.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前人研究的局限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研究存在局限：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未涉及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IPv6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未系统研究其他隧道协议（如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6in4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等）；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未提出有效的防御措施；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未深入探讨其在新类型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攻击中的应用。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36AE7A-D922-477B-8232-91EA786C1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为了提高发现率，论文设计了三类扫描方式：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隧道协议在设计时缺乏默认的认证或加密机制。当部署中未正确指定远端地址时，系统默认接受来自任意源头的隧道封装包。这种错误或默认配置，加上网络中源地址过滤的缺失，使得这些节点成为开放隧道节点。攻击者能够向这些节点发送未经认证的隧道包，利用它们进行解封装和转发，从而绕过网络安全控制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2000" b="1" dirty="0">
                <a:solidFill>
                  <a:schemeClr val="accent2"/>
                </a:solidFill>
              </a:rPr>
              <a:t>从静态发现到动态演化分析</a:t>
            </a:r>
            <a:endParaRPr kumimoji="1" lang="zh-CN" altLang="en-US" sz="20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验证论文对</a:t>
            </a:r>
            <a:r>
              <a:rPr lang="en-US" altLang="zh-CN" sz="1600" dirty="0"/>
              <a:t>IP6IP6</a:t>
            </a:r>
            <a:r>
              <a:rPr lang="zh-CN" altLang="en-US" sz="1600" dirty="0"/>
              <a:t>、</a:t>
            </a:r>
            <a:r>
              <a:rPr lang="en-US" altLang="zh-CN" sz="1600" dirty="0"/>
              <a:t>GRE</a:t>
            </a:r>
            <a:r>
              <a:rPr lang="zh-CN" altLang="en-US" sz="1600" dirty="0"/>
              <a:t>和</a:t>
            </a:r>
            <a:r>
              <a:rPr lang="en-US" altLang="zh-CN" sz="1600" dirty="0"/>
              <a:t>6in4</a:t>
            </a:r>
            <a:r>
              <a:rPr lang="zh-CN" altLang="en-US" sz="1600" dirty="0"/>
              <a:t>等协议的大规模测量结果，确认其揭示的全球性隐患（超</a:t>
            </a:r>
            <a:r>
              <a:rPr lang="en-US" altLang="zh-CN" sz="1600" dirty="0"/>
              <a:t>400</a:t>
            </a:r>
            <a:r>
              <a:rPr lang="zh-CN" altLang="en-US" sz="1600" dirty="0"/>
              <a:t>万主机，上万个</a:t>
            </a:r>
            <a:r>
              <a:rPr lang="en-US" altLang="zh-CN" sz="1600" dirty="0"/>
              <a:t>AS</a:t>
            </a:r>
            <a:r>
              <a:rPr lang="zh-CN" altLang="en-US" sz="1600" dirty="0"/>
              <a:t>）。</a:t>
            </a:r>
            <a:endParaRPr lang="zh-CN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持续监控隧道节点，分析其存活状态变化趋势。这对于评估安全威胁的持久性、追踪恶意利用态势、衡量防御措施的有效性具有关键意义。</a:t>
            </a:r>
            <a:endParaRPr kumimoji="1" lang="en-US" altLang="zh-CN" sz="1600" b="1" dirty="0">
              <a:solidFill>
                <a:schemeClr val="accent2"/>
              </a:solidFill>
            </a:endParaRPr>
          </a:p>
          <a:p>
            <a:r>
              <a:rPr kumimoji="1" lang="zh-CN" altLang="en-US" sz="1600" b="1" dirty="0">
                <a:solidFill>
                  <a:schemeClr val="accent2"/>
                </a:solidFill>
              </a:rPr>
              <a:t>从理解攻击机理到构建防御体系</a:t>
            </a:r>
            <a:endParaRPr kumimoji="1" lang="zh-CN" altLang="en-US" sz="16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在可控环境中复现论文提出的“</a:t>
            </a:r>
            <a:r>
              <a:rPr lang="en-US" altLang="zh-CN" dirty="0"/>
              <a:t>Ping-Pong”</a:t>
            </a:r>
            <a:r>
              <a:rPr lang="zh-CN" altLang="en-US" dirty="0"/>
              <a:t>放大攻击与“</a:t>
            </a:r>
            <a:r>
              <a:rPr lang="en-US" altLang="zh-CN" dirty="0" err="1"/>
              <a:t>TuTL</a:t>
            </a:r>
            <a:r>
              <a:rPr lang="en-US" altLang="zh-CN" dirty="0"/>
              <a:t>”</a:t>
            </a:r>
            <a:r>
              <a:rPr lang="zh-CN" altLang="en-US" dirty="0"/>
              <a:t>时间透镜攻击，深入理解其利用协议特性实现放大的核心机理。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基于对攻击链路的理解，设计与评估相应的防御策略（如深度包检测、流量整形），推动研究成果从理论威胁向实战防御转化。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1200" b="1" dirty="0">
                <a:solidFill>
                  <a:schemeClr val="accent2"/>
                </a:solidFill>
              </a:rPr>
              <a:t>量化验证源地址验证（</a:t>
            </a:r>
            <a:r>
              <a:rPr kumimoji="1" lang="en-US" altLang="zh-CN" sz="1200" b="1" dirty="0">
                <a:solidFill>
                  <a:schemeClr val="accent2"/>
                </a:solidFill>
              </a:rPr>
              <a:t>SAV</a:t>
            </a:r>
            <a:r>
              <a:rPr kumimoji="1" lang="zh-CN" altLang="en-US" sz="1200" b="1" dirty="0">
                <a:solidFill>
                  <a:schemeClr val="accent2"/>
                </a:solidFill>
              </a:rPr>
              <a:t>）的部署情况</a:t>
            </a:r>
            <a:endParaRPr kumimoji="1" lang="zh-CN" altLang="en-US" sz="1200" b="1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论文并未测量隧道节点上部署</a:t>
            </a:r>
            <a:r>
              <a:rPr lang="en-US" altLang="zh-CN" dirty="0"/>
              <a:t>SAV</a:t>
            </a:r>
            <a:r>
              <a:rPr lang="zh-CN" altLang="en-US" dirty="0"/>
              <a:t>的情况。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设计具体的测量方法，量化评估隧道节点中</a:t>
            </a:r>
            <a:r>
              <a:rPr lang="en-US" altLang="zh-CN" dirty="0"/>
              <a:t>SAV</a:t>
            </a:r>
            <a:r>
              <a:rPr lang="zh-CN" altLang="en-US" dirty="0"/>
              <a:t>部署的情况。</a:t>
            </a:r>
            <a:endParaRPr lang="zh-CN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36AE7A-D922-477B-8232-91EA786C19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200" y="275794"/>
            <a:ext cx="2519770" cy="992105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600" y="92600"/>
            <a:ext cx="1015763" cy="10195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Rectangle 6"/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Rectangle 6"/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</p:spPr>
        <p:txBody>
          <a:bodyPr vert="eaVert" anchor="b"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83637" y="92600"/>
            <a:ext cx="1015763" cy="101955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emf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Rectangle 6"/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72160" y="87749"/>
            <a:ext cx="1015763" cy="101955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</p:spPr>
        <p:txBody>
          <a:bodyPr/>
          <a:lstStyle/>
          <a:p>
            <a:r>
              <a:rPr lang="en-US" altLang="zh-CN" b="1" dirty="0"/>
              <a:t>Haunted by Legacy: Discovering and Exploiting Vulnerable Tunnelling Hosts</a:t>
            </a:r>
            <a:endParaRPr lang="zh-CN" altLang="en-US" b="1" dirty="0"/>
          </a:p>
        </p:txBody>
      </p:sp>
      <p:grpSp>
        <p:nvGrpSpPr>
          <p:cNvPr id="24" name="组合 23"/>
          <p:cNvGrpSpPr/>
          <p:nvPr/>
        </p:nvGrpSpPr>
        <p:grpSpPr>
          <a:xfrm>
            <a:off x="4080510" y="4543425"/>
            <a:ext cx="4030980" cy="548640"/>
            <a:chOff x="6560" y="6820"/>
            <a:chExt cx="6348" cy="864"/>
          </a:xfrm>
        </p:grpSpPr>
        <p:sp>
          <p:nvSpPr>
            <p:cNvPr id="10" name="副标题 2"/>
            <p:cNvSpPr txBox="1"/>
            <p:nvPr/>
          </p:nvSpPr>
          <p:spPr>
            <a:xfrm>
              <a:off x="7104" y="6820"/>
              <a:ext cx="5184" cy="865"/>
            </a:xfrm>
            <a:prstGeom prst="rect">
              <a:avLst/>
            </a:prstGeom>
          </p:spPr>
          <p:txBody>
            <a:bodyPr>
              <a:normAutofit/>
              <a:scene3d>
                <a:camera prst="orthographicFront"/>
                <a:lightRig rig="threePt" dir="t"/>
              </a:scene3d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SzPct val="40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fld id="{8C008AFD-AF98-42D9-A3F2-D23DC0F23CE2}" type="datetime1">
                <a:rPr lang="zh-CN" altLang="en-US" smtClean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</a:fld>
              <a:endPara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 flipV="1">
              <a:off x="6560" y="7148"/>
              <a:ext cx="6348" cy="120"/>
              <a:chOff x="3172449" y="3650145"/>
              <a:chExt cx="6124985" cy="0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3172449" y="3650145"/>
                <a:ext cx="97155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8325884" y="3650145"/>
                <a:ext cx="97155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581193" y="5092787"/>
            <a:ext cx="10993547" cy="1340999"/>
          </a:xfrm>
        </p:spPr>
        <p:txBody>
          <a:bodyPr/>
          <a:lstStyle/>
          <a:p>
            <a:pPr algn="ctr"/>
            <a:r>
              <a:rPr lang="zh-CN" altLang="en-US" sz="2800" dirty="0"/>
              <a:t>盖乐</a:t>
            </a:r>
            <a:r>
              <a:rPr lang="en-US" altLang="zh-CN" sz="2800" dirty="0"/>
              <a:t> </a:t>
            </a:r>
            <a:r>
              <a:rPr lang="zh-CN" altLang="en-US" sz="2800" dirty="0"/>
              <a:t>贾泽栋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4505430" y="1137357"/>
            <a:ext cx="6066519" cy="4583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3600"/>
              <a:t>一、研究背景</a:t>
            </a:r>
            <a:endParaRPr lang="zh-CN" altLang="en-US" sz="3600"/>
          </a:p>
          <a:p>
            <a:pPr algn="l"/>
            <a:r>
              <a:rPr lang="zh-CN" altLang="en-US" sz="3600"/>
              <a:t>二、</a:t>
            </a: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研究内容</a:t>
            </a:r>
            <a:endParaRPr lang="zh-CN" altLang="en-US" sz="3600"/>
          </a:p>
          <a:p>
            <a:pPr algn="l"/>
            <a:r>
              <a:rPr lang="zh-CN" altLang="en-US" sz="3600"/>
              <a:t>三、</a:t>
            </a: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复现动机与扩展计划</a:t>
            </a:r>
            <a:endParaRPr lang="zh-CN" altLang="en-US" sz="360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zh-CN" altLang="en-US" sz="3600"/>
              <a:t>四、</a:t>
            </a: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预期贡献与</a:t>
            </a:r>
            <a:r>
              <a:rPr lang="zh-CN" altLang="en-US" sz="3600"/>
              <a:t>团队分工</a:t>
            </a:r>
            <a:endParaRPr lang="zh-CN" altLang="en-US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3600">
                <a:sym typeface="+mn-ea"/>
              </a:rPr>
              <a:t>一、研究背景</a:t>
            </a:r>
            <a:endParaRPr lang="zh-CN" altLang="en-US"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972" y="1872330"/>
            <a:ext cx="5007536" cy="759708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091182" y="2708652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IPIP</a:t>
            </a:r>
            <a:r>
              <a:rPr lang="zh-CN" altLang="en-US" dirty="0"/>
              <a:t>地址欺骗攻击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091182" y="5811201"/>
            <a:ext cx="2099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隧道流量注入攻击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6443558" y="1605982"/>
            <a:ext cx="5159176" cy="1472002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443558" y="3265818"/>
            <a:ext cx="5159176" cy="297447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 descr="the GRE atta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929" y="3344332"/>
            <a:ext cx="4499307" cy="2559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内容占位符 25"/>
          <p:cNvSpPr>
            <a:spLocks noGrp="1"/>
          </p:cNvSpPr>
          <p:nvPr>
            <p:ph idx="1"/>
          </p:nvPr>
        </p:nvSpPr>
        <p:spPr>
          <a:xfrm>
            <a:off x="544830" y="1296670"/>
            <a:ext cx="6002020" cy="549783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accent2"/>
                </a:solidFill>
                <a:sym typeface="+mn-ea"/>
              </a:rPr>
              <a:t>隧道协议的普遍采用与固有安全隐患</a:t>
            </a:r>
            <a:endParaRPr kumimoji="1" lang="zh-CN" altLang="en-US" sz="2400" b="1" dirty="0">
              <a:solidFill>
                <a:schemeClr val="accent2"/>
              </a:solidFill>
              <a:sym typeface="+mn-ea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ym typeface="+mn-ea"/>
              </a:rPr>
              <a:t>是互联网中连接隔离网络、构建 </a:t>
            </a:r>
            <a:r>
              <a:rPr kumimoji="1" lang="en-US" altLang="zh-CN" sz="2000" dirty="0">
                <a:sym typeface="+mn-ea"/>
              </a:rPr>
              <a:t>VPN </a:t>
            </a:r>
            <a:r>
              <a:rPr kumimoji="1" lang="zh-CN" altLang="en-US" sz="2000" dirty="0">
                <a:sym typeface="+mn-ea"/>
              </a:rPr>
              <a:t>的基础。</a:t>
            </a:r>
            <a:endParaRPr kumimoji="1" lang="zh-CN" altLang="en-US" sz="20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ym typeface="+mn-ea"/>
              </a:rPr>
              <a:t>协议本身无认证无加密 </a:t>
            </a:r>
            <a:r>
              <a:rPr kumimoji="1" lang="en-US" altLang="zh-CN" sz="2000" dirty="0">
                <a:sym typeface="+mn-ea"/>
              </a:rPr>
              <a:t>+ </a:t>
            </a:r>
            <a:r>
              <a:rPr kumimoji="1" lang="zh-CN" altLang="en-US" sz="2000" dirty="0">
                <a:sym typeface="+mn-ea"/>
              </a:rPr>
              <a:t>错误配置</a:t>
            </a:r>
            <a:r>
              <a:rPr kumimoji="1" lang="en-US" altLang="zh-CN" sz="2000" dirty="0">
                <a:sym typeface="+mn-ea"/>
              </a:rPr>
              <a:t> </a:t>
            </a:r>
            <a:r>
              <a:rPr kumimoji="1" lang="en-US" altLang="zh-CN" sz="2000" dirty="0">
                <a:sym typeface="Wingdings" panose="05000000000000000000" pitchFamily="2" charset="2"/>
              </a:rPr>
              <a:t></a:t>
            </a:r>
            <a:r>
              <a:rPr kumimoji="1" lang="en-US" altLang="zh-CN" sz="2000" dirty="0">
                <a:sym typeface="+mn-ea"/>
              </a:rPr>
              <a:t> </a:t>
            </a:r>
            <a:r>
              <a:rPr kumimoji="1" lang="zh-CN" altLang="en-US" sz="2000" dirty="0">
                <a:sym typeface="+mn-ea"/>
              </a:rPr>
              <a:t>可以接受来自任意来源的流量。</a:t>
            </a:r>
            <a:endParaRPr kumimoji="1" lang="en-US" altLang="zh-CN" sz="2000" dirty="0"/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kumimoji="1" lang="zh-CN" altLang="en-US" sz="2400" b="1" dirty="0">
                <a:solidFill>
                  <a:schemeClr val="accent2"/>
                </a:solidFill>
                <a:sym typeface="+mn-ea"/>
              </a:rPr>
              <a:t>现实威胁的严重性与攻击利用面</a:t>
            </a:r>
            <a:endParaRPr kumimoji="1" lang="en-US" altLang="zh-CN" sz="24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ym typeface="+mn-ea"/>
              </a:rPr>
              <a:t>IP </a:t>
            </a:r>
            <a:r>
              <a:rPr kumimoji="1" lang="zh-CN" altLang="en-US" sz="2000" dirty="0">
                <a:sym typeface="+mn-ea"/>
              </a:rPr>
              <a:t>地址欺骗（绕过源地址过滤）</a:t>
            </a:r>
            <a:endParaRPr kumimoji="1" lang="zh-CN" altLang="en-US" sz="20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ym typeface="+mn-ea"/>
              </a:rPr>
              <a:t>单向代理（隐藏攻击者身份）</a:t>
            </a:r>
            <a:endParaRPr kumimoji="1" lang="zh-CN" altLang="en-US" sz="20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ym typeface="+mn-ea"/>
              </a:rPr>
              <a:t>访问内网资源</a:t>
            </a:r>
            <a:endParaRPr kumimoji="1" lang="zh-CN" altLang="en-US" sz="2000" dirty="0"/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ym typeface="+mn-ea"/>
              </a:rPr>
              <a:t>DoS </a:t>
            </a:r>
            <a:r>
              <a:rPr kumimoji="1" lang="zh-CN" altLang="en-US" sz="2000" dirty="0">
                <a:sym typeface="+mn-ea"/>
              </a:rPr>
              <a:t>攻击</a:t>
            </a:r>
            <a:endParaRPr kumimoji="1" lang="zh-CN" altLang="en-US" sz="2000" dirty="0">
              <a:sym typeface="+mn-ea"/>
            </a:endParaRP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kumimoji="1" lang="zh-CN" altLang="en-US" sz="2400" b="1" dirty="0">
                <a:solidFill>
                  <a:schemeClr val="accent2"/>
                </a:solidFill>
                <a:sym typeface="+mn-ea"/>
              </a:rPr>
              <a:t>前人研究的局限</a:t>
            </a:r>
            <a:endParaRPr kumimoji="1" lang="en-US" altLang="zh-CN" sz="24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ym typeface="+mn-ea"/>
              </a:rPr>
              <a:t>未系统研究其他隧道协议（如 </a:t>
            </a:r>
            <a:r>
              <a:rPr kumimoji="1" lang="en-US" altLang="zh-CN" sz="2000" dirty="0">
                <a:sym typeface="+mn-ea"/>
              </a:rPr>
              <a:t>GRE</a:t>
            </a:r>
            <a:r>
              <a:rPr kumimoji="1" lang="zh-CN" altLang="en-US" sz="2000" dirty="0">
                <a:sym typeface="+mn-ea"/>
              </a:rPr>
              <a:t>、</a:t>
            </a:r>
            <a:r>
              <a:rPr kumimoji="1" lang="en-US" altLang="zh-CN" sz="2000" dirty="0">
                <a:sym typeface="+mn-ea"/>
              </a:rPr>
              <a:t>6in4 </a:t>
            </a:r>
            <a:r>
              <a:rPr kumimoji="1" lang="zh-CN" altLang="en-US" sz="2000" dirty="0">
                <a:sym typeface="+mn-ea"/>
              </a:rPr>
              <a:t>等）</a:t>
            </a:r>
            <a:r>
              <a:rPr kumimoji="1" lang="zh-CN" altLang="en-US" sz="2000" dirty="0"/>
              <a:t>。</a:t>
            </a:r>
            <a:endParaRPr kumimoji="1" lang="zh-CN" altLang="en-US" sz="2000" dirty="0"/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ym typeface="+mn-ea"/>
              </a:rPr>
              <a:t>未深入探讨存在漏洞的隧道主机会带来哪些安全隐患。</a:t>
            </a:r>
            <a:endParaRPr kumimoji="1" lang="en-US" altLang="zh-CN" sz="2000" dirty="0"/>
          </a:p>
          <a:p>
            <a:pPr marL="285750" indent="-28575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ym typeface="+mn-ea"/>
              </a:rPr>
              <a:t>未提出有效的防御措施。</a:t>
            </a:r>
            <a:endParaRPr kumimoji="1"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二、研究内容</a:t>
            </a:r>
            <a:endParaRPr lang="zh-CN" altLang="en-US"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650875" y="2588895"/>
            <a:ext cx="2959100" cy="3154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4651375" y="2588895"/>
            <a:ext cx="2959100" cy="3153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8651875" y="2588895"/>
            <a:ext cx="2959100" cy="31546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>
            <p:custDataLst>
              <p:tags r:id="rId4"/>
            </p:custDataLst>
          </p:nvPr>
        </p:nvCxnSpPr>
        <p:spPr>
          <a:xfrm>
            <a:off x="3736975" y="4165600"/>
            <a:ext cx="7747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5"/>
            </p:custDataLst>
          </p:nvPr>
        </p:nvCxnSpPr>
        <p:spPr>
          <a:xfrm>
            <a:off x="7750175" y="4165600"/>
            <a:ext cx="7747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6"/>
            </p:custDataLst>
          </p:nvPr>
        </p:nvCxnSpPr>
        <p:spPr>
          <a:xfrm>
            <a:off x="650875" y="2609215"/>
            <a:ext cx="0" cy="315087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7"/>
            </p:custDataLst>
          </p:nvPr>
        </p:nvCxnSpPr>
        <p:spPr>
          <a:xfrm>
            <a:off x="4675505" y="2588895"/>
            <a:ext cx="0" cy="3159125"/>
          </a:xfrm>
          <a:prstGeom prst="line">
            <a:avLst/>
          </a:prstGeom>
          <a:ln w="28575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8"/>
            </p:custDataLst>
          </p:nvPr>
        </p:nvCxnSpPr>
        <p:spPr>
          <a:xfrm>
            <a:off x="8663305" y="2588895"/>
            <a:ext cx="0" cy="315341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871220" y="2794000"/>
            <a:ext cx="253047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全网测量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6to4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4in6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GRE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IPIP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GRE6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IP6IP6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隧道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协议节点。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目标：发现全网开放的隧道节点，分析其时空分布特征。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0"/>
            </p:custDataLst>
          </p:nvPr>
        </p:nvSpPr>
        <p:spPr>
          <a:xfrm>
            <a:off x="4980305" y="2794000"/>
            <a:ext cx="231584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问题：设计之初没有默认的认证或加密机制。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内容：从协议层面对隧道协议展开脆弱性分析。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内容占位符 25"/>
          <p:cNvSpPr>
            <a:spLocks noGrp="1"/>
          </p:cNvSpPr>
          <p:nvPr>
            <p:ph idx="1"/>
          </p:nvPr>
        </p:nvSpPr>
        <p:spPr>
          <a:xfrm>
            <a:off x="581025" y="1246505"/>
            <a:ext cx="11029315" cy="1261745"/>
          </a:xfrm>
        </p:spPr>
        <p:txBody>
          <a:bodyPr>
            <a:normAutofit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论文围绕互联网中隧道节点的分布与安全风险展开系统研究，其研究内容主要围绕：</a:t>
            </a:r>
            <a:r>
              <a:rPr lang="zh-CN" altLang="en-US" b="1"/>
              <a:t>全球的隧道节点主动测量、</a:t>
            </a:r>
            <a:r>
              <a:rPr lang="zh-CN" altLang="en-US" b="1">
                <a:sym typeface="+mn-ea"/>
              </a:rPr>
              <a:t>对隧道协议的脆弱性分析、</a:t>
            </a:r>
            <a:r>
              <a:rPr lang="zh-CN" altLang="en-US" b="1"/>
              <a:t>以及基于这些脆弱节点的新型</a:t>
            </a:r>
            <a:r>
              <a:rPr lang="en-US" altLang="zh-CN" b="1"/>
              <a:t> DoS </a:t>
            </a:r>
            <a:r>
              <a:rPr lang="zh-CN" altLang="en-US" b="1"/>
              <a:t>攻击构造与实验评估</a:t>
            </a:r>
            <a:r>
              <a:rPr lang="zh-CN" altLang="en-US"/>
              <a:t>。整个研究从协议机制、测量方法、实验发现到攻击模型逐层构建，形成了一套完整的体系。</a:t>
            </a:r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8874760" y="2794000"/>
            <a:ext cx="23158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攻击构造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核心：这些脆弱节点的滥用与攻击的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构造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攻击模型：循环放大攻击、时间脉冲攻击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887220" y="1748609"/>
            <a:ext cx="5087075" cy="5360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b="1" dirty="0"/>
              <a:t>多维度扫描探测策略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581025" y="2423795"/>
            <a:ext cx="5393055" cy="2602230"/>
          </a:xfrm>
        </p:spPr>
        <p:txBody>
          <a:bodyPr>
            <a:normAutofit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/>
              <a:t>标准探测：</a:t>
            </a:r>
            <a:r>
              <a:rPr lang="zh-CN" altLang="en-US">
                <a:sym typeface="+mn-ea"/>
              </a:rPr>
              <a:t>发送封装包并检测是否被解封装后成功转发回来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ICMP </a:t>
            </a:r>
            <a:r>
              <a:rPr lang="zh-CN" altLang="en-US"/>
              <a:t>反射探测：</a:t>
            </a:r>
            <a:r>
              <a:rPr lang="zh-CN" altLang="en-US">
                <a:sym typeface="+mn-ea"/>
              </a:rPr>
              <a:t>内层包为</a:t>
            </a:r>
            <a:r>
              <a:rPr lang="en-US" altLang="zh-CN">
                <a:sym typeface="+mn-ea"/>
              </a:rPr>
              <a:t> ICMP Echo</a:t>
            </a:r>
            <a:r>
              <a:rPr lang="zh-CN" altLang="en-US">
                <a:sym typeface="+mn-ea"/>
              </a:rPr>
              <a:t>，使被测主机发</a:t>
            </a:r>
            <a:r>
              <a:rPr lang="en-US" altLang="zh-CN">
                <a:sym typeface="+mn-ea"/>
              </a:rPr>
              <a:t> ICMP Reply</a:t>
            </a:r>
            <a:r>
              <a:rPr lang="zh-CN" altLang="en-US">
                <a:sym typeface="+mn-ea"/>
              </a:rPr>
              <a:t>，用于检测那些虽能解封装但无法转发的节点。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TTL </a:t>
            </a:r>
            <a:r>
              <a:rPr lang="zh-CN" altLang="en-US"/>
              <a:t>耗尽探测：</a:t>
            </a:r>
            <a:r>
              <a:rPr lang="zh-CN" altLang="en-US">
                <a:sym typeface="+mn-ea"/>
              </a:rPr>
              <a:t>构造</a:t>
            </a:r>
            <a:r>
              <a:rPr lang="en-US" altLang="zh-CN">
                <a:sym typeface="+mn-ea"/>
              </a:rPr>
              <a:t> TTL 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 0 </a:t>
            </a:r>
            <a:r>
              <a:rPr lang="zh-CN" altLang="en-US">
                <a:sym typeface="+mn-ea"/>
              </a:rPr>
              <a:t>的内层包，通过触发</a:t>
            </a:r>
            <a:r>
              <a:rPr lang="en-US" altLang="zh-CN">
                <a:sym typeface="+mn-ea"/>
              </a:rPr>
              <a:t> ICMP TTL Expired </a:t>
            </a:r>
            <a:r>
              <a:rPr lang="zh-CN" altLang="en-US">
                <a:sym typeface="+mn-ea"/>
              </a:rPr>
              <a:t>返回来识别位于</a:t>
            </a:r>
            <a:r>
              <a:rPr lang="en-US" altLang="zh-CN">
                <a:sym typeface="+mn-ea"/>
              </a:rPr>
              <a:t> NAT </a:t>
            </a:r>
            <a:r>
              <a:rPr lang="zh-CN" altLang="en-US">
                <a:sym typeface="+mn-ea"/>
              </a:rPr>
              <a:t>或私有网络后的节点。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3"/>
          </p:nvPr>
        </p:nvSpPr>
        <p:spPr>
          <a:xfrm>
            <a:off x="6523737" y="1748609"/>
            <a:ext cx="5087073" cy="55337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b="1" dirty="0"/>
              <a:t>测量规模与发现</a:t>
            </a:r>
            <a:endParaRPr lang="zh-CN" altLang="en-US" b="1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4"/>
          </p:nvPr>
        </p:nvSpPr>
        <p:spPr>
          <a:xfrm>
            <a:off x="6217710" y="2423769"/>
            <a:ext cx="5393100" cy="2934999"/>
          </a:xfrm>
        </p:spPr>
        <p:txBody>
          <a:bodyPr/>
          <a:lstStyle/>
          <a:p>
            <a:r>
              <a:rPr lang="zh-CN" altLang="en-US"/>
              <a:t>覆盖全球</a:t>
            </a:r>
            <a:r>
              <a:rPr lang="en-US" altLang="zh-CN"/>
              <a:t> 216</a:t>
            </a:r>
            <a:r>
              <a:rPr lang="zh-CN" altLang="en-US"/>
              <a:t>个国家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13,114</a:t>
            </a:r>
            <a:r>
              <a:rPr lang="zh-CN" altLang="en-US"/>
              <a:t>个自治系统</a:t>
            </a:r>
            <a:r>
              <a:rPr lang="en-US" altLang="zh-CN"/>
              <a:t> (AS)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发现超过</a:t>
            </a:r>
            <a:r>
              <a:rPr lang="en-US" altLang="zh-CN"/>
              <a:t>400</a:t>
            </a:r>
            <a:r>
              <a:rPr lang="zh-CN" altLang="en-US"/>
              <a:t>万个易受攻击的隧道主机。</a:t>
            </a:r>
            <a:endParaRPr lang="zh-CN" altLang="en-US"/>
          </a:p>
          <a:p>
            <a:r>
              <a:rPr lang="zh-CN" altLang="en-US"/>
              <a:t>主要协议分布：</a:t>
            </a:r>
            <a:r>
              <a:rPr lang="en-US" altLang="zh-CN"/>
              <a:t>6in4 (212</a:t>
            </a:r>
            <a:r>
              <a:rPr lang="zh-CN" altLang="en-US"/>
              <a:t>万</a:t>
            </a:r>
            <a:r>
              <a:rPr lang="en-US" altLang="zh-CN"/>
              <a:t>+), GRE (154</a:t>
            </a:r>
            <a:r>
              <a:rPr lang="zh-CN" altLang="en-US"/>
              <a:t>万</a:t>
            </a:r>
            <a:r>
              <a:rPr lang="en-US" altLang="zh-CN"/>
              <a:t>+), IPIP (53</a:t>
            </a:r>
            <a:r>
              <a:rPr lang="zh-CN" altLang="en-US"/>
              <a:t>万</a:t>
            </a:r>
            <a:r>
              <a:rPr lang="en-US" altLang="zh-CN"/>
              <a:t>+)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二、研究内容</a:t>
            </a:r>
            <a:endParaRPr lang="zh-CN" altLang="en-US"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1025" y="1288415"/>
            <a:ext cx="5387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研究内容一：全球隧道节点测量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581025" y="5861050"/>
            <a:ext cx="5460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节点分布特征：中美两国节点数量最多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3842385"/>
            <a:ext cx="5195570" cy="2769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81025" y="3717290"/>
            <a:ext cx="5344160" cy="3102610"/>
          </a:xfrm>
        </p:spPr>
        <p:txBody>
          <a:bodyPr>
            <a:normAutofit lnSpcReduction="10000"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这种隧道节点存在多种可以利用的场景：</a:t>
            </a:r>
            <a:endParaRPr lang="en-US" altLang="zh-CN" dirty="0"/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/>
              <a:t>1. </a:t>
            </a:r>
            <a:r>
              <a:rPr lang="zh-CN" altLang="en-US" dirty="0"/>
              <a:t>源地址欺骗：</a:t>
            </a:r>
            <a:br>
              <a:rPr lang="zh-CN" altLang="en-US" dirty="0"/>
            </a:br>
            <a:r>
              <a:rPr lang="zh-CN" altLang="en-US" dirty="0"/>
              <a:t>隧道节点未检查内外层</a:t>
            </a:r>
            <a:r>
              <a:rPr lang="en-US" altLang="zh-CN" dirty="0"/>
              <a:t> IP </a:t>
            </a:r>
            <a:r>
              <a:rPr lang="zh-CN" altLang="en-US" dirty="0"/>
              <a:t>的一致性。攻击者可利用隧道节点伪装成任意</a:t>
            </a:r>
            <a:r>
              <a:rPr lang="en-US" altLang="zh-CN" dirty="0"/>
              <a:t> IP</a:t>
            </a:r>
            <a:r>
              <a:rPr lang="zh-CN" altLang="en-US" dirty="0"/>
              <a:t>，绕过</a:t>
            </a:r>
            <a:r>
              <a:rPr lang="zh-CN" altLang="en-US" dirty="0"/>
              <a:t>访问控制策略。</a:t>
            </a:r>
            <a:endParaRPr lang="zh-CN" altLang="en-US" dirty="0"/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/>
              <a:t>2. </a:t>
            </a:r>
            <a:r>
              <a:rPr lang="zh-CN" altLang="en-US" dirty="0"/>
              <a:t>绕过服务限速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zh-CN" altLang="en-US" dirty="0"/>
              <a:t>利用</a:t>
            </a:r>
            <a:r>
              <a:rPr lang="en-US" altLang="zh-CN" dirty="0"/>
              <a:t> 6to4 </a:t>
            </a:r>
            <a:r>
              <a:rPr lang="zh-CN" altLang="en-US" dirty="0"/>
              <a:t>机制的</a:t>
            </a:r>
            <a:r>
              <a:rPr lang="en-US" altLang="zh-CN" dirty="0"/>
              <a:t> /48 </a:t>
            </a:r>
            <a:r>
              <a:rPr lang="zh-CN" altLang="en-US" dirty="0"/>
              <a:t>前缀巨大空间，攻击者通过轮换</a:t>
            </a:r>
            <a:r>
              <a:rPr lang="en-US" altLang="zh-CN" dirty="0"/>
              <a:t> IPv6 </a:t>
            </a:r>
            <a:r>
              <a:rPr lang="zh-CN" altLang="en-US" dirty="0"/>
              <a:t>后缀，轻松绕过针对</a:t>
            </a:r>
            <a:r>
              <a:rPr lang="en-US" altLang="zh-CN" dirty="0"/>
              <a:t> IP </a:t>
            </a:r>
            <a:r>
              <a:rPr lang="zh-CN" altLang="en-US" dirty="0"/>
              <a:t>的限速策略。</a:t>
            </a:r>
            <a:endParaRPr lang="zh-CN" altLang="en-US" dirty="0"/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zh-CN" dirty="0"/>
              <a:t>3. </a:t>
            </a:r>
            <a:r>
              <a:rPr lang="zh-CN" altLang="en-US" dirty="0"/>
              <a:t>开放服务滥用：</a:t>
            </a:r>
            <a:br>
              <a:rPr lang="zh-CN" altLang="en-US" dirty="0"/>
            </a:br>
            <a:r>
              <a:rPr lang="zh-CN" altLang="en-US" dirty="0"/>
              <a:t>许多节点在</a:t>
            </a:r>
            <a:r>
              <a:rPr lang="en-US" altLang="zh-CN" dirty="0"/>
              <a:t> IPv4 </a:t>
            </a:r>
            <a:r>
              <a:rPr lang="zh-CN" altLang="en-US" dirty="0"/>
              <a:t>侧关闭了敏感端口，但在隧道内侧（</a:t>
            </a:r>
            <a:r>
              <a:rPr lang="en-US" altLang="zh-CN" dirty="0"/>
              <a:t>IPv6</a:t>
            </a:r>
            <a:r>
              <a:rPr lang="zh-CN" altLang="en-US" dirty="0"/>
              <a:t>）却完全开放，成为反射攻击源。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二、研究内容</a:t>
            </a:r>
            <a:endParaRPr lang="zh-CN" altLang="en-US"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1025" y="1288415"/>
            <a:ext cx="5387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b="1"/>
              <a:t>研究内容二：隧道安全分析及</a:t>
            </a:r>
            <a:r>
              <a:rPr lang="zh-CN" altLang="en-US" sz="2400" b="1">
                <a:sym typeface="+mn-ea"/>
              </a:rPr>
              <a:t>攻击构造</a:t>
            </a:r>
            <a:endParaRPr lang="zh-CN" altLang="en-US" sz="2400" b="1"/>
          </a:p>
        </p:txBody>
      </p:sp>
      <p:cxnSp>
        <p:nvCxnSpPr>
          <p:cNvPr id="20" name="直接连接符 19"/>
          <p:cNvCxnSpPr/>
          <p:nvPr>
            <p:custDataLst>
              <p:tags r:id="rId1"/>
            </p:custDataLst>
          </p:nvPr>
        </p:nvCxnSpPr>
        <p:spPr>
          <a:xfrm>
            <a:off x="6033770" y="1760855"/>
            <a:ext cx="0" cy="475107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6196965" y="1798955"/>
            <a:ext cx="5414010" cy="3710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n"/>
            </a:pP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DoS 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攻击机制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1" dirty="0"/>
              <a:t>Ping-Pong 放大攻击：</a:t>
            </a:r>
            <a:endParaRPr lang="zh-CN" altLang="en-US" sz="2000" b="1" dirty="0"/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在两个脆弱隧道节点间构造循环包，消耗带宽。放大倍数可达75倍。</a:t>
            </a:r>
            <a:endParaRPr lang="zh-CN" altLang="en-US" dirty="0"/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zh-CN" altLang="en-US" dirty="0"/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zh-CN" altLang="en-US" dirty="0"/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zh-CN" altLang="en-US" dirty="0"/>
          </a:p>
          <a:p>
            <a:pPr algn="l">
              <a:lnSpc>
                <a:spcPct val="100000"/>
              </a:lnSpc>
              <a:buClrTx/>
              <a:buSzTx/>
              <a:buFontTx/>
            </a:pPr>
            <a:endParaRPr lang="zh-CN" altLang="en-US" dirty="0"/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sym typeface="+mn-ea"/>
              </a:rPr>
              <a:t>时间脉冲攻击</a:t>
            </a:r>
            <a:r>
              <a:rPr lang="zh-CN" altLang="en-US" b="1" dirty="0"/>
              <a:t>：</a:t>
            </a:r>
            <a:endParaRPr lang="zh-CN" altLang="en-US" b="1" dirty="0"/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利用多条隧道路径的延迟差异，发送数据包使其在同一时刻到达受害者，形成瞬时流量脉冲。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l="6772" t="21111" r="9593" b="13016"/>
          <a:stretch>
            <a:fillRect/>
          </a:stretch>
        </p:blipFill>
        <p:spPr>
          <a:xfrm>
            <a:off x="7259320" y="3103245"/>
            <a:ext cx="3521075" cy="7905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145" y="4941570"/>
            <a:ext cx="4093210" cy="118999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81025" y="1798955"/>
            <a:ext cx="5346700" cy="191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/>
              <a:t>隧道协议在设计时缺乏默认的</a:t>
            </a:r>
            <a:r>
              <a:rPr lang="zh-CN" altLang="en-US" b="1"/>
              <a:t>认证或加密机制</a:t>
            </a:r>
            <a:r>
              <a:rPr lang="zh-CN" altLang="en-US"/>
              <a:t>。部署时若未明确指定远端地址，系统会默认接受</a:t>
            </a:r>
            <a:r>
              <a:rPr lang="zh-CN" altLang="en-US" b="1"/>
              <a:t>任意来源的数据包</a:t>
            </a:r>
            <a:r>
              <a:rPr lang="zh-CN" altLang="en-US"/>
              <a:t>。配置错误结合缺乏</a:t>
            </a:r>
            <a:r>
              <a:rPr lang="zh-CN" altLang="en-US" b="1"/>
              <a:t>源地址验证</a:t>
            </a:r>
            <a:r>
              <a:rPr lang="zh-CN" altLang="en-US"/>
              <a:t>，导致这些节点沦为</a:t>
            </a:r>
            <a:r>
              <a:rPr lang="en-US" altLang="zh-CN"/>
              <a:t>“</a:t>
            </a:r>
            <a:r>
              <a:rPr lang="zh-CN" altLang="en-US"/>
              <a:t>开放隧道节点</a:t>
            </a:r>
            <a:r>
              <a:rPr lang="en-US" altLang="zh-CN"/>
              <a:t>”</a:t>
            </a:r>
            <a:r>
              <a:rPr lang="zh-CN" altLang="en-US"/>
              <a:t>。攻击者可发送未经认证的隧道包，利用节点进行解封装和转发，从而轻易</a:t>
            </a:r>
            <a:r>
              <a:rPr lang="zh-CN" altLang="en-US" b="1"/>
              <a:t>绕过网络安全控制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3600"/>
              <a:t>三、</a:t>
            </a: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复现动机与扩展计划</a:t>
            </a:r>
            <a:endParaRPr lang="zh-CN" altLang="en-US" sz="3600"/>
          </a:p>
        </p:txBody>
      </p:sp>
      <p:sp>
        <p:nvSpPr>
          <p:cNvPr id="21" name="文本框 20"/>
          <p:cNvSpPr txBox="1"/>
          <p:nvPr/>
        </p:nvSpPr>
        <p:spPr>
          <a:xfrm>
            <a:off x="4976042" y="1860818"/>
            <a:ext cx="6592207" cy="4169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从静态发现到动态演化分析</a:t>
            </a:r>
            <a:endParaRPr kumimoji="1" lang="zh-CN" altLang="en-US" sz="20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验证论文对</a:t>
            </a:r>
            <a:r>
              <a:rPr lang="en-US" altLang="zh-CN" b="1" dirty="0"/>
              <a:t>IP6IP6</a:t>
            </a:r>
            <a:r>
              <a:rPr lang="zh-CN" altLang="en-US" b="1" dirty="0"/>
              <a:t>、</a:t>
            </a:r>
            <a:r>
              <a:rPr lang="en-US" altLang="zh-CN" b="1" dirty="0"/>
              <a:t>GRE</a:t>
            </a:r>
            <a:r>
              <a:rPr lang="zh-CN" altLang="en-US" b="1" dirty="0"/>
              <a:t>和</a:t>
            </a:r>
            <a:r>
              <a:rPr lang="en-US" altLang="zh-CN" b="1" dirty="0"/>
              <a:t>6in4</a:t>
            </a:r>
            <a:r>
              <a:rPr lang="zh-CN" altLang="en-US" b="1" dirty="0"/>
              <a:t>等</a:t>
            </a:r>
            <a:r>
              <a:rPr lang="zh-CN" altLang="en-US" dirty="0"/>
              <a:t>协议的大规模测量结果。</a:t>
            </a:r>
            <a:endParaRPr lang="zh-CN" altLang="en-US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持续监控隧道节点，分析其</a:t>
            </a:r>
            <a:r>
              <a:rPr lang="zh-CN" altLang="en-US" b="1" dirty="0"/>
              <a:t>存活状态变化趋势。</a:t>
            </a:r>
            <a:endParaRPr lang="en-US" altLang="zh-CN" dirty="0"/>
          </a:p>
          <a:p>
            <a:pPr>
              <a:lnSpc>
                <a:spcPct val="130000"/>
              </a:lnSpc>
            </a:pPr>
            <a:endParaRPr lang="zh-CN" altLang="en-US" dirty="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从理解攻击机理到构建防御体系</a:t>
            </a:r>
            <a:endParaRPr kumimoji="1" lang="zh-CN" altLang="en-US" sz="20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验证并理解基于隧道节点的新型</a:t>
            </a:r>
            <a:r>
              <a:rPr lang="en-US" altLang="zh-CN" b="1" dirty="0"/>
              <a:t>DoS</a:t>
            </a:r>
            <a:r>
              <a:rPr lang="zh-CN" altLang="en-US" b="1" dirty="0"/>
              <a:t>攻击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探索防御该</a:t>
            </a:r>
            <a:r>
              <a:rPr lang="en-US" altLang="zh-CN" dirty="0"/>
              <a:t>DoS</a:t>
            </a:r>
            <a:r>
              <a:rPr lang="zh-CN" altLang="en-US" dirty="0"/>
              <a:t>攻击的</a:t>
            </a:r>
            <a:r>
              <a:rPr lang="zh-CN" altLang="en-US" b="1" dirty="0"/>
              <a:t>防御策略</a:t>
            </a:r>
            <a:r>
              <a:rPr lang="zh-CN" altLang="en-US" dirty="0"/>
              <a:t>。</a:t>
            </a:r>
            <a:endParaRPr lang="zh-CN" altLang="en-US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kumimoji="1" lang="zh-CN" altLang="en-US" sz="2000" b="1" dirty="0">
                <a:solidFill>
                  <a:schemeClr val="accent2"/>
                </a:solidFill>
              </a:rPr>
              <a:t>量化源地址验证（</a:t>
            </a:r>
            <a:r>
              <a:rPr kumimoji="1" lang="en-US" altLang="zh-CN" sz="2000" b="1" dirty="0">
                <a:solidFill>
                  <a:schemeClr val="accent2"/>
                </a:solidFill>
              </a:rPr>
              <a:t>SAV</a:t>
            </a:r>
            <a:r>
              <a:rPr kumimoji="1" lang="zh-CN" altLang="en-US" sz="2000" b="1" dirty="0">
                <a:solidFill>
                  <a:schemeClr val="accent2"/>
                </a:solidFill>
              </a:rPr>
              <a:t>）的部署情况</a:t>
            </a:r>
            <a:endParaRPr kumimoji="1" lang="zh-CN" altLang="en-US" sz="2000" b="1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论文并未测量隧道节点上部署</a:t>
            </a:r>
            <a:r>
              <a:rPr lang="en-US" altLang="zh-CN" dirty="0"/>
              <a:t>SAV</a:t>
            </a:r>
            <a:r>
              <a:rPr lang="zh-CN" altLang="en-US" dirty="0"/>
              <a:t>的情况。</a:t>
            </a:r>
            <a:endParaRPr lang="en-US" altLang="zh-CN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设计具体的测量方法，量化评估隧道节点中</a:t>
            </a:r>
            <a:r>
              <a:rPr lang="en-US" altLang="zh-CN" b="1" dirty="0"/>
              <a:t>SAV</a:t>
            </a:r>
            <a:r>
              <a:rPr lang="zh-CN" altLang="en-US" b="1" dirty="0"/>
              <a:t>部署的情况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418" y="1713854"/>
            <a:ext cx="3420307" cy="369447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14232" y="5706739"/>
            <a:ext cx="148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SAV</a:t>
            </a:r>
            <a:r>
              <a:rPr lang="zh-CN" altLang="en-US" dirty="0"/>
              <a:t>体系结构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980767" y="1676143"/>
            <a:ext cx="3487958" cy="439992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738370" y="149225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Tx/>
              <a:buSzTx/>
              <a:buFont typeface="Wingdings" panose="05000000000000000000" charset="0"/>
              <a:buChar char="n"/>
            </a:pP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复现动机:</a:t>
            </a:r>
            <a:endParaRPr lang="en-US" altLang="zh-CN" sz="2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sz="3600">
                <a:sym typeface="+mn-ea"/>
              </a:rPr>
              <a:t>三、</a:t>
            </a: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复现动机与扩展计划</a:t>
            </a:r>
            <a:endParaRPr lang="zh-CN" altLang="en-US"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1025" y="1278255"/>
            <a:ext cx="1102995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复现计划:</a:t>
            </a:r>
            <a:endParaRPr lang="en-US" altLang="zh-CN"/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>
          <a:xfrm>
            <a:off x="581025" y="1816735"/>
            <a:ext cx="11030585" cy="4344670"/>
          </a:xfrm>
        </p:spPr>
        <p:txBody>
          <a:bodyPr>
            <a:normAutofit lnSpcReduction="20000"/>
          </a:bodyPr>
          <a:lstStyle/>
          <a:p>
            <a:pPr>
              <a:lnSpc>
                <a:spcPct val="130000"/>
              </a:lnSpc>
            </a:pPr>
            <a:r>
              <a:rPr lang="en-US" altLang="zh-CN" b="1"/>
              <a:t>1. </a:t>
            </a:r>
            <a:r>
              <a:rPr lang="zh-CN" altLang="en-US" b="1"/>
              <a:t>进行全网隧道节点扫描：</a:t>
            </a:r>
            <a:br>
              <a:rPr lang="zh-CN" altLang="en-US"/>
            </a:br>
            <a:r>
              <a:rPr lang="zh-CN" altLang="en-US"/>
              <a:t>参考论文中提出的三类探测方法：</a:t>
            </a:r>
            <a:r>
              <a:rPr lang="zh-CN" altLang="en-US" b="1"/>
              <a:t>标准探测、</a:t>
            </a:r>
            <a:r>
              <a:rPr lang="en-US" altLang="zh-CN" b="1"/>
              <a:t>ICMP </a:t>
            </a:r>
            <a:r>
              <a:rPr lang="zh-CN" altLang="en-US" b="1"/>
              <a:t>反射探测与</a:t>
            </a:r>
            <a:r>
              <a:rPr lang="en-US" altLang="zh-CN" b="1"/>
              <a:t> TTL </a:t>
            </a:r>
            <a:r>
              <a:rPr lang="zh-CN" altLang="en-US" b="1"/>
              <a:t>耗尽探测</a:t>
            </a:r>
            <a:r>
              <a:rPr lang="en-US" altLang="zh-CN"/>
              <a:t>——</a:t>
            </a:r>
            <a:r>
              <a:rPr lang="zh-CN" altLang="en-US"/>
              <a:t>在</a:t>
            </a:r>
            <a:r>
              <a:rPr lang="en-US" altLang="zh-CN"/>
              <a:t> ZMap </a:t>
            </a:r>
            <a:r>
              <a:rPr lang="zh-CN" altLang="en-US"/>
              <a:t>上实现相应的扩展扫描模块，对</a:t>
            </a:r>
            <a:r>
              <a:rPr lang="en-US" altLang="zh-CN" b="1"/>
              <a:t>6to4</a:t>
            </a:r>
            <a:r>
              <a:rPr lang="zh-CN" altLang="en-US" b="1"/>
              <a:t>、</a:t>
            </a:r>
            <a:r>
              <a:rPr lang="en-US" altLang="zh-CN" b="1"/>
              <a:t>GRE</a:t>
            </a:r>
            <a:r>
              <a:rPr lang="zh-CN" altLang="en-US" b="1"/>
              <a:t>、</a:t>
            </a:r>
            <a:r>
              <a:rPr lang="en-US" altLang="zh-CN" b="1"/>
              <a:t>IP6IP6</a:t>
            </a:r>
            <a:r>
              <a:rPr lang="zh-CN" altLang="en-US"/>
              <a:t>等不同类型的隧道协议进行全网范围的测绘。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 b="1"/>
              <a:t>2. </a:t>
            </a:r>
            <a:r>
              <a:rPr lang="zh-CN" altLang="en-US" b="1"/>
              <a:t>进行漏洞主机数据分析：</a:t>
            </a:r>
            <a:br>
              <a:rPr lang="zh-CN" altLang="en-US"/>
            </a:br>
            <a:r>
              <a:rPr lang="zh-CN" altLang="en-US"/>
              <a:t>统计不同隧道协议对应的</a:t>
            </a:r>
            <a:r>
              <a:rPr lang="zh-CN" altLang="en-US" b="1"/>
              <a:t>漏洞主机规模</a:t>
            </a:r>
            <a:r>
              <a:rPr lang="zh-CN" altLang="en-US"/>
              <a:t>，比较它们在全网中的占比差异。随后结合地理位置数据库与</a:t>
            </a:r>
            <a:r>
              <a:rPr lang="en-US" altLang="zh-CN"/>
              <a:t> BGP/ASN </a:t>
            </a:r>
            <a:r>
              <a:rPr lang="zh-CN" altLang="en-US"/>
              <a:t>映射数据，对漏洞主机进行</a:t>
            </a:r>
            <a:r>
              <a:rPr lang="zh-CN" altLang="en-US" b="1"/>
              <a:t>地理分布和自治系统归属分析</a:t>
            </a:r>
            <a:r>
              <a:rPr lang="zh-CN" altLang="en-US"/>
              <a:t>。并将论文实验中的数据与当前扫描得到的现实情况进行对照，观察不同隧道协议的漏洞主机数量随时间的</a:t>
            </a:r>
            <a:r>
              <a:rPr lang="zh-CN" altLang="en-US" b="1"/>
              <a:t>演化趋势</a:t>
            </a:r>
            <a:r>
              <a:rPr lang="zh-CN" altLang="en-US"/>
              <a:t>，并分析造成变化的潜在原因。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en-US" altLang="zh-CN" b="1"/>
              <a:t>3. </a:t>
            </a:r>
            <a:r>
              <a:rPr lang="zh-CN" altLang="en-US" b="1"/>
              <a:t>攻击验证与演示：</a:t>
            </a:r>
            <a:br>
              <a:rPr lang="zh-CN" altLang="en-US"/>
            </a:br>
            <a:r>
              <a:rPr lang="zh-CN" altLang="en-US"/>
              <a:t>搭建受控环境复现论文中提出的</a:t>
            </a:r>
            <a:r>
              <a:rPr lang="en-US" altLang="zh-CN"/>
              <a:t>DoS</a:t>
            </a:r>
            <a:r>
              <a:rPr lang="zh-CN" altLang="en-US"/>
              <a:t>攻击，</a:t>
            </a:r>
            <a:r>
              <a:rPr lang="zh-CN" altLang="en-US">
                <a:sym typeface="+mn-ea"/>
              </a:rPr>
              <a:t>在预先筛选出的漏洞主机之间构造</a:t>
            </a:r>
            <a:r>
              <a:rPr lang="zh-CN" altLang="en-US" b="1">
                <a:sym typeface="+mn-ea"/>
              </a:rPr>
              <a:t>多层封装的数据包</a:t>
            </a:r>
            <a:r>
              <a:rPr lang="zh-CN" altLang="en-US">
                <a:sym typeface="+mn-ea"/>
              </a:rPr>
              <a:t>，使其在不同隧道协议间循环往返，</a:t>
            </a:r>
            <a:r>
              <a:rPr lang="zh-CN" altLang="en-US"/>
              <a:t>验证</a:t>
            </a:r>
            <a:r>
              <a:rPr lang="en-US" altLang="zh-CN">
                <a:sym typeface="+mn-ea"/>
              </a:rPr>
              <a:t>Ping-Pong</a:t>
            </a:r>
            <a:r>
              <a:rPr lang="zh-CN" altLang="en-US">
                <a:sym typeface="+mn-ea"/>
              </a:rPr>
              <a:t>放大攻击的</a:t>
            </a:r>
            <a:r>
              <a:rPr lang="zh-CN" altLang="en-US" b="1"/>
              <a:t>流量放大效果</a:t>
            </a:r>
            <a:r>
              <a:rPr lang="zh-CN" altLang="en-US"/>
              <a:t>。同时，利用具有不同路径时延的多台漏洞主机构建攻击路径，让数据包在多条路径上按预设节奏聚合，展现在时间维度上的</a:t>
            </a:r>
            <a:r>
              <a:rPr lang="zh-CN" altLang="en-US" b="1"/>
              <a:t>集中</a:t>
            </a:r>
            <a:r>
              <a:rPr lang="zh-CN" altLang="en-US" b="1">
                <a:sym typeface="+mn-ea"/>
              </a:rPr>
              <a:t>攻击</a:t>
            </a:r>
            <a:r>
              <a:rPr lang="zh-CN" altLang="en-US" b="1"/>
              <a:t>效果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887220" y="2389959"/>
            <a:ext cx="5087075" cy="536005"/>
          </a:xfrm>
        </p:spPr>
        <p:txBody>
          <a:bodyPr/>
          <a:lstStyle/>
          <a:p>
            <a:r>
              <a:rPr lang="zh-CN" altLang="en-US" sz="2000"/>
              <a:t>场景</a:t>
            </a:r>
            <a:r>
              <a:rPr lang="en-US" altLang="zh-CN" sz="2000"/>
              <a:t> A</a:t>
            </a:r>
            <a:r>
              <a:rPr lang="zh-CN" altLang="en-US" sz="2000"/>
              <a:t>：测量入网过滤</a:t>
            </a:r>
            <a:r>
              <a:rPr lang="en-US" altLang="zh-CN" sz="2000"/>
              <a:t> (Inbound SAV)</a:t>
            </a:r>
            <a:endParaRPr lang="en-US" altLang="zh-CN" sz="200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原理：反射探测</a:t>
            </a:r>
            <a:endParaRPr lang="en-US" altLang="zh-CN"/>
          </a:p>
          <a:p>
            <a:r>
              <a:rPr lang="zh-CN" altLang="en-US"/>
              <a:t>向目标隧道发送一个伪造了源地址（伪装成目标内网</a:t>
            </a:r>
            <a:r>
              <a:rPr lang="en-US" altLang="zh-CN"/>
              <a:t> IP</a:t>
            </a:r>
            <a:r>
              <a:rPr lang="zh-CN" altLang="en-US"/>
              <a:t>）的封装包。</a:t>
            </a:r>
            <a:endParaRPr lang="zh-CN" altLang="en-US"/>
          </a:p>
          <a:p>
            <a:r>
              <a:rPr lang="zh-CN" altLang="en-US"/>
              <a:t>如果隧道节点解封装并回复</a:t>
            </a:r>
            <a:r>
              <a:rPr lang="en-US" altLang="zh-CN"/>
              <a:t>/</a:t>
            </a:r>
            <a:r>
              <a:rPr lang="zh-CN" altLang="en-US"/>
              <a:t>反射了数据包，说明该网络未部署</a:t>
            </a:r>
            <a:r>
              <a:rPr lang="en-US" altLang="zh-CN"/>
              <a:t> Inbound SAV</a:t>
            </a:r>
            <a:r>
              <a:rPr lang="zh-CN" altLang="en-US"/>
              <a:t>（允许伪造的内网包进入）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3"/>
          </p:nvPr>
        </p:nvSpPr>
        <p:spPr>
          <a:xfrm>
            <a:off x="6523737" y="2439489"/>
            <a:ext cx="5087073" cy="553373"/>
          </a:xfrm>
        </p:spPr>
        <p:txBody>
          <a:bodyPr/>
          <a:lstStyle/>
          <a:p>
            <a:r>
              <a:rPr lang="zh-CN" altLang="en-US" sz="2000"/>
              <a:t>场景</a:t>
            </a:r>
            <a:r>
              <a:rPr lang="en-US" altLang="zh-CN" sz="2000"/>
              <a:t> B</a:t>
            </a:r>
            <a:r>
              <a:rPr lang="zh-CN" altLang="en-US" sz="2000"/>
              <a:t>：测量出网过滤</a:t>
            </a:r>
            <a:r>
              <a:rPr lang="en-US" altLang="zh-CN" sz="2000"/>
              <a:t> (Outbound SAV)</a:t>
            </a:r>
            <a:endParaRPr lang="en-US" altLang="zh-CN" sz="2000"/>
          </a:p>
        </p:txBody>
      </p:sp>
      <p:sp>
        <p:nvSpPr>
          <p:cNvPr id="5" name="内容占位符 4"/>
          <p:cNvSpPr>
            <a:spLocks noGrp="1"/>
          </p:cNvSpPr>
          <p:nvPr>
            <p:ph sz="quarter" idx="4"/>
          </p:nvPr>
        </p:nvSpPr>
        <p:spPr>
          <a:xfrm>
            <a:off x="6217920" y="2926080"/>
            <a:ext cx="2871470" cy="2934970"/>
          </a:xfrm>
        </p:spPr>
        <p:txBody>
          <a:bodyPr/>
          <a:lstStyle/>
          <a:p>
            <a:r>
              <a:rPr lang="zh-CN" altLang="en-US"/>
              <a:t>原理：转发探测</a:t>
            </a:r>
            <a:endParaRPr lang="en-US" altLang="zh-CN"/>
          </a:p>
          <a:p>
            <a:r>
              <a:rPr lang="zh-CN" altLang="en-US"/>
              <a:t>向目标隧道发送一个封装包，内层是伪造的</a:t>
            </a:r>
            <a:r>
              <a:rPr lang="en-US" altLang="zh-CN"/>
              <a:t> IPv6 </a:t>
            </a:r>
            <a:r>
              <a:rPr lang="zh-CN" altLang="en-US"/>
              <a:t>源地址。</a:t>
            </a:r>
            <a:endParaRPr lang="zh-CN" altLang="en-US"/>
          </a:p>
          <a:p>
            <a:r>
              <a:rPr lang="zh-CN" altLang="en-US"/>
              <a:t>如果隧道节点将该内层包转发到公网（被探测者收到），说明该网络未部署</a:t>
            </a:r>
            <a:r>
              <a:rPr lang="en-US" altLang="zh-CN"/>
              <a:t> Outbound SAV</a:t>
            </a:r>
            <a:r>
              <a:rPr lang="zh-CN" altLang="en-US"/>
              <a:t>（允许伪造包发出）。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>
                <a:sym typeface="+mn-ea"/>
              </a:rPr>
              <a:t>三、</a:t>
            </a: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复现动机与扩展计划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1025" y="1692275"/>
            <a:ext cx="11029950" cy="85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b="1"/>
              <a:t>基于隧道的源地址验证</a:t>
            </a:r>
            <a:r>
              <a:rPr lang="en-US" altLang="zh-CN" sz="2000" b="1"/>
              <a:t> (SAV) </a:t>
            </a:r>
            <a:r>
              <a:rPr lang="zh-CN" altLang="en-US" sz="2000" b="1"/>
              <a:t>测量</a:t>
            </a:r>
            <a:endParaRPr lang="zh-CN" altLang="en-US" sz="2000" b="1"/>
          </a:p>
          <a:p>
            <a:pPr>
              <a:lnSpc>
                <a:spcPct val="130000"/>
              </a:lnSpc>
            </a:pPr>
            <a:r>
              <a:rPr lang="zh-CN" altLang="en-US"/>
              <a:t>核心思路：将脆弱的隧道节点转化为</a:t>
            </a:r>
            <a:r>
              <a:rPr lang="zh-CN" altLang="en-US" b="1">
                <a:solidFill>
                  <a:schemeClr val="accent2"/>
                </a:solidFill>
              </a:rPr>
              <a:t>远程测量点</a:t>
            </a:r>
            <a:r>
              <a:rPr lang="zh-CN" altLang="en-US"/>
              <a:t>，解决传统</a:t>
            </a:r>
            <a:r>
              <a:rPr lang="en-US" altLang="zh-CN"/>
              <a:t> SAV </a:t>
            </a:r>
            <a:r>
              <a:rPr lang="zh-CN" altLang="en-US"/>
              <a:t>测量缺乏探针的难题。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3329305"/>
            <a:ext cx="5438775" cy="32867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870" y="3359150"/>
            <a:ext cx="3199130" cy="32569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1025" y="1278255"/>
            <a:ext cx="1102995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n"/>
            </a:pPr>
            <a:r>
              <a:rPr lang="zh-CN" altLang="en-US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扩展</a:t>
            </a:r>
            <a:r>
              <a:rPr lang="en-US" altLang="zh-CN" sz="2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计划: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887220" y="1744708"/>
            <a:ext cx="5087075" cy="5360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kumimoji="1" lang="zh-CN" altLang="en-US" b="1" dirty="0"/>
              <a:t>预期成果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887221" y="2517839"/>
            <a:ext cx="4468550" cy="2620217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验证论文对</a:t>
            </a:r>
            <a:r>
              <a:rPr kumimoji="1" lang="en-US" altLang="zh-CN" dirty="0"/>
              <a:t>IP6IP6</a:t>
            </a:r>
            <a:r>
              <a:rPr kumimoji="1" lang="zh-CN" altLang="en-US" dirty="0"/>
              <a:t>、</a:t>
            </a:r>
            <a:r>
              <a:rPr kumimoji="1" lang="en-US" altLang="zh-CN" dirty="0"/>
              <a:t>GRE</a:t>
            </a:r>
            <a:r>
              <a:rPr kumimoji="1" lang="zh-CN" altLang="en-US" dirty="0"/>
              <a:t>和</a:t>
            </a:r>
            <a:r>
              <a:rPr kumimoji="1" lang="en-US" altLang="zh-CN" dirty="0"/>
              <a:t>6in4</a:t>
            </a:r>
            <a:r>
              <a:rPr kumimoji="1" lang="zh-CN" altLang="en-US" dirty="0"/>
              <a:t>等隧道协议的大规模测量结果。</a:t>
            </a:r>
            <a:endParaRPr kumimoji="1" lang="zh-CN" altLang="en-US" dirty="0"/>
          </a:p>
          <a:p>
            <a:r>
              <a:rPr kumimoji="1" lang="zh-CN" altLang="en-US" dirty="0"/>
              <a:t>持续监测隧道节点的</a:t>
            </a:r>
            <a:r>
              <a:rPr lang="zh-CN" altLang="en-US" dirty="0"/>
              <a:t>存活变化趋势。</a:t>
            </a:r>
            <a:endParaRPr lang="en-US" altLang="zh-CN" dirty="0"/>
          </a:p>
          <a:p>
            <a:r>
              <a:rPr kumimoji="1" lang="zh-CN" altLang="en-US" dirty="0"/>
              <a:t>验证基于隧道节点的新型</a:t>
            </a:r>
            <a:r>
              <a:rPr kumimoji="1" lang="en-US" altLang="zh-CN" dirty="0"/>
              <a:t>DoS</a:t>
            </a:r>
            <a:r>
              <a:rPr kumimoji="1" lang="zh-CN" altLang="en-US" dirty="0"/>
              <a:t>攻击。</a:t>
            </a:r>
            <a:endParaRPr kumimoji="1" lang="zh-CN" altLang="en-US" dirty="0"/>
          </a:p>
          <a:p>
            <a:r>
              <a:rPr lang="zh-CN" altLang="en-US" dirty="0"/>
              <a:t>探索防御该</a:t>
            </a:r>
            <a:r>
              <a:rPr lang="en-US" altLang="zh-CN" dirty="0"/>
              <a:t>DoS</a:t>
            </a:r>
            <a:r>
              <a:rPr lang="zh-CN" altLang="en-US" dirty="0"/>
              <a:t>攻击的防御策略。</a:t>
            </a:r>
            <a:endParaRPr kumimoji="1" lang="en-US" altLang="zh-CN" dirty="0"/>
          </a:p>
          <a:p>
            <a:r>
              <a:rPr kumimoji="1" lang="zh-CN" altLang="en-US" dirty="0"/>
              <a:t>量化评估隧道节点中</a:t>
            </a:r>
            <a:r>
              <a:rPr kumimoji="1" lang="en-US" altLang="zh-CN" dirty="0"/>
              <a:t>SAV</a:t>
            </a:r>
            <a:r>
              <a:rPr kumimoji="1" lang="zh-CN" altLang="en-US" dirty="0"/>
              <a:t>部署的情况。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3"/>
          </p:nvPr>
        </p:nvSpPr>
        <p:spPr>
          <a:xfrm>
            <a:off x="6523737" y="1727340"/>
            <a:ext cx="5087073" cy="55337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>
                <a:sym typeface="+mn-ea"/>
              </a:rPr>
              <a:t>团队</a:t>
            </a:r>
            <a:r>
              <a:rPr kumimoji="1" lang="zh-CN" altLang="en-US" b="1" dirty="0"/>
              <a:t>分工</a:t>
            </a:r>
            <a:endParaRPr kumimoji="1" lang="zh-CN" altLang="en-US" b="1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>
                <a:sym typeface="+mn-ea"/>
              </a:rPr>
              <a:t>四、</a:t>
            </a:r>
            <a:r>
              <a:rPr lang="zh-CN" altLang="en-US" sz="3600">
                <a:latin typeface="微软雅黑" panose="020B0503020204020204" charset="-122"/>
                <a:cs typeface="微软雅黑" panose="020B0503020204020204" charset="-122"/>
                <a:sym typeface="+mn-ea"/>
              </a:rPr>
              <a:t>预期贡献与</a:t>
            </a:r>
            <a:r>
              <a:rPr lang="zh-CN" altLang="en-US" sz="3600">
                <a:sym typeface="+mn-ea"/>
              </a:rPr>
              <a:t>团队分工</a:t>
            </a:r>
            <a:endParaRPr kumimoji="1" lang="zh-CN" altLang="en-US" sz="3600" dirty="0">
              <a:sym typeface="+mn-ea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6523737" y="2419868"/>
            <a:ext cx="4781042" cy="326247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11.24~12.1</a:t>
            </a:r>
            <a:endParaRPr kumimoji="1" lang="en-US" altLang="zh-CN" dirty="0"/>
          </a:p>
          <a:p>
            <a:r>
              <a:rPr kumimoji="1" lang="en-US" altLang="zh-CN" dirty="0"/>
              <a:t>IP6IP6</a:t>
            </a:r>
            <a:r>
              <a:rPr kumimoji="1" lang="zh-CN" altLang="en-US" dirty="0"/>
              <a:t>、</a:t>
            </a:r>
            <a:r>
              <a:rPr kumimoji="1" lang="en-US" altLang="zh-CN" dirty="0"/>
              <a:t>GRE</a:t>
            </a:r>
            <a:r>
              <a:rPr kumimoji="1" lang="zh-CN" altLang="en-US" dirty="0"/>
              <a:t>和</a:t>
            </a:r>
            <a:r>
              <a:rPr kumimoji="1" lang="en-US" altLang="zh-CN" dirty="0"/>
              <a:t>6in4</a:t>
            </a:r>
            <a:r>
              <a:rPr kumimoji="1" lang="zh-CN" altLang="en-US" dirty="0"/>
              <a:t>等隧道节点测量（贾泽栋）</a:t>
            </a:r>
            <a:endParaRPr kumimoji="1" lang="zh-CN" altLang="en-US" dirty="0"/>
          </a:p>
          <a:p>
            <a:r>
              <a:rPr kumimoji="1" lang="zh-CN" altLang="en-US" dirty="0"/>
              <a:t>验证基于隧道节点的新型</a:t>
            </a:r>
            <a:r>
              <a:rPr kumimoji="1" lang="en-US" altLang="zh-CN" dirty="0"/>
              <a:t>DoS</a:t>
            </a:r>
            <a:r>
              <a:rPr kumimoji="1" lang="zh-CN" altLang="en-US" dirty="0"/>
              <a:t>攻击（盖乐）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12.1~12.15</a:t>
            </a:r>
            <a:endParaRPr kumimoji="1" lang="en-US" altLang="zh-CN" dirty="0"/>
          </a:p>
          <a:p>
            <a:r>
              <a:rPr kumimoji="1" lang="en-US" altLang="zh-CN" dirty="0"/>
              <a:t>SAV</a:t>
            </a:r>
            <a:r>
              <a:rPr kumimoji="1" lang="zh-CN" altLang="en-US" dirty="0"/>
              <a:t>部署测量（盖乐）</a:t>
            </a:r>
            <a:endParaRPr kumimoji="1" lang="en-US" altLang="zh-CN" dirty="0"/>
          </a:p>
          <a:p>
            <a:r>
              <a:rPr lang="zh-CN" altLang="en-US" dirty="0"/>
              <a:t>探索防御该</a:t>
            </a:r>
            <a:r>
              <a:rPr lang="en-US" altLang="zh-CN" dirty="0"/>
              <a:t>DoS</a:t>
            </a:r>
            <a:r>
              <a:rPr lang="zh-CN" altLang="en-US" dirty="0"/>
              <a:t>攻击的防御策略（贾泽栋）</a:t>
            </a:r>
            <a:endParaRPr lang="en-US" altLang="zh-CN" dirty="0"/>
          </a:p>
          <a:p>
            <a:pPr marL="0" indent="0">
              <a:buNone/>
            </a:pPr>
            <a:r>
              <a:rPr kumimoji="1" lang="en-US" altLang="zh-CN" dirty="0"/>
              <a:t>12.15~12.22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总结研究内容，准备结题</a:t>
            </a:r>
            <a:r>
              <a:rPr kumimoji="1" lang="en-US" altLang="zh-CN" dirty="0"/>
              <a:t>PPT</a:t>
            </a:r>
            <a:r>
              <a:rPr kumimoji="1" lang="zh-CN" altLang="en-US" dirty="0"/>
              <a:t>和实验报告</a:t>
            </a:r>
            <a:endParaRPr kumimoji="1" lang="en-US" altLang="zh-CN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5974295" y="1815192"/>
            <a:ext cx="0" cy="391613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017963" y="2828835"/>
            <a:ext cx="415607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Impact" panose="020B0806030902050204" pitchFamily="34" charset="0"/>
                <a:cs typeface="+mn-ea"/>
                <a:sym typeface="+mn-lt"/>
              </a:rPr>
              <a:t>THANK YOU</a:t>
            </a:r>
            <a:endParaRPr lang="en-US" altLang="zh-CN" sz="7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Impact" panose="020B0806030902050204" pitchFamily="34" charset="0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858860" y="3428999"/>
            <a:ext cx="6474279" cy="0"/>
            <a:chOff x="4129088" y="2457450"/>
            <a:chExt cx="6474279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29088" y="2457450"/>
              <a:ext cx="971550" cy="0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9631817" y="2457450"/>
              <a:ext cx="971550" cy="0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2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3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4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5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6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7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8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9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10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11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12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ags/tag13.xml><?xml version="1.0" encoding="utf-8"?>
<p:tagLst xmlns:p="http://schemas.openxmlformats.org/presentationml/2006/main">
  <p:tag name="KSO_WM_DIAGRAM_VIRTUALLY_FRAME" val="{&quot;height&quot;:343.9,&quot;left&quot;:51.25,&quot;top&quot;:158.7,&quot;width&quot;:863}"/>
</p:tagLst>
</file>

<file path=ppt/theme/theme1.xml><?xml version="1.0" encoding="utf-8"?>
<a:theme xmlns:a="http://schemas.openxmlformats.org/drawingml/2006/main" name="清华简约主题-顶边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2601</Words>
  <Application>WPS 演示</Application>
  <PresentationFormat>宽屏</PresentationFormat>
  <Paragraphs>164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Wingdings 2</vt:lpstr>
      <vt:lpstr>微软雅黑</vt:lpstr>
      <vt:lpstr>Wingdings</vt:lpstr>
      <vt:lpstr>Impact</vt:lpstr>
      <vt:lpstr>Gill Sans MT</vt:lpstr>
      <vt:lpstr>华文中宋</vt:lpstr>
      <vt:lpstr>Arial Unicode MS</vt:lpstr>
      <vt:lpstr>Calibri</vt:lpstr>
      <vt:lpstr>清华简约主题-顶边-16:9</vt:lpstr>
      <vt:lpstr>Haunted by Legacy: Discovering and Exploiting Vulnerable Tunnelling Hosts</vt:lpstr>
      <vt:lpstr>目录</vt:lpstr>
      <vt:lpstr>一、研究背景</vt:lpstr>
      <vt:lpstr>二、研究内容</vt:lpstr>
      <vt:lpstr>二、研究内容</vt:lpstr>
      <vt:lpstr>二、研究内容</vt:lpstr>
      <vt:lpstr>三、复现动机与扩展计划</vt:lpstr>
      <vt:lpstr>三、复现动机与扩展计划</vt:lpstr>
      <vt:lpstr>三、复现动机与扩展计划</vt:lpstr>
      <vt:lpstr>四、预期贡献与团队分工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谭柘</cp:lastModifiedBy>
  <cp:revision>1329</cp:revision>
  <cp:lastPrinted>2020-04-04T02:50:00Z</cp:lastPrinted>
  <dcterms:created xsi:type="dcterms:W3CDTF">2020-01-04T07:43:00Z</dcterms:created>
  <dcterms:modified xsi:type="dcterms:W3CDTF">2025-11-23T15:14:56Z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7B4D8A1E786748CC8D1CF0B83565C971_12</vt:lpwstr>
  </property>
  <property fmtid="{D5CDD505-2E9C-101B-9397-08002B2CF9AE}" pid="3" name="KSOProductBuildVer">
    <vt:lpwstr>2052-12.1.0.23542</vt:lpwstr>
  </property>
</Properties>
</file>