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8" r:id="rId4"/>
    <p:sldId id="273" r:id="rId5"/>
    <p:sldId id="281" r:id="rId6"/>
    <p:sldId id="282" r:id="rId8"/>
    <p:sldId id="276" r:id="rId9"/>
    <p:sldId id="312" r:id="rId10"/>
    <p:sldId id="303" r:id="rId11"/>
    <p:sldId id="304" r:id="rId12"/>
    <p:sldId id="305" r:id="rId13"/>
    <p:sldId id="306" r:id="rId14"/>
    <p:sldId id="307" r:id="rId15"/>
    <p:sldId id="316" r:id="rId16"/>
    <p:sldId id="310" r:id="rId17"/>
    <p:sldId id="278" r:id="rId18"/>
    <p:sldId id="315" r:id="rId19"/>
    <p:sldId id="296" r:id="rId20"/>
    <p:sldId id="297" r:id="rId21"/>
    <p:sldId id="299" r:id="rId22"/>
    <p:sldId id="300" r:id="rId23"/>
    <p:sldId id="287" r:id="rId24"/>
    <p:sldId id="302" r:id="rId25"/>
    <p:sldId id="27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57"/>
    <p:restoredTop sz="86377"/>
  </p:normalViewPr>
  <p:slideViewPr>
    <p:cSldViewPr snapToGrid="0" snapToObjects="1">
      <p:cViewPr varScale="1">
        <p:scale>
          <a:sx n="102" d="100"/>
          <a:sy n="102" d="100"/>
        </p:scale>
        <p:origin x="1160" y="19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TLS</a:t>
            </a:r>
            <a:r>
              <a:rPr lang="zh-CN" altLang="en-US"/>
              <a:t>证书是当今互联网加密和信任的基础。这些证书由证书颁发机构（</a:t>
            </a:r>
            <a:r>
              <a:rPr lang="en-US" altLang="zh-CN"/>
              <a:t>CA</a:t>
            </a:r>
            <a:r>
              <a:rPr lang="zh-CN" altLang="en-US"/>
              <a:t>）颁发，</a:t>
            </a:r>
            <a:r>
              <a:rPr lang="en-US" altLang="zh-CN"/>
              <a:t>CA</a:t>
            </a:r>
            <a:r>
              <a:rPr lang="zh-CN" altLang="en-US"/>
              <a:t>的职责是通过域名控制验证（</a:t>
            </a:r>
            <a:r>
              <a:rPr lang="en-US" altLang="zh-CN"/>
              <a:t>DCV</a:t>
            </a:r>
            <a:r>
              <a:rPr lang="zh-CN" altLang="en-US"/>
              <a:t>）过程建立公钥与域名之间的绑定关系。</a:t>
            </a:r>
            <a:endParaRPr lang="zh-CN" altLang="en-US"/>
          </a:p>
          <a:p>
            <a:r>
              <a:rPr lang="zh-CN" altLang="en-US"/>
              <a:t>然而，这种建立信任的过程本身涉及不安全的通道，即</a:t>
            </a:r>
            <a:r>
              <a:rPr lang="en-US" altLang="zh-CN"/>
              <a:t>DNS</a:t>
            </a:r>
            <a:r>
              <a:rPr lang="zh-CN" altLang="en-US"/>
              <a:t>和</a:t>
            </a:r>
            <a:r>
              <a:rPr lang="en-US" altLang="zh-CN"/>
              <a:t>HTTP</a:t>
            </a:r>
            <a:r>
              <a:rPr lang="zh-CN" altLang="en-US"/>
              <a:t>。因此，网络攻击可以针对并可能破坏域名控制验证过程。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一种可以实现这种攻击的网络攻击类型是局部路由攻击，更准确地说是</a:t>
            </a:r>
            <a:r>
              <a:rPr lang="en-US" altLang="zh-CN"/>
              <a:t> BGP </a:t>
            </a:r>
            <a:r>
              <a:rPr lang="zh-CN" altLang="en-US"/>
              <a:t>劫持。</a:t>
            </a:r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BGP </a:t>
            </a:r>
            <a:r>
              <a:rPr lang="zh-CN" altLang="en-US"/>
              <a:t>劫持中，攻击者可以伪造一条通往某个前缀的路由，然后将部分发往该前缀的互联网流量路由到攻击者。</a:t>
            </a:r>
            <a:endParaRPr lang="en-US" altLang="zh-CN"/>
          </a:p>
          <a:p>
            <a:r>
              <a:rPr lang="zh-CN" altLang="en-US"/>
              <a:t>因此，在我们的互联网云图中，右侧的红色攻击者对前缀</a:t>
            </a:r>
            <a:r>
              <a:rPr lang="en-US" altLang="zh-CN"/>
              <a:t> 1 </a:t>
            </a:r>
            <a:r>
              <a:rPr lang="zh-CN" altLang="en-US"/>
              <a:t>发起了</a:t>
            </a:r>
            <a:r>
              <a:rPr lang="en-US" altLang="zh-CN"/>
              <a:t> BGP </a:t>
            </a:r>
            <a:r>
              <a:rPr lang="zh-CN" altLang="en-US"/>
              <a:t>劫持，而该前缀原本属于左侧的受害者。</a:t>
            </a:r>
            <a:endParaRPr lang="zh-CN" altLang="en-US"/>
          </a:p>
          <a:p>
            <a:r>
              <a:rPr lang="zh-CN" altLang="en-US"/>
              <a:t>然后，部分原本发往前缀</a:t>
            </a:r>
            <a:r>
              <a:rPr lang="en-US" altLang="zh-CN"/>
              <a:t> 1 </a:t>
            </a:r>
            <a:r>
              <a:rPr lang="zh-CN" altLang="en-US"/>
              <a:t>的流量被发送到了攻击者。</a:t>
            </a:r>
            <a:r>
              <a:rPr lang="en-US" altLang="zh-CN"/>
              <a:t>2018 </a:t>
            </a:r>
            <a:r>
              <a:rPr lang="zh-CN" altLang="en-US"/>
              <a:t>年的论文证明，可以通过</a:t>
            </a:r>
            <a:r>
              <a:rPr lang="zh-CN" altLang="en-US" b="1">
                <a:sym typeface="+mn-ea"/>
              </a:rPr>
              <a:t>路由攻击</a:t>
            </a:r>
            <a:r>
              <a:rPr lang="zh-CN" altLang="en-US">
                <a:sym typeface="+mn-ea"/>
              </a:rPr>
              <a:t>将域名控制质询重定向至攻击者</a:t>
            </a:r>
            <a:r>
              <a:rPr lang="zh-CN" altLang="en-US"/>
              <a:t>，从而使攻击者能够获得一个他们无法控制的域名的恶意证书。</a:t>
            </a:r>
            <a:endParaRPr lang="zh-CN" altLang="en-US"/>
          </a:p>
          <a:p>
            <a:r>
              <a:rPr lang="zh-CN" b="1">
                <a:solidFill>
                  <a:srgbClr val="FF0000"/>
                </a:solidFill>
                <a:sym typeface="+mn-ea"/>
              </a:rPr>
              <a:t>这种实际发生的攻击表明，部署应对措施迫在眉睫。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本文介绍的应对措施是多点域控制验证（</a:t>
            </a:r>
            <a:r>
              <a:rPr lang="en-US" altLang="zh-CN"/>
              <a:t>Multiple Vantage Point Domain Control validation</a:t>
            </a:r>
            <a:r>
              <a:rPr lang="zh-CN" altLang="en-US"/>
              <a:t>，简称</a:t>
            </a:r>
            <a:r>
              <a:rPr lang="en-US" altLang="zh-CN"/>
              <a:t>Multi-VA</a:t>
            </a:r>
            <a:r>
              <a:rPr lang="zh-CN" altLang="en-US"/>
              <a:t>）。</a:t>
            </a:r>
            <a:endParaRPr lang="en-US" altLang="zh-CN"/>
          </a:p>
          <a:p>
            <a:r>
              <a:rPr lang="en-US" altLang="zh-CN"/>
              <a:t>Multi-VA</a:t>
            </a:r>
            <a:r>
              <a:rPr lang="zh-CN" altLang="en-US"/>
              <a:t>通过从多个不同的视角验证整个互联网，来防御局部路由攻击。</a:t>
            </a:r>
            <a:endParaRPr lang="en-US" altLang="zh-CN"/>
          </a:p>
          <a:p>
            <a:r>
              <a:rPr lang="zh-CN" altLang="en-US"/>
              <a:t>它通过域控制挑战来验证路由。如果各个验证点之间的路由足够多样化，那么某些验证点会保留一条返回真正受害者的路由，从而导致域控制挑战出现异常。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然而，</a:t>
            </a:r>
            <a:r>
              <a:rPr lang="en-US" altLang="zh-CN"/>
              <a:t>multi-VA</a:t>
            </a:r>
            <a:r>
              <a:rPr lang="zh-CN" altLang="en-US"/>
              <a:t>引发了一些争议，因为它是一种尽力而为的缓解策略，并不一定具备可靠的、可证明的安全保障。</a:t>
            </a:r>
            <a:endParaRPr lang="en-US" altLang="zh-CN"/>
          </a:p>
          <a:p>
            <a:r>
              <a:rPr lang="zh-CN" altLang="en-US"/>
              <a:t>因此，一些证书颁发机构（</a:t>
            </a:r>
            <a:r>
              <a:rPr lang="en-US" altLang="zh-CN"/>
              <a:t>CA</a:t>
            </a:r>
            <a:r>
              <a:rPr lang="zh-CN" altLang="en-US"/>
              <a:t>）对</a:t>
            </a:r>
            <a:r>
              <a:rPr lang="en-US" altLang="zh-CN">
                <a:sym typeface="+mn-ea"/>
              </a:rPr>
              <a:t>multi-VA</a:t>
            </a:r>
            <a:r>
              <a:rPr lang="zh-CN" altLang="en-US"/>
              <a:t>的收益能否抵消其部署成本表示怀疑。</a:t>
            </a:r>
            <a:endParaRPr lang="en-US" altLang="zh-CN"/>
          </a:p>
          <a:p>
            <a:r>
              <a:rPr lang="zh-CN" altLang="en-US"/>
              <a:t>事实上，</a:t>
            </a:r>
            <a:r>
              <a:rPr lang="en-US" altLang="zh-CN">
                <a:sym typeface="+mn-ea"/>
              </a:rPr>
              <a:t>multi-VA</a:t>
            </a:r>
            <a:r>
              <a:rPr lang="zh-CN" altLang="en-US"/>
              <a:t>的有效性很大程度上取决于其部署的具体细节。例如，一个简单的</a:t>
            </a:r>
            <a:r>
              <a:rPr lang="en-US" altLang="zh-CN">
                <a:sym typeface="+mn-ea"/>
              </a:rPr>
              <a:t>multi-VA</a:t>
            </a:r>
            <a:r>
              <a:rPr lang="zh-CN" altLang="en-US"/>
              <a:t>系统，所有</a:t>
            </a:r>
            <a:r>
              <a:rPr lang="zh-CN" altLang="en-US"/>
              <a:t>观测点都位于攻击者附近，这将无法提供真正的路由视角多样性。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因此，论文试图回答多视角攻击在实践中的有效性问题。通过两项主要贡献来实现这一目标。</a:t>
            </a:r>
            <a:r>
              <a:rPr lang="zh-CN" altLang="en-US">
                <a:sym typeface="+mn-ea"/>
              </a:rPr>
              <a:t>本文开发了一个分析框架，然后以此框架为蓝图开展一项测量研究，从而量化并优化多视角攻击的安全性。</a:t>
            </a:r>
            <a:endParaRPr lang="zh-CN" altLang="en-US"/>
          </a:p>
          <a:p>
            <a:r>
              <a:rPr lang="zh-CN" altLang="en-US"/>
              <a:t>首先，是</a:t>
            </a:r>
            <a:r>
              <a:rPr lang="zh-CN" altLang="en-US"/>
              <a:t>本文分析框架的主要贡献。该框架超越了目前最先进的</a:t>
            </a:r>
            <a:r>
              <a:rPr lang="en-US" altLang="zh-CN"/>
              <a:t>BGP</a:t>
            </a:r>
            <a:r>
              <a:rPr lang="zh-CN" altLang="en-US"/>
              <a:t>建模方法，将许多现实世界的路由因素纳入到弹性评估中。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具体而言，我们考虑了</a:t>
            </a:r>
            <a:r>
              <a:rPr lang="en-US" altLang="zh-CN"/>
              <a:t>DNS</a:t>
            </a:r>
            <a:r>
              <a:rPr lang="zh-CN" altLang="en-US"/>
              <a:t>引入的攻击面扩大，以及</a:t>
            </a:r>
            <a:r>
              <a:rPr lang="en-US" altLang="zh-CN"/>
              <a:t>RPKI</a:t>
            </a:r>
            <a:r>
              <a:rPr lang="zh-CN" altLang="en-US"/>
              <a:t>在当前部署规模下对攻击的缓解作用。</a:t>
            </a:r>
            <a:endParaRPr lang="en-US" altLang="zh-CN"/>
          </a:p>
          <a:p>
            <a:r>
              <a:rPr lang="zh-CN" altLang="en-US"/>
              <a:t>这使我们能够构建一个更详细的</a:t>
            </a:r>
            <a:r>
              <a:rPr lang="en-US" altLang="zh-CN"/>
              <a:t>multi-VA</a:t>
            </a:r>
            <a:r>
              <a:rPr lang="zh-CN" altLang="en-US"/>
              <a:t>模型抵御局部网络攻击的模型。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首先，</a:t>
            </a:r>
            <a:r>
              <a:rPr lang="zh-CN" altLang="en-US"/>
              <a:t>是简要介绍</a:t>
            </a:r>
            <a:r>
              <a:rPr lang="en-US" altLang="zh-CN"/>
              <a:t>DNS</a:t>
            </a:r>
            <a:r>
              <a:rPr lang="zh-CN" altLang="en-US"/>
              <a:t>攻击面。因此，需要考虑所请求证书主题中域名的完整</a:t>
            </a:r>
            <a:r>
              <a:rPr lang="en-US" altLang="zh-CN"/>
              <a:t>DNS</a:t>
            </a:r>
            <a:r>
              <a:rPr lang="zh-CN" altLang="en-US"/>
              <a:t>图。</a:t>
            </a:r>
            <a:endParaRPr lang="zh-CN" altLang="en-US"/>
          </a:p>
          <a:p>
            <a:r>
              <a:rPr lang="zh-CN" altLang="en-US">
                <a:sym typeface="+mn-ea"/>
              </a:rPr>
              <a:t>接下来考虑公钥基础设施</a:t>
            </a:r>
            <a:r>
              <a:rPr lang="en-US" altLang="zh-CN">
                <a:sym typeface="+mn-ea"/>
              </a:rPr>
              <a:t> (PKI)</a:t>
            </a:r>
            <a:r>
              <a:rPr lang="zh-CN" altLang="en-US">
                <a:sym typeface="+mn-ea"/>
              </a:rPr>
              <a:t>。</a:t>
            </a:r>
            <a:r>
              <a:rPr lang="zh-CN" altLang="en-US">
                <a:sym typeface="+mn-ea"/>
              </a:rPr>
              <a:t>本文的</a:t>
            </a:r>
            <a:r>
              <a:rPr lang="en-US" altLang="zh-CN">
                <a:sym typeface="+mn-ea"/>
              </a:rPr>
              <a:t> PKI </a:t>
            </a:r>
            <a:r>
              <a:rPr lang="zh-CN" altLang="en-US">
                <a:sym typeface="+mn-ea"/>
              </a:rPr>
              <a:t>是另一个用于互联网路由和前缀的</a:t>
            </a:r>
            <a:r>
              <a:rPr lang="en-US" altLang="zh-CN">
                <a:sym typeface="+mn-ea"/>
              </a:rPr>
              <a:t> PKI</a:t>
            </a:r>
            <a:r>
              <a:rPr lang="zh-CN" altLang="en-US">
                <a:sym typeface="+mn-ea"/>
              </a:rPr>
              <a:t>。因此，需要考虑哪些前缀具有</a:t>
            </a:r>
            <a:r>
              <a:rPr lang="en-US" altLang="zh-CN">
                <a:sym typeface="+mn-ea"/>
              </a:rPr>
              <a:t> RPKI </a:t>
            </a:r>
            <a:r>
              <a:rPr lang="zh-CN" altLang="en-US">
                <a:sym typeface="+mn-ea"/>
              </a:rPr>
              <a:t>记录，以及哪些节点执行</a:t>
            </a:r>
            <a:r>
              <a:rPr lang="en-US" altLang="zh-CN">
                <a:sym typeface="+mn-ea"/>
              </a:rPr>
              <a:t> RPKI </a:t>
            </a:r>
            <a:r>
              <a:rPr lang="zh-CN" altLang="en-US">
                <a:sym typeface="+mn-ea"/>
              </a:rPr>
              <a:t>过滤。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因此，当攻击者对域名进行</a:t>
            </a:r>
            <a:r>
              <a:rPr lang="en-US" altLang="zh-CN"/>
              <a:t> DNS </a:t>
            </a:r>
            <a:r>
              <a:rPr lang="zh-CN" altLang="en-US"/>
              <a:t>查询时，这涉及到通过可能多条路由向不同区域中的不同名称服务器发送</a:t>
            </a:r>
            <a:r>
              <a:rPr lang="en-US" altLang="zh-CN"/>
              <a:t> DNS </a:t>
            </a:r>
            <a:r>
              <a:rPr lang="zh-CN" altLang="en-US"/>
              <a:t>查询。</a:t>
            </a:r>
            <a:endParaRPr lang="en-US" altLang="zh-CN"/>
          </a:p>
          <a:p>
            <a:r>
              <a:rPr lang="zh-CN" altLang="en-US"/>
              <a:t>本文在威胁模型中考虑了这种情况，允许攻击者劫持域名</a:t>
            </a:r>
            <a:r>
              <a:rPr lang="en-US" altLang="zh-CN"/>
              <a:t> Web </a:t>
            </a:r>
            <a:r>
              <a:rPr lang="zh-CN" altLang="en-US"/>
              <a:t>服务器或其任何</a:t>
            </a:r>
            <a:r>
              <a:rPr lang="en-US" altLang="zh-CN"/>
              <a:t> DNS </a:t>
            </a:r>
            <a:r>
              <a:rPr lang="zh-CN" altLang="en-US"/>
              <a:t>名称服务器的前缀。</a:t>
            </a:r>
            <a:endParaRPr lang="en-US" altLang="zh-CN"/>
          </a:p>
          <a:p>
            <a:r>
              <a:rPr lang="zh-CN" altLang="en-US"/>
              <a:t>同时，</a:t>
            </a:r>
            <a:r>
              <a:rPr lang="en-US" altLang="zh-CN"/>
              <a:t>DNSSEC </a:t>
            </a:r>
            <a:r>
              <a:rPr lang="zh-CN" altLang="en-US"/>
              <a:t>签名可以作为检测劫持的工具。某些区域可能会对其</a:t>
            </a:r>
            <a:r>
              <a:rPr lang="en-US" altLang="zh-CN"/>
              <a:t> DNS </a:t>
            </a:r>
            <a:r>
              <a:rPr lang="zh-CN" altLang="en-US"/>
              <a:t>记录进行签名，并提供验证真实性的方法。</a:t>
            </a:r>
            <a:endParaRPr lang="en-US" altLang="zh-CN"/>
          </a:p>
          <a:p>
            <a:r>
              <a:rPr lang="zh-CN" altLang="en-US"/>
              <a:t>本文假设攻击者无法破解区域签名密钥。因此，在本例中，攻击者试图获取</a:t>
            </a:r>
            <a:r>
              <a:rPr lang="en-US" altLang="zh-CN"/>
              <a:t> example.com </a:t>
            </a:r>
            <a:r>
              <a:rPr lang="zh-CN" altLang="en-US"/>
              <a:t>的证书。</a:t>
            </a:r>
            <a:endParaRPr lang="en-US" altLang="zh-CN"/>
          </a:p>
          <a:p>
            <a:r>
              <a:rPr lang="zh-CN" altLang="en-US"/>
              <a:t>他们对</a:t>
            </a:r>
            <a:r>
              <a:rPr lang="en-US" altLang="zh-CN"/>
              <a:t> example.com </a:t>
            </a:r>
            <a:r>
              <a:rPr lang="zh-CN" altLang="en-US"/>
              <a:t>的权威名称服务器发起劫持。由于该区域没有</a:t>
            </a:r>
            <a:r>
              <a:rPr lang="en-US" altLang="zh-CN"/>
              <a:t> DNSSEC </a:t>
            </a:r>
            <a:r>
              <a:rPr lang="zh-CN" altLang="en-US"/>
              <a:t>签名，攻击者无法识别</a:t>
            </a:r>
            <a:r>
              <a:rPr lang="en-US" altLang="zh-CN"/>
              <a:t> DNS​​ </a:t>
            </a:r>
            <a:r>
              <a:rPr lang="zh-CN" altLang="en-US"/>
              <a:t>响应是否被伪造。</a:t>
            </a:r>
            <a:endParaRPr lang="en-US" altLang="zh-CN"/>
          </a:p>
          <a:p>
            <a:r>
              <a:rPr lang="zh-CN" altLang="en-US"/>
              <a:t>因此，用户会被重定向到攻击者的</a:t>
            </a:r>
            <a:r>
              <a:rPr lang="en-US" altLang="zh-CN"/>
              <a:t> Web </a:t>
            </a:r>
            <a:r>
              <a:rPr lang="zh-CN" altLang="en-US"/>
              <a:t>服务器，而不是真正的</a:t>
            </a:r>
            <a:r>
              <a:rPr lang="en-US" altLang="zh-CN"/>
              <a:t> example.com </a:t>
            </a:r>
            <a:r>
              <a:rPr lang="zh-CN" altLang="en-US"/>
              <a:t>服务器。我们的测量结果显示，这些攻击非常可行，因为只有不到</a:t>
            </a:r>
            <a:r>
              <a:rPr lang="en-US" altLang="zh-CN"/>
              <a:t> 6% </a:t>
            </a:r>
            <a:r>
              <a:rPr lang="zh-CN" altLang="en-US"/>
              <a:t>的域名对其所有</a:t>
            </a:r>
            <a:r>
              <a:rPr lang="en-US" altLang="zh-CN"/>
              <a:t> DNS </a:t>
            </a:r>
            <a:r>
              <a:rPr lang="zh-CN" altLang="en-US"/>
              <a:t>区域进行签名。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RPKI </a:t>
            </a:r>
            <a:r>
              <a:rPr lang="zh-CN" altLang="en-US"/>
              <a:t>并未得到普遍部署，也无法完全杜绝</a:t>
            </a:r>
            <a:r>
              <a:rPr lang="en-US" altLang="zh-CN"/>
              <a:t> BGP </a:t>
            </a:r>
            <a:r>
              <a:rPr lang="zh-CN" altLang="en-US"/>
              <a:t>劫持，但它确实能降低潜在攻击的威力。</a:t>
            </a:r>
            <a:endParaRPr lang="en-US" altLang="zh-CN"/>
          </a:p>
          <a:p>
            <a:r>
              <a:rPr lang="zh-CN" altLang="en-US"/>
              <a:t>回顾之前针对</a:t>
            </a:r>
            <a:r>
              <a:rPr lang="en-US" altLang="zh-CN"/>
              <a:t> example.com </a:t>
            </a:r>
            <a:r>
              <a:rPr lang="zh-CN" altLang="en-US"/>
              <a:t>的攻击场景。假设通往权威名称服务器的路由包含一条</a:t>
            </a:r>
            <a:r>
              <a:rPr lang="en-US" altLang="zh-CN"/>
              <a:t> RPKI </a:t>
            </a:r>
            <a:r>
              <a:rPr lang="zh-CN" altLang="en-US"/>
              <a:t>记录。</a:t>
            </a:r>
            <a:endParaRPr lang="en-US" altLang="zh-CN"/>
          </a:p>
          <a:p>
            <a:r>
              <a:rPr lang="zh-CN" altLang="en-US"/>
              <a:t>在这种情况下，攻击者对该前缀的劫持尝试将失败，攻击目标将被路由到真正的受害者服务器。</a:t>
            </a:r>
            <a:endParaRPr lang="en-US" altLang="zh-CN"/>
          </a:p>
          <a:p>
            <a:r>
              <a:rPr lang="zh-CN" altLang="en-US"/>
              <a:t>在测试发现，</a:t>
            </a:r>
            <a:r>
              <a:rPr lang="en-US" altLang="zh-CN"/>
              <a:t>RPKI </a:t>
            </a:r>
            <a:r>
              <a:rPr lang="zh-CN" altLang="en-US"/>
              <a:t>能有效抵消额外的</a:t>
            </a:r>
            <a:r>
              <a:rPr lang="en-US" altLang="zh-CN"/>
              <a:t> DNS </a:t>
            </a:r>
            <a:r>
              <a:rPr lang="zh-CN" altLang="en-US"/>
              <a:t>攻击，因为主流</a:t>
            </a:r>
            <a:r>
              <a:rPr lang="en-US" altLang="zh-CN"/>
              <a:t> DNS </a:t>
            </a:r>
            <a:r>
              <a:rPr lang="zh-CN" altLang="en-US"/>
              <a:t>提供商采用</a:t>
            </a:r>
            <a:r>
              <a:rPr lang="en-US" altLang="zh-CN"/>
              <a:t> RPKI </a:t>
            </a:r>
            <a:r>
              <a:rPr lang="zh-CN" altLang="en-US"/>
              <a:t>的比例远高于互联网上的其他服务。</a:t>
            </a:r>
            <a:endParaRPr lang="en-US" altLang="zh-CN"/>
          </a:p>
          <a:p>
            <a:r>
              <a:rPr lang="zh-CN" altLang="en-US"/>
              <a:t>此外，在</a:t>
            </a:r>
            <a:r>
              <a:rPr lang="en-US" altLang="zh-CN"/>
              <a:t>=</a:t>
            </a:r>
            <a:r>
              <a:rPr lang="en-US" altLang="zh-CN"/>
              <a:t> DNS </a:t>
            </a:r>
            <a:r>
              <a:rPr lang="zh-CN" altLang="en-US"/>
              <a:t>探测测试中抽样的唯一</a:t>
            </a:r>
            <a:r>
              <a:rPr lang="en-US" altLang="zh-CN"/>
              <a:t> IP </a:t>
            </a:r>
            <a:r>
              <a:rPr lang="zh-CN" altLang="en-US"/>
              <a:t>地址中，有</a:t>
            </a:r>
            <a:r>
              <a:rPr lang="en-US" altLang="zh-CN"/>
              <a:t> 60% </a:t>
            </a:r>
            <a:r>
              <a:rPr lang="zh-CN" altLang="en-US"/>
              <a:t>的地址都包含覆盖</a:t>
            </a:r>
            <a:r>
              <a:rPr lang="en-US" altLang="zh-CN"/>
              <a:t> RPKI ROA </a:t>
            </a:r>
            <a:r>
              <a:rPr lang="zh-CN" altLang="en-US"/>
              <a:t>记录。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基于这种增强型的</a:t>
            </a:r>
            <a:r>
              <a:rPr lang="en-US" altLang="zh-CN"/>
              <a:t> Multi-VA </a:t>
            </a:r>
            <a:r>
              <a:rPr lang="zh-CN" altLang="en-US"/>
              <a:t>模型，文章介绍</a:t>
            </a:r>
            <a:r>
              <a:rPr lang="zh-CN" altLang="en-US"/>
              <a:t>作者是如何利用它进行测量数据的。</a:t>
            </a:r>
            <a:endParaRPr lang="en-US" altLang="zh-CN"/>
          </a:p>
          <a:p>
            <a:r>
              <a:rPr lang="zh-CN" altLang="en-US"/>
              <a:t>重点关注了</a:t>
            </a:r>
            <a:r>
              <a:rPr lang="en-US" altLang="zh-CN"/>
              <a:t> Let's Encrypt </a:t>
            </a:r>
            <a:r>
              <a:rPr lang="zh-CN" altLang="en-US"/>
              <a:t>对</a:t>
            </a:r>
            <a:r>
              <a:rPr lang="en-US" altLang="zh-CN"/>
              <a:t> Multi-VA </a:t>
            </a:r>
            <a:r>
              <a:rPr lang="zh-CN" altLang="en-US"/>
              <a:t>的部署。此次测量不仅记录了其当前部署的详细信息，还探索了具有更多观测点配置的假设部署方案。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由于实验比较多，在这一部分</a:t>
            </a:r>
            <a:r>
              <a:rPr lang="zh-CN" altLang="en-US">
                <a:sym typeface="+mn-ea"/>
              </a:rPr>
              <a:t>只重点介绍对</a:t>
            </a:r>
            <a:r>
              <a:rPr lang="en-US" altLang="zh-CN">
                <a:sym typeface="+mn-ea"/>
              </a:rPr>
              <a:t> Let's Encrypt </a:t>
            </a:r>
            <a:r>
              <a:rPr lang="zh-CN" altLang="en-US">
                <a:sym typeface="+mn-ea"/>
              </a:rPr>
              <a:t>分析的一些主要结论。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因此，要对此进行全面评估的挑战在于，变量的搜索范围极其庞大。</a:t>
            </a:r>
            <a:endParaRPr lang="en-US" altLang="zh-CN"/>
          </a:p>
          <a:p>
            <a:r>
              <a:rPr lang="zh-CN" altLang="en-US">
                <a:sym typeface="+mn-ea"/>
              </a:rPr>
              <a:t>此外，由于大部分数据并非公开可用，因此需要使用具体的探测数据来实例化这些变量。</a:t>
            </a:r>
            <a:endParaRPr lang="en-US" altLang="zh-CN"/>
          </a:p>
          <a:p>
            <a:r>
              <a:rPr lang="zh-CN" altLang="en-US">
                <a:sym typeface="+mn-ea"/>
              </a:rPr>
              <a:t>举例来说，首先，需要了解各个监控点的详细信息，包括它们的</a:t>
            </a:r>
            <a:r>
              <a:rPr lang="en-US" altLang="zh-CN">
                <a:sym typeface="+mn-ea"/>
              </a:rPr>
              <a:t> BGP </a:t>
            </a:r>
            <a:r>
              <a:rPr lang="zh-CN" altLang="en-US">
                <a:sym typeface="+mn-ea"/>
              </a:rPr>
              <a:t>连接、这些监控点如何组合成</a:t>
            </a:r>
            <a:r>
              <a:rPr lang="en-US" altLang="zh-CN">
                <a:sym typeface="+mn-ea"/>
              </a:rPr>
              <a:t>multi-V</a:t>
            </a:r>
            <a:r>
              <a:rPr lang="en-US" altLang="zh-CN">
                <a:sym typeface="+mn-ea"/>
              </a:rPr>
              <a:t>A </a:t>
            </a:r>
            <a:r>
              <a:rPr lang="zh-CN" altLang="en-US">
                <a:sym typeface="+mn-ea"/>
              </a:rPr>
              <a:t>系统、试图保护的域名及其托管实践，以及允许的潜在攻击。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实验的测量数据</a:t>
            </a:r>
            <a:r>
              <a:rPr lang="zh-CN" altLang="en-US">
                <a:sym typeface="+mn-ea"/>
              </a:rPr>
              <a:t>如下：分析了</a:t>
            </a:r>
            <a:r>
              <a:rPr lang="en-US" altLang="zh-CN">
                <a:sym typeface="+mn-ea"/>
              </a:rPr>
              <a:t> 140 </a:t>
            </a:r>
            <a:r>
              <a:rPr lang="zh-CN" altLang="en-US">
                <a:sym typeface="+mn-ea"/>
              </a:rPr>
              <a:t>万个包含在</a:t>
            </a:r>
            <a:r>
              <a:rPr lang="en-US" altLang="zh-CN">
                <a:sym typeface="+mn-ea"/>
              </a:rPr>
              <a:t> Let's Encrypt </a:t>
            </a:r>
            <a:r>
              <a:rPr lang="zh-CN" altLang="en-US">
                <a:sym typeface="+mn-ea"/>
              </a:rPr>
              <a:t>证书中的域名的安全性，这些域名来自</a:t>
            </a:r>
            <a:r>
              <a:rPr lang="en-US" altLang="zh-CN">
                <a:sym typeface="+mn-ea"/>
              </a:rPr>
              <a:t> 19 </a:t>
            </a:r>
            <a:r>
              <a:rPr lang="zh-CN" altLang="en-US">
                <a:sym typeface="+mn-ea"/>
              </a:rPr>
              <a:t>个不同的监控点位置，涉及发送超过</a:t>
            </a:r>
            <a:r>
              <a:rPr lang="en-US" altLang="zh-CN">
                <a:sym typeface="+mn-ea"/>
              </a:rPr>
              <a:t> 310 </a:t>
            </a:r>
            <a:r>
              <a:rPr lang="zh-CN" altLang="en-US">
                <a:sym typeface="+mn-ea"/>
              </a:rPr>
              <a:t>亿次</a:t>
            </a:r>
            <a:r>
              <a:rPr lang="en-US" altLang="zh-CN">
                <a:sym typeface="+mn-ea"/>
              </a:rPr>
              <a:t> DNS </a:t>
            </a:r>
            <a:r>
              <a:rPr lang="zh-CN" altLang="en-US">
                <a:sym typeface="+mn-ea"/>
              </a:rPr>
              <a:t>查询并模拟超过</a:t>
            </a:r>
            <a:r>
              <a:rPr lang="en-US" altLang="zh-CN">
                <a:sym typeface="+mn-ea"/>
              </a:rPr>
              <a:t> 4 </a:t>
            </a:r>
            <a:r>
              <a:rPr lang="zh-CN" altLang="en-US">
                <a:sym typeface="+mn-ea"/>
              </a:rPr>
              <a:t>亿次网络攻击，并考虑了</a:t>
            </a:r>
            <a:r>
              <a:rPr lang="en-US" altLang="zh-CN">
                <a:sym typeface="+mn-ea"/>
              </a:rPr>
              <a:t> 11,000 </a:t>
            </a:r>
            <a:r>
              <a:rPr lang="zh-CN" altLang="en-US">
                <a:sym typeface="+mn-ea"/>
              </a:rPr>
              <a:t>个潜在的多域虚拟访问系统。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因此，</a:t>
            </a:r>
            <a:r>
              <a:rPr lang="zh-CN" altLang="en-US">
                <a:sym typeface="+mn-ea"/>
              </a:rPr>
              <a:t>对于这一部分，</a:t>
            </a:r>
            <a:r>
              <a:rPr lang="zh-CN" altLang="en-US">
                <a:sym typeface="+mn-ea"/>
              </a:rPr>
              <a:t>简单来说，使用的指标是弹性。可以把它理解为攻击者无法获取特定域名证书的比例。</a:t>
            </a:r>
            <a:endParaRPr lang="en-US" altLang="zh-CN"/>
          </a:p>
          <a:p>
            <a:r>
              <a:rPr lang="zh-CN" altLang="en-US">
                <a:sym typeface="+mn-ea"/>
              </a:rPr>
              <a:t>因此，弹性越高越好。在这个</a:t>
            </a:r>
            <a:r>
              <a:rPr lang="en-US" altLang="zh-CN">
                <a:sym typeface="+mn-ea"/>
              </a:rPr>
              <a:t>CDF</a:t>
            </a:r>
            <a:r>
              <a:rPr lang="zh-CN" altLang="en-US">
                <a:sym typeface="+mn-ea"/>
              </a:rPr>
              <a:t>图中（纵轴代表域名比例，横轴代表弹性），我们首先可以看到，</a:t>
            </a:r>
            <a:r>
              <a:rPr lang="en-US" altLang="zh-CN">
                <a:sym typeface="+mn-ea"/>
              </a:rPr>
              <a:t>DNS </a:t>
            </a:r>
            <a:r>
              <a:rPr lang="zh-CN" altLang="en-US">
                <a:sym typeface="+mn-ea"/>
              </a:rPr>
              <a:t>是此类</a:t>
            </a:r>
            <a:r>
              <a:rPr lang="en-US" altLang="zh-CN">
                <a:sym typeface="+mn-ea"/>
              </a:rPr>
              <a:t> VGP </a:t>
            </a:r>
            <a:r>
              <a:rPr lang="zh-CN" altLang="en-US">
                <a:sym typeface="+mn-ea"/>
              </a:rPr>
              <a:t>劫持证书的有效攻击途径。</a:t>
            </a:r>
            <a:endParaRPr lang="en-US" altLang="zh-CN"/>
          </a:p>
          <a:p>
            <a:r>
              <a:rPr lang="zh-CN" altLang="en-US">
                <a:sym typeface="+mn-ea"/>
              </a:rPr>
              <a:t>因此，此次攻击的初步结果显示，成功获取中</a:t>
            </a:r>
            <a:r>
              <a:rPr lang="zh-CN" altLang="en-US">
                <a:sym typeface="+mn-ea"/>
              </a:rPr>
              <a:t>值域名证书的攻击者数量比之前的估计值高出近</a:t>
            </a:r>
            <a:r>
              <a:rPr lang="en-US" altLang="zh-CN">
                <a:sym typeface="+mn-ea"/>
              </a:rPr>
              <a:t> 20%</a:t>
            </a:r>
            <a:r>
              <a:rPr lang="zh-CN" altLang="en-US">
                <a:sym typeface="+mn-ea"/>
              </a:rPr>
              <a:t>。</a:t>
            </a:r>
            <a:endParaRPr lang="en-US" altLang="zh-CN"/>
          </a:p>
          <a:p>
            <a:r>
              <a:rPr lang="zh-CN" altLang="en-US">
                <a:sym typeface="+mn-ea"/>
              </a:rPr>
              <a:t>这充分凸显了更广泛地使用</a:t>
            </a:r>
            <a:r>
              <a:rPr lang="en-US" altLang="zh-CN">
                <a:sym typeface="+mn-ea"/>
              </a:rPr>
              <a:t> DNSSEC </a:t>
            </a:r>
            <a:r>
              <a:rPr lang="zh-CN" altLang="en-US">
                <a:sym typeface="+mn-ea"/>
              </a:rPr>
              <a:t>的必要性。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接下来，要点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是强调</a:t>
            </a:r>
            <a:r>
              <a:rPr lang="en-US" altLang="zh-CN">
                <a:sym typeface="+mn-ea"/>
              </a:rPr>
              <a:t> RPKI </a:t>
            </a:r>
            <a:r>
              <a:rPr lang="zh-CN" altLang="en-US">
                <a:sym typeface="+mn-ea"/>
              </a:rPr>
              <a:t>即使在部分部署的情况下也能显著提升安全性。</a:t>
            </a:r>
            <a:endParaRPr lang="zh-CN" altLang="en-US"/>
          </a:p>
          <a:p>
            <a:r>
              <a:rPr lang="zh-CN" altLang="en-US"/>
              <a:t>这使中</a:t>
            </a:r>
            <a:r>
              <a:rPr lang="zh-CN" altLang="en-US"/>
              <a:t>值域的弹性提高了</a:t>
            </a:r>
            <a:r>
              <a:rPr lang="en-US" altLang="zh-CN"/>
              <a:t> 13%</a:t>
            </a:r>
            <a:r>
              <a:rPr lang="zh-CN" altLang="en-US"/>
              <a:t>。而当考虑未来在互联网上全面部署</a:t>
            </a:r>
            <a:r>
              <a:rPr lang="en-US" altLang="zh-CN"/>
              <a:t> RPKI </a:t>
            </a:r>
            <a:r>
              <a:rPr lang="zh-CN" altLang="en-US"/>
              <a:t>时（如图中蓝线所示），弹性还可以额外提升</a:t>
            </a:r>
            <a:r>
              <a:rPr lang="en-US" altLang="zh-CN"/>
              <a:t> 11%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最后，展示</a:t>
            </a:r>
            <a:r>
              <a:rPr lang="zh-CN" altLang="en-US"/>
              <a:t>了目前</a:t>
            </a:r>
            <a:r>
              <a:rPr lang="en-US" altLang="zh-CN"/>
              <a:t> Let's Encrypt </a:t>
            </a:r>
            <a:r>
              <a:rPr lang="zh-CN" altLang="en-US"/>
              <a:t>的多变量身份验证</a:t>
            </a:r>
            <a:r>
              <a:rPr lang="en-US" altLang="zh-CN"/>
              <a:t> (Multi-VA) </a:t>
            </a:r>
            <a:r>
              <a:rPr lang="zh-CN" altLang="en-US"/>
              <a:t>技术所带来的安全优势。</a:t>
            </a:r>
            <a:endParaRPr lang="en-US" altLang="zh-CN"/>
          </a:p>
          <a:p>
            <a:r>
              <a:rPr lang="zh-CN" altLang="en-US"/>
              <a:t>与使用单一身份验证点相比，</a:t>
            </a:r>
            <a:r>
              <a:rPr lang="en-US" altLang="zh-CN"/>
              <a:t>Multi-VA </a:t>
            </a:r>
            <a:r>
              <a:rPr lang="zh-CN" altLang="en-US"/>
              <a:t>可以将抵御网络攻击的能力提高近</a:t>
            </a:r>
            <a:r>
              <a:rPr lang="en-US" altLang="zh-CN"/>
              <a:t> 35%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如果没有</a:t>
            </a:r>
            <a:r>
              <a:rPr lang="en-US" altLang="zh-CN"/>
              <a:t> Multi-VA</a:t>
            </a:r>
            <a:r>
              <a:rPr lang="zh-CN" altLang="en-US"/>
              <a:t>，超过</a:t>
            </a:r>
            <a:r>
              <a:rPr lang="en-US" altLang="zh-CN"/>
              <a:t> 45% </a:t>
            </a:r>
            <a:r>
              <a:rPr lang="zh-CN" altLang="en-US"/>
              <a:t>的攻击者可以劫持抽样的一半域名的证书。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9200" y="275794"/>
            <a:ext cx="2519770" cy="992105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600" y="92600"/>
            <a:ext cx="1015763" cy="10195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/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72241" y="5257877"/>
            <a:ext cx="1015763" cy="101955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Rectangle 6"/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</p:spPr>
        <p:txBody>
          <a:bodyPr vert="eaVert" anchor="b"/>
          <a:lstStyle>
            <a:lvl1pPr>
              <a:defRPr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83637" y="92600"/>
            <a:ext cx="1015763" cy="10195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5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5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35" b="0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5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35" b="0" i="0">
                <a:solidFill>
                  <a:srgbClr val="59595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0858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2.emf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/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11" name="Rectangle 6"/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1072160" y="87749"/>
            <a:ext cx="1015763" cy="101955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368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64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</p:spPr>
        <p:txBody>
          <a:bodyPr>
            <a:normAutofit/>
          </a:bodyPr>
          <a:lstStyle/>
          <a:p>
            <a:r>
              <a:rPr lang="en-US" altLang="zh-CN" dirty="0"/>
              <a:t>How Effective is Multiple-Vantage Point Domain Control Validation?</a:t>
            </a:r>
            <a:br>
              <a:rPr lang="en-US" altLang="zh-CN" dirty="0"/>
            </a:br>
            <a:r>
              <a:rPr lang="zh-CN" altLang="en-US" sz="3200" dirty="0"/>
              <a:t>多观测点域名控制验证的有效性如何？</a:t>
            </a:r>
            <a:r>
              <a:rPr lang="en-US" altLang="zh-CN" sz="3200" dirty="0"/>
              <a:t>USENIX Security23’</a:t>
            </a:r>
            <a:endParaRPr lang="en-US" altLang="zh-CN" sz="3200" dirty="0"/>
          </a:p>
        </p:txBody>
      </p:sp>
      <p:grpSp>
        <p:nvGrpSpPr>
          <p:cNvPr id="24" name="组合 23"/>
          <p:cNvGrpSpPr/>
          <p:nvPr/>
        </p:nvGrpSpPr>
        <p:grpSpPr>
          <a:xfrm>
            <a:off x="4080510" y="4258945"/>
            <a:ext cx="4030980" cy="548640"/>
            <a:chOff x="6560" y="6820"/>
            <a:chExt cx="6348" cy="864"/>
          </a:xfrm>
        </p:grpSpPr>
        <p:sp>
          <p:nvSpPr>
            <p:cNvPr id="10" name="副标题 2"/>
            <p:cNvSpPr txBox="1"/>
            <p:nvPr/>
          </p:nvSpPr>
          <p:spPr>
            <a:xfrm>
              <a:off x="7104" y="6820"/>
              <a:ext cx="5184" cy="865"/>
            </a:xfrm>
            <a:prstGeom prst="rect">
              <a:avLst/>
            </a:prstGeom>
          </p:spPr>
          <p:txBody>
            <a:bodyPr>
              <a:normAutofit/>
              <a:scene3d>
                <a:camera prst="orthographicFront"/>
                <a:lightRig rig="threePt" dir="t"/>
              </a:scene3d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SzPct val="40000"/>
                <a:buFont typeface="Wingdings" panose="05000000000000000000" pitchFamily="2" charset="2"/>
                <a:buChar char="n"/>
                <a:defRPr sz="2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8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fld id="{8C008AFD-AF98-42D9-A3F2-D23DC0F23CE2}" type="datetime1">
                <a:rPr lang="zh-CN" altLang="en-US" smtClean="0"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</a:fld>
              <a:endParaRPr lang="zh-CN" altLang="en-US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 rot="0" flipV="1">
              <a:off x="6560" y="7148"/>
              <a:ext cx="6348" cy="120"/>
              <a:chOff x="3172449" y="3650145"/>
              <a:chExt cx="6124985" cy="0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3172449" y="3650145"/>
                <a:ext cx="97155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8325884" y="3650145"/>
                <a:ext cx="971550" cy="0"/>
              </a:xfrm>
              <a:prstGeom prst="line">
                <a:avLst/>
              </a:prstGeom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sp>
        <p:nvSpPr>
          <p:cNvPr id="5" name="文本框 4"/>
          <p:cNvSpPr txBox="1"/>
          <p:nvPr/>
        </p:nvSpPr>
        <p:spPr>
          <a:xfrm>
            <a:off x="4039870" y="480822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accent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盖乐</a:t>
            </a:r>
            <a:endParaRPr lang="zh-CN" altLang="en-US" sz="2400" b="1">
              <a:solidFill>
                <a:schemeClr val="accent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一、</a:t>
            </a:r>
            <a:r>
              <a:rPr lang="zh-CN" altLang="en-US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研究背景与动机</a:t>
            </a:r>
            <a:endParaRPr kumimoji="1" lang="en-US" altLang="zh-CN" dirty="0"/>
          </a:p>
          <a:p>
            <a:r>
              <a:rPr kumimoji="1" lang="zh-CN" altLang="en-US" dirty="0"/>
              <a:t>二、研究方法与框架</a:t>
            </a:r>
            <a:endParaRPr kumimoji="1" lang="zh-CN" altLang="en-US" dirty="0"/>
          </a:p>
          <a:p>
            <a:r>
              <a:rPr kumimoji="1" lang="zh-CN" altLang="en-US" dirty="0">
                <a:sym typeface="+mn-ea"/>
              </a:rPr>
              <a:t>三、实验与</a:t>
            </a:r>
            <a:r>
              <a:rPr kumimoji="1" lang="zh-CN" altLang="en-US" dirty="0">
                <a:sym typeface="+mn-ea"/>
              </a:rPr>
              <a:t>结果分析</a:t>
            </a:r>
            <a:endParaRPr kumimoji="1" lang="zh-CN" altLang="en-US" dirty="0">
              <a:sym typeface="+mn-ea"/>
            </a:endParaRPr>
          </a:p>
          <a:p>
            <a:r>
              <a:rPr kumimoji="1" lang="zh-CN" altLang="en-US" dirty="0">
                <a:sym typeface="+mn-ea"/>
              </a:rPr>
              <a:t>四、讨论与总结</a:t>
            </a:r>
            <a:endParaRPr kumimoji="1"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一、</a:t>
            </a:r>
            <a:r>
              <a:rPr lang="zh-CN" altLang="en-US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</a:t>
            </a:r>
            <a:r>
              <a:rPr lang="zh-CN" altLang="en-US"/>
              <a:t>与动机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Introduction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一、</a:t>
            </a:r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</a:t>
            </a:r>
            <a:r>
              <a:rPr lang="zh-CN" altLang="en-US" sz="3200">
                <a:sym typeface="+mn-ea"/>
              </a:rPr>
              <a:t>与动机</a:t>
            </a:r>
            <a:endParaRPr lang="zh-CN" altLang="en-US" sz="320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0055" y="1362710"/>
            <a:ext cx="4868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/>
              <a:t>证书颁发系统易受网络攻击</a:t>
            </a:r>
            <a:endParaRPr lang="zh-CN" altLang="en-US" sz="2400"/>
          </a:p>
        </p:txBody>
      </p:sp>
      <p:grpSp>
        <p:nvGrpSpPr>
          <p:cNvPr id="19" name="object 2"/>
          <p:cNvGrpSpPr/>
          <p:nvPr/>
        </p:nvGrpSpPr>
        <p:grpSpPr>
          <a:xfrm rot="0">
            <a:off x="2028190" y="1884045"/>
            <a:ext cx="6417945" cy="4105275"/>
            <a:chOff x="524256" y="978408"/>
            <a:chExt cx="6020435" cy="3840479"/>
          </a:xfrm>
        </p:grpSpPr>
        <p:pic>
          <p:nvPicPr>
            <p:cNvPr id="20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24256" y="978408"/>
              <a:ext cx="6019952" cy="3840478"/>
            </a:xfrm>
            <a:prstGeom prst="rect">
              <a:avLst/>
            </a:prstGeom>
          </p:spPr>
        </p:pic>
        <p:sp>
          <p:nvSpPr>
            <p:cNvPr id="21" name="object 4"/>
            <p:cNvSpPr/>
            <p:nvPr/>
          </p:nvSpPr>
          <p:spPr>
            <a:xfrm>
              <a:off x="4113840" y="1408176"/>
              <a:ext cx="1715135" cy="2665730"/>
            </a:xfrm>
            <a:custGeom>
              <a:avLst/>
              <a:gdLst/>
              <a:ahLst/>
              <a:cxnLst/>
              <a:rect l="l" t="t" r="r" b="b"/>
              <a:pathLst>
                <a:path w="1715135" h="2665729">
                  <a:moveTo>
                    <a:pt x="266382" y="977748"/>
                  </a:moveTo>
                  <a:lnTo>
                    <a:pt x="294620" y="958996"/>
                  </a:lnTo>
                  <a:lnTo>
                    <a:pt x="326747" y="952737"/>
                  </a:lnTo>
                  <a:lnTo>
                    <a:pt x="387129" y="977703"/>
                  </a:lnTo>
                  <a:lnTo>
                    <a:pt x="1689838" y="2278490"/>
                  </a:lnTo>
                  <a:lnTo>
                    <a:pt x="1713206" y="2322088"/>
                  </a:lnTo>
                  <a:lnTo>
                    <a:pt x="1714867" y="2338810"/>
                  </a:lnTo>
                  <a:lnTo>
                    <a:pt x="1713218" y="2355533"/>
                  </a:lnTo>
                  <a:lnTo>
                    <a:pt x="1689882" y="2399148"/>
                  </a:lnTo>
                  <a:lnTo>
                    <a:pt x="1448484" y="2640546"/>
                  </a:lnTo>
                  <a:lnTo>
                    <a:pt x="1388120" y="2665557"/>
                  </a:lnTo>
                  <a:lnTo>
                    <a:pt x="1355989" y="2659321"/>
                  </a:lnTo>
                  <a:lnTo>
                    <a:pt x="1327738" y="2640590"/>
                  </a:lnTo>
                  <a:lnTo>
                    <a:pt x="25029" y="1339803"/>
                  </a:lnTo>
                  <a:lnTo>
                    <a:pt x="6263" y="1311587"/>
                  </a:lnTo>
                  <a:lnTo>
                    <a:pt x="0" y="1279484"/>
                  </a:lnTo>
                  <a:lnTo>
                    <a:pt x="6239" y="1247376"/>
                  </a:lnTo>
                  <a:lnTo>
                    <a:pt x="24984" y="1219146"/>
                  </a:lnTo>
                  <a:lnTo>
                    <a:pt x="266382" y="977748"/>
                  </a:lnTo>
                  <a:close/>
                </a:path>
                <a:path w="1715135" h="2665729">
                  <a:moveTo>
                    <a:pt x="202127" y="134102"/>
                  </a:moveTo>
                  <a:lnTo>
                    <a:pt x="208963" y="91715"/>
                  </a:lnTo>
                  <a:lnTo>
                    <a:pt x="228001" y="54903"/>
                  </a:lnTo>
                  <a:lnTo>
                    <a:pt x="257030" y="25874"/>
                  </a:lnTo>
                  <a:lnTo>
                    <a:pt x="293843" y="6836"/>
                  </a:lnTo>
                  <a:lnTo>
                    <a:pt x="336229" y="0"/>
                  </a:lnTo>
                  <a:lnTo>
                    <a:pt x="1214624" y="0"/>
                  </a:lnTo>
                  <a:lnTo>
                    <a:pt x="1265943" y="10207"/>
                  </a:lnTo>
                  <a:lnTo>
                    <a:pt x="1309449" y="39277"/>
                  </a:lnTo>
                  <a:lnTo>
                    <a:pt x="1338519" y="82783"/>
                  </a:lnTo>
                  <a:lnTo>
                    <a:pt x="1348727" y="134102"/>
                  </a:lnTo>
                  <a:lnTo>
                    <a:pt x="1348727" y="670497"/>
                  </a:lnTo>
                  <a:lnTo>
                    <a:pt x="1341890" y="712884"/>
                  </a:lnTo>
                  <a:lnTo>
                    <a:pt x="1322853" y="749696"/>
                  </a:lnTo>
                  <a:lnTo>
                    <a:pt x="1293823" y="778725"/>
                  </a:lnTo>
                  <a:lnTo>
                    <a:pt x="1257011" y="797763"/>
                  </a:lnTo>
                  <a:lnTo>
                    <a:pt x="1214624" y="804599"/>
                  </a:lnTo>
                  <a:lnTo>
                    <a:pt x="336229" y="804599"/>
                  </a:lnTo>
                  <a:lnTo>
                    <a:pt x="293843" y="797763"/>
                  </a:lnTo>
                  <a:lnTo>
                    <a:pt x="257030" y="778725"/>
                  </a:lnTo>
                  <a:lnTo>
                    <a:pt x="228001" y="749696"/>
                  </a:lnTo>
                  <a:lnTo>
                    <a:pt x="208963" y="712884"/>
                  </a:lnTo>
                  <a:lnTo>
                    <a:pt x="202127" y="670497"/>
                  </a:lnTo>
                  <a:lnTo>
                    <a:pt x="202127" y="134102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4" name="object 7"/>
          <p:cNvSpPr txBox="1"/>
          <p:nvPr/>
        </p:nvSpPr>
        <p:spPr>
          <a:xfrm>
            <a:off x="4301490" y="5236845"/>
            <a:ext cx="1416685" cy="181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2.</a:t>
            </a:r>
            <a:r>
              <a:rPr sz="1100" spc="125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 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Challenge</a:t>
            </a:r>
            <a:endParaRPr sz="1100"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sp>
        <p:nvSpPr>
          <p:cNvPr id="25" name="object 8"/>
          <p:cNvSpPr txBox="1"/>
          <p:nvPr/>
        </p:nvSpPr>
        <p:spPr>
          <a:xfrm rot="18420000">
            <a:off x="2076450" y="3861435"/>
            <a:ext cx="2053590" cy="140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1.</a:t>
            </a:r>
            <a:r>
              <a:rPr sz="1100" spc="-25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Certificate</a:t>
            </a:r>
            <a:r>
              <a:rPr sz="1100" spc="-25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signing</a:t>
            </a:r>
            <a:r>
              <a:rPr sz="1100" spc="-2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request</a:t>
            </a:r>
            <a:endParaRPr sz="110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object 9"/>
          <p:cNvSpPr txBox="1"/>
          <p:nvPr/>
        </p:nvSpPr>
        <p:spPr>
          <a:xfrm rot="18480000">
            <a:off x="2980055" y="4062730"/>
            <a:ext cx="828675" cy="140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5.</a:t>
            </a:r>
            <a:r>
              <a:rPr sz="1100" spc="-4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Issue</a:t>
            </a:r>
            <a:r>
              <a:rPr sz="1100" spc="-35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650" spc="-30" baseline="30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cert</a:t>
            </a:r>
            <a:endParaRPr sz="1650" baseline="300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7" name="object 10"/>
          <p:cNvGrpSpPr/>
          <p:nvPr/>
        </p:nvGrpSpPr>
        <p:grpSpPr>
          <a:xfrm rot="0">
            <a:off x="2604135" y="2921635"/>
            <a:ext cx="4839335" cy="2585085"/>
            <a:chOff x="1065109" y="1949240"/>
            <a:chExt cx="4539615" cy="2418080"/>
          </a:xfrm>
        </p:grpSpPr>
        <p:sp>
          <p:nvSpPr>
            <p:cNvPr id="28" name="object 11"/>
            <p:cNvSpPr/>
            <p:nvPr/>
          </p:nvSpPr>
          <p:spPr>
            <a:xfrm>
              <a:off x="1081393" y="2243400"/>
              <a:ext cx="1166495" cy="1493520"/>
            </a:xfrm>
            <a:custGeom>
              <a:avLst/>
              <a:gdLst/>
              <a:ahLst/>
              <a:cxnLst/>
              <a:rect l="l" t="t" r="r" b="b"/>
              <a:pathLst>
                <a:path w="1166495" h="1493520">
                  <a:moveTo>
                    <a:pt x="0" y="1492948"/>
                  </a:moveTo>
                  <a:lnTo>
                    <a:pt x="116611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object 12"/>
            <p:cNvSpPr/>
            <p:nvPr/>
          </p:nvSpPr>
          <p:spPr>
            <a:xfrm>
              <a:off x="1069871" y="3721314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5">
                  <a:moveTo>
                    <a:pt x="0" y="29787"/>
                  </a:moveTo>
                  <a:lnTo>
                    <a:pt x="9674" y="0"/>
                  </a:lnTo>
                  <a:lnTo>
                    <a:pt x="11522" y="15035"/>
                  </a:lnTo>
                  <a:lnTo>
                    <a:pt x="26557" y="13187"/>
                  </a:lnTo>
                  <a:lnTo>
                    <a:pt x="0" y="2978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object 13"/>
            <p:cNvSpPr/>
            <p:nvPr/>
          </p:nvSpPr>
          <p:spPr>
            <a:xfrm>
              <a:off x="1069871" y="3721314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5">
                  <a:moveTo>
                    <a:pt x="11522" y="15035"/>
                  </a:moveTo>
                  <a:lnTo>
                    <a:pt x="9674" y="0"/>
                  </a:lnTo>
                  <a:lnTo>
                    <a:pt x="0" y="29787"/>
                  </a:lnTo>
                  <a:lnTo>
                    <a:pt x="26557" y="13187"/>
                  </a:lnTo>
                  <a:lnTo>
                    <a:pt x="11522" y="1503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object 14"/>
            <p:cNvSpPr/>
            <p:nvPr/>
          </p:nvSpPr>
          <p:spPr>
            <a:xfrm>
              <a:off x="2232470" y="2228648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4">
                  <a:moveTo>
                    <a:pt x="16883" y="29787"/>
                  </a:moveTo>
                  <a:lnTo>
                    <a:pt x="15035" y="14751"/>
                  </a:lnTo>
                  <a:lnTo>
                    <a:pt x="0" y="16599"/>
                  </a:lnTo>
                  <a:lnTo>
                    <a:pt x="26557" y="0"/>
                  </a:lnTo>
                  <a:lnTo>
                    <a:pt x="16883" y="2978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object 15"/>
            <p:cNvSpPr/>
            <p:nvPr/>
          </p:nvSpPr>
          <p:spPr>
            <a:xfrm>
              <a:off x="2232470" y="2228648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4">
                  <a:moveTo>
                    <a:pt x="15035" y="14751"/>
                  </a:moveTo>
                  <a:lnTo>
                    <a:pt x="16883" y="29787"/>
                  </a:lnTo>
                  <a:lnTo>
                    <a:pt x="26557" y="0"/>
                  </a:lnTo>
                  <a:lnTo>
                    <a:pt x="0" y="16599"/>
                  </a:lnTo>
                  <a:lnTo>
                    <a:pt x="15035" y="1475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object 16"/>
            <p:cNvSpPr/>
            <p:nvPr/>
          </p:nvSpPr>
          <p:spPr>
            <a:xfrm>
              <a:off x="1616492" y="4336382"/>
              <a:ext cx="3692525" cy="15240"/>
            </a:xfrm>
            <a:custGeom>
              <a:avLst/>
              <a:gdLst/>
              <a:ahLst/>
              <a:cxnLst/>
              <a:rect l="l" t="t" r="r" b="b"/>
              <a:pathLst>
                <a:path w="3692525" h="15239">
                  <a:moveTo>
                    <a:pt x="0" y="0"/>
                  </a:moveTo>
                  <a:lnTo>
                    <a:pt x="3692214" y="1503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object 17"/>
            <p:cNvSpPr/>
            <p:nvPr/>
          </p:nvSpPr>
          <p:spPr>
            <a:xfrm>
              <a:off x="1597774" y="432571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4" h="21589">
                  <a:moveTo>
                    <a:pt x="29386" y="21423"/>
                  </a:moveTo>
                  <a:lnTo>
                    <a:pt x="0" y="10591"/>
                  </a:lnTo>
                  <a:lnTo>
                    <a:pt x="29473" y="0"/>
                  </a:lnTo>
                  <a:lnTo>
                    <a:pt x="18718" y="10667"/>
                  </a:lnTo>
                  <a:lnTo>
                    <a:pt x="29386" y="2142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object 18"/>
            <p:cNvSpPr/>
            <p:nvPr/>
          </p:nvSpPr>
          <p:spPr>
            <a:xfrm>
              <a:off x="1597774" y="432571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4" h="21589">
                  <a:moveTo>
                    <a:pt x="18718" y="10667"/>
                  </a:moveTo>
                  <a:lnTo>
                    <a:pt x="29473" y="0"/>
                  </a:lnTo>
                  <a:lnTo>
                    <a:pt x="0" y="10591"/>
                  </a:lnTo>
                  <a:lnTo>
                    <a:pt x="29386" y="21423"/>
                  </a:lnTo>
                  <a:lnTo>
                    <a:pt x="18718" y="1066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object 19"/>
            <p:cNvSpPr/>
            <p:nvPr/>
          </p:nvSpPr>
          <p:spPr>
            <a:xfrm>
              <a:off x="5297951" y="4340661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3"/>
                  </a:moveTo>
                  <a:lnTo>
                    <a:pt x="10755" y="10755"/>
                  </a:lnTo>
                  <a:lnTo>
                    <a:pt x="87" y="0"/>
                  </a:lnTo>
                  <a:lnTo>
                    <a:pt x="29473" y="10831"/>
                  </a:lnTo>
                  <a:lnTo>
                    <a:pt x="0" y="2142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object 20"/>
            <p:cNvSpPr/>
            <p:nvPr/>
          </p:nvSpPr>
          <p:spPr>
            <a:xfrm>
              <a:off x="5297951" y="4340661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55" y="10755"/>
                  </a:moveTo>
                  <a:lnTo>
                    <a:pt x="0" y="21423"/>
                  </a:lnTo>
                  <a:lnTo>
                    <a:pt x="29473" y="10831"/>
                  </a:lnTo>
                  <a:lnTo>
                    <a:pt x="87" y="0"/>
                  </a:lnTo>
                  <a:lnTo>
                    <a:pt x="10755" y="1075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object 21"/>
            <p:cNvSpPr/>
            <p:nvPr/>
          </p:nvSpPr>
          <p:spPr>
            <a:xfrm>
              <a:off x="4443113" y="1964537"/>
              <a:ext cx="864869" cy="14604"/>
            </a:xfrm>
            <a:custGeom>
              <a:avLst/>
              <a:gdLst/>
              <a:ahLst/>
              <a:cxnLst/>
              <a:rect l="l" t="t" r="r" b="b"/>
              <a:pathLst>
                <a:path w="864870" h="14605">
                  <a:moveTo>
                    <a:pt x="0" y="0"/>
                  </a:moveTo>
                  <a:lnTo>
                    <a:pt x="864422" y="14225"/>
                  </a:lnTo>
                </a:path>
              </a:pathLst>
            </a:custGeom>
            <a:ln w="9524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object 22"/>
            <p:cNvSpPr/>
            <p:nvPr/>
          </p:nvSpPr>
          <p:spPr>
            <a:xfrm>
              <a:off x="4424397" y="1954003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249" y="21420"/>
                  </a:moveTo>
                  <a:lnTo>
                    <a:pt x="0" y="10225"/>
                  </a:lnTo>
                  <a:lnTo>
                    <a:pt x="29602" y="0"/>
                  </a:lnTo>
                  <a:lnTo>
                    <a:pt x="18716" y="10533"/>
                  </a:lnTo>
                  <a:lnTo>
                    <a:pt x="29249" y="214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object 23"/>
            <p:cNvSpPr/>
            <p:nvPr/>
          </p:nvSpPr>
          <p:spPr>
            <a:xfrm>
              <a:off x="4424397" y="1954003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16" y="10533"/>
                  </a:moveTo>
                  <a:lnTo>
                    <a:pt x="29602" y="0"/>
                  </a:lnTo>
                  <a:lnTo>
                    <a:pt x="0" y="10225"/>
                  </a:lnTo>
                  <a:lnTo>
                    <a:pt x="29249" y="21420"/>
                  </a:lnTo>
                  <a:lnTo>
                    <a:pt x="18716" y="10533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object 24"/>
            <p:cNvSpPr/>
            <p:nvPr/>
          </p:nvSpPr>
          <p:spPr>
            <a:xfrm>
              <a:off x="5296649" y="196787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0"/>
                  </a:moveTo>
                  <a:lnTo>
                    <a:pt x="10886" y="10886"/>
                  </a:lnTo>
                  <a:lnTo>
                    <a:pt x="352" y="0"/>
                  </a:lnTo>
                  <a:lnTo>
                    <a:pt x="29602" y="11194"/>
                  </a:lnTo>
                  <a:lnTo>
                    <a:pt x="0" y="2142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object 25"/>
            <p:cNvSpPr/>
            <p:nvPr/>
          </p:nvSpPr>
          <p:spPr>
            <a:xfrm>
              <a:off x="5296649" y="196787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886" y="10886"/>
                  </a:moveTo>
                  <a:lnTo>
                    <a:pt x="0" y="21420"/>
                  </a:lnTo>
                  <a:lnTo>
                    <a:pt x="29602" y="11194"/>
                  </a:lnTo>
                  <a:lnTo>
                    <a:pt x="352" y="0"/>
                  </a:lnTo>
                  <a:lnTo>
                    <a:pt x="10886" y="1088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object 26"/>
            <p:cNvSpPr/>
            <p:nvPr/>
          </p:nvSpPr>
          <p:spPr>
            <a:xfrm>
              <a:off x="4250273" y="2670454"/>
              <a:ext cx="1336040" cy="1276985"/>
            </a:xfrm>
            <a:custGeom>
              <a:avLst/>
              <a:gdLst/>
              <a:ahLst/>
              <a:cxnLst/>
              <a:rect l="l" t="t" r="r" b="b"/>
              <a:pathLst>
                <a:path w="1336039" h="1276985">
                  <a:moveTo>
                    <a:pt x="0" y="0"/>
                  </a:moveTo>
                  <a:lnTo>
                    <a:pt x="1335802" y="1276691"/>
                  </a:lnTo>
                </a:path>
              </a:pathLst>
            </a:custGeom>
            <a:ln w="9524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3" name="object 27"/>
            <p:cNvSpPr/>
            <p:nvPr/>
          </p:nvSpPr>
          <p:spPr>
            <a:xfrm>
              <a:off x="4236741" y="265752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3874" y="28077"/>
                  </a:moveTo>
                  <a:lnTo>
                    <a:pt x="0" y="0"/>
                  </a:lnTo>
                  <a:lnTo>
                    <a:pt x="28676" y="12590"/>
                  </a:lnTo>
                  <a:lnTo>
                    <a:pt x="13531" y="12933"/>
                  </a:lnTo>
                  <a:lnTo>
                    <a:pt x="13874" y="2807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object 28"/>
            <p:cNvSpPr/>
            <p:nvPr/>
          </p:nvSpPr>
          <p:spPr>
            <a:xfrm>
              <a:off x="4236741" y="265752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3531" y="12933"/>
                  </a:moveTo>
                  <a:lnTo>
                    <a:pt x="28676" y="12590"/>
                  </a:lnTo>
                  <a:lnTo>
                    <a:pt x="0" y="0"/>
                  </a:lnTo>
                  <a:lnTo>
                    <a:pt x="13874" y="28077"/>
                  </a:lnTo>
                  <a:lnTo>
                    <a:pt x="13531" y="12933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object 29"/>
            <p:cNvSpPr/>
            <p:nvPr/>
          </p:nvSpPr>
          <p:spPr>
            <a:xfrm>
              <a:off x="5570932" y="393200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28676" y="28077"/>
                  </a:moveTo>
                  <a:lnTo>
                    <a:pt x="0" y="15487"/>
                  </a:lnTo>
                  <a:lnTo>
                    <a:pt x="15144" y="15144"/>
                  </a:lnTo>
                  <a:lnTo>
                    <a:pt x="14801" y="0"/>
                  </a:lnTo>
                  <a:lnTo>
                    <a:pt x="28676" y="2807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object 30"/>
            <p:cNvSpPr/>
            <p:nvPr/>
          </p:nvSpPr>
          <p:spPr>
            <a:xfrm>
              <a:off x="5570932" y="393200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5144" y="15144"/>
                  </a:moveTo>
                  <a:lnTo>
                    <a:pt x="0" y="15487"/>
                  </a:lnTo>
                  <a:lnTo>
                    <a:pt x="28676" y="28077"/>
                  </a:lnTo>
                  <a:lnTo>
                    <a:pt x="14801" y="0"/>
                  </a:lnTo>
                  <a:lnTo>
                    <a:pt x="15144" y="15144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object 31"/>
            <p:cNvSpPr/>
            <p:nvPr/>
          </p:nvSpPr>
          <p:spPr>
            <a:xfrm>
              <a:off x="1365489" y="2563375"/>
              <a:ext cx="1040130" cy="1327150"/>
            </a:xfrm>
            <a:custGeom>
              <a:avLst/>
              <a:gdLst/>
              <a:ahLst/>
              <a:cxnLst/>
              <a:rect l="l" t="t" r="r" b="b"/>
              <a:pathLst>
                <a:path w="1040130" h="1327150">
                  <a:moveTo>
                    <a:pt x="1040060" y="0"/>
                  </a:moveTo>
                  <a:lnTo>
                    <a:pt x="0" y="132670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object 32"/>
            <p:cNvSpPr/>
            <p:nvPr/>
          </p:nvSpPr>
          <p:spPr>
            <a:xfrm>
              <a:off x="1353940" y="3875046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5">
                  <a:moveTo>
                    <a:pt x="0" y="29769"/>
                  </a:moveTo>
                  <a:lnTo>
                    <a:pt x="9727" y="0"/>
                  </a:lnTo>
                  <a:lnTo>
                    <a:pt x="11548" y="15038"/>
                  </a:lnTo>
                  <a:lnTo>
                    <a:pt x="26587" y="13217"/>
                  </a:lnTo>
                  <a:lnTo>
                    <a:pt x="0" y="2976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9" name="object 33"/>
            <p:cNvSpPr/>
            <p:nvPr/>
          </p:nvSpPr>
          <p:spPr>
            <a:xfrm>
              <a:off x="1353940" y="3875046"/>
              <a:ext cx="26670" cy="29845"/>
            </a:xfrm>
            <a:custGeom>
              <a:avLst/>
              <a:gdLst/>
              <a:ahLst/>
              <a:cxnLst/>
              <a:rect l="l" t="t" r="r" b="b"/>
              <a:pathLst>
                <a:path w="26669" h="29845">
                  <a:moveTo>
                    <a:pt x="11548" y="15038"/>
                  </a:moveTo>
                  <a:lnTo>
                    <a:pt x="9727" y="0"/>
                  </a:lnTo>
                  <a:lnTo>
                    <a:pt x="0" y="29769"/>
                  </a:lnTo>
                  <a:lnTo>
                    <a:pt x="26587" y="13217"/>
                  </a:lnTo>
                  <a:lnTo>
                    <a:pt x="11548" y="1503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0" name="object 34"/>
          <p:cNvSpPr txBox="1"/>
          <p:nvPr/>
        </p:nvSpPr>
        <p:spPr>
          <a:xfrm>
            <a:off x="6138545" y="2496185"/>
            <a:ext cx="1191895" cy="351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3.</a:t>
            </a:r>
            <a:r>
              <a:rPr sz="1100" spc="9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 </a:t>
            </a:r>
            <a:r>
              <a:rPr sz="1100" spc="12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DNS</a:t>
            </a:r>
            <a:r>
              <a:rPr lang="en-US" sz="1100" spc="12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 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resolve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Calibri" panose="020F0502020204030204"/>
              </a:rPr>
              <a:t> domain</a:t>
            </a:r>
            <a:endParaRPr sz="1100">
              <a:latin typeface="微软雅黑" panose="020B0503020204020204" charset="-122"/>
              <a:ea typeface="微软雅黑" panose="020B0503020204020204" charset="-122"/>
              <a:cs typeface="Calibri" panose="020F0502020204030204"/>
            </a:endParaRPr>
          </a:p>
        </p:txBody>
      </p:sp>
      <p:grpSp>
        <p:nvGrpSpPr>
          <p:cNvPr id="61" name="object 35"/>
          <p:cNvGrpSpPr/>
          <p:nvPr/>
        </p:nvGrpSpPr>
        <p:grpSpPr>
          <a:xfrm rot="0">
            <a:off x="6176645" y="2923540"/>
            <a:ext cx="972185" cy="48260"/>
            <a:chOff x="4416568" y="1951200"/>
            <a:chExt cx="911860" cy="45085"/>
          </a:xfrm>
        </p:grpSpPr>
        <p:sp>
          <p:nvSpPr>
            <p:cNvPr id="62" name="object 36"/>
            <p:cNvSpPr/>
            <p:nvPr/>
          </p:nvSpPr>
          <p:spPr>
            <a:xfrm>
              <a:off x="4440046" y="1966496"/>
              <a:ext cx="864869" cy="14604"/>
            </a:xfrm>
            <a:custGeom>
              <a:avLst/>
              <a:gdLst/>
              <a:ahLst/>
              <a:cxnLst/>
              <a:rect l="l" t="t" r="r" b="b"/>
              <a:pathLst>
                <a:path w="864870" h="14605">
                  <a:moveTo>
                    <a:pt x="0" y="0"/>
                  </a:moveTo>
                  <a:lnTo>
                    <a:pt x="864422" y="14225"/>
                  </a:lnTo>
                </a:path>
              </a:pathLst>
            </a:custGeom>
            <a:ln w="952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object 37"/>
            <p:cNvSpPr/>
            <p:nvPr/>
          </p:nvSpPr>
          <p:spPr>
            <a:xfrm>
              <a:off x="4421330" y="1955962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249" y="21420"/>
                  </a:moveTo>
                  <a:lnTo>
                    <a:pt x="0" y="10225"/>
                  </a:lnTo>
                  <a:lnTo>
                    <a:pt x="29602" y="0"/>
                  </a:lnTo>
                  <a:lnTo>
                    <a:pt x="18715" y="10533"/>
                  </a:lnTo>
                  <a:lnTo>
                    <a:pt x="29249" y="21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object 38"/>
            <p:cNvSpPr/>
            <p:nvPr/>
          </p:nvSpPr>
          <p:spPr>
            <a:xfrm>
              <a:off x="4421330" y="1955962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15" y="10533"/>
                  </a:moveTo>
                  <a:lnTo>
                    <a:pt x="29602" y="0"/>
                  </a:lnTo>
                  <a:lnTo>
                    <a:pt x="0" y="10225"/>
                  </a:lnTo>
                  <a:lnTo>
                    <a:pt x="29249" y="21420"/>
                  </a:lnTo>
                  <a:lnTo>
                    <a:pt x="18715" y="1053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object 39"/>
            <p:cNvSpPr/>
            <p:nvPr/>
          </p:nvSpPr>
          <p:spPr>
            <a:xfrm>
              <a:off x="5293582" y="196983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0"/>
                  </a:moveTo>
                  <a:lnTo>
                    <a:pt x="10886" y="10886"/>
                  </a:lnTo>
                  <a:lnTo>
                    <a:pt x="352" y="0"/>
                  </a:lnTo>
                  <a:lnTo>
                    <a:pt x="29602" y="11194"/>
                  </a:lnTo>
                  <a:lnTo>
                    <a:pt x="0" y="2142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object 40"/>
            <p:cNvSpPr/>
            <p:nvPr/>
          </p:nvSpPr>
          <p:spPr>
            <a:xfrm>
              <a:off x="5293582" y="1969836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886" y="10886"/>
                  </a:moveTo>
                  <a:lnTo>
                    <a:pt x="0" y="21420"/>
                  </a:lnTo>
                  <a:lnTo>
                    <a:pt x="29602" y="11194"/>
                  </a:lnTo>
                  <a:lnTo>
                    <a:pt x="352" y="0"/>
                  </a:lnTo>
                  <a:lnTo>
                    <a:pt x="10886" y="1088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7" name="object 41"/>
          <p:cNvSpPr txBox="1"/>
          <p:nvPr/>
        </p:nvSpPr>
        <p:spPr>
          <a:xfrm rot="2580000">
            <a:off x="6028055" y="4199255"/>
            <a:ext cx="1581150" cy="140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4.</a:t>
            </a:r>
            <a:r>
              <a:rPr sz="1100" spc="-2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HTTP</a:t>
            </a:r>
            <a:r>
              <a:rPr sz="1100" spc="-35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GET</a:t>
            </a:r>
            <a:r>
              <a:rPr sz="1100" spc="-3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 </a:t>
            </a:r>
            <a:r>
              <a:rPr sz="1100" spc="-10" dirty="0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challenge</a:t>
            </a:r>
            <a:endParaRPr sz="1100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68" name="object 42"/>
          <p:cNvGrpSpPr/>
          <p:nvPr/>
        </p:nvGrpSpPr>
        <p:grpSpPr>
          <a:xfrm rot="0">
            <a:off x="5977890" y="2745105"/>
            <a:ext cx="4990465" cy="2776855"/>
            <a:chOff x="4229832" y="1784212"/>
            <a:chExt cx="4681220" cy="2597785"/>
          </a:xfrm>
        </p:grpSpPr>
        <p:sp>
          <p:nvSpPr>
            <p:cNvPr id="69" name="object 43"/>
            <p:cNvSpPr/>
            <p:nvPr/>
          </p:nvSpPr>
          <p:spPr>
            <a:xfrm>
              <a:off x="4248126" y="2674313"/>
              <a:ext cx="1336040" cy="1276985"/>
            </a:xfrm>
            <a:custGeom>
              <a:avLst/>
              <a:gdLst/>
              <a:ahLst/>
              <a:cxnLst/>
              <a:rect l="l" t="t" r="r" b="b"/>
              <a:pathLst>
                <a:path w="1336039" h="1276985">
                  <a:moveTo>
                    <a:pt x="0" y="0"/>
                  </a:moveTo>
                  <a:lnTo>
                    <a:pt x="1335803" y="1276692"/>
                  </a:lnTo>
                </a:path>
              </a:pathLst>
            </a:custGeom>
            <a:ln w="9524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object 44"/>
            <p:cNvSpPr/>
            <p:nvPr/>
          </p:nvSpPr>
          <p:spPr>
            <a:xfrm>
              <a:off x="4234594" y="266138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3874" y="28077"/>
                  </a:moveTo>
                  <a:lnTo>
                    <a:pt x="0" y="0"/>
                  </a:lnTo>
                  <a:lnTo>
                    <a:pt x="28676" y="12590"/>
                  </a:lnTo>
                  <a:lnTo>
                    <a:pt x="13531" y="12933"/>
                  </a:lnTo>
                  <a:lnTo>
                    <a:pt x="13874" y="28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1" name="object 45"/>
            <p:cNvSpPr/>
            <p:nvPr/>
          </p:nvSpPr>
          <p:spPr>
            <a:xfrm>
              <a:off x="4234594" y="2661380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3531" y="12933"/>
                  </a:moveTo>
                  <a:lnTo>
                    <a:pt x="28676" y="12590"/>
                  </a:lnTo>
                  <a:lnTo>
                    <a:pt x="0" y="0"/>
                  </a:lnTo>
                  <a:lnTo>
                    <a:pt x="13874" y="28077"/>
                  </a:lnTo>
                  <a:lnTo>
                    <a:pt x="13531" y="1293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object 46"/>
            <p:cNvSpPr/>
            <p:nvPr/>
          </p:nvSpPr>
          <p:spPr>
            <a:xfrm>
              <a:off x="5568785" y="393586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28676" y="28077"/>
                  </a:moveTo>
                  <a:lnTo>
                    <a:pt x="0" y="15487"/>
                  </a:lnTo>
                  <a:lnTo>
                    <a:pt x="15144" y="15144"/>
                  </a:lnTo>
                  <a:lnTo>
                    <a:pt x="14801" y="0"/>
                  </a:lnTo>
                  <a:lnTo>
                    <a:pt x="28676" y="28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3" name="object 47"/>
            <p:cNvSpPr/>
            <p:nvPr/>
          </p:nvSpPr>
          <p:spPr>
            <a:xfrm>
              <a:off x="5568785" y="3935861"/>
              <a:ext cx="29209" cy="28575"/>
            </a:xfrm>
            <a:custGeom>
              <a:avLst/>
              <a:gdLst/>
              <a:ahLst/>
              <a:cxnLst/>
              <a:rect l="l" t="t" r="r" b="b"/>
              <a:pathLst>
                <a:path w="29210" h="28575">
                  <a:moveTo>
                    <a:pt x="15144" y="15144"/>
                  </a:moveTo>
                  <a:lnTo>
                    <a:pt x="0" y="15487"/>
                  </a:lnTo>
                  <a:lnTo>
                    <a:pt x="28676" y="28077"/>
                  </a:lnTo>
                  <a:lnTo>
                    <a:pt x="14801" y="0"/>
                  </a:lnTo>
                  <a:lnTo>
                    <a:pt x="15144" y="1514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4" name="object 48"/>
            <p:cNvSpPr/>
            <p:nvPr/>
          </p:nvSpPr>
          <p:spPr>
            <a:xfrm>
              <a:off x="5029200" y="1788974"/>
              <a:ext cx="3877310" cy="2588260"/>
            </a:xfrm>
            <a:custGeom>
              <a:avLst/>
              <a:gdLst/>
              <a:ahLst/>
              <a:cxnLst/>
              <a:rect l="l" t="t" r="r" b="b"/>
              <a:pathLst>
                <a:path w="3877309" h="2588260">
                  <a:moveTo>
                    <a:pt x="1522929" y="2587733"/>
                  </a:moveTo>
                  <a:lnTo>
                    <a:pt x="1384726" y="1872153"/>
                  </a:lnTo>
                  <a:lnTo>
                    <a:pt x="854707" y="2110560"/>
                  </a:lnTo>
                  <a:lnTo>
                    <a:pt x="1017141" y="1669687"/>
                  </a:lnTo>
                  <a:lnTo>
                    <a:pt x="24230" y="1747558"/>
                  </a:lnTo>
                  <a:lnTo>
                    <a:pt x="668043" y="1410674"/>
                  </a:lnTo>
                  <a:lnTo>
                    <a:pt x="0" y="1032098"/>
                  </a:lnTo>
                  <a:lnTo>
                    <a:pt x="830476" y="912535"/>
                  </a:lnTo>
                  <a:lnTo>
                    <a:pt x="66409" y="274946"/>
                  </a:lnTo>
                  <a:lnTo>
                    <a:pt x="1312394" y="757151"/>
                  </a:lnTo>
                  <a:lnTo>
                    <a:pt x="1499058" y="274946"/>
                  </a:lnTo>
                  <a:lnTo>
                    <a:pt x="1938438" y="694854"/>
                  </a:lnTo>
                  <a:lnTo>
                    <a:pt x="2606481" y="0"/>
                  </a:lnTo>
                  <a:lnTo>
                    <a:pt x="2540609" y="637948"/>
                  </a:lnTo>
                  <a:lnTo>
                    <a:pt x="3298934" y="533959"/>
                  </a:lnTo>
                  <a:lnTo>
                    <a:pt x="2997758" y="876355"/>
                  </a:lnTo>
                  <a:lnTo>
                    <a:pt x="3786594" y="974832"/>
                  </a:lnTo>
                  <a:lnTo>
                    <a:pt x="3160192" y="1254931"/>
                  </a:lnTo>
                  <a:lnTo>
                    <a:pt x="3876875" y="1592175"/>
                  </a:lnTo>
                  <a:lnTo>
                    <a:pt x="3021988" y="1550483"/>
                  </a:lnTo>
                  <a:lnTo>
                    <a:pt x="3256755" y="2167826"/>
                  </a:lnTo>
                  <a:lnTo>
                    <a:pt x="2516379" y="1731984"/>
                  </a:lnTo>
                  <a:lnTo>
                    <a:pt x="2377637" y="2364541"/>
                  </a:lnTo>
                  <a:lnTo>
                    <a:pt x="1890335" y="1789250"/>
                  </a:lnTo>
                  <a:lnTo>
                    <a:pt x="1522929" y="258773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object 49"/>
            <p:cNvSpPr/>
            <p:nvPr/>
          </p:nvSpPr>
          <p:spPr>
            <a:xfrm>
              <a:off x="5029200" y="1788974"/>
              <a:ext cx="3877310" cy="2588260"/>
            </a:xfrm>
            <a:custGeom>
              <a:avLst/>
              <a:gdLst/>
              <a:ahLst/>
              <a:cxnLst/>
              <a:rect l="l" t="t" r="r" b="b"/>
              <a:pathLst>
                <a:path w="3877309" h="2588260">
                  <a:moveTo>
                    <a:pt x="1938438" y="694854"/>
                  </a:moveTo>
                  <a:lnTo>
                    <a:pt x="2606481" y="0"/>
                  </a:lnTo>
                  <a:lnTo>
                    <a:pt x="2540609" y="637948"/>
                  </a:lnTo>
                  <a:lnTo>
                    <a:pt x="3298934" y="533959"/>
                  </a:lnTo>
                  <a:lnTo>
                    <a:pt x="2997758" y="876355"/>
                  </a:lnTo>
                  <a:lnTo>
                    <a:pt x="3786594" y="974832"/>
                  </a:lnTo>
                  <a:lnTo>
                    <a:pt x="3160192" y="1254931"/>
                  </a:lnTo>
                  <a:lnTo>
                    <a:pt x="3876875" y="1592175"/>
                  </a:lnTo>
                  <a:lnTo>
                    <a:pt x="3021988" y="1550483"/>
                  </a:lnTo>
                  <a:lnTo>
                    <a:pt x="3256755" y="2167826"/>
                  </a:lnTo>
                  <a:lnTo>
                    <a:pt x="2516379" y="1731984"/>
                  </a:lnTo>
                  <a:lnTo>
                    <a:pt x="2377637" y="2364541"/>
                  </a:lnTo>
                  <a:lnTo>
                    <a:pt x="1890335" y="1789250"/>
                  </a:lnTo>
                  <a:lnTo>
                    <a:pt x="1522929" y="2587733"/>
                  </a:lnTo>
                  <a:lnTo>
                    <a:pt x="1384726" y="1872153"/>
                  </a:lnTo>
                  <a:lnTo>
                    <a:pt x="854707" y="2110560"/>
                  </a:lnTo>
                  <a:lnTo>
                    <a:pt x="1017141" y="1669687"/>
                  </a:lnTo>
                  <a:lnTo>
                    <a:pt x="24230" y="1747558"/>
                  </a:lnTo>
                  <a:lnTo>
                    <a:pt x="668043" y="1410674"/>
                  </a:lnTo>
                  <a:lnTo>
                    <a:pt x="0" y="1032098"/>
                  </a:lnTo>
                  <a:lnTo>
                    <a:pt x="830476" y="912535"/>
                  </a:lnTo>
                  <a:lnTo>
                    <a:pt x="66409" y="274946"/>
                  </a:lnTo>
                  <a:lnTo>
                    <a:pt x="1312394" y="757151"/>
                  </a:lnTo>
                  <a:lnTo>
                    <a:pt x="1499058" y="274946"/>
                  </a:lnTo>
                  <a:lnTo>
                    <a:pt x="1938438" y="6948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6" name="object 50"/>
          <p:cNvSpPr txBox="1"/>
          <p:nvPr/>
        </p:nvSpPr>
        <p:spPr>
          <a:xfrm>
            <a:off x="7807960" y="3813175"/>
            <a:ext cx="2124075" cy="64071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065" marR="5080" indent="635" algn="ctr">
              <a:lnSpc>
                <a:spcPct val="104000"/>
              </a:lnSpc>
              <a:spcBef>
                <a:spcPts val="10"/>
              </a:spcBef>
            </a:pP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网络攻击可能针对域控制验证。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一、</a:t>
            </a:r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研究背景</a:t>
            </a:r>
            <a:r>
              <a:rPr lang="zh-CN" altLang="en-US" sz="3200">
                <a:sym typeface="+mn-ea"/>
              </a:rPr>
              <a:t>与动机</a:t>
            </a:r>
            <a:endParaRPr lang="zh-CN" altLang="en-US"/>
          </a:p>
        </p:txBody>
      </p:sp>
      <p:grpSp>
        <p:nvGrpSpPr>
          <p:cNvPr id="4" name="object 3"/>
          <p:cNvGrpSpPr/>
          <p:nvPr/>
        </p:nvGrpSpPr>
        <p:grpSpPr>
          <a:xfrm>
            <a:off x="2468245" y="2039620"/>
            <a:ext cx="7143115" cy="4509770"/>
            <a:chOff x="1097280" y="1188720"/>
            <a:chExt cx="5977890" cy="3657600"/>
          </a:xfrm>
        </p:grpSpPr>
        <p:pic>
          <p:nvPicPr>
            <p:cNvPr id="5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97280" y="1188720"/>
              <a:ext cx="5977287" cy="3657600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280" y="1188720"/>
              <a:ext cx="5024389" cy="3657599"/>
            </a:xfrm>
            <a:prstGeom prst="rect">
              <a:avLst/>
            </a:prstGeom>
          </p:spPr>
        </p:pic>
      </p:grpSp>
      <p:sp>
        <p:nvSpPr>
          <p:cNvPr id="7" name="object 6"/>
          <p:cNvSpPr txBox="1"/>
          <p:nvPr/>
        </p:nvSpPr>
        <p:spPr>
          <a:xfrm>
            <a:off x="1401445" y="2129790"/>
            <a:ext cx="2533015" cy="116840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66675" rIns="0" bIns="0" rtlCol="0">
            <a:noAutofit/>
          </a:bodyPr>
          <a:lstStyle/>
          <a:p>
            <a:pPr marL="85725" marR="127000">
              <a:lnSpc>
                <a:spcPct val="125000"/>
              </a:lnSpc>
              <a:spcBef>
                <a:spcPts val="525"/>
              </a:spcBef>
            </a:pPr>
            <a:r>
              <a:rPr lang="zh-CN" altLang="en-US" b="1"/>
              <a:t>BGP劫持</a:t>
            </a:r>
            <a:r>
              <a:rPr lang="zh-CN" altLang="en-US"/>
              <a:t>通过攻击者伪造指向前缀的路由，影响部分互联网流量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635" y="5562600"/>
            <a:ext cx="3047365" cy="3784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75"/>
              </a:spcBef>
            </a:pPr>
            <a:r>
              <a:rPr lang="en-US" altLang="zh-CN" sz="1200">
                <a:latin typeface="Calibri" panose="020F0502020204030204"/>
                <a:cs typeface="Calibri" panose="020F0502020204030204"/>
              </a:rPr>
              <a:t>*</a:t>
            </a:r>
            <a:r>
              <a:rPr lang="zh-CN" altLang="en-US" sz="1200">
                <a:latin typeface="Calibri" panose="020F0502020204030204"/>
                <a:cs typeface="Calibri" panose="020F0502020204030204"/>
              </a:rPr>
              <a:t>绿色表示正确路由至受害者的互</a:t>
            </a:r>
            <a:r>
              <a:rPr lang="zh-CN" altLang="en-US" sz="1200"/>
              <a:t>联</a:t>
            </a:r>
            <a:r>
              <a:rPr lang="zh-CN" altLang="en-US" sz="1200">
                <a:latin typeface="Calibri" panose="020F0502020204030204"/>
                <a:cs typeface="Calibri" panose="020F0502020204030204"/>
              </a:rPr>
              <a:t>网部分；红色表示路由至攻击者的互联网部分。</a:t>
            </a:r>
            <a:endParaRPr lang="zh-CN" altLang="en-US" sz="12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7613015" y="2129790"/>
            <a:ext cx="3054350" cy="1095375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66675" rIns="0" bIns="0" rtlCol="0">
            <a:noAutofit/>
          </a:bodyPr>
          <a:lstStyle/>
          <a:p>
            <a:pPr marL="85725" marR="208915">
              <a:lnSpc>
                <a:spcPct val="105000"/>
              </a:lnSpc>
              <a:spcBef>
                <a:spcPts val="525"/>
              </a:spcBef>
            </a:pPr>
            <a:r>
              <a:rPr lang="zh-CN" altLang="en-US"/>
              <a:t>Birge-Lee2018 利用</a:t>
            </a:r>
            <a:r>
              <a:rPr lang="zh-CN" altLang="en-US" b="1"/>
              <a:t>路由攻击</a:t>
            </a:r>
            <a:r>
              <a:rPr lang="zh-CN" altLang="en-US"/>
              <a:t>将域名控制质询重定向至攻击者，并获取恶意证书</a:t>
            </a:r>
            <a:r>
              <a:rPr lang="zh-CN" altLang="en-US" sz="1600">
                <a:latin typeface="Calibri" panose="020F0502020204030204"/>
                <a:cs typeface="Calibri" panose="020F0502020204030204"/>
              </a:rPr>
              <a:t>。</a:t>
            </a:r>
            <a:endParaRPr lang="zh-CN" altLang="en-US"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0055" y="1362710"/>
            <a:ext cx="5775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lnSpc>
                <a:spcPct val="100000"/>
              </a:lnSpc>
              <a:spcBef>
                <a:spcPts val="120"/>
              </a:spcBef>
              <a:buClrTx/>
              <a:buSzTx/>
              <a:buFont typeface="Wingdings" panose="05000000000000000000" charset="0"/>
              <a:buChar char="Ø"/>
            </a:pPr>
            <a:r>
              <a:rPr lang="zh-CN" altLang="en-US" sz="2400">
                <a:sym typeface="+mn-ea"/>
              </a:rPr>
              <a:t>攻击者利用路由攻击突破域名控制验证</a:t>
            </a:r>
            <a:endParaRPr lang="zh-CN" altLang="en-US" sz="2400"/>
          </a:p>
        </p:txBody>
      </p:sp>
      <p:sp>
        <p:nvSpPr>
          <p:cNvPr id="13" name="object 6"/>
          <p:cNvSpPr txBox="1"/>
          <p:nvPr/>
        </p:nvSpPr>
        <p:spPr>
          <a:xfrm>
            <a:off x="1935480" y="5307965"/>
            <a:ext cx="8207375" cy="1095375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66675" rIns="0" bIns="0" rtlCol="0">
            <a:noAutofit/>
          </a:bodyPr>
          <a:lstStyle/>
          <a:p>
            <a:pPr marL="85725" marR="127000" algn="ctr">
              <a:lnSpc>
                <a:spcPct val="225000"/>
              </a:lnSpc>
              <a:spcBef>
                <a:spcPts val="525"/>
              </a:spcBef>
            </a:pPr>
            <a:r>
              <a:rPr lang="zh-CN" sz="2400" b="1">
                <a:solidFill>
                  <a:srgbClr val="FF0000"/>
                </a:solidFill>
                <a:sym typeface="+mn-ea"/>
              </a:rPr>
              <a:t>这种实际发生的攻击表明，部署应对措施迫在眉睫。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二、研究方法与框架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Research Methods and Framework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/>
          <p:cNvGrpSpPr/>
          <p:nvPr/>
        </p:nvGrpSpPr>
        <p:grpSpPr>
          <a:xfrm>
            <a:off x="727183" y="5595983"/>
            <a:ext cx="10626512" cy="629073"/>
            <a:chOff x="545387" y="4196987"/>
            <a:chExt cx="7969884" cy="471805"/>
          </a:xfrm>
        </p:grpSpPr>
        <p:sp>
          <p:nvSpPr>
            <p:cNvPr id="5" name="object 5"/>
            <p:cNvSpPr/>
            <p:nvPr/>
          </p:nvSpPr>
          <p:spPr>
            <a:xfrm>
              <a:off x="550149" y="4201750"/>
              <a:ext cx="7960359" cy="462280"/>
            </a:xfrm>
            <a:custGeom>
              <a:avLst/>
              <a:gdLst/>
              <a:ahLst/>
              <a:cxnLst/>
              <a:rect l="l" t="t" r="r" b="b"/>
              <a:pathLst>
                <a:path w="7960359" h="462279">
                  <a:moveTo>
                    <a:pt x="7959899" y="461699"/>
                  </a:moveTo>
                  <a:lnTo>
                    <a:pt x="0" y="461699"/>
                  </a:lnTo>
                  <a:lnTo>
                    <a:pt x="0" y="0"/>
                  </a:lnTo>
                  <a:lnTo>
                    <a:pt x="7959899" y="0"/>
                  </a:lnTo>
                  <a:lnTo>
                    <a:pt x="7959899" y="4616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550149" y="4201750"/>
              <a:ext cx="7960359" cy="462280"/>
            </a:xfrm>
            <a:custGeom>
              <a:avLst/>
              <a:gdLst/>
              <a:ahLst/>
              <a:cxnLst/>
              <a:rect l="l" t="t" r="r" b="b"/>
              <a:pathLst>
                <a:path w="7960359" h="462279">
                  <a:moveTo>
                    <a:pt x="0" y="0"/>
                  </a:moveTo>
                  <a:lnTo>
                    <a:pt x="7959899" y="0"/>
                  </a:lnTo>
                  <a:lnTo>
                    <a:pt x="7959899" y="461699"/>
                  </a:lnTo>
                  <a:lnTo>
                    <a:pt x="0" y="461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65325" y="5687508"/>
            <a:ext cx="9348893" cy="3854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未受攻击影响的有利位置的路由</a:t>
            </a:r>
            <a:r>
              <a:rPr lang="en-US" altLang="zh-CN"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en-US" altLang="en-US"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→</a:t>
            </a:r>
            <a:r>
              <a:rPr lang="en-US" altLang="zh-CN"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 sz="2400" b="1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检测到攻击</a:t>
            </a:r>
            <a:r>
              <a:rPr sz="2400" spc="155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endParaRPr sz="2400" spc="155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09265" y="1834515"/>
            <a:ext cx="6280150" cy="387731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367" y="6304448"/>
            <a:ext cx="7189047" cy="345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35" dirty="0">
                <a:latin typeface="Calibri" panose="020F0502020204030204"/>
                <a:cs typeface="Calibri" panose="020F0502020204030204"/>
              </a:rPr>
              <a:t>*multiple-</a:t>
            </a:r>
            <a:r>
              <a:rPr sz="2135" spc="60" dirty="0">
                <a:latin typeface="Calibri" panose="020F0502020204030204"/>
                <a:cs typeface="Calibri" panose="020F0502020204030204"/>
              </a:rPr>
              <a:t>vantage</a:t>
            </a:r>
            <a:r>
              <a:rPr sz="2135" spc="220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dirty="0">
                <a:latin typeface="Calibri" panose="020F0502020204030204"/>
                <a:cs typeface="Calibri" panose="020F0502020204030204"/>
              </a:rPr>
              <a:t>point</a:t>
            </a:r>
            <a:r>
              <a:rPr sz="2135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spc="55" dirty="0">
                <a:latin typeface="Calibri" panose="020F0502020204030204"/>
                <a:cs typeface="Calibri" panose="020F0502020204030204"/>
              </a:rPr>
              <a:t>domain</a:t>
            </a:r>
            <a:r>
              <a:rPr sz="2135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dirty="0">
                <a:latin typeface="Calibri" panose="020F0502020204030204"/>
                <a:cs typeface="Calibri" panose="020F0502020204030204"/>
              </a:rPr>
              <a:t>control</a:t>
            </a:r>
            <a:r>
              <a:rPr sz="2135" spc="225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dirty="0">
                <a:latin typeface="Calibri" panose="020F0502020204030204"/>
                <a:cs typeface="Calibri" panose="020F0502020204030204"/>
              </a:rPr>
              <a:t>validation</a:t>
            </a:r>
            <a:r>
              <a:rPr sz="2135" spc="250" dirty="0">
                <a:latin typeface="Calibri" panose="020F0502020204030204"/>
                <a:cs typeface="Calibri" panose="020F0502020204030204"/>
              </a:rPr>
              <a:t> </a:t>
            </a:r>
            <a:r>
              <a:rPr sz="2135" dirty="0">
                <a:latin typeface="Arial" panose="020B0604020202020204"/>
                <a:cs typeface="Arial" panose="020B0604020202020204"/>
              </a:rPr>
              <a:t>≡</a:t>
            </a:r>
            <a:r>
              <a:rPr sz="2135" spc="140" dirty="0">
                <a:latin typeface="Arial" panose="020B0604020202020204"/>
                <a:cs typeface="Arial" panose="020B0604020202020204"/>
              </a:rPr>
              <a:t> </a:t>
            </a:r>
            <a:r>
              <a:rPr sz="2135" spc="-10" dirty="0">
                <a:latin typeface="Calibri" panose="020F0502020204030204"/>
                <a:cs typeface="Calibri" panose="020F0502020204030204"/>
              </a:rPr>
              <a:t>multiVA</a:t>
            </a:r>
            <a:endParaRPr sz="21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58150" y="1929765"/>
            <a:ext cx="2393315" cy="83566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87206" rIns="0" bIns="0" rtlCol="0">
            <a:noAutofit/>
          </a:bodyPr>
          <a:lstStyle/>
          <a:p>
            <a:pPr marL="85725" algn="l">
              <a:lnSpc>
                <a:spcPct val="120000"/>
              </a:lnSpc>
              <a:spcBef>
                <a:spcPts val="620"/>
              </a:spcBef>
              <a:buClrTx/>
              <a:buSzTx/>
              <a:buFontTx/>
            </a:pP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从互联网的多个</a:t>
            </a:r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不同角度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微软雅黑" panose="020B0503020204020204" charset="-122"/>
              </a:rPr>
              <a:t>进行验证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7415" y="1929765"/>
            <a:ext cx="2875280" cy="1151255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104986" rIns="0" bIns="0" rtlCol="0">
            <a:noAutofit/>
          </a:bodyPr>
          <a:lstStyle/>
          <a:p>
            <a:pPr marL="85725">
              <a:lnSpc>
                <a:spcPct val="120000"/>
              </a:lnSpc>
              <a:spcBef>
                <a:spcPts val="620"/>
              </a:spcBef>
            </a:pPr>
            <a:r>
              <a:rPr lang="en-US" altLang="zh-CN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Let's Encrypt </a:t>
            </a:r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和</a:t>
            </a:r>
            <a:r>
              <a:rPr lang="en-US" altLang="zh-CN" b="1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Google Trust Services</a:t>
            </a:r>
            <a:r>
              <a:rPr lang="en-US" altLang="zh-CN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lang="zh-CN" altLang="en-US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已部署此功能</a:t>
            </a:r>
            <a:endParaRPr lang="zh-CN" altLang="en-US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3905" y="1320165"/>
            <a:ext cx="9250680" cy="405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 spc="114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multiVA</a:t>
            </a:r>
            <a:r>
              <a:rPr lang="zh-CN" altLang="en-US" sz="2000" b="1" spc="114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：一种防御局部路由攻击的方法</a:t>
            </a:r>
            <a:endParaRPr lang="zh-CN" altLang="en-US" sz="2000" b="1" spc="114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13" name="标题 12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33665" y="1621807"/>
            <a:ext cx="11022753" cy="315531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379095" marR="5080" indent="-367030">
              <a:lnSpc>
                <a:spcPct val="115000"/>
              </a:lnSpc>
              <a:spcBef>
                <a:spcPts val="183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多身份验证代理在</a:t>
            </a: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Web PKI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领域日益普及（并引发争议）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  <a:p>
            <a:pPr marL="379095" marR="5080" indent="-367030">
              <a:lnSpc>
                <a:spcPct val="115000"/>
              </a:lnSpc>
              <a:spcBef>
                <a:spcPts val="183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CA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部署的关键瓶颈：对多身份验证代理安全优势缺乏清晰的理解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36295" lvl="1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有效性取决于部署细节</a:t>
            </a:r>
            <a:endParaRPr sz="2400">
              <a:latin typeface="Calibri" panose="020F0502020204030204"/>
              <a:cs typeface="Calibri" panose="020F0502020204030204"/>
            </a:endParaRPr>
          </a:p>
          <a:p>
            <a:pPr marL="836295" lvl="1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多身份验证代理在实践中的部署效果如何？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  <a:p>
            <a:pPr marL="836295" lvl="1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endParaRPr sz="2400" b="1" i="1" spc="125" dirty="0">
              <a:latin typeface="Calibri" panose="020F0502020204030204"/>
              <a:cs typeface="Calibri" panose="020F0502020204030204"/>
            </a:endParaRPr>
          </a:p>
          <a:p>
            <a:pPr marL="379095" lvl="0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endParaRPr lang="en-US" altLang="zh-CN" sz="2400">
              <a:latin typeface="Calibri" panose="020F0502020204030204"/>
              <a:cs typeface="Calibri" panose="020F0502020204030204"/>
            </a:endParaRPr>
          </a:p>
          <a:p>
            <a:pPr marL="379095" lvl="0" indent="-367030">
              <a:lnSpc>
                <a:spcPct val="100000"/>
              </a:lnSpc>
              <a:spcBef>
                <a:spcPts val="325"/>
              </a:spcBef>
              <a:buFont typeface="Arial" panose="020B0604020202020204"/>
              <a:buChar char="○"/>
              <a:tabLst>
                <a:tab pos="835660" algn="l"/>
                <a:tab pos="836930" algn="l"/>
              </a:tabLst>
            </a:pP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87196" y="4275461"/>
            <a:ext cx="2054860" cy="1017693"/>
            <a:chOff x="1566313" y="3812862"/>
            <a:chExt cx="1541145" cy="763270"/>
          </a:xfrm>
        </p:grpSpPr>
        <p:sp>
          <p:nvSpPr>
            <p:cNvPr id="5" name="object 5"/>
            <p:cNvSpPr/>
            <p:nvPr/>
          </p:nvSpPr>
          <p:spPr>
            <a:xfrm>
              <a:off x="1571076" y="3817625"/>
              <a:ext cx="1531620" cy="753745"/>
            </a:xfrm>
            <a:custGeom>
              <a:avLst/>
              <a:gdLst/>
              <a:ahLst/>
              <a:cxnLst/>
              <a:rect l="l" t="t" r="r" b="b"/>
              <a:pathLst>
                <a:path w="1531620" h="753745">
                  <a:moveTo>
                    <a:pt x="1405897" y="753599"/>
                  </a:moveTo>
                  <a:lnTo>
                    <a:pt x="125602" y="753599"/>
                  </a:lnTo>
                  <a:lnTo>
                    <a:pt x="76712" y="743729"/>
                  </a:lnTo>
                  <a:lnTo>
                    <a:pt x="36788" y="716811"/>
                  </a:lnTo>
                  <a:lnTo>
                    <a:pt x="9870" y="676887"/>
                  </a:lnTo>
                  <a:lnTo>
                    <a:pt x="0" y="627997"/>
                  </a:lnTo>
                  <a:lnTo>
                    <a:pt x="0" y="125602"/>
                  </a:lnTo>
                  <a:lnTo>
                    <a:pt x="9870" y="76712"/>
                  </a:lnTo>
                  <a:lnTo>
                    <a:pt x="36788" y="36788"/>
                  </a:lnTo>
                  <a:lnTo>
                    <a:pt x="76712" y="9870"/>
                  </a:lnTo>
                  <a:lnTo>
                    <a:pt x="125602" y="0"/>
                  </a:lnTo>
                  <a:lnTo>
                    <a:pt x="1405897" y="0"/>
                  </a:lnTo>
                  <a:lnTo>
                    <a:pt x="1453963" y="9560"/>
                  </a:lnTo>
                  <a:lnTo>
                    <a:pt x="1494711" y="36788"/>
                  </a:lnTo>
                  <a:lnTo>
                    <a:pt x="1521939" y="77536"/>
                  </a:lnTo>
                  <a:lnTo>
                    <a:pt x="1531499" y="125602"/>
                  </a:lnTo>
                  <a:lnTo>
                    <a:pt x="1531499" y="627997"/>
                  </a:lnTo>
                  <a:lnTo>
                    <a:pt x="1521629" y="676887"/>
                  </a:lnTo>
                  <a:lnTo>
                    <a:pt x="1494711" y="716811"/>
                  </a:lnTo>
                  <a:lnTo>
                    <a:pt x="1454787" y="743729"/>
                  </a:lnTo>
                  <a:lnTo>
                    <a:pt x="1405897" y="75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6" name="object 6"/>
            <p:cNvSpPr/>
            <p:nvPr/>
          </p:nvSpPr>
          <p:spPr>
            <a:xfrm>
              <a:off x="1571076" y="3817625"/>
              <a:ext cx="1531620" cy="753745"/>
            </a:xfrm>
            <a:custGeom>
              <a:avLst/>
              <a:gdLst/>
              <a:ahLst/>
              <a:cxnLst/>
              <a:rect l="l" t="t" r="r" b="b"/>
              <a:pathLst>
                <a:path w="1531620" h="753745">
                  <a:moveTo>
                    <a:pt x="0" y="125602"/>
                  </a:moveTo>
                  <a:lnTo>
                    <a:pt x="9870" y="76712"/>
                  </a:lnTo>
                  <a:lnTo>
                    <a:pt x="36788" y="36788"/>
                  </a:lnTo>
                  <a:lnTo>
                    <a:pt x="76712" y="9870"/>
                  </a:lnTo>
                  <a:lnTo>
                    <a:pt x="125602" y="0"/>
                  </a:lnTo>
                  <a:lnTo>
                    <a:pt x="1405897" y="0"/>
                  </a:lnTo>
                  <a:lnTo>
                    <a:pt x="1453963" y="9560"/>
                  </a:lnTo>
                  <a:lnTo>
                    <a:pt x="1494711" y="36788"/>
                  </a:lnTo>
                  <a:lnTo>
                    <a:pt x="1521939" y="77536"/>
                  </a:lnTo>
                  <a:lnTo>
                    <a:pt x="1531499" y="125602"/>
                  </a:lnTo>
                  <a:lnTo>
                    <a:pt x="1531499" y="627997"/>
                  </a:lnTo>
                  <a:lnTo>
                    <a:pt x="1521629" y="676887"/>
                  </a:lnTo>
                  <a:lnTo>
                    <a:pt x="1494711" y="716811"/>
                  </a:lnTo>
                  <a:lnTo>
                    <a:pt x="1454787" y="743729"/>
                  </a:lnTo>
                  <a:lnTo>
                    <a:pt x="1405897" y="753599"/>
                  </a:lnTo>
                  <a:lnTo>
                    <a:pt x="125602" y="753599"/>
                  </a:lnTo>
                  <a:lnTo>
                    <a:pt x="76712" y="743729"/>
                  </a:lnTo>
                  <a:lnTo>
                    <a:pt x="36788" y="716811"/>
                  </a:lnTo>
                  <a:lnTo>
                    <a:pt x="9870" y="676887"/>
                  </a:lnTo>
                  <a:lnTo>
                    <a:pt x="0" y="627997"/>
                  </a:lnTo>
                  <a:lnTo>
                    <a:pt x="0" y="1256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90054" y="4611588"/>
            <a:ext cx="2049145" cy="345440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lang="zh-CN" altLang="en-US" sz="1865">
                <a:latin typeface="Arial" panose="020B0604020202020204"/>
                <a:cs typeface="Arial" panose="020B0604020202020204"/>
              </a:rPr>
              <a:t>分析框架</a:t>
            </a:r>
            <a:endParaRPr lang="zh-CN" altLang="en-US" sz="1865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68649" y="4275461"/>
            <a:ext cx="2054860" cy="1017693"/>
            <a:chOff x="3801487" y="3812862"/>
            <a:chExt cx="1541145" cy="763270"/>
          </a:xfrm>
        </p:grpSpPr>
        <p:sp>
          <p:nvSpPr>
            <p:cNvPr id="9" name="object 9"/>
            <p:cNvSpPr/>
            <p:nvPr/>
          </p:nvSpPr>
          <p:spPr>
            <a:xfrm>
              <a:off x="3806249" y="3817625"/>
              <a:ext cx="1531620" cy="753745"/>
            </a:xfrm>
            <a:custGeom>
              <a:avLst/>
              <a:gdLst/>
              <a:ahLst/>
              <a:cxnLst/>
              <a:rect l="l" t="t" r="r" b="b"/>
              <a:pathLst>
                <a:path w="1531620" h="753745">
                  <a:moveTo>
                    <a:pt x="1405897" y="753599"/>
                  </a:moveTo>
                  <a:lnTo>
                    <a:pt x="125602" y="753599"/>
                  </a:lnTo>
                  <a:lnTo>
                    <a:pt x="76712" y="743729"/>
                  </a:lnTo>
                  <a:lnTo>
                    <a:pt x="36788" y="716811"/>
                  </a:lnTo>
                  <a:lnTo>
                    <a:pt x="9870" y="676887"/>
                  </a:lnTo>
                  <a:lnTo>
                    <a:pt x="0" y="627997"/>
                  </a:lnTo>
                  <a:lnTo>
                    <a:pt x="0" y="125602"/>
                  </a:lnTo>
                  <a:lnTo>
                    <a:pt x="9870" y="76712"/>
                  </a:lnTo>
                  <a:lnTo>
                    <a:pt x="36788" y="36788"/>
                  </a:lnTo>
                  <a:lnTo>
                    <a:pt x="76712" y="9870"/>
                  </a:lnTo>
                  <a:lnTo>
                    <a:pt x="125602" y="0"/>
                  </a:lnTo>
                  <a:lnTo>
                    <a:pt x="1405897" y="0"/>
                  </a:lnTo>
                  <a:lnTo>
                    <a:pt x="1453963" y="9560"/>
                  </a:lnTo>
                  <a:lnTo>
                    <a:pt x="1494711" y="36788"/>
                  </a:lnTo>
                  <a:lnTo>
                    <a:pt x="1521938" y="77536"/>
                  </a:lnTo>
                  <a:lnTo>
                    <a:pt x="1531499" y="125602"/>
                  </a:lnTo>
                  <a:lnTo>
                    <a:pt x="1531499" y="627997"/>
                  </a:lnTo>
                  <a:lnTo>
                    <a:pt x="1521629" y="676887"/>
                  </a:lnTo>
                  <a:lnTo>
                    <a:pt x="1494711" y="716811"/>
                  </a:lnTo>
                  <a:lnTo>
                    <a:pt x="1454787" y="743729"/>
                  </a:lnTo>
                  <a:lnTo>
                    <a:pt x="1405897" y="7535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806249" y="3817625"/>
              <a:ext cx="1531620" cy="753745"/>
            </a:xfrm>
            <a:custGeom>
              <a:avLst/>
              <a:gdLst/>
              <a:ahLst/>
              <a:cxnLst/>
              <a:rect l="l" t="t" r="r" b="b"/>
              <a:pathLst>
                <a:path w="1531620" h="753745">
                  <a:moveTo>
                    <a:pt x="0" y="125602"/>
                  </a:moveTo>
                  <a:lnTo>
                    <a:pt x="9870" y="76712"/>
                  </a:lnTo>
                  <a:lnTo>
                    <a:pt x="36788" y="36788"/>
                  </a:lnTo>
                  <a:lnTo>
                    <a:pt x="76712" y="9870"/>
                  </a:lnTo>
                  <a:lnTo>
                    <a:pt x="125602" y="0"/>
                  </a:lnTo>
                  <a:lnTo>
                    <a:pt x="1405897" y="0"/>
                  </a:lnTo>
                  <a:lnTo>
                    <a:pt x="1453963" y="9560"/>
                  </a:lnTo>
                  <a:lnTo>
                    <a:pt x="1494711" y="36788"/>
                  </a:lnTo>
                  <a:lnTo>
                    <a:pt x="1521938" y="77536"/>
                  </a:lnTo>
                  <a:lnTo>
                    <a:pt x="1531499" y="125602"/>
                  </a:lnTo>
                  <a:lnTo>
                    <a:pt x="1531499" y="627997"/>
                  </a:lnTo>
                  <a:lnTo>
                    <a:pt x="1521629" y="676887"/>
                  </a:lnTo>
                  <a:lnTo>
                    <a:pt x="1494711" y="716811"/>
                  </a:lnTo>
                  <a:lnTo>
                    <a:pt x="1454787" y="743729"/>
                  </a:lnTo>
                  <a:lnTo>
                    <a:pt x="1405897" y="753599"/>
                  </a:lnTo>
                  <a:lnTo>
                    <a:pt x="125602" y="753599"/>
                  </a:lnTo>
                  <a:lnTo>
                    <a:pt x="76712" y="743729"/>
                  </a:lnTo>
                  <a:lnTo>
                    <a:pt x="36788" y="716811"/>
                  </a:lnTo>
                  <a:lnTo>
                    <a:pt x="9870" y="676887"/>
                  </a:lnTo>
                  <a:lnTo>
                    <a:pt x="0" y="627997"/>
                  </a:lnTo>
                  <a:lnTo>
                    <a:pt x="0" y="1256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103892" y="4635083"/>
            <a:ext cx="1984375" cy="298450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lang="zh-CN" altLang="en-US" sz="1865">
                <a:latin typeface="Arial" panose="020B0604020202020204"/>
                <a:cs typeface="Arial" panose="020B0604020202020204"/>
              </a:rPr>
              <a:t>测量研究</a:t>
            </a:r>
            <a:endParaRPr lang="zh-CN" altLang="en-US" sz="186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422437" y="4644256"/>
            <a:ext cx="292255" cy="31224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58495" y="4563645"/>
            <a:ext cx="1136015" cy="441325"/>
          </a:xfrm>
          <a:prstGeom prst="rect">
            <a:avLst/>
          </a:prstGeom>
        </p:spPr>
        <p:txBody>
          <a:bodyPr vert="horz" wrap="square" lIns="0" tIns="16933" rIns="0" bIns="0" rtlCol="0">
            <a:no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2135">
                <a:latin typeface="Calibri" panose="020F0502020204030204"/>
                <a:cs typeface="Calibri" panose="020F0502020204030204"/>
              </a:rPr>
              <a:t>本文工作：</a:t>
            </a:r>
            <a:endParaRPr lang="zh-CN" altLang="en-US" sz="2135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35879" y="4577128"/>
            <a:ext cx="745067" cy="420793"/>
            <a:chOff x="5501909" y="4039112"/>
            <a:chExt cx="558800" cy="315595"/>
          </a:xfrm>
        </p:grpSpPr>
        <p:sp>
          <p:nvSpPr>
            <p:cNvPr id="15" name="object 15"/>
            <p:cNvSpPr/>
            <p:nvPr/>
          </p:nvSpPr>
          <p:spPr>
            <a:xfrm>
              <a:off x="5506672" y="4043874"/>
              <a:ext cx="549275" cy="306070"/>
            </a:xfrm>
            <a:custGeom>
              <a:avLst/>
              <a:gdLst/>
              <a:ahLst/>
              <a:cxnLst/>
              <a:rect l="l" t="t" r="r" b="b"/>
              <a:pathLst>
                <a:path w="549275" h="306070">
                  <a:moveTo>
                    <a:pt x="395849" y="305699"/>
                  </a:moveTo>
                  <a:lnTo>
                    <a:pt x="395849" y="229274"/>
                  </a:lnTo>
                  <a:lnTo>
                    <a:pt x="0" y="229274"/>
                  </a:lnTo>
                  <a:lnTo>
                    <a:pt x="0" y="76424"/>
                  </a:lnTo>
                  <a:lnTo>
                    <a:pt x="395849" y="76424"/>
                  </a:lnTo>
                  <a:lnTo>
                    <a:pt x="395849" y="0"/>
                  </a:lnTo>
                  <a:lnTo>
                    <a:pt x="548699" y="152849"/>
                  </a:lnTo>
                  <a:lnTo>
                    <a:pt x="395849" y="305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6" name="object 16"/>
            <p:cNvSpPr/>
            <p:nvPr/>
          </p:nvSpPr>
          <p:spPr>
            <a:xfrm>
              <a:off x="5506672" y="4043874"/>
              <a:ext cx="549275" cy="306070"/>
            </a:xfrm>
            <a:custGeom>
              <a:avLst/>
              <a:gdLst/>
              <a:ahLst/>
              <a:cxnLst/>
              <a:rect l="l" t="t" r="r" b="b"/>
              <a:pathLst>
                <a:path w="549275" h="306070">
                  <a:moveTo>
                    <a:pt x="0" y="76424"/>
                  </a:moveTo>
                  <a:lnTo>
                    <a:pt x="395849" y="76424"/>
                  </a:lnTo>
                  <a:lnTo>
                    <a:pt x="395849" y="0"/>
                  </a:lnTo>
                  <a:lnTo>
                    <a:pt x="548699" y="152849"/>
                  </a:lnTo>
                  <a:lnTo>
                    <a:pt x="395849" y="305699"/>
                  </a:lnTo>
                  <a:lnTo>
                    <a:pt x="395849" y="229274"/>
                  </a:lnTo>
                  <a:lnTo>
                    <a:pt x="0" y="229274"/>
                  </a:lnTo>
                  <a:lnTo>
                    <a:pt x="0" y="76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290583" y="4169228"/>
            <a:ext cx="2444327" cy="1262380"/>
            <a:chOff x="6217937" y="3733187"/>
            <a:chExt cx="1833245" cy="946785"/>
          </a:xfrm>
        </p:grpSpPr>
        <p:sp>
          <p:nvSpPr>
            <p:cNvPr id="18" name="object 18"/>
            <p:cNvSpPr/>
            <p:nvPr/>
          </p:nvSpPr>
          <p:spPr>
            <a:xfrm>
              <a:off x="6222700" y="3737950"/>
              <a:ext cx="1823720" cy="937260"/>
            </a:xfrm>
            <a:custGeom>
              <a:avLst/>
              <a:gdLst/>
              <a:ahLst/>
              <a:cxnLst/>
              <a:rect l="l" t="t" r="r" b="b"/>
              <a:pathLst>
                <a:path w="1823720" h="937260">
                  <a:moveTo>
                    <a:pt x="1666896" y="937199"/>
                  </a:moveTo>
                  <a:lnTo>
                    <a:pt x="156202" y="937199"/>
                  </a:lnTo>
                  <a:lnTo>
                    <a:pt x="106830" y="929236"/>
                  </a:lnTo>
                  <a:lnTo>
                    <a:pt x="63951" y="907061"/>
                  </a:lnTo>
                  <a:lnTo>
                    <a:pt x="30138" y="873248"/>
                  </a:lnTo>
                  <a:lnTo>
                    <a:pt x="7963" y="830369"/>
                  </a:lnTo>
                  <a:lnTo>
                    <a:pt x="0" y="780996"/>
                  </a:lnTo>
                  <a:lnTo>
                    <a:pt x="0" y="156202"/>
                  </a:lnTo>
                  <a:lnTo>
                    <a:pt x="7963" y="106830"/>
                  </a:lnTo>
                  <a:lnTo>
                    <a:pt x="30138" y="63951"/>
                  </a:lnTo>
                  <a:lnTo>
                    <a:pt x="63951" y="30138"/>
                  </a:lnTo>
                  <a:lnTo>
                    <a:pt x="106830" y="7963"/>
                  </a:lnTo>
                  <a:lnTo>
                    <a:pt x="156202" y="0"/>
                  </a:lnTo>
                  <a:lnTo>
                    <a:pt x="1666896" y="0"/>
                  </a:lnTo>
                  <a:lnTo>
                    <a:pt x="1726673" y="11890"/>
                  </a:lnTo>
                  <a:lnTo>
                    <a:pt x="1777349" y="45750"/>
                  </a:lnTo>
                  <a:lnTo>
                    <a:pt x="1811209" y="96426"/>
                  </a:lnTo>
                  <a:lnTo>
                    <a:pt x="1823099" y="156202"/>
                  </a:lnTo>
                  <a:lnTo>
                    <a:pt x="1823099" y="780996"/>
                  </a:lnTo>
                  <a:lnTo>
                    <a:pt x="1815136" y="830369"/>
                  </a:lnTo>
                  <a:lnTo>
                    <a:pt x="1792961" y="873248"/>
                  </a:lnTo>
                  <a:lnTo>
                    <a:pt x="1759148" y="907061"/>
                  </a:lnTo>
                  <a:lnTo>
                    <a:pt x="1716269" y="929236"/>
                  </a:lnTo>
                  <a:lnTo>
                    <a:pt x="1666896" y="9371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6222700" y="3737950"/>
              <a:ext cx="1823720" cy="937260"/>
            </a:xfrm>
            <a:custGeom>
              <a:avLst/>
              <a:gdLst/>
              <a:ahLst/>
              <a:cxnLst/>
              <a:rect l="l" t="t" r="r" b="b"/>
              <a:pathLst>
                <a:path w="1823720" h="937260">
                  <a:moveTo>
                    <a:pt x="0" y="156202"/>
                  </a:moveTo>
                  <a:lnTo>
                    <a:pt x="7963" y="106830"/>
                  </a:lnTo>
                  <a:lnTo>
                    <a:pt x="30138" y="63951"/>
                  </a:lnTo>
                  <a:lnTo>
                    <a:pt x="63951" y="30138"/>
                  </a:lnTo>
                  <a:lnTo>
                    <a:pt x="106830" y="7963"/>
                  </a:lnTo>
                  <a:lnTo>
                    <a:pt x="156202" y="0"/>
                  </a:lnTo>
                  <a:lnTo>
                    <a:pt x="1666896" y="0"/>
                  </a:lnTo>
                  <a:lnTo>
                    <a:pt x="1726673" y="11890"/>
                  </a:lnTo>
                  <a:lnTo>
                    <a:pt x="1777349" y="45750"/>
                  </a:lnTo>
                  <a:lnTo>
                    <a:pt x="1811209" y="96426"/>
                  </a:lnTo>
                  <a:lnTo>
                    <a:pt x="1823099" y="156202"/>
                  </a:lnTo>
                  <a:lnTo>
                    <a:pt x="1823099" y="780996"/>
                  </a:lnTo>
                  <a:lnTo>
                    <a:pt x="1815136" y="830369"/>
                  </a:lnTo>
                  <a:lnTo>
                    <a:pt x="1792961" y="873248"/>
                  </a:lnTo>
                  <a:lnTo>
                    <a:pt x="1759148" y="907061"/>
                  </a:lnTo>
                  <a:lnTo>
                    <a:pt x="1716269" y="929236"/>
                  </a:lnTo>
                  <a:lnTo>
                    <a:pt x="1666896" y="937199"/>
                  </a:lnTo>
                  <a:lnTo>
                    <a:pt x="156202" y="937199"/>
                  </a:lnTo>
                  <a:lnTo>
                    <a:pt x="106830" y="929236"/>
                  </a:lnTo>
                  <a:lnTo>
                    <a:pt x="63951" y="907061"/>
                  </a:lnTo>
                  <a:lnTo>
                    <a:pt x="30138" y="873248"/>
                  </a:lnTo>
                  <a:lnTo>
                    <a:pt x="7963" y="830369"/>
                  </a:lnTo>
                  <a:lnTo>
                    <a:pt x="0" y="780996"/>
                  </a:lnTo>
                  <a:lnTo>
                    <a:pt x="0" y="15620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312913" y="4404178"/>
            <a:ext cx="2399665" cy="792480"/>
          </a:xfrm>
          <a:prstGeom prst="rect">
            <a:avLst/>
          </a:prstGeom>
        </p:spPr>
        <p:txBody>
          <a:bodyPr vert="horz" wrap="square" lIns="0" tIns="30480" rIns="0" bIns="0" rtlCol="0">
            <a:noAutofit/>
          </a:bodyPr>
          <a:lstStyle/>
          <a:p>
            <a:pPr marL="12700" marR="5080" algn="ctr">
              <a:lnSpc>
                <a:spcPct val="130000"/>
              </a:lnSpc>
              <a:spcBef>
                <a:spcPts val="180"/>
              </a:spcBef>
            </a:pPr>
            <a:r>
              <a:rPr lang="zh-CN" altLang="en-US" sz="1865">
                <a:latin typeface="Arial" panose="020B0604020202020204"/>
                <a:cs typeface="Arial" panose="020B0604020202020204"/>
                <a:sym typeface="+mn-ea"/>
              </a:rPr>
              <a:t>量化并优化</a:t>
            </a:r>
            <a:r>
              <a:rPr lang="en-US" altLang="zh-CN" sz="1865">
                <a:latin typeface="Arial" panose="020B0604020202020204"/>
                <a:cs typeface="Arial" panose="020B0604020202020204"/>
                <a:sym typeface="+mn-ea"/>
              </a:rPr>
              <a:t>MultiVA</a:t>
            </a:r>
            <a:r>
              <a:rPr lang="zh-CN" altLang="en-US" sz="1865">
                <a:latin typeface="Arial" panose="020B0604020202020204"/>
                <a:cs typeface="Arial" panose="020B0604020202020204"/>
                <a:sym typeface="+mn-ea"/>
              </a:rPr>
              <a:t>安全</a:t>
            </a:r>
            <a:endParaRPr lang="zh-CN" altLang="en-US" sz="1865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标题 21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563568" y="1540011"/>
            <a:ext cx="1111080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spc="35" dirty="0">
                <a:latin typeface="Calibri" panose="020F0502020204030204"/>
                <a:cs typeface="Calibri" panose="020F0502020204030204"/>
              </a:rPr>
              <a:t>1.</a:t>
            </a:r>
            <a:r>
              <a:rPr sz="2400" dirty="0">
                <a:latin typeface="Calibri" panose="020F0502020204030204"/>
                <a:cs typeface="Calibri" panose="020F0502020204030204"/>
              </a:rPr>
              <a:t>	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分析框架：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将实际路由因素纳入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multiVA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抵御本地网络攻击（例如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和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RPKI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）的弹性评估中。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496" y="3687911"/>
            <a:ext cx="1086188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spc="35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sz="240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</a:t>
            </a:r>
            <a:r>
              <a:rPr sz="2400" b="1" spc="5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测量研究：</a:t>
            </a:r>
            <a:r>
              <a:rPr sz="2400" spc="5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大规模收集数据，以准确了解网络环境，重点关注 Let's Encrypt 域名——涵盖现有部署情况以及针对不同接入点位置的假设情景。</a:t>
            </a:r>
            <a:endParaRPr sz="2400" spc="50" dirty="0">
              <a:solidFill>
                <a:srgbClr val="9E9E9E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7" name="标题 6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568" y="1540011"/>
            <a:ext cx="1111080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Tx/>
              <a:tabLst>
                <a:tab pos="431800" algn="l"/>
              </a:tabLst>
            </a:pPr>
            <a:r>
              <a:rPr sz="2400" spc="35" dirty="0">
                <a:latin typeface="Calibri" panose="020F0502020204030204"/>
                <a:cs typeface="Calibri" panose="020F0502020204030204"/>
                <a:sym typeface="+mn-ea"/>
              </a:rPr>
              <a:t>1.</a:t>
            </a:r>
            <a:r>
              <a:rPr sz="2400" dirty="0">
                <a:latin typeface="Calibri" panose="020F0502020204030204"/>
                <a:cs typeface="Calibri" panose="020F0502020204030204"/>
                <a:sym typeface="+mn-ea"/>
              </a:rPr>
              <a:t>	</a:t>
            </a:r>
            <a:r>
              <a:rPr lang="zh-CN" altLang="en-US" sz="2400" b="1">
                <a:latin typeface="Calibri" panose="020F0502020204030204"/>
                <a:cs typeface="Calibri" panose="020F0502020204030204"/>
                <a:sym typeface="+mn-ea"/>
              </a:rPr>
              <a:t>分析框架：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将实际路由因素纳入multiVA抵御本地网络攻击（例如 DNS 和 RPKI）的弹性评估中。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57472" y="3710500"/>
            <a:ext cx="3950547" cy="2350347"/>
            <a:chOff x="3118104" y="2782875"/>
            <a:chExt cx="2962910" cy="176276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51960" y="2782875"/>
              <a:ext cx="1828797" cy="13444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8104" y="3176300"/>
              <a:ext cx="1828802" cy="13689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 rot="20400000">
            <a:off x="5433073" y="5161119"/>
            <a:ext cx="1170656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1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DNS</a:t>
            </a:r>
            <a:r>
              <a:rPr sz="1735" spc="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35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Att</a:t>
            </a:r>
            <a:r>
              <a:rPr sz="2600" spc="-15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ack</a:t>
            </a:r>
            <a:endParaRPr sz="26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 rot="20400000">
            <a:off x="5729987" y="5408100"/>
            <a:ext cx="759871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surface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 rot="20220000">
            <a:off x="6973460" y="4636353"/>
            <a:ext cx="964412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Deployed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 rot="20220000">
            <a:off x="7287741" y="4877903"/>
            <a:ext cx="545111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735" spc="1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RPKI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4320" y="2702983"/>
            <a:ext cx="3413763" cy="220187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 rot="20340000">
            <a:off x="5650556" y="3820552"/>
            <a:ext cx="1367421" cy="1657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95"/>
              </a:lnSpc>
            </a:pPr>
            <a:r>
              <a:rPr sz="17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Interne</a:t>
            </a:r>
            <a:r>
              <a:rPr sz="2600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t-</a:t>
            </a:r>
            <a:r>
              <a:rPr sz="2600" spc="104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scale</a:t>
            </a:r>
            <a:endParaRPr sz="26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13" name="object 13"/>
          <p:cNvSpPr txBox="1"/>
          <p:nvPr/>
        </p:nvSpPr>
        <p:spPr>
          <a:xfrm rot="20340000">
            <a:off x="5494557" y="4067372"/>
            <a:ext cx="1875629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sz="173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routing</a:t>
            </a:r>
            <a:r>
              <a:rPr sz="1735" spc="19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2600" spc="-15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simula</a:t>
            </a:r>
            <a:r>
              <a:rPr sz="2600" spc="-15" baseline="4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tions</a:t>
            </a:r>
            <a:endParaRPr sz="2600" baseline="4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5" name="标题 14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4"/>
          <p:cNvSpPr/>
          <p:nvPr/>
        </p:nvSpPr>
        <p:spPr>
          <a:xfrm>
            <a:off x="5535168" y="3609149"/>
            <a:ext cx="2683086" cy="1995594"/>
          </a:xfrm>
          <a:custGeom>
            <a:avLst/>
            <a:gdLst/>
            <a:ahLst/>
            <a:cxnLst/>
            <a:rect l="l" t="t" r="r" b="b"/>
            <a:pathLst>
              <a:path w="2012314" h="1496695">
                <a:moveTo>
                  <a:pt x="0" y="396399"/>
                </a:moveTo>
                <a:lnTo>
                  <a:pt x="9899" y="1149599"/>
                </a:lnTo>
                <a:lnTo>
                  <a:pt x="1010849" y="1496449"/>
                </a:lnTo>
                <a:lnTo>
                  <a:pt x="2001899" y="1100049"/>
                </a:lnTo>
                <a:lnTo>
                  <a:pt x="2011799" y="406324"/>
                </a:lnTo>
                <a:lnTo>
                  <a:pt x="961299" y="0"/>
                </a:lnTo>
                <a:lnTo>
                  <a:pt x="0" y="396399"/>
                </a:lnTo>
                <a:close/>
              </a:path>
            </a:pathLst>
          </a:custGeom>
          <a:ln w="1904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pic>
        <p:nvPicPr>
          <p:cNvPr id="14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69280" y="3710500"/>
            <a:ext cx="2438396" cy="17925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57345" y="4234815"/>
            <a:ext cx="2438400" cy="18256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 rot="20400000">
            <a:off x="5354400" y="5161119"/>
            <a:ext cx="1170656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1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DNS</a:t>
            </a:r>
            <a:r>
              <a:rPr sz="1735" spc="5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sz="1735" spc="-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Att</a:t>
            </a:r>
            <a:r>
              <a:rPr sz="2600" spc="-15" baseline="200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ack</a:t>
            </a:r>
            <a:endParaRPr sz="2600" baseline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object 7"/>
          <p:cNvSpPr txBox="1"/>
          <p:nvPr/>
        </p:nvSpPr>
        <p:spPr>
          <a:xfrm rot="20400000">
            <a:off x="5651313" y="5408100"/>
            <a:ext cx="759871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4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surface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35043" y="2702560"/>
            <a:ext cx="3463713" cy="3467947"/>
            <a:chOff x="3026282" y="2026920"/>
            <a:chExt cx="2597785" cy="26009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240" y="2026920"/>
              <a:ext cx="2560322" cy="16514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035807" y="3121574"/>
              <a:ext cx="2012314" cy="1496695"/>
            </a:xfrm>
            <a:custGeom>
              <a:avLst/>
              <a:gdLst/>
              <a:ahLst/>
              <a:cxnLst/>
              <a:rect l="l" t="t" r="r" b="b"/>
              <a:pathLst>
                <a:path w="2012314" h="1496695">
                  <a:moveTo>
                    <a:pt x="0" y="396399"/>
                  </a:moveTo>
                  <a:lnTo>
                    <a:pt x="9899" y="1149599"/>
                  </a:lnTo>
                  <a:lnTo>
                    <a:pt x="1010849" y="1496449"/>
                  </a:lnTo>
                  <a:lnTo>
                    <a:pt x="2001899" y="1100049"/>
                  </a:lnTo>
                  <a:lnTo>
                    <a:pt x="2011799" y="406324"/>
                  </a:lnTo>
                  <a:lnTo>
                    <a:pt x="961299" y="0"/>
                  </a:lnTo>
                  <a:lnTo>
                    <a:pt x="0" y="396399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38810" y="3584575"/>
            <a:ext cx="3171825" cy="51435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196215">
              <a:lnSpc>
                <a:spcPct val="100000"/>
              </a:lnSpc>
              <a:spcBef>
                <a:spcPts val="610"/>
              </a:spcBef>
            </a:pPr>
            <a:r>
              <a:rPr lang="zh-CN" altLang="en-US" sz="2000">
                <a:latin typeface="Calibri" panose="020F0502020204030204"/>
                <a:cs typeface="Calibri" panose="020F0502020204030204"/>
              </a:rPr>
              <a:t>考虑域名的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完整</a:t>
            </a:r>
            <a:r>
              <a:rPr lang="en-US" altLang="zh-CN" sz="2000" b="1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图</a:t>
            </a:r>
            <a:endParaRPr lang="zh-CN" altLang="en-US" sz="20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17" name="标题 16"/>
          <p:cNvSpPr/>
          <p:nvPr>
            <p:ph type="title"/>
          </p:nvPr>
        </p:nvSpPr>
        <p:spPr/>
        <p:txBody>
          <a:bodyPr/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  <p:sp>
        <p:nvSpPr>
          <p:cNvPr id="19" name="object 2"/>
          <p:cNvSpPr txBox="1"/>
          <p:nvPr/>
        </p:nvSpPr>
        <p:spPr>
          <a:xfrm>
            <a:off x="563568" y="1540011"/>
            <a:ext cx="11110807" cy="4406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spc="35" dirty="0">
                <a:latin typeface="Calibri" panose="020F0502020204030204"/>
                <a:cs typeface="Calibri" panose="020F0502020204030204"/>
              </a:rPr>
              <a:t>1.</a:t>
            </a:r>
            <a:r>
              <a:rPr sz="2400" dirty="0">
                <a:latin typeface="Calibri" panose="020F0502020204030204"/>
                <a:cs typeface="Calibri" panose="020F0502020204030204"/>
              </a:rPr>
              <a:t>	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分析框架：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基于真实世界路由复杂性的</a:t>
            </a: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multiVA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模型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8"/>
          <p:cNvSpPr txBox="1"/>
          <p:nvPr/>
        </p:nvSpPr>
        <p:spPr>
          <a:xfrm>
            <a:off x="8665210" y="4290060"/>
            <a:ext cx="3171825" cy="110617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170815">
              <a:lnSpc>
                <a:spcPct val="100000"/>
              </a:lnSpc>
              <a:spcBef>
                <a:spcPts val="610"/>
              </a:spcBef>
            </a:pPr>
            <a:r>
              <a:rPr lang="zh-CN" altLang="en-US" sz="2000">
                <a:latin typeface="Calibri" panose="020F0502020204030204"/>
                <a:cs typeface="Calibri" panose="020F0502020204030204"/>
              </a:rPr>
              <a:t>考虑具有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000" b="1">
                <a:latin typeface="Calibri" panose="020F0502020204030204"/>
                <a:cs typeface="Calibri" panose="020F0502020204030204"/>
              </a:rPr>
              <a:t>RPKI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记录的前缀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以及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执行</a:t>
            </a:r>
            <a:r>
              <a:rPr lang="en-US" altLang="zh-CN" sz="2000" b="1">
                <a:latin typeface="Calibri" panose="020F0502020204030204"/>
                <a:cs typeface="Calibri" panose="020F0502020204030204"/>
              </a:rPr>
              <a:t> RPKI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过滤的访问点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。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1"/>
          <p:cNvSpPr txBox="1"/>
          <p:nvPr/>
        </p:nvSpPr>
        <p:spPr>
          <a:xfrm>
            <a:off x="8694420" y="2664460"/>
            <a:ext cx="3142615" cy="80454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85725">
              <a:lnSpc>
                <a:spcPct val="100000"/>
              </a:lnSpc>
              <a:spcBef>
                <a:spcPts val="610"/>
              </a:spcBef>
            </a:pPr>
            <a:r>
              <a:rPr lang="en-US" altLang="zh-CN" sz="2000" b="1">
                <a:latin typeface="Calibri" panose="020F0502020204030204"/>
                <a:cs typeface="Calibri" panose="020F0502020204030204"/>
              </a:rPr>
              <a:t>RPKI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：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用于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互联网路由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和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前缀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的公钥基础设施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(PKI)</a:t>
            </a:r>
            <a:endParaRPr lang="en-US" altLang="zh-CN"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" name="object 9"/>
          <p:cNvSpPr txBox="1"/>
          <p:nvPr/>
        </p:nvSpPr>
        <p:spPr>
          <a:xfrm rot="20220000">
            <a:off x="6973460" y="4636353"/>
            <a:ext cx="964412" cy="163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0"/>
              </a:lnSpc>
            </a:pPr>
            <a:r>
              <a:rPr sz="1735" spc="45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Deployed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" name="object 10"/>
          <p:cNvSpPr txBox="1"/>
          <p:nvPr/>
        </p:nvSpPr>
        <p:spPr>
          <a:xfrm rot="20220000">
            <a:off x="7287741" y="4877903"/>
            <a:ext cx="545111" cy="163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735" spc="11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RPKI</a:t>
            </a:r>
            <a:endParaRPr sz="1735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1064260" y="2154555"/>
            <a:ext cx="2731770" cy="777240"/>
            <a:chOff x="788" y="3393"/>
            <a:chExt cx="4302" cy="1224"/>
          </a:xfrm>
        </p:grpSpPr>
        <p:sp>
          <p:nvSpPr>
            <p:cNvPr id="4" name="object 4"/>
            <p:cNvSpPr/>
            <p:nvPr/>
          </p:nvSpPr>
          <p:spPr>
            <a:xfrm>
              <a:off x="788" y="3393"/>
              <a:ext cx="4303" cy="1223"/>
            </a:xfrm>
            <a:custGeom>
              <a:avLst/>
              <a:gdLst/>
              <a:ahLst/>
              <a:cxnLst/>
              <a:rect l="l" t="t" r="r" b="b"/>
              <a:pathLst>
                <a:path w="2342515" h="923925">
                  <a:moveTo>
                    <a:pt x="2342399" y="923399"/>
                  </a:moveTo>
                  <a:lnTo>
                    <a:pt x="0" y="923399"/>
                  </a:lnTo>
                  <a:lnTo>
                    <a:pt x="0" y="0"/>
                  </a:lnTo>
                  <a:lnTo>
                    <a:pt x="2342399" y="0"/>
                  </a:lnTo>
                  <a:lnTo>
                    <a:pt x="2342399" y="9233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pPr marL="85725" marR="193040" algn="l">
                <a:lnSpc>
                  <a:spcPct val="115000"/>
                </a:lnSpc>
                <a:spcBef>
                  <a:spcPts val="320"/>
                </a:spcBef>
                <a:buClrTx/>
                <a:buSzTx/>
                <a:buFontTx/>
              </a:pPr>
              <a:r>
                <a:rPr lang="en-US" altLang="zh-CN" sz="2000">
                  <a:latin typeface="Calibri" panose="020F0502020204030204"/>
                  <a:cs typeface="Calibri" panose="020F0502020204030204"/>
                  <a:sym typeface="+mn-ea"/>
                </a:rPr>
                <a:t>DNSSEC 签名可以作为检测劫持的工具</a:t>
              </a:r>
              <a:endParaRPr lang="en-US" altLang="zh-CN" sz="2000">
                <a:latin typeface="Calibri" panose="020F0502020204030204"/>
                <a:cs typeface="Calibri" panose="020F0502020204030204"/>
              </a:endParaRPr>
            </a:p>
            <a:p>
              <a:endParaRPr sz="2000"/>
            </a:p>
          </p:txBody>
        </p:sp>
        <p:sp>
          <p:nvSpPr>
            <p:cNvPr id="5" name="object 5"/>
            <p:cNvSpPr/>
            <p:nvPr/>
          </p:nvSpPr>
          <p:spPr>
            <a:xfrm>
              <a:off x="788" y="3393"/>
              <a:ext cx="4303" cy="1224"/>
            </a:xfrm>
            <a:custGeom>
              <a:avLst/>
              <a:gdLst/>
              <a:ahLst/>
              <a:cxnLst/>
              <a:rect l="l" t="t" r="r" b="b"/>
              <a:pathLst>
                <a:path w="2342515" h="923925">
                  <a:moveTo>
                    <a:pt x="0" y="0"/>
                  </a:moveTo>
                  <a:lnTo>
                    <a:pt x="2342399" y="0"/>
                  </a:lnTo>
                  <a:lnTo>
                    <a:pt x="2342399" y="923399"/>
                  </a:lnTo>
                  <a:lnTo>
                    <a:pt x="0" y="923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24290" y="2152650"/>
            <a:ext cx="2920365" cy="1115695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54186" rIns="0" bIns="0" rtlCol="0">
            <a:spAutoFit/>
          </a:bodyPr>
          <a:lstStyle/>
          <a:p>
            <a:pPr marL="85725" marR="262890">
              <a:lnSpc>
                <a:spcPct val="115000"/>
              </a:lnSpc>
              <a:spcBef>
                <a:spcPts val="320"/>
              </a:spcBef>
            </a:pPr>
            <a:r>
              <a:rPr lang="zh-CN" altLang="en-US" sz="2000" spc="-25" dirty="0">
                <a:latin typeface="Calibri" panose="020F0502020204030204"/>
                <a:cs typeface="Calibri" panose="020F0502020204030204"/>
              </a:rPr>
              <a:t>攻击者可以劫持域名</a:t>
            </a:r>
            <a:r>
              <a:rPr lang="en-US" altLang="zh-CN" sz="2000" spc="-25" dirty="0">
                <a:latin typeface="Calibri" panose="020F0502020204030204"/>
                <a:cs typeface="Calibri" panose="020F0502020204030204"/>
              </a:rPr>
              <a:t> Web </a:t>
            </a:r>
            <a:r>
              <a:rPr lang="zh-CN" altLang="en-US" sz="2000" spc="-25" dirty="0">
                <a:latin typeface="Calibri" panose="020F0502020204030204"/>
                <a:cs typeface="Calibri" panose="020F0502020204030204"/>
              </a:rPr>
              <a:t>服务器的前缀或其</a:t>
            </a:r>
            <a:r>
              <a:rPr lang="en-US" altLang="zh-CN" sz="20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190" dirty="0">
                <a:latin typeface="Calibri" panose="020F0502020204030204"/>
                <a:cs typeface="Calibri" panose="020F0502020204030204"/>
              </a:rPr>
              <a:t>DNS</a:t>
            </a:r>
            <a:r>
              <a:rPr lang="en-US" sz="2000" b="1" spc="190" dirty="0">
                <a:latin typeface="Calibri" panose="020F0502020204030204"/>
                <a:cs typeface="Calibri" panose="020F0502020204030204"/>
              </a:rPr>
              <a:t> </a:t>
            </a:r>
            <a:r>
              <a:rPr sz="2000" b="1" spc="100" dirty="0">
                <a:latin typeface="Calibri" panose="020F0502020204030204"/>
                <a:cs typeface="Calibri" panose="020F0502020204030204"/>
              </a:rPr>
              <a:t>nameservers</a:t>
            </a:r>
            <a:endParaRPr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4260" y="4485640"/>
            <a:ext cx="3194685" cy="122936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54186" rIns="0" bIns="0" rtlCol="0">
            <a:noAutofit/>
          </a:bodyPr>
          <a:lstStyle/>
          <a:p>
            <a:pPr marL="85725" marR="193040">
              <a:lnSpc>
                <a:spcPct val="115000"/>
              </a:lnSpc>
              <a:spcBef>
                <a:spcPts val="320"/>
              </a:spcBef>
            </a:pPr>
            <a:r>
              <a:rPr lang="en-US" altLang="zh-CN" sz="2000">
                <a:latin typeface="Calibri" panose="020F0502020204030204"/>
                <a:cs typeface="Calibri" panose="020F0502020204030204"/>
              </a:rPr>
              <a:t>DNS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上的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BGP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劫持可能性很高：只有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5.6%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的域名完全使用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DNSSEC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签名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428365" y="1186815"/>
            <a:ext cx="5207000" cy="474472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10558301" y="6001542"/>
            <a:ext cx="1052511" cy="274320"/>
          </a:xfrm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13" name="object 2"/>
          <p:cNvSpPr txBox="1"/>
          <p:nvPr/>
        </p:nvSpPr>
        <p:spPr>
          <a:xfrm>
            <a:off x="563568" y="1540011"/>
            <a:ext cx="11110807" cy="44069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要点一：考虑域名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DNS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解析中的路由劫持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56225" y="1182370"/>
            <a:ext cx="3406775" cy="5402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zh-CN" altLang="en-US"/>
          </a:p>
        </p:txBody>
      </p:sp>
      <p:sp>
        <p:nvSpPr>
          <p:cNvPr id="4" name="object 3"/>
          <p:cNvSpPr txBox="1"/>
          <p:nvPr/>
        </p:nvSpPr>
        <p:spPr>
          <a:xfrm>
            <a:off x="563880" y="2841625"/>
            <a:ext cx="2983230" cy="109220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109220">
              <a:lnSpc>
                <a:spcPct val="100000"/>
              </a:lnSpc>
              <a:spcBef>
                <a:spcPts val="610"/>
              </a:spcBef>
            </a:pPr>
            <a:r>
              <a:rPr lang="en-US" altLang="zh-CN" sz="2000">
                <a:latin typeface="Calibri" panose="020F0502020204030204"/>
                <a:cs typeface="Calibri" panose="020F0502020204030204"/>
              </a:rPr>
              <a:t>RPKI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并不能完全杜绝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BGP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劫持，但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可以降低潜在攻击的威力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。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8143240" y="4875530"/>
            <a:ext cx="3121025" cy="112649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103293" rIns="0" bIns="0" rtlCol="0">
            <a:noAutofit/>
          </a:bodyPr>
          <a:lstStyle/>
          <a:p>
            <a:pPr marL="85725" marR="233680">
              <a:lnSpc>
                <a:spcPct val="100000"/>
              </a:lnSpc>
              <a:spcBef>
                <a:spcPts val="610"/>
              </a:spcBef>
            </a:pPr>
            <a:r>
              <a:rPr lang="zh-CN" altLang="en-US" sz="2000">
                <a:latin typeface="Calibri" panose="020F0502020204030204"/>
                <a:cs typeface="Calibri" panose="020F0502020204030204"/>
              </a:rPr>
              <a:t>抽样调查的目标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IP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地址中有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60%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拥有覆盖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RPKI ROA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记录。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6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004310" y="1212850"/>
            <a:ext cx="3328035" cy="5413375"/>
          </a:xfrm>
          <a:prstGeom prst="rect">
            <a:avLst/>
          </a:prstGeom>
        </p:spPr>
      </p:pic>
      <p:sp>
        <p:nvSpPr>
          <p:cNvPr id="7" name="object 6"/>
          <p:cNvSpPr txBox="1"/>
          <p:nvPr/>
        </p:nvSpPr>
        <p:spPr>
          <a:xfrm>
            <a:off x="8143240" y="1539875"/>
            <a:ext cx="3121025" cy="1457960"/>
          </a:xfrm>
          <a:prstGeom prst="rect">
            <a:avLst/>
          </a:prstGeom>
          <a:solidFill>
            <a:srgbClr val="D9D9D9"/>
          </a:solidFill>
          <a:ln w="9524">
            <a:solidFill>
              <a:srgbClr val="9E9E9E"/>
            </a:solidFill>
          </a:ln>
        </p:spPr>
        <p:txBody>
          <a:bodyPr vert="horz" wrap="square" lIns="0" tIns="104140" rIns="0" bIns="0" rtlCol="0">
            <a:noAutofit/>
          </a:bodyPr>
          <a:lstStyle/>
          <a:p>
            <a:pPr marL="85725" marR="95885">
              <a:lnSpc>
                <a:spcPct val="100000"/>
              </a:lnSpc>
              <a:spcBef>
                <a:spcPts val="615"/>
              </a:spcBef>
            </a:pPr>
            <a:r>
              <a:rPr lang="en-US" altLang="zh-CN" sz="2000" b="1">
                <a:latin typeface="Calibri" panose="020F0502020204030204"/>
                <a:cs typeface="Calibri" panose="020F0502020204030204"/>
              </a:rPr>
              <a:t>RPKI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可以有效平衡</a:t>
            </a:r>
            <a:r>
              <a:rPr lang="en-US" altLang="zh-CN" sz="2000" b="1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000" b="1">
                <a:latin typeface="Calibri" panose="020F0502020204030204"/>
                <a:cs typeface="Calibri" panose="020F0502020204030204"/>
              </a:rPr>
              <a:t>攻击面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：主流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提供商采用</a:t>
            </a:r>
            <a:r>
              <a:rPr lang="en-US" altLang="zh-CN" sz="2000">
                <a:latin typeface="Calibri" panose="020F0502020204030204"/>
                <a:cs typeface="Calibri" panose="020F0502020204030204"/>
              </a:rPr>
              <a:t> RPKI </a:t>
            </a:r>
            <a:r>
              <a:rPr lang="zh-CN" altLang="en-US" sz="2000">
                <a:latin typeface="Calibri" panose="020F0502020204030204"/>
                <a:cs typeface="Calibri" panose="020F0502020204030204"/>
              </a:rPr>
              <a:t>的比例高于互联网其他服务商。</a:t>
            </a:r>
            <a:endParaRPr lang="zh-CN" altLang="en-US" sz="20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bject 2"/>
          <p:cNvSpPr txBox="1"/>
          <p:nvPr/>
        </p:nvSpPr>
        <p:spPr>
          <a:xfrm>
            <a:off x="563880" y="1539875"/>
            <a:ext cx="4484370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要点二：模拟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RPKI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在当前部署环境下的安全影响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0558301" y="6001542"/>
            <a:ext cx="1052511" cy="274320"/>
          </a:xfrm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7" name="object 4"/>
          <p:cNvSpPr txBox="1"/>
          <p:nvPr/>
        </p:nvSpPr>
        <p:spPr>
          <a:xfrm>
            <a:off x="562496" y="3714581"/>
            <a:ext cx="1086188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b="1" spc="5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2.</a:t>
            </a:r>
            <a:r>
              <a:rPr sz="2400" b="1" spc="5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	测量研究：</a:t>
            </a:r>
            <a:r>
              <a:rPr sz="2400" spc="5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大规模收集数据，以准确了解网络环境，重点关注</a:t>
            </a:r>
            <a:r>
              <a:rPr sz="2400" spc="5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sz="2400" b="1" spc="130" dirty="0">
                <a:solidFill>
                  <a:srgbClr val="228B22"/>
                </a:solidFill>
                <a:latin typeface="Calibri" panose="020F0502020204030204"/>
                <a:cs typeface="Calibri" panose="020F0502020204030204"/>
              </a:rPr>
              <a:t>Let's Encrypt</a:t>
            </a:r>
            <a:r>
              <a:rPr sz="2400" spc="50" dirty="0">
                <a:solidFill>
                  <a:srgbClr val="9E9E9E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</a:t>
            </a:r>
            <a:r>
              <a:rPr sz="2400" spc="50" dirty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域名——涵盖现有部署情况以及针对不同接入点位置的假设情景。</a:t>
            </a:r>
            <a:endParaRPr sz="2400" spc="50" dirty="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2" name="标题 7"/>
          <p:cNvSpPr/>
          <p:nvPr/>
        </p:nvSpPr>
        <p:spPr>
          <a:xfrm>
            <a:off x="270377" y="87749"/>
            <a:ext cx="10795605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二、研究方法与框架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4" name="object 2"/>
          <p:cNvSpPr txBox="1"/>
          <p:nvPr/>
        </p:nvSpPr>
        <p:spPr>
          <a:xfrm>
            <a:off x="563568" y="1540011"/>
            <a:ext cx="11110807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1800" marR="5080" indent="-419735">
              <a:lnSpc>
                <a:spcPct val="115000"/>
              </a:lnSpc>
              <a:spcBef>
                <a:spcPts val="100"/>
              </a:spcBef>
              <a:tabLst>
                <a:tab pos="431800" algn="l"/>
              </a:tabLst>
            </a:pPr>
            <a:r>
              <a:rPr sz="2400" spc="35" dirty="0">
                <a:latin typeface="Calibri" panose="020F0502020204030204"/>
                <a:cs typeface="Calibri" panose="020F0502020204030204"/>
              </a:rPr>
              <a:t>1.</a:t>
            </a:r>
            <a:r>
              <a:rPr sz="2400" dirty="0">
                <a:latin typeface="Calibri" panose="020F0502020204030204"/>
                <a:cs typeface="Calibri" panose="020F0502020204030204"/>
              </a:rPr>
              <a:t>	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分析框架：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将实际路由因素纳入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multiVA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抵御本地网络攻击（例如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和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RPKI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）的弹性评估中。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三、实验与结果分析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Experiments and Results Analysis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标题 7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三、实验与结果分析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04800" y="3637280"/>
            <a:ext cx="2072640" cy="1471930"/>
            <a:chOff x="480" y="5728"/>
            <a:chExt cx="3264" cy="2318"/>
          </a:xfrm>
        </p:grpSpPr>
        <p:sp>
          <p:nvSpPr>
            <p:cNvPr id="4" name="object 4"/>
            <p:cNvSpPr/>
            <p:nvPr/>
          </p:nvSpPr>
          <p:spPr>
            <a:xfrm>
              <a:off x="480" y="5728"/>
              <a:ext cx="3265" cy="2319"/>
            </a:xfrm>
            <a:custGeom>
              <a:avLst/>
              <a:gdLst/>
              <a:ahLst/>
              <a:cxnLst/>
              <a:rect l="l" t="t" r="r" b="b"/>
              <a:pathLst>
                <a:path w="1555114" h="1104264">
                  <a:moveTo>
                    <a:pt x="0" y="183953"/>
                  </a:moveTo>
                  <a:lnTo>
                    <a:pt x="6571" y="135051"/>
                  </a:lnTo>
                  <a:lnTo>
                    <a:pt x="25115" y="91108"/>
                  </a:lnTo>
                  <a:lnTo>
                    <a:pt x="53878" y="53878"/>
                  </a:lnTo>
                  <a:lnTo>
                    <a:pt x="91108" y="25115"/>
                  </a:lnTo>
                  <a:lnTo>
                    <a:pt x="135051" y="6570"/>
                  </a:lnTo>
                  <a:lnTo>
                    <a:pt x="183953" y="0"/>
                  </a:lnTo>
                  <a:lnTo>
                    <a:pt x="1370646" y="0"/>
                  </a:lnTo>
                  <a:lnTo>
                    <a:pt x="1441042" y="14002"/>
                  </a:lnTo>
                  <a:lnTo>
                    <a:pt x="1500721" y="53878"/>
                  </a:lnTo>
                  <a:lnTo>
                    <a:pt x="1540597" y="113557"/>
                  </a:lnTo>
                  <a:lnTo>
                    <a:pt x="1554599" y="183953"/>
                  </a:lnTo>
                  <a:lnTo>
                    <a:pt x="1554599" y="919746"/>
                  </a:lnTo>
                  <a:lnTo>
                    <a:pt x="1548028" y="968648"/>
                  </a:lnTo>
                  <a:lnTo>
                    <a:pt x="1529484" y="1012591"/>
                  </a:lnTo>
                  <a:lnTo>
                    <a:pt x="1500721" y="1049821"/>
                  </a:lnTo>
                  <a:lnTo>
                    <a:pt x="1463491" y="1078584"/>
                  </a:lnTo>
                  <a:lnTo>
                    <a:pt x="1419548" y="1097128"/>
                  </a:lnTo>
                  <a:lnTo>
                    <a:pt x="1370646" y="1103699"/>
                  </a:lnTo>
                  <a:lnTo>
                    <a:pt x="183953" y="1103699"/>
                  </a:lnTo>
                  <a:lnTo>
                    <a:pt x="135051" y="1097128"/>
                  </a:lnTo>
                  <a:lnTo>
                    <a:pt x="91108" y="1078584"/>
                  </a:lnTo>
                  <a:lnTo>
                    <a:pt x="53878" y="1049821"/>
                  </a:lnTo>
                  <a:lnTo>
                    <a:pt x="25115" y="1012591"/>
                  </a:lnTo>
                  <a:lnTo>
                    <a:pt x="6571" y="968648"/>
                  </a:lnTo>
                  <a:lnTo>
                    <a:pt x="0" y="919746"/>
                  </a:lnTo>
                  <a:lnTo>
                    <a:pt x="0" y="183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776" y="6138"/>
              <a:ext cx="2673" cy="150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b="1" spc="-10" dirty="0">
                  <a:solidFill>
                    <a:srgbClr val="4285F4"/>
                  </a:solidFill>
                  <a:latin typeface="Arial" panose="020B0604020202020204"/>
                  <a:cs typeface="Arial" panose="020B0604020202020204"/>
                </a:rPr>
                <a:t>Vantage</a:t>
              </a:r>
              <a:r>
                <a:rPr sz="2000" b="1" spc="-35" dirty="0">
                  <a:solidFill>
                    <a:srgbClr val="4285F4"/>
                  </a:solidFill>
                  <a:latin typeface="Arial" panose="020B0604020202020204"/>
                  <a:cs typeface="Arial" panose="020B0604020202020204"/>
                </a:rPr>
                <a:t> </a:t>
              </a:r>
              <a:r>
                <a:rPr sz="2000" b="1" spc="-20" dirty="0">
                  <a:solidFill>
                    <a:srgbClr val="4285F4"/>
                  </a:solidFill>
                  <a:latin typeface="Arial" panose="020B0604020202020204"/>
                  <a:cs typeface="Arial" panose="020B0604020202020204"/>
                </a:rPr>
                <a:t>point</a:t>
              </a:r>
              <a:endParaRPr sz="2000" b="1" spc="-20" dirty="0">
                <a:solidFill>
                  <a:srgbClr val="4285F4"/>
                </a:solidFill>
                <a:latin typeface="Arial" panose="020B0604020202020204"/>
                <a:cs typeface="Arial" panose="020B0604020202020204"/>
              </a:endParaRPr>
            </a:p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lang="zh-CN" altLang="en-US" sz="2000">
                  <a:latin typeface="Arial" panose="020B0604020202020204"/>
                  <a:cs typeface="Arial" panose="020B0604020202020204"/>
                </a:rPr>
                <a:t>位置</a:t>
              </a:r>
              <a:br>
                <a:rPr lang="zh-CN" altLang="en-US" sz="2000">
                  <a:latin typeface="Arial" panose="020B0604020202020204"/>
                  <a:cs typeface="Arial" panose="020B0604020202020204"/>
                </a:rPr>
              </a:br>
              <a:r>
                <a:rPr lang="en-US" altLang="zh-CN" sz="2000">
                  <a:latin typeface="Arial" panose="020B0604020202020204"/>
                  <a:cs typeface="Arial" panose="020B0604020202020204"/>
                </a:rPr>
                <a:t>BGP </a:t>
              </a:r>
              <a:r>
                <a:rPr lang="zh-CN" altLang="en-US" sz="2000">
                  <a:latin typeface="Arial" panose="020B0604020202020204"/>
                  <a:cs typeface="Arial" panose="020B0604020202020204"/>
                </a:rPr>
                <a:t>连接</a:t>
              </a:r>
              <a:r>
                <a:rPr lang="zh-CN" altLang="en-US" sz="2000">
                  <a:latin typeface="Arial" panose="020B0604020202020204"/>
                  <a:cs typeface="Arial" panose="020B0604020202020204"/>
                </a:rPr>
                <a:t>度</a:t>
              </a:r>
              <a:endParaRPr lang="zh-CN" altLang="en-US" sz="2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658745" y="4179746"/>
            <a:ext cx="541020" cy="537633"/>
            <a:chOff x="1961625" y="2884778"/>
            <a:chExt cx="405765" cy="403225"/>
          </a:xfrm>
        </p:grpSpPr>
        <p:sp>
          <p:nvSpPr>
            <p:cNvPr id="7" name="object 7"/>
            <p:cNvSpPr/>
            <p:nvPr/>
          </p:nvSpPr>
          <p:spPr>
            <a:xfrm>
              <a:off x="1966387" y="2889540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39" h="393700">
                  <a:moveTo>
                    <a:pt x="301189" y="393418"/>
                  </a:move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lnTo>
                    <a:pt x="94674" y="0"/>
                  </a:lnTo>
                  <a:lnTo>
                    <a:pt x="197931" y="102027"/>
                  </a:lnTo>
                  <a:lnTo>
                    <a:pt x="301189" y="0"/>
                  </a:lnTo>
                  <a:lnTo>
                    <a:pt x="395863" y="95815"/>
                  </a:lnTo>
                  <a:lnTo>
                    <a:pt x="293754" y="196709"/>
                  </a:lnTo>
                  <a:lnTo>
                    <a:pt x="395863" y="297603"/>
                  </a:lnTo>
                  <a:lnTo>
                    <a:pt x="301189" y="39341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" name="object 8"/>
            <p:cNvSpPr/>
            <p:nvPr/>
          </p:nvSpPr>
          <p:spPr>
            <a:xfrm>
              <a:off x="1966387" y="2889540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39" h="393700">
                  <a:moveTo>
                    <a:pt x="0" y="95815"/>
                  </a:moveTo>
                  <a:lnTo>
                    <a:pt x="94674" y="0"/>
                  </a:lnTo>
                  <a:lnTo>
                    <a:pt x="197931" y="102027"/>
                  </a:lnTo>
                  <a:lnTo>
                    <a:pt x="301189" y="0"/>
                  </a:lnTo>
                  <a:lnTo>
                    <a:pt x="395863" y="95815"/>
                  </a:lnTo>
                  <a:lnTo>
                    <a:pt x="293754" y="196709"/>
                  </a:lnTo>
                  <a:lnTo>
                    <a:pt x="395863" y="297603"/>
                  </a:lnTo>
                  <a:lnTo>
                    <a:pt x="301189" y="393418"/>
                  </a:ln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481070" y="3637280"/>
            <a:ext cx="2072640" cy="1471930"/>
            <a:chOff x="5402" y="5728"/>
            <a:chExt cx="3264" cy="2318"/>
          </a:xfrm>
        </p:grpSpPr>
        <p:sp>
          <p:nvSpPr>
            <p:cNvPr id="9" name="object 9"/>
            <p:cNvSpPr/>
            <p:nvPr/>
          </p:nvSpPr>
          <p:spPr>
            <a:xfrm>
              <a:off x="5402" y="5728"/>
              <a:ext cx="3265" cy="2319"/>
            </a:xfrm>
            <a:custGeom>
              <a:avLst/>
              <a:gdLst/>
              <a:ahLst/>
              <a:cxnLst/>
              <a:rect l="l" t="t" r="r" b="b"/>
              <a:pathLst>
                <a:path w="1555114" h="1104264">
                  <a:moveTo>
                    <a:pt x="0" y="183953"/>
                  </a:moveTo>
                  <a:lnTo>
                    <a:pt x="6571" y="135051"/>
                  </a:lnTo>
                  <a:lnTo>
                    <a:pt x="25115" y="91108"/>
                  </a:lnTo>
                  <a:lnTo>
                    <a:pt x="53878" y="53878"/>
                  </a:lnTo>
                  <a:lnTo>
                    <a:pt x="91108" y="25115"/>
                  </a:lnTo>
                  <a:lnTo>
                    <a:pt x="135051" y="6570"/>
                  </a:lnTo>
                  <a:lnTo>
                    <a:pt x="183953" y="0"/>
                  </a:lnTo>
                  <a:lnTo>
                    <a:pt x="1370646" y="0"/>
                  </a:lnTo>
                  <a:lnTo>
                    <a:pt x="1441042" y="14002"/>
                  </a:lnTo>
                  <a:lnTo>
                    <a:pt x="1500721" y="53878"/>
                  </a:lnTo>
                  <a:lnTo>
                    <a:pt x="1540597" y="113557"/>
                  </a:lnTo>
                  <a:lnTo>
                    <a:pt x="1554599" y="183953"/>
                  </a:lnTo>
                  <a:lnTo>
                    <a:pt x="1554599" y="919746"/>
                  </a:lnTo>
                  <a:lnTo>
                    <a:pt x="1548028" y="968648"/>
                  </a:lnTo>
                  <a:lnTo>
                    <a:pt x="1529484" y="1012591"/>
                  </a:lnTo>
                  <a:lnTo>
                    <a:pt x="1500721" y="1049821"/>
                  </a:lnTo>
                  <a:lnTo>
                    <a:pt x="1463491" y="1078584"/>
                  </a:lnTo>
                  <a:lnTo>
                    <a:pt x="1419548" y="1097128"/>
                  </a:lnTo>
                  <a:lnTo>
                    <a:pt x="1370646" y="1103699"/>
                  </a:lnTo>
                  <a:lnTo>
                    <a:pt x="183953" y="1103699"/>
                  </a:lnTo>
                  <a:lnTo>
                    <a:pt x="135051" y="1097128"/>
                  </a:lnTo>
                  <a:lnTo>
                    <a:pt x="91108" y="1078584"/>
                  </a:lnTo>
                  <a:lnTo>
                    <a:pt x="53878" y="1049821"/>
                  </a:lnTo>
                  <a:lnTo>
                    <a:pt x="25115" y="1012591"/>
                  </a:lnTo>
                  <a:lnTo>
                    <a:pt x="6571" y="968648"/>
                  </a:lnTo>
                  <a:lnTo>
                    <a:pt x="0" y="919746"/>
                  </a:lnTo>
                  <a:lnTo>
                    <a:pt x="0" y="183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0" name="object 10"/>
            <p:cNvSpPr txBox="1"/>
            <p:nvPr/>
          </p:nvSpPr>
          <p:spPr>
            <a:xfrm>
              <a:off x="5707" y="6148"/>
              <a:ext cx="2655" cy="148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12700" marR="5080" indent="635"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b="1" spc="-10" dirty="0">
                  <a:solidFill>
                    <a:srgbClr val="FF9900"/>
                  </a:solidFill>
                  <a:latin typeface="Arial" panose="020B0604020202020204"/>
                  <a:cs typeface="Arial" panose="020B0604020202020204"/>
                </a:rPr>
                <a:t>multiVA</a:t>
              </a:r>
              <a:r>
                <a:rPr sz="2000" spc="-10" dirty="0">
                  <a:latin typeface="Arial" panose="020B0604020202020204"/>
                  <a:cs typeface="Arial" panose="020B0604020202020204"/>
                </a:rPr>
                <a:t> </a:t>
              </a:r>
              <a:br>
                <a:rPr sz="2000" spc="-10" dirty="0">
                  <a:latin typeface="Arial" panose="020B0604020202020204"/>
                  <a:cs typeface="Arial" panose="020B0604020202020204"/>
                </a:rPr>
              </a:br>
              <a:r>
                <a:rPr lang="zh-CN" sz="2000" spc="-10" dirty="0">
                  <a:latin typeface="Arial" panose="020B0604020202020204"/>
                  <a:cs typeface="Arial" panose="020B0604020202020204"/>
                </a:rPr>
                <a:t>数量</a:t>
              </a:r>
              <a:r>
                <a:rPr sz="2000" spc="-10" dirty="0">
                  <a:latin typeface="Arial" panose="020B0604020202020204"/>
                  <a:cs typeface="Arial" panose="020B0604020202020204"/>
                </a:rPr>
                <a:t> </a:t>
              </a:r>
              <a:br>
                <a:rPr sz="2000" spc="-10" dirty="0">
                  <a:latin typeface="Arial" panose="020B0604020202020204"/>
                  <a:cs typeface="Arial" panose="020B0604020202020204"/>
                </a:rPr>
              </a:br>
              <a:r>
                <a:rPr lang="zh-CN" sz="2000" dirty="0">
                  <a:latin typeface="Arial" panose="020B0604020202020204"/>
                  <a:cs typeface="Arial" panose="020B0604020202020204"/>
                </a:rPr>
                <a:t>观测点</a:t>
              </a:r>
              <a:r>
                <a:rPr lang="zh-CN" sz="2000" dirty="0">
                  <a:latin typeface="Arial" panose="020B0604020202020204"/>
                  <a:cs typeface="Arial" panose="020B0604020202020204"/>
                </a:rPr>
                <a:t>组合</a:t>
              </a:r>
              <a:endParaRPr lang="zh-CN" sz="2000" dirty="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5835015" y="4177298"/>
            <a:ext cx="541020" cy="537633"/>
            <a:chOff x="4305537" y="2882942"/>
            <a:chExt cx="405765" cy="403225"/>
          </a:xfrm>
        </p:grpSpPr>
        <p:sp>
          <p:nvSpPr>
            <p:cNvPr id="12" name="object 12"/>
            <p:cNvSpPr/>
            <p:nvPr/>
          </p:nvSpPr>
          <p:spPr>
            <a:xfrm>
              <a:off x="4310300" y="2887704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39" h="393700">
                  <a:moveTo>
                    <a:pt x="301189" y="393418"/>
                  </a:move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lnTo>
                    <a:pt x="94674" y="0"/>
                  </a:lnTo>
                  <a:lnTo>
                    <a:pt x="197931" y="102027"/>
                  </a:lnTo>
                  <a:lnTo>
                    <a:pt x="301189" y="0"/>
                  </a:lnTo>
                  <a:lnTo>
                    <a:pt x="395863" y="95815"/>
                  </a:lnTo>
                  <a:lnTo>
                    <a:pt x="293753" y="196709"/>
                  </a:lnTo>
                  <a:lnTo>
                    <a:pt x="395863" y="297603"/>
                  </a:lnTo>
                  <a:lnTo>
                    <a:pt x="301189" y="39341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4310300" y="2887704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39" h="393700">
                  <a:moveTo>
                    <a:pt x="0" y="95815"/>
                  </a:moveTo>
                  <a:lnTo>
                    <a:pt x="94674" y="0"/>
                  </a:lnTo>
                  <a:lnTo>
                    <a:pt x="197931" y="102027"/>
                  </a:lnTo>
                  <a:lnTo>
                    <a:pt x="301189" y="0"/>
                  </a:lnTo>
                  <a:lnTo>
                    <a:pt x="395863" y="95815"/>
                  </a:lnTo>
                  <a:lnTo>
                    <a:pt x="293753" y="196709"/>
                  </a:lnTo>
                  <a:lnTo>
                    <a:pt x="395863" y="297603"/>
                  </a:lnTo>
                  <a:lnTo>
                    <a:pt x="301189" y="393418"/>
                  </a:ln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657340" y="3637280"/>
            <a:ext cx="2072640" cy="1471930"/>
            <a:chOff x="10291" y="5728"/>
            <a:chExt cx="3264" cy="2318"/>
          </a:xfrm>
        </p:grpSpPr>
        <p:sp>
          <p:nvSpPr>
            <p:cNvPr id="14" name="object 14"/>
            <p:cNvSpPr/>
            <p:nvPr/>
          </p:nvSpPr>
          <p:spPr>
            <a:xfrm>
              <a:off x="10291" y="5728"/>
              <a:ext cx="3265" cy="2319"/>
            </a:xfrm>
            <a:custGeom>
              <a:avLst/>
              <a:gdLst/>
              <a:ahLst/>
              <a:cxnLst/>
              <a:rect l="l" t="t" r="r" b="b"/>
              <a:pathLst>
                <a:path w="1555114" h="1104264">
                  <a:moveTo>
                    <a:pt x="0" y="183953"/>
                  </a:moveTo>
                  <a:lnTo>
                    <a:pt x="6571" y="135051"/>
                  </a:lnTo>
                  <a:lnTo>
                    <a:pt x="25115" y="91108"/>
                  </a:lnTo>
                  <a:lnTo>
                    <a:pt x="53878" y="53878"/>
                  </a:lnTo>
                  <a:lnTo>
                    <a:pt x="91108" y="25115"/>
                  </a:lnTo>
                  <a:lnTo>
                    <a:pt x="135051" y="6570"/>
                  </a:lnTo>
                  <a:lnTo>
                    <a:pt x="183953" y="0"/>
                  </a:lnTo>
                  <a:lnTo>
                    <a:pt x="1370646" y="0"/>
                  </a:lnTo>
                  <a:lnTo>
                    <a:pt x="1441042" y="14002"/>
                  </a:lnTo>
                  <a:lnTo>
                    <a:pt x="1500720" y="53878"/>
                  </a:lnTo>
                  <a:lnTo>
                    <a:pt x="1540597" y="113557"/>
                  </a:lnTo>
                  <a:lnTo>
                    <a:pt x="1554599" y="183953"/>
                  </a:lnTo>
                  <a:lnTo>
                    <a:pt x="1554599" y="919746"/>
                  </a:lnTo>
                  <a:lnTo>
                    <a:pt x="1548028" y="968648"/>
                  </a:lnTo>
                  <a:lnTo>
                    <a:pt x="1529484" y="1012591"/>
                  </a:lnTo>
                  <a:lnTo>
                    <a:pt x="1500721" y="1049821"/>
                  </a:lnTo>
                  <a:lnTo>
                    <a:pt x="1463491" y="1078584"/>
                  </a:lnTo>
                  <a:lnTo>
                    <a:pt x="1419548" y="1097128"/>
                  </a:lnTo>
                  <a:lnTo>
                    <a:pt x="1370646" y="1103699"/>
                  </a:lnTo>
                  <a:lnTo>
                    <a:pt x="183953" y="1103699"/>
                  </a:lnTo>
                  <a:lnTo>
                    <a:pt x="135051" y="1097128"/>
                  </a:lnTo>
                  <a:lnTo>
                    <a:pt x="91108" y="1078584"/>
                  </a:lnTo>
                  <a:lnTo>
                    <a:pt x="53878" y="1049821"/>
                  </a:lnTo>
                  <a:lnTo>
                    <a:pt x="25115" y="1012591"/>
                  </a:lnTo>
                  <a:lnTo>
                    <a:pt x="6571" y="968648"/>
                  </a:lnTo>
                  <a:lnTo>
                    <a:pt x="0" y="919746"/>
                  </a:lnTo>
                  <a:lnTo>
                    <a:pt x="0" y="183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10731" y="6390"/>
              <a:ext cx="2385" cy="995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00"/>
                </a:spcBef>
              </a:pPr>
              <a:r>
                <a:rPr sz="2000" b="1" spc="90" dirty="0">
                  <a:solidFill>
                    <a:srgbClr val="228B22"/>
                  </a:solidFill>
                  <a:latin typeface="Calibri" panose="020F0502020204030204"/>
                  <a:cs typeface="Calibri" panose="020F0502020204030204"/>
                </a:rPr>
                <a:t>Domain</a:t>
              </a:r>
              <a:endParaRPr sz="2000">
                <a:latin typeface="Calibri" panose="020F0502020204030204"/>
                <a:cs typeface="Calibri" panose="020F0502020204030204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2000">
                  <a:latin typeface="Calibri" panose="020F0502020204030204"/>
                  <a:cs typeface="Calibri" panose="020F0502020204030204"/>
                </a:rPr>
                <a:t>配置</a:t>
              </a:r>
              <a:endParaRPr lang="zh-CN" altLang="en-US" sz="2000">
                <a:latin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9833610" y="3637280"/>
            <a:ext cx="2072640" cy="1471930"/>
            <a:chOff x="15483" y="5728"/>
            <a:chExt cx="3264" cy="2318"/>
          </a:xfrm>
        </p:grpSpPr>
        <p:sp>
          <p:nvSpPr>
            <p:cNvPr id="16" name="object 16"/>
            <p:cNvSpPr/>
            <p:nvPr/>
          </p:nvSpPr>
          <p:spPr>
            <a:xfrm>
              <a:off x="15483" y="5728"/>
              <a:ext cx="3265" cy="2319"/>
            </a:xfrm>
            <a:custGeom>
              <a:avLst/>
              <a:gdLst/>
              <a:ahLst/>
              <a:cxnLst/>
              <a:rect l="l" t="t" r="r" b="b"/>
              <a:pathLst>
                <a:path w="1555115" h="1104264">
                  <a:moveTo>
                    <a:pt x="0" y="183953"/>
                  </a:moveTo>
                  <a:lnTo>
                    <a:pt x="6570" y="135051"/>
                  </a:lnTo>
                  <a:lnTo>
                    <a:pt x="25114" y="91108"/>
                  </a:lnTo>
                  <a:lnTo>
                    <a:pt x="53878" y="53878"/>
                  </a:lnTo>
                  <a:lnTo>
                    <a:pt x="91108" y="25115"/>
                  </a:lnTo>
                  <a:lnTo>
                    <a:pt x="135051" y="6570"/>
                  </a:lnTo>
                  <a:lnTo>
                    <a:pt x="183953" y="0"/>
                  </a:lnTo>
                  <a:lnTo>
                    <a:pt x="1370645" y="0"/>
                  </a:lnTo>
                  <a:lnTo>
                    <a:pt x="1441042" y="14002"/>
                  </a:lnTo>
                  <a:lnTo>
                    <a:pt x="1500720" y="53878"/>
                  </a:lnTo>
                  <a:lnTo>
                    <a:pt x="1540597" y="113557"/>
                  </a:lnTo>
                  <a:lnTo>
                    <a:pt x="1554599" y="183953"/>
                  </a:lnTo>
                  <a:lnTo>
                    <a:pt x="1554599" y="919746"/>
                  </a:lnTo>
                  <a:lnTo>
                    <a:pt x="1548029" y="968648"/>
                  </a:lnTo>
                  <a:lnTo>
                    <a:pt x="1529484" y="1012591"/>
                  </a:lnTo>
                  <a:lnTo>
                    <a:pt x="1500721" y="1049821"/>
                  </a:lnTo>
                  <a:lnTo>
                    <a:pt x="1463491" y="1078584"/>
                  </a:lnTo>
                  <a:lnTo>
                    <a:pt x="1419548" y="1097128"/>
                  </a:lnTo>
                  <a:lnTo>
                    <a:pt x="1370645" y="1103699"/>
                  </a:lnTo>
                  <a:lnTo>
                    <a:pt x="183953" y="1103699"/>
                  </a:lnTo>
                  <a:lnTo>
                    <a:pt x="135051" y="1097128"/>
                  </a:lnTo>
                  <a:lnTo>
                    <a:pt x="91108" y="1078584"/>
                  </a:lnTo>
                  <a:lnTo>
                    <a:pt x="53878" y="1049821"/>
                  </a:lnTo>
                  <a:lnTo>
                    <a:pt x="25114" y="1012591"/>
                  </a:lnTo>
                  <a:lnTo>
                    <a:pt x="6570" y="968648"/>
                  </a:lnTo>
                  <a:lnTo>
                    <a:pt x="0" y="919746"/>
                  </a:lnTo>
                  <a:lnTo>
                    <a:pt x="0" y="1839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6245" y="6633"/>
              <a:ext cx="1741" cy="510"/>
            </a:xfrm>
            <a:prstGeom prst="rect">
              <a:avLst/>
            </a:prstGeom>
          </p:spPr>
          <p:txBody>
            <a:bodyPr vert="horz" wrap="square" lIns="0" tIns="16933" rIns="0" bIns="0" rtlCol="0">
              <a:spAutoFit/>
            </a:bodyPr>
            <a:lstStyle/>
            <a:p>
              <a:pPr marL="86360" marR="5080" indent="-74295" algn="l">
                <a:lnSpc>
                  <a:spcPct val="100000"/>
                </a:lnSpc>
                <a:spcBef>
                  <a:spcPts val="100"/>
                </a:spcBef>
                <a:buClrTx/>
                <a:buSzTx/>
                <a:buFontTx/>
              </a:pPr>
              <a:r>
                <a:rPr sz="2000" b="1" spc="-10" dirty="0">
                  <a:solidFill>
                    <a:srgbClr val="FF0000"/>
                  </a:solidFill>
                  <a:latin typeface="华文中宋" panose="02010600040101010101" charset="-122"/>
                  <a:ea typeface="华文中宋" panose="02010600040101010101" charset="-122"/>
                  <a:cs typeface="Arial" panose="020B0604020202020204"/>
                </a:rPr>
                <a:t>潜在攻击</a:t>
              </a:r>
              <a:endParaRPr sz="2000" b="1" spc="-10" dirty="0">
                <a:solidFill>
                  <a:srgbClr val="FF0000"/>
                </a:solidFill>
                <a:latin typeface="华文中宋" panose="02010600040101010101" charset="-122"/>
                <a:ea typeface="华文中宋" panose="02010600040101010101" charset="-122"/>
                <a:cs typeface="Arial" panose="020B0604020202020204"/>
              </a:endParaRPr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9011285" y="4147764"/>
            <a:ext cx="541020" cy="537633"/>
            <a:chOff x="6725637" y="2860792"/>
            <a:chExt cx="405765" cy="403225"/>
          </a:xfrm>
        </p:grpSpPr>
        <p:sp>
          <p:nvSpPr>
            <p:cNvPr id="19" name="object 19"/>
            <p:cNvSpPr/>
            <p:nvPr/>
          </p:nvSpPr>
          <p:spPr>
            <a:xfrm>
              <a:off x="6730400" y="2865554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40" h="393700">
                  <a:moveTo>
                    <a:pt x="301188" y="393418"/>
                  </a:move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lnTo>
                    <a:pt x="94674" y="0"/>
                  </a:lnTo>
                  <a:lnTo>
                    <a:pt x="197931" y="102027"/>
                  </a:lnTo>
                  <a:lnTo>
                    <a:pt x="301188" y="0"/>
                  </a:lnTo>
                  <a:lnTo>
                    <a:pt x="395863" y="95815"/>
                  </a:lnTo>
                  <a:lnTo>
                    <a:pt x="293753" y="196709"/>
                  </a:lnTo>
                  <a:lnTo>
                    <a:pt x="395863" y="297603"/>
                  </a:lnTo>
                  <a:lnTo>
                    <a:pt x="301188" y="39341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730400" y="2865554"/>
              <a:ext cx="396240" cy="393700"/>
            </a:xfrm>
            <a:custGeom>
              <a:avLst/>
              <a:gdLst/>
              <a:ahLst/>
              <a:cxnLst/>
              <a:rect l="l" t="t" r="r" b="b"/>
              <a:pathLst>
                <a:path w="396240" h="393700">
                  <a:moveTo>
                    <a:pt x="0" y="95815"/>
                  </a:moveTo>
                  <a:lnTo>
                    <a:pt x="94674" y="0"/>
                  </a:lnTo>
                  <a:lnTo>
                    <a:pt x="197931" y="102027"/>
                  </a:lnTo>
                  <a:lnTo>
                    <a:pt x="301188" y="0"/>
                  </a:lnTo>
                  <a:lnTo>
                    <a:pt x="395863" y="95815"/>
                  </a:lnTo>
                  <a:lnTo>
                    <a:pt x="293753" y="196709"/>
                  </a:lnTo>
                  <a:lnTo>
                    <a:pt x="395863" y="297603"/>
                  </a:lnTo>
                  <a:lnTo>
                    <a:pt x="301188" y="393418"/>
                  </a:lnTo>
                  <a:lnTo>
                    <a:pt x="197931" y="291390"/>
                  </a:lnTo>
                  <a:lnTo>
                    <a:pt x="94674" y="393418"/>
                  </a:lnTo>
                  <a:lnTo>
                    <a:pt x="0" y="297603"/>
                  </a:lnTo>
                  <a:lnTo>
                    <a:pt x="102109" y="196709"/>
                  </a:lnTo>
                  <a:lnTo>
                    <a:pt x="0" y="958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12967" y="1976755"/>
            <a:ext cx="911225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>
                <a:solidFill>
                  <a:srgbClr val="FF0000"/>
                </a:solidFill>
              </a:rPr>
              <a:t>挑战：</a:t>
            </a:r>
            <a:endParaRPr lang="zh-CN" altLang="en-US" sz="2400" b="1">
              <a:solidFill>
                <a:srgbClr val="FF0000"/>
              </a:solidFill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多变量分析的搜索空间巨大；</a:t>
            </a:r>
            <a:endParaRPr lang="en-US" altLang="zh-CN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/>
              <a:t>需要使用</a:t>
            </a:r>
            <a:r>
              <a:rPr lang="zh-CN" altLang="en-US" sz="2400" b="1"/>
              <a:t>具体数据</a:t>
            </a:r>
            <a:r>
              <a:rPr lang="zh-CN" altLang="en-US" sz="2400"/>
              <a:t>实例化分析框架</a:t>
            </a:r>
            <a:r>
              <a:rPr lang="en-US" altLang="zh-CN" sz="2400"/>
              <a:t>.</a:t>
            </a:r>
            <a:endParaRPr lang="en-US" altLang="zh-CN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080" y="2722880"/>
            <a:ext cx="10751185" cy="151511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MS PGothic" panose="020B0600070205080204" charset="-128"/>
              <a:buChar char="➔"/>
              <a:tabLst>
                <a:tab pos="469265" algn="l"/>
                <a:tab pos="469900" algn="l"/>
              </a:tabLst>
            </a:pPr>
            <a:r>
              <a:rPr lang="zh-CN" altLang="en-US" sz="2400" spc="95" dirty="0">
                <a:latin typeface="Calibri" panose="020F0502020204030204"/>
                <a:cs typeface="Calibri" panose="020F0502020204030204"/>
              </a:rPr>
              <a:t>分析了来自</a:t>
            </a:r>
            <a:r>
              <a:rPr lang="en-US" altLang="zh-CN" sz="2400" spc="95" dirty="0">
                <a:latin typeface="Calibri" panose="020F0502020204030204"/>
                <a:cs typeface="Calibri" panose="020F0502020204030204"/>
              </a:rPr>
              <a:t> 19 </a:t>
            </a:r>
            <a:r>
              <a:rPr lang="zh-CN" altLang="en-US" sz="2400" spc="95" dirty="0">
                <a:latin typeface="Calibri" panose="020F0502020204030204"/>
                <a:cs typeface="Calibri" panose="020F0502020204030204"/>
              </a:rPr>
              <a:t>个虚拟资产位置的约</a:t>
            </a:r>
            <a:r>
              <a:rPr lang="en-US" altLang="zh-CN" sz="2400" b="1" spc="95" dirty="0">
                <a:latin typeface="Calibri" panose="020F0502020204030204"/>
                <a:cs typeface="Calibri" panose="020F0502020204030204"/>
              </a:rPr>
              <a:t> 140 </a:t>
            </a:r>
            <a:r>
              <a:rPr lang="zh-CN" altLang="en-US" sz="2400" b="1" spc="95" dirty="0">
                <a:latin typeface="Calibri" panose="020F0502020204030204"/>
                <a:cs typeface="Calibri" panose="020F0502020204030204"/>
              </a:rPr>
              <a:t>万个域名</a:t>
            </a:r>
            <a:r>
              <a:rPr lang="zh-CN" altLang="en-US" sz="2400" spc="95" dirty="0">
                <a:latin typeface="Calibri" panose="020F0502020204030204"/>
                <a:cs typeface="Calibri" panose="020F0502020204030204"/>
              </a:rPr>
              <a:t>的安全性</a:t>
            </a:r>
            <a:endParaRPr lang="zh-CN" altLang="en-US" sz="2400" spc="95" dirty="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MS PGothic" panose="020B0600070205080204" charset="-128"/>
              <a:buChar char="➔"/>
              <a:tabLst>
                <a:tab pos="469265" algn="l"/>
                <a:tab pos="469900" algn="l"/>
              </a:tabLst>
            </a:pPr>
            <a:r>
              <a:rPr lang="zh-CN" altLang="en-US" sz="2400" spc="65" dirty="0">
                <a:latin typeface="Calibri" panose="020F0502020204030204"/>
                <a:cs typeface="Calibri" panose="020F0502020204030204"/>
              </a:rPr>
              <a:t>发送了超过</a:t>
            </a:r>
            <a:r>
              <a:rPr lang="en-US" altLang="zh-CN" sz="24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b="1" spc="65" dirty="0">
                <a:latin typeface="Calibri" panose="020F0502020204030204"/>
                <a:cs typeface="Calibri" panose="020F0502020204030204"/>
              </a:rPr>
              <a:t>310 </a:t>
            </a:r>
            <a:r>
              <a:rPr lang="zh-CN" altLang="en-US" sz="2400" b="1" spc="65" dirty="0">
                <a:latin typeface="Calibri" panose="020F0502020204030204"/>
                <a:cs typeface="Calibri" panose="020F0502020204030204"/>
              </a:rPr>
              <a:t>亿次</a:t>
            </a:r>
            <a:r>
              <a:rPr lang="en-US" altLang="zh-CN" sz="2400" b="1" spc="65" dirty="0">
                <a:latin typeface="Calibri" panose="020F0502020204030204"/>
                <a:cs typeface="Calibri" panose="020F0502020204030204"/>
              </a:rPr>
              <a:t> DNS </a:t>
            </a:r>
            <a:r>
              <a:rPr lang="zh-CN" altLang="en-US" sz="2400" b="1" spc="65" dirty="0">
                <a:latin typeface="Calibri" panose="020F0502020204030204"/>
                <a:cs typeface="Calibri" panose="020F0502020204030204"/>
              </a:rPr>
              <a:t>查询</a:t>
            </a:r>
            <a:endParaRPr lang="zh-CN" altLang="en-US" sz="2400" b="1" spc="65" dirty="0">
              <a:latin typeface="Calibri" panose="020F0502020204030204"/>
              <a:cs typeface="Calibri" panose="020F0502020204030204"/>
            </a:endParaRPr>
          </a:p>
          <a:p>
            <a:pPr marL="469265" indent="-456565">
              <a:lnSpc>
                <a:spcPct val="100000"/>
              </a:lnSpc>
              <a:spcBef>
                <a:spcPts val="1525"/>
              </a:spcBef>
              <a:buFont typeface="MS PGothic" panose="020B0600070205080204" charset="-128"/>
              <a:buChar char="➔"/>
              <a:tabLst>
                <a:tab pos="469265" algn="l"/>
                <a:tab pos="4699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模拟了对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b="1">
                <a:latin typeface="Calibri" panose="020F0502020204030204"/>
                <a:cs typeface="Calibri" panose="020F0502020204030204"/>
              </a:rPr>
              <a:t>1.1 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万个潜在</a:t>
            </a: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multiVA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部署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的超过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</a:t>
            </a:r>
            <a:r>
              <a:rPr lang="en-US" altLang="zh-CN" sz="2400" b="1">
                <a:latin typeface="Calibri" panose="020F0502020204030204"/>
                <a:cs typeface="Calibri" panose="020F0502020204030204"/>
              </a:rPr>
              <a:t>4 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亿次网络攻击</a:t>
            </a:r>
            <a:endParaRPr lang="zh-CN" altLang="en-US" sz="2400" b="1">
              <a:latin typeface="Calibri" panose="020F0502020204030204"/>
              <a:cs typeface="Calibri" panose="020F050202020403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59685" y="4538345"/>
            <a:ext cx="6217917" cy="17373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23" name="文本框 22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080" y="2089150"/>
            <a:ext cx="10709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2400" b="1" spc="140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  <a:sym typeface="+mn-ea"/>
              </a:rPr>
              <a:t>挑战：</a:t>
            </a:r>
            <a:r>
              <a:rPr lang="en-US" altLang="zh-CN" sz="2400">
                <a:latin typeface="Calibri" panose="020F0502020204030204"/>
                <a:cs typeface="Calibri" panose="020F0502020204030204"/>
                <a:sym typeface="+mn-ea"/>
              </a:rPr>
              <a:t>multiVA 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变量的庞大搜索空间。</a:t>
            </a:r>
            <a:r>
              <a:rPr lang="zh-CN" altLang="en-US" sz="2400">
                <a:latin typeface="Calibri" panose="020F0502020204030204"/>
                <a:cs typeface="Calibri" panose="020F0502020204030204"/>
                <a:sym typeface="+mn-ea"/>
              </a:rPr>
              <a:t>实验的一些测量数据：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标题 7"/>
          <p:cNvSpPr/>
          <p:nvPr>
            <p:ph type="title"/>
          </p:nvPr>
        </p:nvSpPr>
        <p:spPr/>
        <p:txBody>
          <a:bodyPr/>
          <a:p>
            <a:r>
              <a:rPr lang="zh-CN" altLang="en-US" sz="3200">
                <a:latin typeface="微软雅黑" panose="020B0503020204020204" charset="-122"/>
                <a:cs typeface="微软雅黑" panose="020B0503020204020204" charset="-122"/>
                <a:sym typeface="+mn-ea"/>
              </a:rPr>
              <a:t>三、实验与结果分析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84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z="1780" spc="-25" dirty="0"/>
            </a:fld>
            <a:endParaRPr sz="1780" spc="-25" dirty="0"/>
          </a:p>
        </p:txBody>
      </p:sp>
      <p:sp>
        <p:nvSpPr>
          <p:cNvPr id="5" name="文本框 4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标题 5"/>
          <p:cNvSpPr/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</a:t>
            </a:r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、实验与结果分析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8050" y="1461135"/>
            <a:ext cx="7237730" cy="4214495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683260" y="3092450"/>
            <a:ext cx="3898900" cy="11239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i="1" spc="100" dirty="0">
                <a:latin typeface="Calibri" panose="020F0502020204030204"/>
                <a:cs typeface="Calibri" panose="020F0502020204030204"/>
              </a:rPr>
              <a:t>resilience:</a:t>
            </a:r>
            <a:r>
              <a:rPr sz="2400" b="1" i="1" spc="135" dirty="0">
                <a:latin typeface="Calibri" panose="020F0502020204030204"/>
                <a:cs typeface="Calibri" panose="020F0502020204030204"/>
              </a:rPr>
              <a:t>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攻击者无法通过网络攻击获取域名证书的比例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6"/>
          <p:cNvSpPr txBox="1"/>
          <p:nvPr/>
        </p:nvSpPr>
        <p:spPr>
          <a:xfrm>
            <a:off x="1178357" y="5636744"/>
            <a:ext cx="9710420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 marR="5080" indent="0" algn="l">
              <a:lnSpc>
                <a:spcPct val="115000"/>
              </a:lnSpc>
              <a:spcBef>
                <a:spcPts val="100"/>
              </a:spcBef>
              <a:buFont typeface="Wingdings" panose="05000000000000000000" charset="0"/>
              <a:buNone/>
            </a:pPr>
            <a:r>
              <a:rPr lang="zh-CN" altLang="en-US" sz="2400" spc="235" dirty="0">
                <a:latin typeface="Calibri" panose="020F0502020204030204"/>
                <a:cs typeface="Calibri" panose="020F0502020204030204"/>
              </a:rPr>
              <a:t>扩大的攻击面显示，</a:t>
            </a:r>
            <a:r>
              <a:rPr lang="zh-CN" altLang="en-US" sz="2400" b="1" spc="2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成功获得中值域证书的攻击者比之前估计的多了近</a:t>
            </a:r>
            <a:r>
              <a:rPr lang="en-US" altLang="zh-CN" sz="2400" b="1" spc="235" dirty="0">
                <a:solidFill>
                  <a:srgbClr val="FF0000"/>
                </a:solidFill>
                <a:latin typeface="Calibri" panose="020F0502020204030204"/>
                <a:cs typeface="Calibri" panose="020F0502020204030204"/>
              </a:rPr>
              <a:t> 20%</a:t>
            </a:r>
            <a:r>
              <a:rPr lang="zh-CN" altLang="en-US" sz="2400" spc="235" dirty="0">
                <a:latin typeface="Calibri" panose="020F0502020204030204"/>
                <a:cs typeface="Calibri" panose="020F0502020204030204"/>
              </a:rPr>
              <a:t>，</a:t>
            </a:r>
            <a:r>
              <a:rPr lang="zh-CN" altLang="en-US" sz="2400" spc="235" dirty="0">
                <a:latin typeface="Calibri" panose="020F0502020204030204"/>
                <a:cs typeface="Calibri" panose="020F0502020204030204"/>
              </a:rPr>
              <a:t>这凸显了更广泛使用</a:t>
            </a:r>
            <a:r>
              <a:rPr lang="en-US" altLang="zh-CN" sz="2400" spc="235" dirty="0">
                <a:latin typeface="Calibri" panose="020F0502020204030204"/>
                <a:cs typeface="Calibri" panose="020F0502020204030204"/>
              </a:rPr>
              <a:t> DNSSEC </a:t>
            </a:r>
            <a:r>
              <a:rPr lang="zh-CN" altLang="en-US" sz="2400" spc="235" dirty="0">
                <a:latin typeface="Calibri" panose="020F0502020204030204"/>
                <a:cs typeface="Calibri" panose="020F0502020204030204"/>
              </a:rPr>
              <a:t>的必要性。</a:t>
            </a:r>
            <a:endParaRPr lang="zh-CN" altLang="en-US" sz="2400" spc="23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7641590" y="1976755"/>
            <a:ext cx="648970" cy="227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85" dirty="0">
                <a:latin typeface="Calibri" panose="020F0502020204030204"/>
                <a:cs typeface="Calibri" panose="020F0502020204030204"/>
              </a:rPr>
              <a:t>19.0%</a:t>
            </a:r>
            <a:endParaRPr sz="1400" b="1" spc="85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260" y="1976755"/>
            <a:ext cx="40347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要点一：</a:t>
            </a:r>
            <a:r>
              <a:rPr lang="en-US" altLang="zh-CN" sz="2000"/>
              <a:t>DNS </a:t>
            </a:r>
            <a:r>
              <a:rPr lang="zh-CN" altLang="en-US" sz="2000"/>
              <a:t>作为</a:t>
            </a:r>
            <a:r>
              <a:rPr lang="en-US" altLang="zh-CN" sz="2000"/>
              <a:t> BGP </a:t>
            </a:r>
            <a:r>
              <a:rPr lang="zh-CN" altLang="en-US" sz="2000"/>
              <a:t>劫持的有力攻击途径</a:t>
            </a:r>
            <a:endParaRPr lang="zh-CN" altLang="en-US"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08700" y="6354715"/>
            <a:ext cx="222673" cy="222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5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18</a:t>
            </a:r>
            <a:endParaRPr sz="133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09265" y="2334895"/>
            <a:ext cx="6402070" cy="354203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67155" y="5753100"/>
            <a:ext cx="8928100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065" marR="5080" indent="3810" algn="l">
              <a:lnSpc>
                <a:spcPct val="115000"/>
              </a:lnSpc>
              <a:spcBef>
                <a:spcPts val="100"/>
              </a:spcBef>
            </a:pPr>
            <a:r>
              <a:rPr lang="en-US" altLang="zh-CN" sz="2400">
                <a:latin typeface="Calibri" panose="020F0502020204030204"/>
                <a:cs typeface="Calibri" panose="020F0502020204030204"/>
              </a:rPr>
              <a:t>RPKI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不断增长带来了可观的安全增益：目前，已有部署将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中值域的防御能力提升了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13%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。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15172" y="2784742"/>
            <a:ext cx="632460" cy="2622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85" dirty="0">
                <a:latin typeface="Calibri" panose="020F0502020204030204"/>
                <a:cs typeface="Calibri" panose="020F0502020204030204"/>
              </a:rPr>
              <a:t>13.0%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3420" y="1976755"/>
            <a:ext cx="76454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要点二：即使仅部分部署，</a:t>
            </a:r>
            <a:r>
              <a:rPr lang="en-US" altLang="zh-CN" sz="2000"/>
              <a:t>RPKI </a:t>
            </a:r>
            <a:r>
              <a:rPr lang="zh-CN" altLang="en-US" sz="2000"/>
              <a:t>也能带来显著的安全提升。</a:t>
            </a:r>
            <a:endParaRPr lang="zh-CN" altLang="en-US" sz="2000"/>
          </a:p>
        </p:txBody>
      </p:sp>
      <p:sp>
        <p:nvSpPr>
          <p:cNvPr id="10" name="标题 9"/>
          <p:cNvSpPr/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</a:t>
            </a:r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、实验与结果分析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1708700" y="6354715"/>
            <a:ext cx="222673" cy="222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5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19</a:t>
            </a:r>
            <a:endParaRPr sz="1335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973705" y="2352040"/>
            <a:ext cx="5971540" cy="35013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59212" y="5755437"/>
            <a:ext cx="9036473" cy="86487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 marR="5080" indent="2540" algn="l">
              <a:lnSpc>
                <a:spcPct val="115000"/>
              </a:lnSpc>
              <a:spcBef>
                <a:spcPts val="100"/>
              </a:spcBef>
            </a:pPr>
            <a:r>
              <a:rPr lang="en-US" altLang="zh-CN" sz="2400">
                <a:latin typeface="Calibri" panose="020F0502020204030204"/>
                <a:cs typeface="Calibri" panose="020F0502020204030204"/>
              </a:rPr>
              <a:t>Let’s Encrypt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当前的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multiVA 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远远击败了单一</a:t>
            </a:r>
            <a:r>
              <a:rPr lang="en-US" altLang="zh-CN" sz="2400">
                <a:latin typeface="Calibri" panose="020F0502020204030204"/>
                <a:cs typeface="Calibri" panose="020F0502020204030204"/>
              </a:rPr>
              <a:t> VA</a:t>
            </a:r>
            <a:r>
              <a:rPr lang="zh-CN" altLang="en-US" sz="2400">
                <a:latin typeface="Calibri" panose="020F0502020204030204"/>
                <a:cs typeface="Calibri" panose="020F0502020204030204"/>
              </a:rPr>
              <a:t>：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如果没有</a:t>
            </a:r>
            <a:r>
              <a:rPr lang="en-US" altLang="zh-CN" sz="2400" b="1">
                <a:latin typeface="Calibri" panose="020F0502020204030204"/>
                <a:cs typeface="Calibri" panose="020F0502020204030204"/>
              </a:rPr>
              <a:t> multiVA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，超过</a:t>
            </a:r>
            <a:r>
              <a:rPr lang="en-US" altLang="zh-CN" sz="2400" b="1">
                <a:latin typeface="Calibri" panose="020F0502020204030204"/>
                <a:cs typeface="Calibri" panose="020F0502020204030204"/>
              </a:rPr>
              <a:t> 45% </a:t>
            </a:r>
            <a:r>
              <a:rPr lang="zh-CN" altLang="en-US" sz="2400" b="1">
                <a:latin typeface="Calibri" panose="020F0502020204030204"/>
                <a:cs typeface="Calibri" panose="020F0502020204030204"/>
              </a:rPr>
              <a:t>的攻击者可以劫持一半采样域的证书</a:t>
            </a:r>
            <a:endParaRPr lang="zh-CN" altLang="en-US" sz="2400" b="1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12962" y="3060332"/>
            <a:ext cx="632460" cy="2622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85" dirty="0">
                <a:latin typeface="Calibri" panose="020F0502020204030204"/>
                <a:cs typeface="Calibri" panose="020F0502020204030204"/>
              </a:rPr>
              <a:t>34.5%</a:t>
            </a:r>
            <a:endParaRPr sz="16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3080" y="1461135"/>
            <a:ext cx="4064000" cy="5156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31800" marR="5080" indent="-419735" algn="l">
              <a:lnSpc>
                <a:spcPct val="115000"/>
              </a:lnSpc>
              <a:spcBef>
                <a:spcPts val="100"/>
              </a:spcBef>
              <a:buClrTx/>
              <a:buSzTx/>
              <a:buFont typeface="Wingdings" panose="05000000000000000000" charset="0"/>
              <a:buChar char="Ø"/>
              <a:tabLst>
                <a:tab pos="431800" algn="l"/>
              </a:tabLst>
            </a:pPr>
            <a:r>
              <a:rPr lang="zh-CN" altLang="en-US" sz="2400">
                <a:latin typeface="Calibri" panose="020F0502020204030204"/>
                <a:cs typeface="Calibri" panose="020F0502020204030204"/>
              </a:rPr>
              <a:t>Let's Encrypt 的测量研究</a:t>
            </a:r>
            <a:endParaRPr lang="zh-CN" altLang="en-US" sz="24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3420" y="1976755"/>
            <a:ext cx="7113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/>
              <a:t>要点三：</a:t>
            </a:r>
            <a:r>
              <a:rPr lang="en-US" altLang="zh-CN" sz="2000"/>
              <a:t>multiVA</a:t>
            </a:r>
            <a:r>
              <a:rPr lang="zh-CN" altLang="en-US" sz="2000"/>
              <a:t>在面对多重网络攻击时的安全优势</a:t>
            </a:r>
            <a:endParaRPr lang="zh-CN" altLang="en-US" sz="2000"/>
          </a:p>
        </p:txBody>
      </p:sp>
      <p:sp>
        <p:nvSpPr>
          <p:cNvPr id="9" name="标题 8"/>
          <p:cNvSpPr/>
          <p:nvPr>
            <p:ph type="title"/>
          </p:nvPr>
        </p:nvSpPr>
        <p:spPr/>
        <p:txBody>
          <a:bodyPr/>
          <a:p>
            <a:pPr algn="l"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三</a:t>
            </a:r>
            <a:r>
              <a:rPr lang="en-US" altLang="zh-CN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、实验与结果分析</a:t>
            </a:r>
            <a:endParaRPr lang="en-US" altLang="zh-CN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四、讨论与总结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Discussion and Summary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377" y="339127"/>
            <a:ext cx="10795605" cy="512445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120"/>
              </a:spcBef>
              <a:buClrTx/>
              <a:buSzTx/>
              <a:buFontTx/>
            </a:pPr>
            <a:r>
              <a:rPr lang="zh-CN" altLang="en-US" sz="320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四、讨论与总结</a:t>
            </a:r>
            <a:endParaRPr lang="zh-CN" altLang="en-US" sz="3200">
              <a:solidFill>
                <a:schemeClr val="bg1"/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81025" y="1576070"/>
            <a:ext cx="11029315" cy="4072890"/>
          </a:xfrm>
          <a:prstGeom prst="rect">
            <a:avLst/>
          </a:prstGeom>
        </p:spPr>
        <p:txBody>
          <a:bodyPr vert="horz" wrap="square" lIns="0" tIns="44026" rIns="0" bIns="0" rtlCol="0">
            <a:noAutofit/>
          </a:bodyPr>
          <a:lstStyle/>
          <a:p>
            <a:pPr marL="379095" marR="28575" indent="-367030">
              <a:lnSpc>
                <a:spcPct val="100000"/>
              </a:lnSpc>
              <a:spcBef>
                <a:spcPts val="17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en-US" altLang="zh-CN" sz="2000" b="1" spc="55" dirty="0"/>
              <a:t>multiVA </a:t>
            </a:r>
            <a:r>
              <a:rPr lang="zh-CN" altLang="en-US" sz="2000" b="1" spc="55" dirty="0"/>
              <a:t>能显著提升安全弹性：</a:t>
            </a:r>
            <a:r>
              <a:rPr lang="zh-CN" altLang="en-US" sz="2000" spc="55" dirty="0"/>
              <a:t>实验表明，在真实互联网环境中，</a:t>
            </a:r>
            <a:r>
              <a:rPr lang="en-US" altLang="zh-CN" sz="2000" spc="55" dirty="0"/>
              <a:t>multiVA</a:t>
            </a:r>
            <a:r>
              <a:rPr lang="zh-CN" altLang="en-US" sz="2000" spc="55" dirty="0"/>
              <a:t>可为中值域名提供约</a:t>
            </a:r>
            <a:r>
              <a:rPr lang="en-US" altLang="zh-CN" sz="2000" spc="55" dirty="0"/>
              <a:t>88.6%</a:t>
            </a:r>
            <a:r>
              <a:rPr lang="zh-CN" altLang="en-US" sz="2000" spc="55" dirty="0"/>
              <a:t>的防御弹性，相较于单点验证有显著提升，能有效抵御局部</a:t>
            </a:r>
            <a:r>
              <a:rPr lang="en-US" altLang="zh-CN" sz="2000" spc="55" dirty="0"/>
              <a:t>BGP</a:t>
            </a:r>
            <a:r>
              <a:rPr lang="zh-CN" altLang="en-US" sz="2000" spc="55" dirty="0"/>
              <a:t>路由攻击。</a:t>
            </a:r>
            <a:endParaRPr lang="zh-CN" altLang="en-US" sz="2000" spc="55" dirty="0"/>
          </a:p>
          <a:p>
            <a:pPr marL="379095" marR="28575" indent="-367030">
              <a:lnSpc>
                <a:spcPct val="100000"/>
              </a:lnSpc>
              <a:spcBef>
                <a:spcPts val="17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zh-CN" altLang="en-US" sz="2000" b="1" spc="55" dirty="0"/>
              <a:t>攻击面扩展与</a:t>
            </a:r>
            <a:r>
              <a:rPr lang="en-US" altLang="zh-CN" sz="2000" b="1" spc="55" dirty="0"/>
              <a:t>RPKI</a:t>
            </a:r>
            <a:r>
              <a:rPr lang="zh-CN" altLang="en-US" sz="2000" b="1" spc="55" dirty="0"/>
              <a:t>的关键作用：</a:t>
            </a:r>
            <a:r>
              <a:rPr lang="zh-CN" altLang="en-US" sz="2000" spc="55" dirty="0"/>
              <a:t>研究发现，</a:t>
            </a:r>
            <a:r>
              <a:rPr lang="en-US" altLang="zh-CN" sz="2000" spc="55" dirty="0"/>
              <a:t>DNS</a:t>
            </a:r>
            <a:r>
              <a:rPr lang="zh-CN" altLang="en-US" sz="2000" spc="55" dirty="0"/>
              <a:t>基础设施是易被忽视的攻击面，它会显著扩大劫持目标范围；然而，</a:t>
            </a:r>
            <a:r>
              <a:rPr lang="en-US" altLang="zh-CN" sz="2000" spc="55" dirty="0"/>
              <a:t>RPKI</a:t>
            </a:r>
            <a:r>
              <a:rPr lang="zh-CN" altLang="en-US" sz="2000" spc="55" dirty="0"/>
              <a:t>的现有部署能够有效地抵消由此带来的风险，是保障域名验证安全的关键防御力量。</a:t>
            </a:r>
            <a:endParaRPr lang="zh-CN" altLang="en-US" sz="2000" spc="55" dirty="0"/>
          </a:p>
          <a:p>
            <a:pPr marL="379095" marR="28575" indent="-367030">
              <a:lnSpc>
                <a:spcPct val="100000"/>
              </a:lnSpc>
              <a:spcBef>
                <a:spcPts val="17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zh-CN" altLang="en-US" sz="2000" b="1" spc="55" dirty="0"/>
              <a:t>明确的优化路径与巨大潜力：</a:t>
            </a:r>
            <a:r>
              <a:rPr lang="zh-CN" altLang="en-US" sz="2000" spc="55" dirty="0"/>
              <a:t>现有部署仍有广阔的优化空间。通过采取跨云部署增加异构视角点和实施更严格的策略，系统的整体弹性可提升至</a:t>
            </a:r>
            <a:r>
              <a:rPr lang="en-US" altLang="zh-CN" sz="2000" spc="55" dirty="0"/>
              <a:t> 99% </a:t>
            </a:r>
            <a:r>
              <a:rPr lang="zh-CN" altLang="en-US" sz="2000" spc="55" dirty="0"/>
              <a:t>以上。</a:t>
            </a:r>
            <a:endParaRPr lang="zh-CN" altLang="en-US" sz="2000" spc="55" dirty="0"/>
          </a:p>
          <a:p>
            <a:pPr marL="379095" marR="28575" indent="-367030">
              <a:lnSpc>
                <a:spcPct val="100000"/>
              </a:lnSpc>
              <a:spcBef>
                <a:spcPts val="1715"/>
              </a:spcBef>
              <a:buFont typeface="Arial" panose="020B0604020202020204"/>
              <a:buChar char="●"/>
              <a:tabLst>
                <a:tab pos="379095" algn="l"/>
                <a:tab pos="379730" algn="l"/>
              </a:tabLst>
            </a:pPr>
            <a:r>
              <a:rPr lang="zh-CN" altLang="en-US" sz="2000" b="1" spc="55" dirty="0"/>
              <a:t>可扩展的开源框架：</a:t>
            </a:r>
            <a:r>
              <a:rPr lang="zh-CN" altLang="en-US" sz="2000" spc="55" dirty="0"/>
              <a:t>开发并开源了一个可扩展的分析框架，为</a:t>
            </a:r>
            <a:r>
              <a:rPr lang="en-US" altLang="zh-CN" sz="2000" spc="55" dirty="0"/>
              <a:t>CA</a:t>
            </a:r>
            <a:r>
              <a:rPr lang="zh-CN" altLang="en-US" sz="2000" spc="55" dirty="0"/>
              <a:t>提供一套量化工具，用于衡量、评估并持续改进其</a:t>
            </a:r>
            <a:r>
              <a:rPr lang="en-US" altLang="zh-CN" sz="2000" spc="55" dirty="0"/>
              <a:t> MultiVA </a:t>
            </a:r>
            <a:r>
              <a:rPr lang="zh-CN" altLang="en-US" sz="2000" spc="55" dirty="0"/>
              <a:t>部署的实际安全性和防御能力。</a:t>
            </a:r>
            <a:endParaRPr lang="zh-CN" altLang="en-US" sz="2000" spc="55" dirty="0"/>
          </a:p>
        </p:txBody>
      </p:sp>
      <p:sp>
        <p:nvSpPr>
          <p:cNvPr id="4" name="object 4"/>
          <p:cNvSpPr txBox="1"/>
          <p:nvPr/>
        </p:nvSpPr>
        <p:spPr>
          <a:xfrm>
            <a:off x="11708700" y="6354715"/>
            <a:ext cx="222673" cy="22225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35" spc="-25" dirty="0">
                <a:solidFill>
                  <a:srgbClr val="595959"/>
                </a:solidFill>
                <a:latin typeface="Arial" panose="020B0604020202020204"/>
                <a:cs typeface="Arial" panose="020B0604020202020204"/>
              </a:rPr>
              <a:t>21</a:t>
            </a:r>
            <a:endParaRPr sz="1335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4017963" y="2828835"/>
            <a:ext cx="4156075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Impact" panose="020B0806030902050204" pitchFamily="34" charset="0"/>
                <a:cs typeface="+mn-ea"/>
                <a:sym typeface="+mn-lt"/>
              </a:rPr>
              <a:t>THANK YOU</a:t>
            </a:r>
            <a:endParaRPr lang="en-US" altLang="zh-CN" sz="72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Impact" panose="020B0806030902050204" pitchFamily="34" charset="0"/>
              <a:cs typeface="+mn-ea"/>
              <a:sym typeface="+mn-lt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2858860" y="3428999"/>
            <a:ext cx="6474279" cy="0"/>
            <a:chOff x="4129088" y="2457450"/>
            <a:chExt cx="6474279" cy="0"/>
          </a:xfrm>
        </p:grpSpPr>
        <p:cxnSp>
          <p:nvCxnSpPr>
            <p:cNvPr id="18" name="直接连接符 17"/>
            <p:cNvCxnSpPr/>
            <p:nvPr/>
          </p:nvCxnSpPr>
          <p:spPr>
            <a:xfrm>
              <a:off x="4129088" y="2457450"/>
              <a:ext cx="971550" cy="0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9631817" y="2457450"/>
              <a:ext cx="971550" cy="0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清华紫主题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660874"/>
      </a:accent1>
      <a:accent2>
        <a:srgbClr val="660874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2677</Words>
  <Application>WPS 演示</Application>
  <PresentationFormat>宽屏</PresentationFormat>
  <Paragraphs>243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Wingdings 2</vt:lpstr>
      <vt:lpstr>Calibri</vt:lpstr>
      <vt:lpstr>Arial</vt:lpstr>
      <vt:lpstr>微软雅黑</vt:lpstr>
      <vt:lpstr>Wingdings</vt:lpstr>
      <vt:lpstr>华文中宋</vt:lpstr>
      <vt:lpstr>Gill Sans MT</vt:lpstr>
      <vt:lpstr>Arial Unicode MS</vt:lpstr>
      <vt:lpstr>MS PGothic</vt:lpstr>
      <vt:lpstr>Impact</vt:lpstr>
      <vt:lpstr>清华简约主题-顶边-16:9</vt:lpstr>
      <vt:lpstr>How Effective is Multiple-Vantage Point Domain Control Validation? 多观测点域名控制验证的有效性如何？USENIX Security23’</vt:lpstr>
      <vt:lpstr>目录</vt:lpstr>
      <vt:lpstr>一、研究背景与动机</vt:lpstr>
      <vt:lpstr>一、研究动机</vt:lpstr>
      <vt:lpstr>一、研究动机</vt:lpstr>
      <vt:lpstr>二、研究方法与框架</vt:lpstr>
      <vt:lpstr>二、研究方法与框架</vt:lpstr>
      <vt:lpstr>二、研究方法与框架</vt:lpstr>
      <vt:lpstr>二、研究方法与框架</vt:lpstr>
      <vt:lpstr>二、研究方法与框架</vt:lpstr>
      <vt:lpstr>二、研究方法与框架</vt:lpstr>
      <vt:lpstr>二、研究方法与框架</vt:lpstr>
      <vt:lpstr>二、研究方法与框架</vt:lpstr>
      <vt:lpstr>PowerPoint 演示文稿</vt:lpstr>
      <vt:lpstr>三、实验与结果分析</vt:lpstr>
      <vt:lpstr>三、实验与结果分析</vt:lpstr>
      <vt:lpstr>三、实验与结果分析</vt:lpstr>
      <vt:lpstr>三、实验与结果分析</vt:lpstr>
      <vt:lpstr>三、实验与结果分析</vt:lpstr>
      <vt:lpstr>三、实验与结果分析</vt:lpstr>
      <vt:lpstr>四、讨论与总结</vt:lpstr>
      <vt:lpstr>四、讨论与总结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谭柘</cp:lastModifiedBy>
  <cp:revision>1381</cp:revision>
  <cp:lastPrinted>2020-04-04T02:50:00Z</cp:lastPrinted>
  <dcterms:created xsi:type="dcterms:W3CDTF">2020-01-04T07:43:00Z</dcterms:created>
  <dcterms:modified xsi:type="dcterms:W3CDTF">2025-12-03T12:44:19Z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6725F8B23ADC4942BBB62831A94E2150_13</vt:lpwstr>
  </property>
  <property fmtid="{D5CDD505-2E9C-101B-9397-08002B2CF9AE}" pid="3" name="KSOProductBuildVer">
    <vt:lpwstr>2052-12.1.0.23542</vt:lpwstr>
  </property>
</Properties>
</file>