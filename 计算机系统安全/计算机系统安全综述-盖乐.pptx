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8" r:id="rId5"/>
    <p:sldId id="260" r:id="rId6"/>
    <p:sldId id="288" r:id="rId7"/>
    <p:sldId id="289" r:id="rId8"/>
    <p:sldId id="290" r:id="rId9"/>
    <p:sldId id="291" r:id="rId10"/>
    <p:sldId id="292" r:id="rId11"/>
    <p:sldId id="263" r:id="rId12"/>
    <p:sldId id="281" r:id="rId13"/>
    <p:sldId id="275" r:id="rId14"/>
    <p:sldId id="282" r:id="rId15"/>
    <p:sldId id="283" r:id="rId16"/>
    <p:sldId id="295" r:id="rId17"/>
    <p:sldId id="296" r:id="rId18"/>
    <p:sldId id="297" r:id="rId19"/>
    <p:sldId id="298" r:id="rId20"/>
    <p:sldId id="284" r:id="rId21"/>
    <p:sldId id="299" r:id="rId22"/>
    <p:sldId id="264" r:id="rId23"/>
    <p:sldId id="269" r:id="rId24"/>
    <p:sldId id="272" r:id="rId25"/>
    <p:sldId id="271" r:id="rId26"/>
    <p:sldId id="279" r:id="rId27"/>
    <p:sldId id="274" r:id="rId28"/>
    <p:sldId id="265" r:id="rId29"/>
    <p:sldId id="277" r:id="rId30"/>
    <p:sldId id="278" r:id="rId31"/>
    <p:sldId id="270" r:id="rId32"/>
    <p:sldId id="276" r:id="rId33"/>
    <p:sldId id="280" r:id="rId34"/>
    <p:sldId id="267" r:id="rId35"/>
    <p:sldId id="257" r:id="rId36"/>
    <p:sldId id="285" r:id="rId37"/>
    <p:sldId id="294" r:id="rId38"/>
    <p:sldId id="293" r:id="rId3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C307D"/>
    <a:srgbClr val="FFFFFF"/>
    <a:srgbClr val="F6F4F7"/>
    <a:srgbClr val="93549F"/>
    <a:srgbClr val="FEFDFF"/>
    <a:srgbClr val="E1DFE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120" y="15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2" Type="http://schemas.openxmlformats.org/officeDocument/2006/relationships/tableStyles" Target="tableStyles.xml"/><Relationship Id="rId41" Type="http://schemas.openxmlformats.org/officeDocument/2006/relationships/viewProps" Target="viewProps.xml"/><Relationship Id="rId40" Type="http://schemas.openxmlformats.org/officeDocument/2006/relationships/presProps" Target="presProps.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A51940-DB52-3B48-AABB-9C7938529E4E}"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18717E-F74C-4246-A795-6577BEDC8382}"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sym typeface="+mn-ea"/>
              </a:rPr>
              <a:t>传统恶意软件检测技术有其独特背景与工作流。一方面，它并不直接依赖复杂模型，而是通过程序分析技术，将原始二进制代码逐步转化为可区分的特征空间，为后续分类与判别奠定基础。</a:t>
            </a:r>
            <a:endParaRPr kumimoji="1" lang="en-US" altLang="zh-CN"/>
          </a:p>
          <a:p>
            <a:r>
              <a:rPr lang="zh-CN" altLang="en-US">
                <a:sym typeface="+mn-ea"/>
              </a:rPr>
              <a:t>工作流上，从原始数据出发，经过特征提取和构建，构建中间表示，最终送入分类器中进行</a:t>
            </a:r>
            <a:r>
              <a:rPr lang="zh-CN" altLang="en-US">
                <a:sym typeface="+mn-ea"/>
              </a:rPr>
              <a:t>识别。</a:t>
            </a:r>
            <a:endParaRPr lang="zh-CN" altLang="en-US"/>
          </a:p>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dirty="0">
                <a:sym typeface="+mn-ea"/>
              </a:rPr>
              <a:t>NDSS 2017</a:t>
            </a:r>
            <a:r>
              <a:rPr lang="zh-CN" altLang="en-US" dirty="0">
                <a:sym typeface="+mn-ea"/>
              </a:rPr>
              <a:t>的这篇文章</a:t>
            </a:r>
            <a:r>
              <a:rPr lang="zh-CN" altLang="en-US"/>
              <a:t>聚焦于安卓恶意软件检测。传统</a:t>
            </a:r>
            <a:r>
              <a:rPr lang="en-US" altLang="zh-CN"/>
              <a:t>API</a:t>
            </a:r>
            <a:r>
              <a:rPr lang="zh-CN" altLang="en-US"/>
              <a:t>调用率特征无法应对恶意软件的</a:t>
            </a:r>
            <a:r>
              <a:rPr lang="en-US" altLang="zh-CN"/>
              <a:t>API</a:t>
            </a:r>
            <a:r>
              <a:rPr lang="zh-CN" altLang="en-US"/>
              <a:t>时序逻辑与上下文，后者则面临特征维度过高、稀疏以及对</a:t>
            </a:r>
            <a:r>
              <a:rPr lang="en-US" altLang="zh-CN"/>
              <a:t>API</a:t>
            </a:r>
            <a:r>
              <a:rPr lang="zh-CN" altLang="en-US"/>
              <a:t>更新敏感的问题。</a:t>
            </a:r>
            <a:endParaRPr lang="en-US" altLang="zh-CN"/>
          </a:p>
          <a:p>
            <a:r>
              <a:rPr lang="zh-CN" altLang="en-US"/>
              <a:t>为此，研究提出创新思路。先将具体</a:t>
            </a:r>
            <a:r>
              <a:rPr lang="en-US" altLang="zh-CN"/>
              <a:t>API</a:t>
            </a:r>
            <a:r>
              <a:rPr lang="zh-CN" altLang="en-US"/>
              <a:t>调用泛化为</a:t>
            </a:r>
            <a:r>
              <a:rPr lang="en-US" altLang="zh-CN"/>
              <a:t>“</a:t>
            </a:r>
            <a:r>
              <a:rPr lang="zh-CN" altLang="en-US"/>
              <a:t>包</a:t>
            </a:r>
            <a:r>
              <a:rPr lang="en-US" altLang="zh-CN"/>
              <a:t>”</a:t>
            </a:r>
            <a:r>
              <a:rPr lang="zh-CN" altLang="en-US"/>
              <a:t>或</a:t>
            </a:r>
            <a:r>
              <a:rPr lang="en-US" altLang="zh-CN"/>
              <a:t>“</a:t>
            </a:r>
            <a:r>
              <a:rPr lang="zh-CN" altLang="en-US"/>
              <a:t>家族</a:t>
            </a:r>
            <a:r>
              <a:rPr lang="en-US" altLang="zh-CN"/>
              <a:t>”</a:t>
            </a:r>
            <a:r>
              <a:rPr lang="zh-CN" altLang="en-US"/>
              <a:t>，再构建马尔可夫链，计算状态转移概率，最后提取转移概率矩阵。通过随机森林等分类器基于此矩阵分类，捕捉程序行为逻辑，而非依赖静态指令。</a:t>
            </a:r>
            <a:endParaRPr lang="en-US" altLang="zh-CN"/>
          </a:p>
          <a:p>
            <a:r>
              <a:rPr lang="zh-CN" altLang="en-US"/>
              <a:t>这种方法成效显著，检测</a:t>
            </a:r>
            <a:r>
              <a:rPr lang="en-US" altLang="zh-CN"/>
              <a:t>F-measure</a:t>
            </a:r>
            <a:r>
              <a:rPr lang="zh-CN" altLang="en-US"/>
              <a:t>高达</a:t>
            </a:r>
            <a:r>
              <a:rPr lang="en-US" altLang="zh-CN"/>
              <a:t>99%</a:t>
            </a:r>
            <a:r>
              <a:rPr lang="zh-CN" altLang="en-US"/>
              <a:t>，并且抗老化能力强，旧数据训练的模型检测新样本时，性能下降幅度远低于对比方法。这表明该方法能有效提升安卓恶意软件检测的准确性和稳定性。</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a:t>第二篇是</a:t>
            </a:r>
            <a:r>
              <a:rPr lang="en-US" altLang="zh-CN" sz="2800" dirty="0">
                <a:sym typeface="+mn-ea"/>
              </a:rPr>
              <a:t>KDD 2017</a:t>
            </a:r>
            <a:r>
              <a:rPr lang="zh-CN" altLang="en-US" sz="2800" dirty="0">
                <a:sym typeface="+mn-ea"/>
              </a:rPr>
              <a:t>的</a:t>
            </a:r>
            <a:r>
              <a:rPr lang="en-US" altLang="zh-CN" sz="2800"/>
              <a:t> HinDroid</a:t>
            </a:r>
            <a:r>
              <a:rPr lang="zh-CN" altLang="en-US" sz="2800"/>
              <a:t>。过往</a:t>
            </a:r>
            <a:r>
              <a:rPr lang="zh-CN" altLang="en-US" sz="2800"/>
              <a:t>研究仅分析</a:t>
            </a:r>
            <a:r>
              <a:rPr lang="en-US" altLang="zh-CN" sz="2800"/>
              <a:t>API</a:t>
            </a:r>
            <a:r>
              <a:rPr lang="zh-CN" altLang="en-US" sz="2800"/>
              <a:t>调用列表的方法存在弊端，它认为单纯的</a:t>
            </a:r>
            <a:r>
              <a:rPr lang="en-US" altLang="zh-CN" sz="2800"/>
              <a:t> API </a:t>
            </a:r>
            <a:r>
              <a:rPr lang="zh-CN" altLang="en-US" sz="2800"/>
              <a:t>列表忽略了复杂的关联关系</a:t>
            </a:r>
            <a:r>
              <a:rPr lang="zh-CN" altLang="en-US" sz="2800"/>
              <a:t>，攻击者能轻易通过无用调用逃避检测。</a:t>
            </a:r>
            <a:endParaRPr lang="en-US" altLang="zh-CN" sz="2800"/>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800"/>
              <a:t>HinDroid</a:t>
            </a:r>
            <a:r>
              <a:rPr lang="zh-CN" altLang="en-US" sz="2800"/>
              <a:t>提出了新的解决思路。它以</a:t>
            </a:r>
            <a:r>
              <a:rPr lang="en-US" altLang="zh-CN" sz="2800"/>
              <a:t>App</a:t>
            </a:r>
            <a:r>
              <a:rPr lang="zh-CN" altLang="en-US" sz="2800"/>
              <a:t>代码和</a:t>
            </a:r>
            <a:r>
              <a:rPr lang="en-US" altLang="zh-CN" sz="2800"/>
              <a:t>API</a:t>
            </a:r>
            <a:r>
              <a:rPr lang="zh-CN" altLang="en-US" sz="2800"/>
              <a:t>列表为原始输入，构建异构信息网络，将</a:t>
            </a:r>
            <a:r>
              <a:rPr lang="en-US" altLang="zh-CN" sz="2800"/>
              <a:t>App</a:t>
            </a:r>
            <a:r>
              <a:rPr lang="zh-CN" altLang="en-US" sz="2800"/>
              <a:t>、</a:t>
            </a:r>
            <a:r>
              <a:rPr lang="en-US" altLang="zh-CN" sz="2800"/>
              <a:t>API</a:t>
            </a:r>
            <a:r>
              <a:rPr lang="zh-CN" altLang="en-US" sz="2800"/>
              <a:t>、代码块、</a:t>
            </a:r>
            <a:r>
              <a:rPr lang="en-US" altLang="zh-CN" sz="2800"/>
              <a:t>API</a:t>
            </a:r>
            <a:r>
              <a:rPr lang="zh-CN" altLang="en-US" sz="2800"/>
              <a:t>所属包等作为节点构成图。接着通过元路径提取，像</a:t>
            </a:r>
            <a:r>
              <a:rPr lang="en-US" altLang="zh-CN" sz="2800"/>
              <a:t> App -&gt; API -&gt; App -&gt; API </a:t>
            </a:r>
            <a:r>
              <a:rPr lang="zh-CN" altLang="en-US" sz="2800"/>
              <a:t>这样的特征路径来定义特征。再利用多核学习聚合路径权重，让分类器基于结构化关系判定，而非简单的关键词匹配。</a:t>
            </a:r>
            <a:endParaRPr lang="zh-CN" altLang="en-US" sz="2800"/>
          </a:p>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a:p>
        </p:txBody>
      </p:sp>
      <p:sp>
        <p:nvSpPr>
          <p:cNvPr id="4" name="灯片编号占位符 3"/>
          <p:cNvSpPr>
            <a:spLocks noGrp="1"/>
          </p:cNvSpPr>
          <p:nvPr>
            <p:ph type="sldNum" sz="quarter" idx="5"/>
          </p:nvPr>
        </p:nvSpPr>
        <p:spPr/>
        <p:txBody>
          <a:bodyPr/>
          <a:lstStyle/>
          <a:p>
            <a:fld id="{6D18717E-F74C-4246-A795-6577BEDC8382}" type="slidenum">
              <a:rPr kumimoji="1" lang="zh-CN" altLang="en-US" smtClean="0"/>
            </a:fld>
            <a:endParaRPr kumimoji="1"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第三篇是</a:t>
            </a:r>
            <a:r>
              <a:rPr lang="en-US" altLang="zh-CN"/>
              <a:t>TDSC 2023</a:t>
            </a:r>
            <a:r>
              <a:rPr lang="zh-CN" altLang="en-US"/>
              <a:t>的文章。随着恶意软件的快速演化，基于机器学习的检测模型面临</a:t>
            </a:r>
            <a:r>
              <a:rPr lang="en-US" altLang="zh-CN"/>
              <a:t>“</a:t>
            </a:r>
            <a:r>
              <a:rPr lang="zh-CN" altLang="en-US"/>
              <a:t>老化</a:t>
            </a:r>
            <a:r>
              <a:rPr lang="en-US" altLang="zh-CN"/>
              <a:t>”</a:t>
            </a:r>
            <a:r>
              <a:rPr lang="zh-CN" altLang="en-US"/>
              <a:t>问题，性能大幅下降，而频繁重新训练模型又会带来高昂的人工标注成本。为解决这一难题，</a:t>
            </a:r>
            <a:r>
              <a:rPr lang="zh-CN" altLang="en-US"/>
              <a:t>本文提出利用</a:t>
            </a:r>
            <a:r>
              <a:rPr lang="en-US" altLang="zh-CN"/>
              <a:t> API </a:t>
            </a:r>
            <a:r>
              <a:rPr lang="zh-CN" altLang="en-US"/>
              <a:t>知识延缓模型老化。</a:t>
            </a:r>
            <a:endParaRPr lang="en-US" altLang="zh-CN"/>
          </a:p>
          <a:p>
            <a:r>
              <a:rPr lang="zh-CN" altLang="en-US"/>
              <a:t>引入</a:t>
            </a:r>
            <a:r>
              <a:rPr lang="en-US" altLang="zh-CN"/>
              <a:t> API </a:t>
            </a:r>
            <a:r>
              <a:rPr lang="zh-CN" altLang="en-US"/>
              <a:t>文档提取语义相似度，建立新旧</a:t>
            </a:r>
            <a:r>
              <a:rPr lang="en-US" altLang="zh-CN"/>
              <a:t> API </a:t>
            </a:r>
            <a:r>
              <a:rPr lang="zh-CN" altLang="en-US"/>
              <a:t>的聚类或映射，训练和检测时，用群组</a:t>
            </a:r>
            <a:r>
              <a:rPr lang="en-US" altLang="zh-CN"/>
              <a:t> ID </a:t>
            </a:r>
            <a:r>
              <a:rPr lang="zh-CN" altLang="en-US"/>
              <a:t>替换具体</a:t>
            </a:r>
            <a:r>
              <a:rPr lang="en-US" altLang="zh-CN"/>
              <a:t> API</a:t>
            </a:r>
            <a:r>
              <a:rPr lang="zh-CN" altLang="en-US"/>
              <a:t>，使模型学习通用行为模式。</a:t>
            </a:r>
            <a:endParaRPr lang="en-US" altLang="zh-CN"/>
          </a:p>
          <a:p>
            <a:r>
              <a:rPr lang="zh-CN" altLang="en-US"/>
              <a:t>该方法效果显著，不仅维持模型性能老化速度延缓了</a:t>
            </a:r>
            <a:r>
              <a:rPr lang="en-US" altLang="zh-CN"/>
              <a:t> 5.9 </a:t>
            </a:r>
            <a:r>
              <a:rPr lang="zh-CN" altLang="en-US"/>
              <a:t>到</a:t>
            </a:r>
            <a:r>
              <a:rPr lang="en-US" altLang="zh-CN"/>
              <a:t> 19.6%</a:t>
            </a:r>
            <a:r>
              <a:rPr lang="zh-CN" altLang="en-US"/>
              <a:t>，还在维持检测性能的同时，减少了</a:t>
            </a:r>
            <a:r>
              <a:rPr lang="en-US" altLang="zh-CN"/>
              <a:t> 33% </a:t>
            </a:r>
            <a:r>
              <a:rPr lang="zh-CN" altLang="en-US"/>
              <a:t>到</a:t>
            </a:r>
            <a:r>
              <a:rPr lang="en-US" altLang="zh-CN"/>
              <a:t> 96% </a:t>
            </a:r>
            <a:r>
              <a:rPr lang="zh-CN" altLang="en-US"/>
              <a:t>的样本标注需求。</a:t>
            </a:r>
            <a:endParaRPr lang="zh-CN" altLang="en-US"/>
          </a:p>
        </p:txBody>
      </p:sp>
      <p:sp>
        <p:nvSpPr>
          <p:cNvPr id="4" name="灯片编号占位符 3"/>
          <p:cNvSpPr>
            <a:spLocks noGrp="1"/>
          </p:cNvSpPr>
          <p:nvPr>
            <p:ph type="sldNum" sz="quarter" idx="5"/>
          </p:nvPr>
        </p:nvSpPr>
        <p:spPr/>
        <p:txBody>
          <a:bodyPr/>
          <a:lstStyle/>
          <a:p>
            <a:fld id="{6D18717E-F74C-4246-A795-6577BEDC8382}" type="slidenum">
              <a:rPr kumimoji="1" lang="zh-CN" altLang="en-US" smtClean="0"/>
            </a:fld>
            <a:endParaRPr kumimoji="1"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本部分最后一篇是</a:t>
            </a:r>
            <a:r>
              <a:rPr lang="en-US" altLang="zh-CN" dirty="0">
                <a:sym typeface="+mn-ea"/>
              </a:rPr>
              <a:t>Computers &amp; Security 2024</a:t>
            </a:r>
            <a:r>
              <a:rPr lang="zh-CN" altLang="en-US" dirty="0">
                <a:sym typeface="+mn-ea"/>
              </a:rPr>
              <a:t>的。我们在调研时发现，当时的动态检测方法主要关注</a:t>
            </a:r>
            <a:r>
              <a:rPr lang="en-US" altLang="zh-CN" dirty="0">
                <a:sym typeface="+mn-ea"/>
              </a:rPr>
              <a:t> API </a:t>
            </a:r>
            <a:r>
              <a:rPr lang="zh-CN" altLang="en-US" dirty="0">
                <a:sym typeface="+mn-ea"/>
              </a:rPr>
              <a:t>名称或调用频率，忽略了其背后丰富的语义信息，且官方</a:t>
            </a:r>
            <a:r>
              <a:rPr lang="en-US" altLang="zh-CN" dirty="0">
                <a:sym typeface="+mn-ea"/>
              </a:rPr>
              <a:t> API </a:t>
            </a:r>
            <a:r>
              <a:rPr lang="zh-CN" altLang="en-US" dirty="0">
                <a:sym typeface="+mn-ea"/>
              </a:rPr>
              <a:t>文档这一信息源未被充分利用。</a:t>
            </a:r>
            <a:endParaRPr lang="en-US" altLang="zh-CN" dirty="0">
              <a:sym typeface="+mn-ea"/>
            </a:endParaRPr>
          </a:p>
          <a:p>
            <a:r>
              <a:rPr lang="zh-CN" altLang="en-US" dirty="0">
                <a:sym typeface="+mn-ea"/>
              </a:rPr>
              <a:t>具体的思路</a:t>
            </a:r>
            <a:r>
              <a:rPr lang="zh-CN" altLang="en-US" dirty="0">
                <a:sym typeface="+mn-ea"/>
              </a:rPr>
              <a:t>是先将沙箱生成的动态</a:t>
            </a:r>
            <a:r>
              <a:rPr lang="en-US" altLang="zh-CN" dirty="0">
                <a:sym typeface="+mn-ea"/>
              </a:rPr>
              <a:t> API </a:t>
            </a:r>
            <a:r>
              <a:rPr lang="zh-CN" altLang="en-US" dirty="0">
                <a:sym typeface="+mn-ea"/>
              </a:rPr>
              <a:t>调用序列映射为有向</a:t>
            </a:r>
            <a:r>
              <a:rPr lang="en-US" altLang="zh-CN" dirty="0">
                <a:sym typeface="+mn-ea"/>
              </a:rPr>
              <a:t> API </a:t>
            </a:r>
            <a:r>
              <a:rPr lang="zh-CN" altLang="en-US" dirty="0">
                <a:sym typeface="+mn-ea"/>
              </a:rPr>
              <a:t>图，捕捉结构模式；接着利用官方</a:t>
            </a:r>
            <a:r>
              <a:rPr lang="en-US" altLang="zh-CN" dirty="0">
                <a:sym typeface="+mn-ea"/>
              </a:rPr>
              <a:t> API </a:t>
            </a:r>
            <a:r>
              <a:rPr lang="zh-CN" altLang="en-US" dirty="0">
                <a:sym typeface="+mn-ea"/>
              </a:rPr>
              <a:t>文档，用预训练的</a:t>
            </a:r>
            <a:r>
              <a:rPr lang="en-US" altLang="zh-CN" dirty="0">
                <a:sym typeface="+mn-ea"/>
              </a:rPr>
              <a:t> BERT </a:t>
            </a:r>
            <a:r>
              <a:rPr lang="zh-CN" altLang="en-US" dirty="0">
                <a:sym typeface="+mn-ea"/>
              </a:rPr>
              <a:t>模型帮助描述文本编码为</a:t>
            </a:r>
            <a:r>
              <a:rPr lang="en-US" altLang="zh-CN" dirty="0">
                <a:sym typeface="+mn-ea"/>
              </a:rPr>
              <a:t> API </a:t>
            </a:r>
            <a:r>
              <a:rPr lang="zh-CN" altLang="en-US" dirty="0">
                <a:sym typeface="+mn-ea"/>
              </a:rPr>
              <a:t>节点的特征向量；最后使用</a:t>
            </a:r>
            <a:r>
              <a:rPr lang="en-US" altLang="zh-CN" dirty="0">
                <a:sym typeface="+mn-ea"/>
              </a:rPr>
              <a:t> GAT </a:t>
            </a:r>
            <a:r>
              <a:rPr lang="zh-CN" altLang="en-US" dirty="0">
                <a:sym typeface="+mn-ea"/>
              </a:rPr>
              <a:t>图注意力网络处理带有语义属性的</a:t>
            </a:r>
            <a:r>
              <a:rPr lang="en-US" altLang="zh-CN" dirty="0">
                <a:sym typeface="+mn-ea"/>
              </a:rPr>
              <a:t> API </a:t>
            </a:r>
            <a:r>
              <a:rPr lang="zh-CN" altLang="en-US" dirty="0">
                <a:sym typeface="+mn-ea"/>
              </a:rPr>
              <a:t>图进行分类。</a:t>
            </a:r>
            <a:endParaRPr lang="en-US" altLang="zh-CN" dirty="0">
              <a:sym typeface="+mn-ea"/>
            </a:endParaRPr>
          </a:p>
          <a:p>
            <a:r>
              <a:rPr lang="zh-CN" altLang="en-US" dirty="0">
                <a:sym typeface="+mn-ea"/>
              </a:rPr>
              <a:t>该方法效果显著，在</a:t>
            </a:r>
            <a:r>
              <a:rPr lang="en-US" altLang="zh-CN" dirty="0">
                <a:sym typeface="+mn-ea"/>
              </a:rPr>
              <a:t> MalBehavD - V1 </a:t>
            </a:r>
            <a:r>
              <a:rPr lang="zh-CN" altLang="en-US" dirty="0">
                <a:sym typeface="+mn-ea"/>
              </a:rPr>
              <a:t>数据集上准确率达</a:t>
            </a:r>
            <a:r>
              <a:rPr lang="en-US" altLang="zh-CN" dirty="0">
                <a:sym typeface="+mn-ea"/>
              </a:rPr>
              <a:t> 96.38%</a:t>
            </a:r>
            <a:r>
              <a:rPr lang="zh-CN" altLang="en-US" dirty="0">
                <a:sym typeface="+mn-ea"/>
              </a:rPr>
              <a:t>，在</a:t>
            </a:r>
            <a:r>
              <a:rPr lang="en-US" altLang="zh-CN" dirty="0">
                <a:sym typeface="+mn-ea"/>
              </a:rPr>
              <a:t> APIMDS </a:t>
            </a:r>
            <a:r>
              <a:rPr lang="zh-CN" altLang="en-US" dirty="0">
                <a:sym typeface="+mn-ea"/>
              </a:rPr>
              <a:t>数据集上准确率高达</a:t>
            </a:r>
            <a:r>
              <a:rPr lang="en-US" altLang="zh-CN" dirty="0">
                <a:sym typeface="+mn-ea"/>
              </a:rPr>
              <a:t> 99.75%</a:t>
            </a:r>
            <a:r>
              <a:rPr lang="zh-CN" altLang="en-US" dirty="0">
                <a:sym typeface="+mn-ea"/>
              </a:rPr>
              <a:t>，均优于基线方法，充分证明引入文档语义能显著提升检测性能。</a:t>
            </a:r>
            <a:endParaRPr lang="zh-CN" altLang="en-US" dirty="0">
              <a:sym typeface="+mn-ea"/>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我们对这四种技术做了一个横向对比</a:t>
            </a:r>
            <a:r>
              <a:rPr lang="en-US" altLang="zh-CN"/>
              <a:t> </a:t>
            </a:r>
            <a:r>
              <a:rPr lang="zh-CN" altLang="en-US"/>
              <a:t>。</a:t>
            </a:r>
            <a:r>
              <a:rPr lang="en-US" altLang="zh-CN"/>
              <a:t> MaMaDroid </a:t>
            </a:r>
            <a:r>
              <a:rPr lang="zh-CN" altLang="en-US"/>
              <a:t>处于早期阶段，关注时序，即</a:t>
            </a:r>
            <a:r>
              <a:rPr lang="en-US" altLang="zh-CN"/>
              <a:t> API </a:t>
            </a:r>
            <a:r>
              <a:rPr lang="zh-CN" altLang="en-US"/>
              <a:t>调用的先后顺序</a:t>
            </a:r>
            <a:r>
              <a:rPr lang="en-US" altLang="zh-CN"/>
              <a:t> </a:t>
            </a:r>
            <a:r>
              <a:rPr lang="zh-CN" altLang="en-US"/>
              <a:t>。</a:t>
            </a:r>
            <a:r>
              <a:rPr lang="en-US" altLang="zh-CN"/>
              <a:t>HinDroid </a:t>
            </a:r>
            <a:r>
              <a:rPr lang="zh-CN" altLang="en-US"/>
              <a:t>进化为</a:t>
            </a:r>
            <a:r>
              <a:rPr lang="en-US" altLang="zh-CN"/>
              <a:t> </a:t>
            </a:r>
            <a:r>
              <a:rPr lang="zh-CN" altLang="en-US"/>
              <a:t>关系</a:t>
            </a:r>
            <a:r>
              <a:rPr lang="en-US" altLang="zh-CN"/>
              <a:t> (Relationship) </a:t>
            </a:r>
            <a:r>
              <a:rPr lang="zh-CN" altLang="en-US"/>
              <a:t>视角，通过异构图挖掘</a:t>
            </a:r>
            <a:r>
              <a:rPr lang="en-US" altLang="zh-CN"/>
              <a:t> App </a:t>
            </a:r>
            <a:r>
              <a:rPr lang="zh-CN" altLang="en-US"/>
              <a:t>与</a:t>
            </a:r>
            <a:r>
              <a:rPr lang="en-US" altLang="zh-CN"/>
              <a:t> API </a:t>
            </a:r>
            <a:r>
              <a:rPr lang="zh-CN" altLang="en-US"/>
              <a:t>之间的结构关联</a:t>
            </a:r>
            <a:r>
              <a:rPr lang="en-US" altLang="zh-CN"/>
              <a:t> </a:t>
            </a:r>
            <a:r>
              <a:rPr lang="zh-CN" altLang="en-US"/>
              <a:t>。</a:t>
            </a:r>
            <a:r>
              <a:rPr lang="zh-CN" altLang="en-US"/>
              <a:t>而后两篇工作则开始引入语义视角，利用</a:t>
            </a:r>
            <a:r>
              <a:rPr lang="en-US" altLang="zh-CN"/>
              <a:t> API </a:t>
            </a:r>
            <a:r>
              <a:rPr lang="zh-CN" altLang="en-US"/>
              <a:t>文档等外部知识来增强特征的鲁棒性</a:t>
            </a:r>
            <a:r>
              <a:rPr lang="en-US" altLang="zh-CN"/>
              <a:t> </a:t>
            </a:r>
            <a:r>
              <a:rPr lang="zh-CN" altLang="en-US"/>
              <a:t>。这也是传统技术向语义理解过渡的一个趋势。</a:t>
            </a:r>
            <a:endParaRPr lang="zh-CN" altLang="en-US"/>
          </a:p>
          <a:p>
            <a:r>
              <a:rPr lang="zh-CN" altLang="en-US">
                <a:sym typeface="+mn-ea"/>
              </a:rPr>
              <a:t>分类器模型</a:t>
            </a:r>
            <a:r>
              <a:rPr lang="zh-CN" altLang="en-US"/>
              <a:t>也从传统的随机森林等机器学习模型转向了更复杂的图神经网络</a:t>
            </a:r>
            <a:r>
              <a:rPr lang="en-US" altLang="zh-CN"/>
              <a:t> (GAT) </a:t>
            </a:r>
            <a:r>
              <a:rPr lang="zh-CN" altLang="en-US"/>
              <a:t>。</a:t>
            </a:r>
            <a:endParaRPr lang="zh-CN" altLang="en-US"/>
          </a:p>
        </p:txBody>
      </p:sp>
      <p:sp>
        <p:nvSpPr>
          <p:cNvPr id="4" name="灯片编号占位符 3"/>
          <p:cNvSpPr>
            <a:spLocks noGrp="1"/>
          </p:cNvSpPr>
          <p:nvPr>
            <p:ph type="sldNum" sz="quarter" idx="5"/>
          </p:nvPr>
        </p:nvSpPr>
        <p:spPr/>
        <p:txBody>
          <a:bodyPr/>
          <a:lstStyle/>
          <a:p>
            <a:fld id="{6D18717E-F74C-4246-A795-6577BEDC8382}" type="slidenum">
              <a:rPr kumimoji="1" lang="zh-CN" altLang="en-US" smtClean="0"/>
            </a:fld>
            <a:endParaRPr kumimoji="1"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Level2 </a:t>
            </a:r>
            <a:r>
              <a:rPr lang="zh-CN" altLang="en-US"/>
              <a:t>聚焦于表征驱动的鲁棒化恶意软件分类。通过结构化表征训练模型，精准判断软件是否为恶意软件。这一过程能有效识别恶意软件，保障系统安全。</a:t>
            </a:r>
            <a:endParaRPr lang="zh-CN" altLang="en-US"/>
          </a:p>
          <a:p>
            <a:r>
              <a:rPr lang="zh-CN" altLang="en-US"/>
              <a:t>从演进路径来看，经历了从传统到现代的转变。传统机器学习依赖手工提取特征，虽有一定作用，但存在局限性。而深度学习实现自动特征学习，重点聚焦于解决概念漂移、标签噪声和对抗攻击等现实挑战，极大了提升了模型的鲁棒性。</a:t>
            </a:r>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a:t>这篇发表于</a:t>
            </a:r>
            <a:r>
              <a:rPr lang="en-US" altLang="zh-CN"/>
              <a:t> CCS 2023 </a:t>
            </a:r>
            <a:r>
              <a:rPr lang="zh-CN" altLang="en-US"/>
              <a:t>的论文聚焦于分析</a:t>
            </a:r>
            <a:r>
              <a:rPr lang="en-US" altLang="zh-CN"/>
              <a:t> Windows </a:t>
            </a:r>
            <a:r>
              <a:rPr lang="zh-CN" altLang="en-US"/>
              <a:t>恶意软件机器学习分类的关键影响因素。当前，基于机器学习的恶意软件分类虽然报告准确率高，但因数据集构建、特征选择等差异，结果缺乏可比性，且核心影响因素不明确。</a:t>
            </a:r>
            <a:endParaRPr lang="en-US" altLang="zh-CN"/>
          </a:p>
          <a:p>
            <a:r>
              <a:rPr lang="zh-CN" altLang="en-US"/>
              <a:t>为此，研究团队构建了目前最大的平衡数据集，涵盖了</a:t>
            </a:r>
            <a:r>
              <a:rPr lang="en-US" altLang="zh-CN"/>
              <a:t>8</a:t>
            </a:r>
            <a:r>
              <a:rPr lang="zh-CN" altLang="en-US"/>
              <a:t>类静态特征和</a:t>
            </a:r>
            <a:r>
              <a:rPr lang="en-US" altLang="zh-CN"/>
              <a:t>7</a:t>
            </a:r>
            <a:r>
              <a:rPr lang="zh-CN" altLang="en-US"/>
              <a:t>类动态特征，并制定了</a:t>
            </a:r>
            <a:r>
              <a:rPr lang="en-US" altLang="zh-CN"/>
              <a:t> Research Question (RQ) </a:t>
            </a:r>
            <a:r>
              <a:rPr lang="zh-CN" altLang="en-US"/>
              <a:t>进行广泛实验。研究发现，样本的时间分布不均衡会导致严重的泛化性。这一研究为提升</a:t>
            </a:r>
            <a:r>
              <a:rPr lang="en-US" altLang="zh-CN"/>
              <a:t> Windows </a:t>
            </a:r>
            <a:r>
              <a:rPr lang="zh-CN" altLang="en-US"/>
              <a:t>恶意软件分类的准确性和可比性提供了重要参考。</a:t>
            </a:r>
            <a:endParaRPr lang="zh-CN" altLang="en-US"/>
          </a:p>
          <a:p>
            <a:endParaRPr lang="zh-CN" altLang="en-US"/>
          </a:p>
        </p:txBody>
      </p:sp>
      <p:sp>
        <p:nvSpPr>
          <p:cNvPr id="4" name="灯片编号占位符 3"/>
          <p:cNvSpPr>
            <a:spLocks noGrp="1"/>
          </p:cNvSpPr>
          <p:nvPr>
            <p:ph type="sldNum" sz="quarter" idx="5"/>
          </p:nvPr>
        </p:nvSpPr>
        <p:spPr/>
        <p:txBody>
          <a:bodyPr/>
          <a:lstStyle/>
          <a:p>
            <a:fld id="{6D18717E-F74C-4246-A795-6577BEDC8382}" type="slidenum">
              <a:rPr kumimoji="1" lang="zh-CN" altLang="en-US" smtClean="0"/>
            </a:fld>
            <a:endParaRPr kumimoji="1"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本</a:t>
            </a:r>
            <a:r>
              <a:rPr lang="en-US" altLang="zh-CN"/>
              <a:t>level</a:t>
            </a:r>
            <a:r>
              <a:rPr lang="zh-CN" altLang="en-US"/>
              <a:t>第二篇是</a:t>
            </a:r>
            <a:r>
              <a:rPr lang="en-US" altLang="zh-CN">
                <a:sym typeface="+mn-ea"/>
              </a:rPr>
              <a:t> </a:t>
            </a:r>
            <a:r>
              <a:rPr lang="zh-CN" altLang="zh-CN">
                <a:ln>
                  <a:noFill/>
                </a:ln>
                <a:solidFill>
                  <a:srgbClr val="333333"/>
                </a:solidFill>
                <a:effectLst/>
                <a:latin typeface="+mj-lt"/>
                <a:ea typeface="微软雅黑" panose="020B0503020204020204" pitchFamily="34" charset="-122"/>
                <a:sym typeface="+mn-ea"/>
              </a:rPr>
              <a:t>NDSS 2021的论文。</a:t>
            </a:r>
            <a:r>
              <a:rPr lang="en-US" altLang="zh-CN"/>
              <a:t>Android </a:t>
            </a:r>
            <a:r>
              <a:rPr lang="zh-CN" altLang="en-US"/>
              <a:t>恶意软件检测存在诸多难题，通常依赖有监督学习模型检测，训练和评估都需要大量带标签样本，但标签易出错，会导致检测性能与评估准确率双双</a:t>
            </a:r>
            <a:r>
              <a:rPr lang="en-US" altLang="zh-CN"/>
              <a:t>“</a:t>
            </a:r>
            <a:r>
              <a:rPr lang="zh-CN" altLang="en-US"/>
              <a:t>打折</a:t>
            </a:r>
            <a:r>
              <a:rPr lang="en-US" altLang="zh-CN"/>
              <a:t>”</a:t>
            </a:r>
            <a:r>
              <a:rPr lang="zh-CN" altLang="en-US"/>
              <a:t>。而且，标准基准数据集的缺乏也带来样本一致性问题。</a:t>
            </a:r>
            <a:endParaRPr lang="en-US" altLang="zh-CN"/>
          </a:p>
          <a:p>
            <a:r>
              <a:rPr lang="zh-CN" altLang="en-US"/>
              <a:t>针对</a:t>
            </a:r>
            <a:r>
              <a:rPr lang="en-US" altLang="zh-CN"/>
              <a:t>“</a:t>
            </a:r>
            <a:r>
              <a:rPr lang="zh-CN" altLang="en-US"/>
              <a:t>标签噪声</a:t>
            </a:r>
            <a:r>
              <a:rPr lang="en-US" altLang="zh-CN"/>
              <a:t>”</a:t>
            </a:r>
            <a:r>
              <a:rPr lang="zh-CN" altLang="en-US"/>
              <a:t>问题，这篇论文提出了</a:t>
            </a:r>
            <a:r>
              <a:rPr lang="en-US" altLang="zh-CN"/>
              <a:t>“</a:t>
            </a:r>
            <a:r>
              <a:rPr lang="zh-CN" altLang="en-US"/>
              <a:t>差分训练</a:t>
            </a:r>
            <a:r>
              <a:rPr lang="en-US" altLang="zh-CN"/>
              <a:t>”</a:t>
            </a:r>
            <a:r>
              <a:rPr lang="zh-CN" altLang="en-US"/>
              <a:t>框架。该框架假设数据集中大部分标签无误，只有少数是噪声。基于此，训练</a:t>
            </a:r>
            <a:r>
              <a:rPr lang="en-US" altLang="zh-CN"/>
              <a:t> WS </a:t>
            </a:r>
            <a:r>
              <a:rPr lang="zh-CN" altLang="en-US"/>
              <a:t>和</a:t>
            </a:r>
            <a:r>
              <a:rPr lang="en-US" altLang="zh-CN"/>
              <a:t> DS </a:t>
            </a:r>
            <a:r>
              <a:rPr lang="zh-CN" altLang="en-US"/>
              <a:t>两个模型，前者用全量数据，后者用抽样了集。最后通过差值计算检测算法，揪出标签错误的样本并修正，减少未标签噪声，提升检测模型的性能。</a:t>
            </a:r>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a:t>本</a:t>
            </a:r>
            <a:r>
              <a:rPr lang="en-US" altLang="zh-CN"/>
              <a:t>level</a:t>
            </a:r>
            <a:r>
              <a:rPr lang="zh-CN" altLang="en-US"/>
              <a:t>的第三篇是</a:t>
            </a:r>
            <a:r>
              <a:rPr lang="en-US" altLang="zh-CN">
                <a:sym typeface="+mn-ea"/>
              </a:rPr>
              <a:t>USENIX Security 2023</a:t>
            </a:r>
            <a:r>
              <a:rPr lang="zh-CN" altLang="en-US">
                <a:sym typeface="+mn-ea"/>
              </a:rPr>
              <a:t>，</a:t>
            </a:r>
            <a:r>
              <a:rPr lang="zh-CN" altLang="en-US"/>
              <a:t>针对安卓恶意软件检测领域，机器学习模型面临的概念漂移问题。模型上线半年后</a:t>
            </a:r>
            <a:r>
              <a:rPr lang="en-US" altLang="zh-CN"/>
              <a:t> F1 </a:t>
            </a:r>
            <a:r>
              <a:rPr lang="zh-CN" altLang="en-US"/>
              <a:t>值会从</a:t>
            </a:r>
            <a:r>
              <a:rPr lang="en-US" altLang="zh-CN"/>
              <a:t> 0.99 </a:t>
            </a:r>
            <a:r>
              <a:rPr lang="zh-CN" altLang="en-US"/>
              <a:t>掉到</a:t>
            </a:r>
            <a:r>
              <a:rPr lang="en-US" altLang="zh-CN"/>
              <a:t> 0.76 </a:t>
            </a:r>
            <a:r>
              <a:rPr lang="zh-CN" altLang="en-US"/>
              <a:t>。同时需要持续更新模型并最大化利用人工标注资源。</a:t>
            </a:r>
            <a:endParaRPr lang="zh-CN" altLang="en-US"/>
          </a:p>
          <a:p>
            <a:r>
              <a:rPr lang="zh-CN" altLang="en-US"/>
              <a:t>为解决这些问题，提出了一种新框架。分类对比学习通过学习嵌入空间，能有效区分恶意与良性样本；伪损失采样创新不确定性度量，可筛选出高价值样本进行人工标注；延续后更新基于历史权重加权持续训练，使模型适应新样本又不遗忘旧知识。</a:t>
            </a:r>
            <a:endParaRPr lang="zh-CN" altLang="en-US"/>
          </a:p>
        </p:txBody>
      </p:sp>
      <p:sp>
        <p:nvSpPr>
          <p:cNvPr id="4" name="灯片编号占位符 3"/>
          <p:cNvSpPr>
            <a:spLocks noGrp="1"/>
          </p:cNvSpPr>
          <p:nvPr>
            <p:ph type="sldNum" sz="quarter" idx="5"/>
          </p:nvPr>
        </p:nvSpPr>
        <p:spPr/>
        <p:txBody>
          <a:bodyPr/>
          <a:lstStyle/>
          <a:p>
            <a:fld id="{6D18717E-F74C-4246-A795-6577BEDC8382}" type="slidenum">
              <a:rPr kumimoji="1" lang="zh-CN" altLang="en-US" smtClean="0"/>
            </a:fld>
            <a:endParaRPr kumimoji="1"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a:t>本</a:t>
            </a:r>
            <a:r>
              <a:rPr lang="en-US" altLang="zh-CN"/>
              <a:t>level</a:t>
            </a:r>
            <a:r>
              <a:rPr lang="zh-CN" altLang="en-US"/>
              <a:t>的第四篇是</a:t>
            </a:r>
            <a:r>
              <a:rPr lang="en-US" altLang="zh-CN">
                <a:sym typeface="+mn-ea"/>
              </a:rPr>
              <a:t> NDSS 2025</a:t>
            </a:r>
            <a:r>
              <a:rPr lang="zh-CN" altLang="en-US">
                <a:sym typeface="+mn-ea"/>
              </a:rPr>
              <a:t>的针对</a:t>
            </a:r>
            <a:r>
              <a:rPr lang="en-US" altLang="zh-CN">
                <a:sym typeface="+mn-ea"/>
              </a:rPr>
              <a:t> Windows </a:t>
            </a:r>
            <a:r>
              <a:rPr lang="zh-CN" altLang="en-US">
                <a:sym typeface="+mn-ea"/>
              </a:rPr>
              <a:t>平台的概念漂移检测新方案</a:t>
            </a:r>
            <a:r>
              <a:rPr lang="zh-CN" altLang="en-US">
                <a:sym typeface="+mn-ea"/>
              </a:rPr>
              <a:t>。由于恶意软件不断演化，导致概念漂移问题出现，传统</a:t>
            </a:r>
            <a:r>
              <a:rPr lang="en-US" altLang="zh-CN">
                <a:sym typeface="+mn-ea"/>
              </a:rPr>
              <a:t>/</a:t>
            </a:r>
            <a:r>
              <a:rPr lang="zh-CN" altLang="en-US">
                <a:sym typeface="+mn-ea"/>
              </a:rPr>
              <a:t>主动</a:t>
            </a:r>
            <a:r>
              <a:rPr lang="en-US" altLang="zh-CN">
                <a:sym typeface="+mn-ea"/>
              </a:rPr>
              <a:t>/</a:t>
            </a:r>
            <a:r>
              <a:rPr lang="zh-CN" altLang="en-US">
                <a:sym typeface="+mn-ea"/>
              </a:rPr>
              <a:t>缓存适应模型方案要么标注成本，有数据提炼标签区分度较低。</a:t>
            </a:r>
            <a:endParaRPr lang="en-US" altLang="zh-CN">
              <a:sym typeface="+mn-ea"/>
            </a:endParaRPr>
          </a:p>
          <a:p>
            <a:r>
              <a:rPr lang="zh-CN" altLang="en-US">
                <a:sym typeface="+mn-ea"/>
              </a:rPr>
              <a:t>为解决这些问题，方案采取了三方面方法。一是进行特征演化，提取恶意软件的流控制图</a:t>
            </a:r>
            <a:r>
              <a:rPr lang="en-US" altLang="zh-CN">
                <a:sym typeface="+mn-ea"/>
              </a:rPr>
              <a:t> (CFG)</a:t>
            </a:r>
            <a:r>
              <a:rPr lang="zh-CN" altLang="en-US">
                <a:sym typeface="+mn-ea"/>
              </a:rPr>
              <a:t>，以保留代码结构和语义信息。二是采用对抗对比适应，生成对抗样本来模拟真实的漂移，让漂移前后的数据分布保持一致。三是运用适应聚类，对数据标签进行优化，解决样本区分度不足的难题。</a:t>
            </a:r>
            <a:endParaRPr lang="zh-CN" altLang="en-US">
              <a:sym typeface="+mn-ea"/>
            </a:endParaRPr>
          </a:p>
        </p:txBody>
      </p:sp>
      <p:sp>
        <p:nvSpPr>
          <p:cNvPr id="4" name="灯片编号占位符 3"/>
          <p:cNvSpPr>
            <a:spLocks noGrp="1"/>
          </p:cNvSpPr>
          <p:nvPr>
            <p:ph type="sldNum" sz="quarter" idx="5"/>
          </p:nvPr>
        </p:nvSpPr>
        <p:spPr/>
        <p:txBody>
          <a:bodyPr/>
          <a:lstStyle/>
          <a:p>
            <a:fld id="{6D18717E-F74C-4246-A795-6577BEDC8382}" type="slidenum">
              <a:rPr kumimoji="1" lang="zh-CN" altLang="en-US" smtClean="0"/>
            </a:fld>
            <a:endParaRPr kumimoji="1"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a:t>本文是</a:t>
            </a:r>
            <a:r>
              <a:rPr lang="en-GB" altLang="zh-CN" dirty="0">
                <a:sym typeface="+mn-ea"/>
              </a:rPr>
              <a:t>Security'19</a:t>
            </a:r>
            <a:r>
              <a:rPr lang="zh-CN" altLang="en-GB" dirty="0">
                <a:sym typeface="+mn-ea"/>
              </a:rPr>
              <a:t>，它</a:t>
            </a:r>
            <a:r>
              <a:rPr lang="zh-CN" altLang="en-US" dirty="0">
                <a:sym typeface="+mn-ea"/>
              </a:rPr>
              <a:t>的动机在于揭示传统恶意软件分类实验中的偏差。在实验室测得</a:t>
            </a:r>
            <a:r>
              <a:rPr lang="en-US" altLang="zh-CN" dirty="0">
                <a:sym typeface="+mn-ea"/>
              </a:rPr>
              <a:t>F1</a:t>
            </a:r>
            <a:r>
              <a:rPr lang="zh-CN" altLang="en-US" dirty="0">
                <a:sym typeface="+mn-ea"/>
              </a:rPr>
              <a:t>分数近似</a:t>
            </a:r>
            <a:r>
              <a:rPr lang="en-US" altLang="zh-CN" dirty="0">
                <a:sym typeface="+mn-ea"/>
              </a:rPr>
              <a:t> 0.99</a:t>
            </a:r>
            <a:r>
              <a:rPr lang="zh-CN" altLang="en-US" dirty="0">
                <a:sym typeface="+mn-ea"/>
              </a:rPr>
              <a:t>，但现实应用中效果较低。这一巨大区别源于</a:t>
            </a:r>
            <a:r>
              <a:rPr lang="zh-CN" altLang="en-US" dirty="0">
                <a:sym typeface="+mn-ea"/>
              </a:rPr>
              <a:t>空间和时间偏差。空间上，忽视了真实世界中良性软件远多于恶意软件的类别不平衡；时间上，未考虑概念漂移，错误分割训练测试集。</a:t>
            </a:r>
            <a:endParaRPr lang="zh-CN" altLang="en-US" dirty="0">
              <a:sym typeface="+mn-ea"/>
            </a:endParaRPr>
          </a:p>
          <a:p>
            <a:r>
              <a:rPr lang="zh-CN" altLang="en-US" dirty="0">
                <a:sym typeface="+mn-ea"/>
              </a:rPr>
              <a:t>为消除这些偏差，研究提出三大约束：严格时间切分、样本时间窗口一致、还原真实测试集比例，还引入新指标</a:t>
            </a:r>
            <a:r>
              <a:rPr lang="en-US" altLang="zh-CN" dirty="0">
                <a:sym typeface="+mn-ea"/>
              </a:rPr>
              <a:t> AUT </a:t>
            </a:r>
            <a:r>
              <a:rPr lang="zh-CN" altLang="en-US" dirty="0">
                <a:sym typeface="+mn-ea"/>
              </a:rPr>
              <a:t>量化模型随时间的鲁棒性，并采用调优算法动态调整训练集分布。</a:t>
            </a:r>
            <a:endParaRPr lang="en-US" altLang="zh-CN" dirty="0">
              <a:sym typeface="+mn-ea"/>
            </a:endParaRPr>
          </a:p>
          <a:p>
            <a:r>
              <a:rPr lang="zh-CN" altLang="en-US" dirty="0">
                <a:sym typeface="+mn-ea"/>
              </a:rPr>
              <a:t>它提出了一套严格的评估约束，并发现消除这些偏差后，算法性能平均下降</a:t>
            </a:r>
            <a:r>
              <a:rPr lang="en-US" altLang="zh-CN" dirty="0">
                <a:sym typeface="+mn-ea"/>
              </a:rPr>
              <a:t> 50%</a:t>
            </a:r>
            <a:r>
              <a:rPr lang="zh-CN" altLang="en-US" dirty="0">
                <a:sym typeface="+mn-ea"/>
              </a:rPr>
              <a:t>，不过也证明深度学习模型比传统特征工程方法更具抗老化能力，凸显深度学习在恶意软件分类中的优势。</a:t>
            </a:r>
            <a:endParaRPr lang="zh-CN" altLang="en-US" dirty="0">
              <a:sym typeface="+mn-ea"/>
            </a:endParaRPr>
          </a:p>
        </p:txBody>
      </p:sp>
      <p:sp>
        <p:nvSpPr>
          <p:cNvPr id="4" name="灯片编号占位符 3"/>
          <p:cNvSpPr>
            <a:spLocks noGrp="1"/>
          </p:cNvSpPr>
          <p:nvPr>
            <p:ph type="sldNum" sz="quarter" idx="5"/>
          </p:nvPr>
        </p:nvSpPr>
        <p:spPr/>
        <p:txBody>
          <a:bodyPr/>
          <a:lstStyle/>
          <a:p>
            <a:fld id="{6D18717E-F74C-4246-A795-6577BEDC8382}" type="slidenum">
              <a:rPr kumimoji="1" lang="zh-CN" altLang="en-US" smtClean="0"/>
            </a:fld>
            <a:endParaRPr kumimoji="1"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a:t>在对抗性</a:t>
            </a:r>
            <a:r>
              <a:rPr lang="en-US" altLang="zh-CN"/>
              <a:t> Windows </a:t>
            </a:r>
            <a:r>
              <a:rPr lang="zh-CN" altLang="en-US"/>
              <a:t>恶意软件研究中，存在黑盒限制、效率瓶颈和隐蔽性需求等问题。攻击者缺乏模型参数，仅能查询，伪装验证方法耗时低，且无法防御分类器漏洞和特征。</a:t>
            </a:r>
            <a:endParaRPr lang="zh-CN" altLang="en-US"/>
          </a:p>
          <a:p>
            <a:r>
              <a:rPr lang="zh-CN" altLang="en-US"/>
              <a:t>为解决这些问题，研究采用遗传算法进化策略来搜索最优扰动。结合注意力引入良性内容，利用</a:t>
            </a:r>
            <a:r>
              <a:rPr lang="en-US" altLang="zh-CN"/>
              <a:t> Section Injection </a:t>
            </a:r>
            <a:r>
              <a:rPr lang="zh-CN" altLang="en-US"/>
              <a:t>和</a:t>
            </a:r>
            <a:r>
              <a:rPr lang="en-US" altLang="zh-CN"/>
              <a:t> Padding </a:t>
            </a:r>
            <a:r>
              <a:rPr lang="zh-CN" altLang="en-US"/>
              <a:t>天然保持原功能，无需沙箱验证。该方法还设定多维度优化目标，即最小化注入体积和</a:t>
            </a:r>
            <a:r>
              <a:rPr lang="en-US" altLang="zh-CN"/>
              <a:t> Payload </a:t>
            </a:r>
            <a:r>
              <a:rPr lang="zh-CN" altLang="en-US"/>
              <a:t>体积。</a:t>
            </a:r>
            <a:endParaRPr lang="en-US" altLang="zh-CN"/>
          </a:p>
          <a:p>
            <a:r>
              <a:rPr lang="zh-CN" altLang="en-US"/>
              <a:t>研究成果显著，在极低查询成本下就攻破了</a:t>
            </a:r>
            <a:r>
              <a:rPr lang="en-US" altLang="zh-CN"/>
              <a:t> MalConv </a:t>
            </a:r>
            <a:r>
              <a:rPr lang="zh-CN" altLang="en-US"/>
              <a:t>和</a:t>
            </a:r>
            <a:r>
              <a:rPr lang="en-US" altLang="zh-CN"/>
              <a:t> GBDT</a:t>
            </a:r>
            <a:r>
              <a:rPr lang="zh-CN" altLang="en-US"/>
              <a:t>，且仅需</a:t>
            </a:r>
            <a:r>
              <a:rPr lang="en-US" altLang="zh-CN"/>
              <a:t> &lt;1% </a:t>
            </a:r>
            <a:r>
              <a:rPr lang="zh-CN" altLang="en-US"/>
              <a:t>的硬盘空间就能完成攻击优化，在</a:t>
            </a:r>
            <a:r>
              <a:rPr lang="en-US" altLang="zh-CN"/>
              <a:t> VirusTotal </a:t>
            </a:r>
            <a:r>
              <a:rPr lang="zh-CN" altLang="en-US"/>
              <a:t>实测中平均绕过</a:t>
            </a:r>
            <a:r>
              <a:rPr lang="en-US" altLang="zh-CN"/>
              <a:t> 17 </a:t>
            </a:r>
            <a:r>
              <a:rPr lang="zh-CN" altLang="en-US"/>
              <a:t>款以上商业杀软。这表明此方法在对抗性</a:t>
            </a:r>
            <a:r>
              <a:rPr lang="en-US" altLang="zh-CN"/>
              <a:t> Windows </a:t>
            </a:r>
            <a:r>
              <a:rPr lang="zh-CN" altLang="en-US"/>
              <a:t>恶意软件方面有强大的实用性和有效性。</a:t>
            </a:r>
            <a:endParaRPr lang="zh-CN" altLang="en-US"/>
          </a:p>
        </p:txBody>
      </p:sp>
      <p:sp>
        <p:nvSpPr>
          <p:cNvPr id="4" name="灯片编号占位符 3"/>
          <p:cNvSpPr>
            <a:spLocks noGrp="1"/>
          </p:cNvSpPr>
          <p:nvPr>
            <p:ph type="sldNum" sz="quarter" idx="5"/>
          </p:nvPr>
        </p:nvSpPr>
        <p:spPr/>
        <p:txBody>
          <a:bodyPr/>
          <a:lstStyle/>
          <a:p>
            <a:fld id="{6D18717E-F74C-4246-A795-6577BEDC8382}" type="slidenum">
              <a:rPr kumimoji="1" lang="zh-CN" altLang="en-US" smtClean="0"/>
            </a:fld>
            <a:endParaRPr kumimoji="1"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a:t>针对资源受限的</a:t>
            </a:r>
            <a:r>
              <a:rPr lang="en-US" altLang="zh-CN"/>
              <a:t> IoT </a:t>
            </a:r>
            <a:r>
              <a:rPr lang="zh-CN" altLang="en-US"/>
              <a:t>环境，攻击手段更加隐蔽</a:t>
            </a:r>
            <a:r>
              <a:rPr lang="en-US" altLang="zh-CN"/>
              <a:t> </a:t>
            </a:r>
            <a:r>
              <a:rPr lang="zh-CN" altLang="en-US"/>
              <a:t>。研究发现边缘侧轻量模型如</a:t>
            </a:r>
            <a:r>
              <a:rPr lang="en-US" altLang="zh-CN"/>
              <a:t> MalConv </a:t>
            </a:r>
            <a:r>
              <a:rPr lang="zh-CN" altLang="en-US"/>
              <a:t>易受微小扰动影响，传统文件末尾追加攻击易被截断或检测。</a:t>
            </a:r>
            <a:endParaRPr lang="en-US" altLang="zh-CN"/>
          </a:p>
          <a:p>
            <a:r>
              <a:rPr lang="zh-CN" altLang="en-US"/>
              <a:t>为此，提出新攻击方法，先定位</a:t>
            </a:r>
            <a:r>
              <a:rPr lang="en-US" altLang="zh-CN"/>
              <a:t> ELF </a:t>
            </a:r>
            <a:r>
              <a:rPr lang="zh-CN" altLang="en-US"/>
              <a:t>文件</a:t>
            </a:r>
            <a:r>
              <a:rPr lang="en-US" altLang="zh-CN"/>
              <a:t> .data </a:t>
            </a:r>
            <a:r>
              <a:rPr lang="zh-CN" altLang="en-US"/>
              <a:t>段中的代码空洞，基于</a:t>
            </a:r>
            <a:r>
              <a:rPr lang="en-US" altLang="zh-CN"/>
              <a:t> FGM </a:t>
            </a:r>
            <a:r>
              <a:rPr lang="zh-CN" altLang="en-US"/>
              <a:t>算法计算最优扰动，最后在空洞处注入恶意载荷。结果显示，</a:t>
            </a:r>
            <a:r>
              <a:rPr lang="en-US" altLang="zh-CN"/>
              <a:t>MalConv </a:t>
            </a:r>
            <a:r>
              <a:rPr lang="zh-CN" altLang="en-US"/>
              <a:t>检测准确率大幅下降，且相比</a:t>
            </a:r>
            <a:r>
              <a:rPr lang="en-US" altLang="zh-CN"/>
              <a:t>“</a:t>
            </a:r>
            <a:r>
              <a:rPr lang="zh-CN" altLang="en-US"/>
              <a:t>随机字节追加</a:t>
            </a:r>
            <a:r>
              <a:rPr lang="en-US" altLang="zh-CN"/>
              <a:t>”</a:t>
            </a:r>
            <a:r>
              <a:rPr lang="zh-CN" altLang="en-US"/>
              <a:t>，新方法以更小扰动实现更高逃逸率，证明二进制内部未使用的空间是危险攻击向量。</a:t>
            </a:r>
            <a:endParaRPr lang="zh-CN" altLang="en-US"/>
          </a:p>
        </p:txBody>
      </p:sp>
      <p:sp>
        <p:nvSpPr>
          <p:cNvPr id="4" name="灯片编号占位符 3"/>
          <p:cNvSpPr>
            <a:spLocks noGrp="1"/>
          </p:cNvSpPr>
          <p:nvPr>
            <p:ph type="sldNum" sz="quarter" idx="5"/>
          </p:nvPr>
        </p:nvSpPr>
        <p:spPr/>
        <p:txBody>
          <a:bodyPr/>
          <a:lstStyle/>
          <a:p>
            <a:fld id="{6D18717E-F74C-4246-A795-6577BEDC8382}" type="slidenum">
              <a:rPr kumimoji="1" lang="zh-CN" altLang="en-US" smtClean="0"/>
            </a:fld>
            <a:endParaRPr kumimoji="1"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a:t>最后是防御侧的</a:t>
            </a:r>
            <a:r>
              <a:rPr lang="en-US" altLang="zh-CN"/>
              <a:t>PBP</a:t>
            </a:r>
            <a:r>
              <a:rPr lang="zh-CN" altLang="en-US"/>
              <a:t>方法，针对模型被植入后门的场景。在该设定下，用户只能获取训练好的模型，但无法确认其是否含有后门，也无法访问原始训练数据。</a:t>
            </a:r>
            <a:endParaRPr lang="en-US" altLang="zh-CN"/>
          </a:p>
          <a:p>
            <a:r>
              <a:rPr lang="zh-CN" altLang="en-US"/>
              <a:t>研究发现，后门触发会导致神经元激活分布产生偏移。该方法仅利用</a:t>
            </a:r>
            <a:r>
              <a:rPr lang="en-US" altLang="zh-CN"/>
              <a:t>1%</a:t>
            </a:r>
            <a:r>
              <a:rPr lang="zh-CN" altLang="en-US"/>
              <a:t>的良性数据，通过梯度追踪定位异常神经元并进行微调，采用两阶段净化策略：首先基于梯度逆向生成潜在异常神经元位置，随后调整批归一化（</a:t>
            </a:r>
            <a:r>
              <a:rPr lang="en-US" altLang="zh-CN"/>
              <a:t>BN</a:t>
            </a:r>
            <a:r>
              <a:rPr lang="zh-CN" altLang="en-US"/>
              <a:t>）统计量并反转梯度符号进行微调。该策略成功将攻击成功率从</a:t>
            </a:r>
            <a:r>
              <a:rPr lang="en-US" altLang="zh-CN"/>
              <a:t>100%</a:t>
            </a:r>
            <a:r>
              <a:rPr lang="zh-CN" altLang="en-US"/>
              <a:t>降至接近</a:t>
            </a:r>
            <a:r>
              <a:rPr lang="en-US" altLang="zh-CN"/>
              <a:t>0</a:t>
            </a:r>
            <a:r>
              <a:rPr lang="zh-CN" altLang="en-US"/>
              <a:t>，从而有效消除后门。</a:t>
            </a:r>
            <a:endParaRPr lang="zh-CN" altLang="en-US"/>
          </a:p>
          <a:p>
            <a:r>
              <a:rPr lang="zh-CN" altLang="en-US"/>
              <a:t>实验结果表明，该方法效果显著</a:t>
            </a:r>
            <a:r>
              <a:rPr lang="en-US" altLang="zh-CN"/>
              <a:t>——</a:t>
            </a:r>
            <a:r>
              <a:rPr lang="zh-CN" altLang="en-US"/>
              <a:t>攻击成功率从</a:t>
            </a:r>
            <a:r>
              <a:rPr lang="en-US" altLang="zh-CN"/>
              <a:t>100%</a:t>
            </a:r>
            <a:r>
              <a:rPr lang="zh-CN" altLang="en-US"/>
              <a:t>大幅降至约</a:t>
            </a:r>
            <a:r>
              <a:rPr lang="en-US" altLang="zh-CN"/>
              <a:t>0%</a:t>
            </a:r>
            <a:r>
              <a:rPr lang="zh-CN" altLang="en-US"/>
              <a:t>，实现百倍的防御提升。即便面对隐蔽性较强的攻击，该方法依然有效，而传统微调手段在此类攻击下往往失效。</a:t>
            </a:r>
            <a:endParaRPr lang="zh-CN" altLang="en-US"/>
          </a:p>
        </p:txBody>
      </p:sp>
      <p:sp>
        <p:nvSpPr>
          <p:cNvPr id="4" name="灯片编号占位符 3"/>
          <p:cNvSpPr>
            <a:spLocks noGrp="1"/>
          </p:cNvSpPr>
          <p:nvPr>
            <p:ph type="sldNum" sz="quarter" idx="5"/>
          </p:nvPr>
        </p:nvSpPr>
        <p:spPr/>
        <p:txBody>
          <a:bodyPr/>
          <a:lstStyle/>
          <a:p>
            <a:fld id="{6D18717E-F74C-4246-A795-6577BEDC8382}" type="slidenum">
              <a:rPr kumimoji="1" lang="zh-CN" altLang="en-US" smtClean="0"/>
            </a:fld>
            <a:endParaRPr kumimoji="1"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前两篇都聚焦于数据问题。前者指出数据集不平衡和家族数量是影响性能的关键</a:t>
            </a:r>
            <a:r>
              <a:rPr lang="en-US" altLang="zh-CN"/>
              <a:t> </a:t>
            </a:r>
            <a:r>
              <a:rPr lang="zh-CN" altLang="en-US"/>
              <a:t>，后者提出双模型训练框架来解决</a:t>
            </a:r>
            <a:r>
              <a:rPr lang="en-US" altLang="zh-CN"/>
              <a:t> </a:t>
            </a:r>
            <a:r>
              <a:rPr lang="zh-CN" altLang="en-US"/>
              <a:t>标签噪声</a:t>
            </a:r>
            <a:r>
              <a:rPr lang="en-US" altLang="zh-CN"/>
              <a:t> </a:t>
            </a:r>
            <a:r>
              <a:rPr lang="zh-CN" altLang="en-US"/>
              <a:t>问题</a:t>
            </a:r>
            <a:r>
              <a:rPr lang="en-US" altLang="zh-CN"/>
              <a:t> </a:t>
            </a:r>
            <a:r>
              <a:rPr lang="zh-CN" altLang="en-US"/>
              <a:t>。后两篇是分别针对</a:t>
            </a:r>
            <a:r>
              <a:rPr lang="en-US" altLang="zh-CN"/>
              <a:t>Android</a:t>
            </a:r>
            <a:r>
              <a:rPr lang="zh-CN" altLang="en-US"/>
              <a:t>和</a:t>
            </a:r>
            <a:r>
              <a:rPr lang="en-US" altLang="zh-CN"/>
              <a:t>window</a:t>
            </a:r>
            <a:r>
              <a:rPr lang="zh-CN" altLang="en-US"/>
              <a:t>平台的概念</a:t>
            </a:r>
            <a:r>
              <a:rPr lang="zh-CN" altLang="en-US"/>
              <a:t>漂移</a:t>
            </a:r>
            <a:endParaRPr lang="zh-CN" altLang="en-US"/>
          </a:p>
        </p:txBody>
      </p:sp>
      <p:sp>
        <p:nvSpPr>
          <p:cNvPr id="4" name="灯片编号占位符 3"/>
          <p:cNvSpPr>
            <a:spLocks noGrp="1"/>
          </p:cNvSpPr>
          <p:nvPr>
            <p:ph type="sldNum" sz="quarter" idx="5"/>
          </p:nvPr>
        </p:nvSpPr>
        <p:spPr/>
        <p:txBody>
          <a:bodyPr/>
          <a:lstStyle/>
          <a:p>
            <a:fld id="{6D18717E-F74C-4246-A795-6577BEDC8382}" type="slidenum">
              <a:rPr kumimoji="1" lang="zh-CN" altLang="en-US" smtClean="0"/>
            </a:fld>
            <a:endParaRPr kumimoji="1"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TESSERACT </a:t>
            </a:r>
            <a:r>
              <a:rPr lang="zh-CN" altLang="en-US"/>
              <a:t>则是一个评估框架，它指出了过去研究中普遍存在的</a:t>
            </a:r>
            <a:r>
              <a:rPr lang="en-US" altLang="zh-CN"/>
              <a:t>“</a:t>
            </a:r>
            <a:r>
              <a:rPr lang="zh-CN" altLang="en-US"/>
              <a:t>时间偏差</a:t>
            </a:r>
            <a:r>
              <a:rPr lang="en-US" altLang="zh-CN"/>
              <a:t>”</a:t>
            </a:r>
            <a:r>
              <a:rPr lang="zh-CN" altLang="en-US"/>
              <a:t>，提出了</a:t>
            </a:r>
            <a:r>
              <a:rPr lang="en-US" altLang="zh-CN"/>
              <a:t> AUT </a:t>
            </a:r>
            <a:r>
              <a:rPr lang="zh-CN" altLang="en-US"/>
              <a:t>指标来量化模型随时间的衰减</a:t>
            </a:r>
            <a:r>
              <a:rPr lang="en-US" altLang="zh-CN"/>
              <a:t> </a:t>
            </a:r>
            <a:r>
              <a:rPr lang="zh-CN" altLang="en-US"/>
              <a:t>。这是对所有漂移研究的一次</a:t>
            </a:r>
            <a:r>
              <a:rPr lang="en-US" altLang="zh-CN"/>
              <a:t>“</a:t>
            </a:r>
            <a:r>
              <a:rPr lang="zh-CN" altLang="en-US"/>
              <a:t>纠偏</a:t>
            </a:r>
            <a:r>
              <a:rPr lang="en-US" altLang="zh-CN"/>
              <a:t>”</a:t>
            </a:r>
            <a:r>
              <a:rPr lang="zh-CN" altLang="en-US"/>
              <a:t>。</a:t>
            </a:r>
            <a:endParaRPr lang="zh-CN" altLang="en-US"/>
          </a:p>
          <a:p>
            <a:r>
              <a:rPr lang="zh-CN" altLang="en-US"/>
              <a:t>中间两篇都是黑盒攻击研究。前者利用</a:t>
            </a:r>
            <a:r>
              <a:rPr lang="en-US" altLang="zh-CN"/>
              <a:t> Padding/Section Injection </a:t>
            </a:r>
            <a:r>
              <a:rPr lang="zh-CN" altLang="en-US"/>
              <a:t>，后者利用二进制内部的空洞</a:t>
            </a:r>
            <a:r>
              <a:rPr lang="en-US" altLang="zh-CN"/>
              <a:t> (Code Cave) </a:t>
            </a:r>
            <a:r>
              <a:rPr lang="zh-CN" altLang="en-US"/>
              <a:t>。</a:t>
            </a:r>
            <a:endParaRPr lang="zh-CN" altLang="en-US"/>
          </a:p>
          <a:p>
            <a:r>
              <a:rPr lang="en-US" altLang="zh-CN"/>
              <a:t>PBP </a:t>
            </a:r>
            <a:r>
              <a:rPr lang="zh-CN" altLang="en-US"/>
              <a:t>是的防御工作，针对的是模型后门，其优势在于不需要原始训练数据，仅需少量良性数据即可</a:t>
            </a:r>
            <a:r>
              <a:rPr lang="zh-CN" altLang="en-US"/>
              <a:t>清除后门神经元</a:t>
            </a:r>
            <a:endParaRPr lang="zh-CN" altLang="en-US"/>
          </a:p>
          <a:p>
            <a:r>
              <a:rPr lang="zh-CN" altLang="en-US"/>
              <a:t>这一层级的研究不再单纯追求高准确率，而是向四个维度扩展：数据的纯净度</a:t>
            </a:r>
            <a:r>
              <a:rPr lang="en-US" altLang="zh-CN"/>
              <a:t> (</a:t>
            </a:r>
            <a:r>
              <a:rPr lang="zh-CN" altLang="en-US"/>
              <a:t>去噪</a:t>
            </a:r>
            <a:r>
              <a:rPr lang="en-US" altLang="zh-CN"/>
              <a:t>)</a:t>
            </a:r>
            <a:r>
              <a:rPr lang="zh-CN" altLang="en-US"/>
              <a:t>、时间的适应性</a:t>
            </a:r>
            <a:r>
              <a:rPr lang="en-US" altLang="zh-CN"/>
              <a:t> (</a:t>
            </a:r>
            <a:r>
              <a:rPr lang="zh-CN" altLang="en-US"/>
              <a:t>抗漂移</a:t>
            </a:r>
            <a:r>
              <a:rPr lang="en-US" altLang="zh-CN"/>
              <a:t>)</a:t>
            </a:r>
            <a:r>
              <a:rPr lang="zh-CN" altLang="en-US"/>
              <a:t>、评估的真实性</a:t>
            </a:r>
            <a:r>
              <a:rPr lang="en-US" altLang="zh-CN"/>
              <a:t> (</a:t>
            </a:r>
            <a:r>
              <a:rPr lang="zh-CN" altLang="en-US"/>
              <a:t>去偏差</a:t>
            </a:r>
            <a:r>
              <a:rPr lang="en-US" altLang="zh-CN"/>
              <a:t>) </a:t>
            </a:r>
            <a:r>
              <a:rPr lang="zh-CN" altLang="en-US"/>
              <a:t>以及</a:t>
            </a:r>
            <a:r>
              <a:rPr lang="en-US" altLang="zh-CN"/>
              <a:t> </a:t>
            </a:r>
            <a:r>
              <a:rPr lang="zh-CN" altLang="en-US"/>
              <a:t>对抗的博弈性</a:t>
            </a:r>
            <a:r>
              <a:rPr lang="en-US" altLang="zh-CN"/>
              <a:t> (</a:t>
            </a:r>
            <a:r>
              <a:rPr lang="zh-CN" altLang="en-US"/>
              <a:t>攻防</a:t>
            </a:r>
            <a:r>
              <a:rPr lang="en-US" altLang="zh-CN"/>
              <a:t>)</a:t>
            </a:r>
            <a:r>
              <a:rPr lang="zh-CN" altLang="en-US"/>
              <a:t>。</a:t>
            </a:r>
            <a:endParaRPr lang="zh-CN" altLang="en-US"/>
          </a:p>
        </p:txBody>
      </p:sp>
      <p:sp>
        <p:nvSpPr>
          <p:cNvPr id="4" name="灯片编号占位符 3"/>
          <p:cNvSpPr>
            <a:spLocks noGrp="1"/>
          </p:cNvSpPr>
          <p:nvPr>
            <p:ph type="sldNum" sz="quarter" idx="5"/>
          </p:nvPr>
        </p:nvSpPr>
        <p:spPr/>
        <p:txBody>
          <a:bodyPr/>
          <a:lstStyle/>
          <a:p>
            <a:fld id="{6D18717E-F74C-4246-A795-6577BEDC8382}" type="slidenum">
              <a:rPr kumimoji="1" lang="zh-CN" altLang="en-US" smtClean="0"/>
            </a:fld>
            <a:endParaRPr kumimoji="1"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a:t>尽管判别式模型在恶意软件“检测”和“分类”任务上取得了显著成功，但其“知其然，而不知其所以然”的特性，限制了对恶意软件深层语义和行为逻辑的理解。为了从“识别”走向“理解”，研究范式开始向生成式人工智能，特别是大语言模型（</a:t>
            </a:r>
            <a:r>
              <a:rPr kumimoji="1" lang="en-US" altLang="zh-CN"/>
              <a:t>LLM</a:t>
            </a:r>
            <a:r>
              <a:rPr kumimoji="1" lang="zh-CN" altLang="en-US"/>
              <a:t>）演进。这一阶段的核心议题不再是给样本打上标签，而是利用</a:t>
            </a:r>
            <a:r>
              <a:rPr kumimoji="1" lang="en-US" altLang="zh-CN"/>
              <a:t>LLM</a:t>
            </a:r>
            <a:r>
              <a:rPr kumimoji="1" lang="zh-CN" altLang="en-US"/>
              <a:t>强大的代码理解和生成能力实现语义恢复和可解释，例如为去符号的二进制代码恢复有意义的变量名和函数名，或者生成可读的恶意代码行为解释。</a:t>
            </a:r>
            <a:endParaRPr kumimoji="1" lang="zh-CN" altLang="en-US"/>
          </a:p>
          <a:p>
            <a:endParaRPr lang="zh-CN" altLang="en-US"/>
          </a:p>
        </p:txBody>
      </p:sp>
      <p:sp>
        <p:nvSpPr>
          <p:cNvPr id="4" name="灯片编号占位符 3"/>
          <p:cNvSpPr>
            <a:spLocks noGrp="1"/>
          </p:cNvSpPr>
          <p:nvPr>
            <p:ph type="sldNum" sz="quarter" idx="5"/>
          </p:nvPr>
        </p:nvSpPr>
        <p:spPr/>
        <p:txBody>
          <a:bodyPr/>
          <a:lstStyle/>
          <a:p>
            <a:fld id="{6D18717E-F74C-4246-A795-6577BEDC8382}" type="slidenum">
              <a:rPr kumimoji="1" lang="zh-CN" altLang="en-US" smtClean="0"/>
            </a:fld>
            <a:endParaRPr kumimoji="1"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a:t>利用</a:t>
            </a:r>
            <a:r>
              <a:rPr lang="en-US" altLang="zh-CN"/>
              <a:t>LLM</a:t>
            </a:r>
            <a:r>
              <a:rPr lang="zh-CN" altLang="en-US"/>
              <a:t>从反编译的二进制代码中恢复变量名和类型，并通过微调</a:t>
            </a:r>
            <a:r>
              <a:rPr lang="en-US" altLang="zh-CN"/>
              <a:t>LLM</a:t>
            </a:r>
            <a:r>
              <a:rPr lang="zh-CN" altLang="en-US"/>
              <a:t>解决局部变量和用户定义数据结构的符号恢复任务</a:t>
            </a:r>
            <a:endParaRPr lang="en-US" altLang="zh-CN" b="1"/>
          </a:p>
          <a:p>
            <a:r>
              <a:rPr lang="zh-CN" altLang="en-US" b="1"/>
              <a:t>核心挑战：</a:t>
            </a:r>
            <a:endParaRPr lang="zh-CN" altLang="en-US" b="1"/>
          </a:p>
          <a:p>
            <a:r>
              <a:rPr lang="zh-CN" altLang="en-US" b="1"/>
              <a:t>语义恢复的复杂性</a:t>
            </a:r>
            <a:r>
              <a:rPr lang="zh-CN" altLang="en-US"/>
              <a:t>：从二进制文件中恢复变量符号，包括原始代码中的变量名、类型以及用户定义的复杂数据结构，一直是一个困难的问题。当前的反编译工具无法准确恢复这些符号，通常只能恢复基本的控制结构和部分局部变量，且变量名通常是简化的（如</a:t>
            </a:r>
            <a:r>
              <a:rPr lang="en-US" altLang="zh-CN"/>
              <a:t>v1</a:t>
            </a:r>
            <a:r>
              <a:rPr lang="zh-CN" altLang="en-US"/>
              <a:t>、</a:t>
            </a:r>
            <a:r>
              <a:rPr lang="en-US" altLang="zh-CN"/>
              <a:t>v2</a:t>
            </a:r>
            <a:r>
              <a:rPr lang="zh-CN" altLang="en-US"/>
              <a:t>），类型往往不准确。</a:t>
            </a:r>
            <a:endParaRPr lang="zh-CN" altLang="en-US"/>
          </a:p>
          <a:p>
            <a:r>
              <a:rPr lang="en-US" altLang="zh-CN" b="1"/>
              <a:t>LLM</a:t>
            </a:r>
            <a:r>
              <a:rPr lang="zh-CN" altLang="en-US" b="1"/>
              <a:t>在此任务中的应用局限性</a:t>
            </a:r>
            <a:r>
              <a:rPr lang="zh-CN" altLang="en-US"/>
              <a:t>：尽管</a:t>
            </a:r>
            <a:r>
              <a:rPr lang="en-US" altLang="zh-CN"/>
              <a:t>LLM</a:t>
            </a:r>
            <a:r>
              <a:rPr lang="zh-CN" altLang="en-US"/>
              <a:t>在代码理解方面表现优异，但直接应用</a:t>
            </a:r>
            <a:r>
              <a:rPr lang="en-US" altLang="zh-CN"/>
              <a:t>LLM</a:t>
            </a:r>
            <a:r>
              <a:rPr lang="zh-CN" altLang="en-US"/>
              <a:t>进行符号恢复收效甚微，难以处理大规模程序的全局信息，从而影响恢复结果的准确性。</a:t>
            </a:r>
            <a:endParaRPr lang="zh-CN" altLang="en-US"/>
          </a:p>
          <a:p>
            <a:r>
              <a:rPr lang="zh-CN" altLang="en-US" b="1"/>
              <a:t>核心思路：</a:t>
            </a:r>
            <a:endParaRPr lang="zh-CN" altLang="en-US" b="1"/>
          </a:p>
          <a:p>
            <a:r>
              <a:rPr lang="zh-CN" altLang="en-US" b="1"/>
              <a:t>拆解复杂的符号恢复任务</a:t>
            </a:r>
            <a:r>
              <a:rPr lang="zh-CN" altLang="en-US"/>
              <a:t>：通过将符号恢复分为“恢复局部变量”和“恢复数据结构”的两个任务，</a:t>
            </a:r>
            <a:r>
              <a:rPr lang="en-US" altLang="zh-CN"/>
              <a:t>ReSym</a:t>
            </a:r>
            <a:r>
              <a:rPr lang="zh-CN" altLang="en-US"/>
              <a:t>可以更专注地处理每个任务，避免了任务合并带来的混乱和困难。</a:t>
            </a:r>
            <a:endParaRPr lang="zh-CN" altLang="en-US"/>
          </a:p>
          <a:p>
            <a:r>
              <a:rPr lang="zh-CN" altLang="en-US" b="1"/>
              <a:t>基于</a:t>
            </a:r>
            <a:r>
              <a:rPr lang="en-US" altLang="zh-CN" b="1"/>
              <a:t>Prolog</a:t>
            </a:r>
            <a:r>
              <a:rPr lang="zh-CN" altLang="en-US" b="1"/>
              <a:t>验证</a:t>
            </a:r>
            <a:r>
              <a:rPr lang="en-US" altLang="zh-CN" b="1"/>
              <a:t>LLM</a:t>
            </a:r>
            <a:r>
              <a:rPr lang="zh-CN" altLang="en-US" b="1"/>
              <a:t>输出结果</a:t>
            </a:r>
            <a:r>
              <a:rPr lang="zh-CN" altLang="en-US"/>
              <a:t>：基于</a:t>
            </a:r>
            <a:r>
              <a:rPr lang="en-US" altLang="zh-CN"/>
              <a:t>Prolog</a:t>
            </a:r>
            <a:r>
              <a:rPr lang="zh-CN" altLang="en-US"/>
              <a:t>结合</a:t>
            </a:r>
            <a:r>
              <a:rPr lang="en-US" altLang="zh-CN"/>
              <a:t>LLM</a:t>
            </a:r>
            <a:r>
              <a:rPr lang="zh-CN" altLang="en-US"/>
              <a:t>的输出，模拟人工逆向工程师的分析方法，通过推理对符号恢复的结果进行进一步验证和增强。</a:t>
            </a:r>
            <a:endParaRPr lang="zh-CN" altLang="en-US"/>
          </a:p>
          <a:p>
            <a:r>
              <a:rPr lang="zh-CN" altLang="en-US" b="1"/>
              <a:t>多次</a:t>
            </a:r>
            <a:r>
              <a:rPr lang="en-US" altLang="zh-CN" b="1"/>
              <a:t>LLM</a:t>
            </a:r>
            <a:r>
              <a:rPr lang="zh-CN" altLang="en-US" b="1"/>
              <a:t>查询和结果聚合</a:t>
            </a:r>
            <a:r>
              <a:rPr lang="zh-CN" altLang="en-US"/>
              <a:t>：考虑到</a:t>
            </a:r>
            <a:r>
              <a:rPr lang="en-US" altLang="zh-CN"/>
              <a:t>LLM</a:t>
            </a:r>
            <a:r>
              <a:rPr lang="zh-CN" altLang="en-US"/>
              <a:t>的输入</a:t>
            </a:r>
            <a:r>
              <a:rPr lang="en-US" altLang="zh-CN"/>
              <a:t>token</a:t>
            </a:r>
            <a:r>
              <a:rPr lang="zh-CN" altLang="en-US"/>
              <a:t>限制，</a:t>
            </a:r>
            <a:r>
              <a:rPr lang="en-US" altLang="zh-CN"/>
              <a:t>ReSym</a:t>
            </a:r>
            <a:r>
              <a:rPr lang="zh-CN" altLang="en-US"/>
              <a:t>将代码片段分为多个查询，每次处理单个函数或代码段，然后通过推理系统将这些结果聚合，恢复全局信息。</a:t>
            </a:r>
            <a:endParaRPr lang="en-US" altLang="zh-CN"/>
          </a:p>
          <a:p>
            <a:endParaRPr lang="en-US" altLang="zh-CN"/>
          </a:p>
          <a:p>
            <a:endParaRPr lang="zh-CN" altLang="en-US"/>
          </a:p>
        </p:txBody>
      </p:sp>
      <p:sp>
        <p:nvSpPr>
          <p:cNvPr id="4" name="灯片编号占位符 3"/>
          <p:cNvSpPr>
            <a:spLocks noGrp="1"/>
          </p:cNvSpPr>
          <p:nvPr>
            <p:ph type="sldNum" sz="quarter" idx="5"/>
          </p:nvPr>
        </p:nvSpPr>
        <p:spPr/>
        <p:txBody>
          <a:bodyPr/>
          <a:lstStyle/>
          <a:p>
            <a:fld id="{6D18717E-F74C-4246-A795-6577BEDC8382}" type="slidenum">
              <a:rPr kumimoji="1" lang="zh-CN" altLang="en-US" smtClean="0"/>
            </a:fld>
            <a:endParaRPr kumimoji="1"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a:t>利用</a:t>
            </a:r>
            <a:r>
              <a:rPr lang="en-US" altLang="zh-CN"/>
              <a:t>LLM</a:t>
            </a:r>
            <a:r>
              <a:rPr lang="zh-CN" altLang="en-US"/>
              <a:t>优化敏感</a:t>
            </a:r>
            <a:r>
              <a:rPr lang="en-US" altLang="zh-CN"/>
              <a:t>API</a:t>
            </a:r>
            <a:r>
              <a:rPr lang="zh-CN" altLang="en-US"/>
              <a:t>的筛选和分析，增强检测的准确性和可解释性。</a:t>
            </a:r>
            <a:endParaRPr lang="en-US" altLang="zh-CN" b="1"/>
          </a:p>
          <a:p>
            <a:r>
              <a:rPr lang="zh-CN" altLang="en-US" b="1"/>
              <a:t>核心挑战：</a:t>
            </a:r>
            <a:endParaRPr lang="zh-CN" altLang="en-US" b="1"/>
          </a:p>
          <a:p>
            <a:r>
              <a:rPr lang="zh-CN" altLang="en-US" b="1"/>
              <a:t>手动特征提取</a:t>
            </a:r>
            <a:r>
              <a:rPr lang="zh-CN" altLang="en-US"/>
              <a:t>：传统的恶意包检测方法往往依赖手动分析提取特征，这需要大量人力资源且可能遗漏新出现的恶意行为。</a:t>
            </a:r>
            <a:endParaRPr lang="zh-CN" altLang="en-US"/>
          </a:p>
          <a:p>
            <a:r>
              <a:rPr lang="zh-CN" altLang="en-US" b="1"/>
              <a:t>可解释性问题</a:t>
            </a:r>
            <a:r>
              <a:rPr lang="zh-CN" altLang="en-US"/>
              <a:t>：现有的方法主要关注恶意包的检测，但缺乏提供恶意包“为什么恶意”的机制，这使得安全管理员在验证恶意包时困难重重。</a:t>
            </a:r>
            <a:endParaRPr lang="zh-CN" altLang="en-US"/>
          </a:p>
          <a:p>
            <a:r>
              <a:rPr lang="zh-CN" altLang="en-US" b="1"/>
              <a:t>准确性与效率平衡</a:t>
            </a:r>
            <a:r>
              <a:rPr lang="zh-CN" altLang="en-US"/>
              <a:t>：</a:t>
            </a:r>
            <a:r>
              <a:rPr lang="en-US" altLang="zh-CN"/>
              <a:t>LLM</a:t>
            </a:r>
            <a:r>
              <a:rPr lang="zh-CN" altLang="en-US"/>
              <a:t>虽然有效，但计算开销较大，尤其在</a:t>
            </a:r>
            <a:r>
              <a:rPr lang="en-US" altLang="zh-CN"/>
              <a:t>PyPI</a:t>
            </a:r>
            <a:r>
              <a:rPr lang="zh-CN" altLang="en-US"/>
              <a:t>这样动态变化的环境中，实时检测成为挑战。</a:t>
            </a:r>
            <a:endParaRPr lang="zh-CN" altLang="en-US"/>
          </a:p>
          <a:p>
            <a:r>
              <a:rPr lang="zh-CN" altLang="en-US" b="1"/>
              <a:t>核心思路：</a:t>
            </a:r>
            <a:endParaRPr lang="zh-CN" altLang="en-US" b="1"/>
          </a:p>
          <a:p>
            <a:pPr lvl="0"/>
            <a:r>
              <a:rPr lang="zh-CN" altLang="en-US" b="1"/>
              <a:t>图中心性分析筛选可疑</a:t>
            </a:r>
            <a:r>
              <a:rPr lang="en-US" altLang="zh-CN" b="1"/>
              <a:t>API</a:t>
            </a:r>
            <a:r>
              <a:rPr lang="zh-CN" altLang="en-US"/>
              <a:t>：通过计算</a:t>
            </a:r>
            <a:r>
              <a:rPr lang="en-US" altLang="zh-CN"/>
              <a:t>API</a:t>
            </a:r>
            <a:r>
              <a:rPr lang="zh-CN" altLang="en-US"/>
              <a:t>调用图中的中心性值，系统可以自动识别可疑的</a:t>
            </a:r>
            <a:r>
              <a:rPr lang="en-US" altLang="zh-CN"/>
              <a:t>API</a:t>
            </a:r>
            <a:r>
              <a:rPr lang="zh-CN" altLang="en-US"/>
              <a:t>，避免了手动特征分析的需求。</a:t>
            </a:r>
            <a:endParaRPr lang="zh-CN" altLang="en-US"/>
          </a:p>
          <a:p>
            <a:pPr lvl="0"/>
            <a:r>
              <a:rPr lang="en-US" altLang="zh-CN" b="1"/>
              <a:t>LLM</a:t>
            </a:r>
            <a:r>
              <a:rPr lang="zh-CN" altLang="en-US" b="1"/>
              <a:t>识别敏感</a:t>
            </a:r>
            <a:r>
              <a:rPr lang="en-US" altLang="zh-CN" b="1"/>
              <a:t>API</a:t>
            </a:r>
            <a:r>
              <a:rPr lang="zh-CN" altLang="en-US"/>
              <a:t>：利用</a:t>
            </a:r>
            <a:r>
              <a:rPr lang="en-US" altLang="zh-CN"/>
              <a:t>LLM</a:t>
            </a:r>
            <a:r>
              <a:rPr lang="zh-CN" altLang="en-US"/>
              <a:t>来优化识别敏感</a:t>
            </a:r>
            <a:r>
              <a:rPr lang="en-US" altLang="zh-CN"/>
              <a:t>API</a:t>
            </a:r>
            <a:r>
              <a:rPr lang="zh-CN" altLang="en-US"/>
              <a:t>，并将其与潜在的恶意行为关联起来。</a:t>
            </a:r>
            <a:endParaRPr lang="zh-CN" altLang="en-US"/>
          </a:p>
          <a:p>
            <a:pPr lvl="0"/>
            <a:r>
              <a:rPr lang="zh-CN" altLang="en-US" b="1"/>
              <a:t>利用</a:t>
            </a:r>
            <a:r>
              <a:rPr lang="en-US" altLang="zh-CN" b="1"/>
              <a:t>LIME</a:t>
            </a:r>
            <a:r>
              <a:rPr lang="zh-CN" altLang="en-US" b="1"/>
              <a:t>识别恶意代码并提供解释</a:t>
            </a:r>
            <a:r>
              <a:rPr lang="zh-CN" altLang="en-US"/>
              <a:t>：通过集成</a:t>
            </a:r>
            <a:r>
              <a:rPr lang="en-US" altLang="zh-CN"/>
              <a:t>LIME</a:t>
            </a:r>
            <a:r>
              <a:rPr lang="zh-CN" altLang="en-US"/>
              <a:t>算法，系统为检测结果提供透明的解释，增强了安全专家的可理解性。</a:t>
            </a:r>
            <a:endParaRPr lang="zh-CN" altLang="en-US"/>
          </a:p>
          <a:p>
            <a:endParaRPr lang="zh-CN" altLang="en-US"/>
          </a:p>
          <a:p>
            <a:endParaRPr lang="zh-CN" altLang="en-US"/>
          </a:p>
        </p:txBody>
      </p:sp>
      <p:sp>
        <p:nvSpPr>
          <p:cNvPr id="4" name="灯片编号占位符 3"/>
          <p:cNvSpPr>
            <a:spLocks noGrp="1"/>
          </p:cNvSpPr>
          <p:nvPr>
            <p:ph type="sldNum" sz="quarter" idx="5"/>
          </p:nvPr>
        </p:nvSpPr>
        <p:spPr/>
        <p:txBody>
          <a:bodyPr/>
          <a:lstStyle/>
          <a:p>
            <a:fld id="{6D18717E-F74C-4246-A795-6577BEDC8382}" type="slidenum">
              <a:rPr kumimoji="1" lang="zh-CN" altLang="en-US" smtClean="0"/>
            </a:fld>
            <a:endParaRPr kumimoji="1"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a:t>利用</a:t>
            </a:r>
            <a:r>
              <a:rPr lang="en-US" altLang="zh-CN"/>
              <a:t>LLM</a:t>
            </a:r>
            <a:r>
              <a:rPr lang="zh-CN" altLang="en-US"/>
              <a:t>高效地识别和分析恶意代码，结合静态分析工具，显著提高了恶意</a:t>
            </a:r>
            <a:r>
              <a:rPr lang="en-US" altLang="zh-CN" err="1"/>
              <a:t>npm</a:t>
            </a:r>
            <a:r>
              <a:rPr lang="zh-CN" altLang="en-US"/>
              <a:t>包检测的准确性和成本效益，减少了误报和漏报。</a:t>
            </a:r>
            <a:endParaRPr lang="en-US" altLang="zh-CN" b="1"/>
          </a:p>
          <a:p>
            <a:r>
              <a:rPr lang="zh-CN" altLang="en-US" b="1"/>
              <a:t>核心挑战：</a:t>
            </a:r>
            <a:endParaRPr lang="zh-CN" altLang="en-US" b="1"/>
          </a:p>
          <a:p>
            <a:r>
              <a:rPr lang="zh-CN" altLang="en-US" b="1"/>
              <a:t>恶意代码的多样性</a:t>
            </a:r>
            <a:r>
              <a:rPr lang="zh-CN" altLang="en-US"/>
              <a:t>：现有的恶意代码检测技术通常需要集成多个工具来检测不同的恶意模式，这可能导致高误判率和低效率。没有单一工具能完全覆盖所有攻击类型，如恶意代码注入、依赖混淆和伪造域名等。</a:t>
            </a:r>
            <a:endParaRPr lang="zh-CN" altLang="en-US"/>
          </a:p>
          <a:p>
            <a:r>
              <a:rPr lang="zh-CN" altLang="en-US" b="1"/>
              <a:t>高误报率</a:t>
            </a:r>
            <a:r>
              <a:rPr lang="zh-CN" altLang="en-US"/>
              <a:t>：传统的静态分析方法虽然准确性较高，但往往存在高误报率（误将无害包判定为恶意包），且无法应对不同编程语言和新的攻击模式。</a:t>
            </a:r>
            <a:endParaRPr lang="zh-CN" altLang="en-US"/>
          </a:p>
          <a:p>
            <a:r>
              <a:rPr lang="zh-CN" altLang="en-US" b="1"/>
              <a:t>验证困难</a:t>
            </a:r>
            <a:r>
              <a:rPr lang="zh-CN" altLang="en-US"/>
              <a:t>：由于缺乏明确的恶意代码标准，验证恶意包的确切性质和最终确认包管理者的回应常常不足以确认恶意行为的存在。</a:t>
            </a:r>
            <a:endParaRPr lang="zh-CN" altLang="en-US"/>
          </a:p>
          <a:p>
            <a:r>
              <a:rPr lang="zh-CN" altLang="en-US" b="1"/>
              <a:t>核心思路：</a:t>
            </a:r>
            <a:endParaRPr lang="zh-CN" altLang="en-US" b="1"/>
          </a:p>
          <a:p>
            <a:r>
              <a:rPr lang="zh-CN" altLang="en-US" b="1"/>
              <a:t>静态分析预筛选代码</a:t>
            </a:r>
            <a:r>
              <a:rPr lang="zh-CN" altLang="en-US"/>
              <a:t>：利用</a:t>
            </a:r>
            <a:r>
              <a:rPr lang="en-US" altLang="zh-CN" err="1"/>
              <a:t>CodeQL</a:t>
            </a:r>
            <a:r>
              <a:rPr lang="zh-CN" altLang="en-US"/>
              <a:t>等静态分析工具预筛选恶意文件，显著减少需要</a:t>
            </a:r>
            <a:r>
              <a:rPr lang="en-US" altLang="zh-CN"/>
              <a:t>LLM</a:t>
            </a:r>
            <a:r>
              <a:rPr lang="zh-CN" altLang="en-US"/>
              <a:t>分析的文件数量，从而降低了计算成本和分析工作量。</a:t>
            </a:r>
            <a:endParaRPr lang="zh-CN" altLang="en-US"/>
          </a:p>
          <a:p>
            <a:r>
              <a:rPr lang="zh-CN" altLang="en-US" b="1"/>
              <a:t>定制化工作流设计</a:t>
            </a:r>
            <a:r>
              <a:rPr lang="zh-CN" altLang="en-US"/>
              <a:t>：设计了多阶段的工作流，包括初步报告生成、关键报告复核和最终报告生成，通过模型迭代优化分析结果。</a:t>
            </a:r>
            <a:endParaRPr lang="zh-CN" altLang="en-US"/>
          </a:p>
          <a:p>
            <a:r>
              <a:rPr lang="zh-CN" altLang="en-US" b="1"/>
              <a:t>角色系统设计：</a:t>
            </a:r>
            <a:r>
              <a:rPr lang="zh-CN" altLang="en-US"/>
              <a:t>在角色提示词设计上，通过明确安全分析师</a:t>
            </a:r>
            <a:r>
              <a:rPr lang="en-US" altLang="zh-CN"/>
              <a:t>/</a:t>
            </a:r>
            <a:r>
              <a:rPr lang="zh-CN" altLang="en-US"/>
              <a:t>审稿者等角色、强制结构化推理与量化打分，同时利用思维链技术，引导</a:t>
            </a:r>
            <a:r>
              <a:rPr lang="en-US" altLang="zh-CN"/>
              <a:t>LLM</a:t>
            </a:r>
            <a:r>
              <a:rPr lang="zh-CN" altLang="en-US"/>
              <a:t>进行可解释、可比较、可自动化的恶意代码判断</a:t>
            </a:r>
            <a:endParaRPr lang="zh-CN" altLang="en-US"/>
          </a:p>
        </p:txBody>
      </p:sp>
      <p:sp>
        <p:nvSpPr>
          <p:cNvPr id="4" name="灯片编号占位符 3"/>
          <p:cNvSpPr>
            <a:spLocks noGrp="1"/>
          </p:cNvSpPr>
          <p:nvPr>
            <p:ph type="sldNum" sz="quarter" idx="5"/>
          </p:nvPr>
        </p:nvSpPr>
        <p:spPr/>
        <p:txBody>
          <a:bodyPr/>
          <a:lstStyle/>
          <a:p>
            <a:fld id="{6D18717E-F74C-4246-A795-6577BEDC8382}" type="slidenum">
              <a:rPr kumimoji="1" lang="zh-CN" altLang="en-US" smtClean="0"/>
            </a:fld>
            <a:endParaRPr kumimoji="1"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a:t>利用</a:t>
            </a:r>
            <a:r>
              <a:rPr lang="en-US" altLang="zh-CN"/>
              <a:t>LLM</a:t>
            </a:r>
            <a:r>
              <a:rPr lang="zh-CN" altLang="en-US"/>
              <a:t>将敏感</a:t>
            </a:r>
            <a:r>
              <a:rPr lang="en-US" altLang="zh-CN"/>
              <a:t>API</a:t>
            </a:r>
            <a:r>
              <a:rPr lang="zh-CN" altLang="en-US"/>
              <a:t>调用链抽象为简洁的自然语言总结，帮助提高恶意行为检测的精度和可解释性，从而支持细粒度的异常检测和生成结构化的行为解释报告。</a:t>
            </a:r>
            <a:endParaRPr lang="en-US" altLang="zh-CN" b="1"/>
          </a:p>
          <a:p>
            <a:r>
              <a:rPr lang="zh-CN" altLang="en-US" b="1"/>
              <a:t>核心挑战</a:t>
            </a:r>
            <a:endParaRPr lang="zh-CN" altLang="en-US" b="1"/>
          </a:p>
          <a:p>
            <a:r>
              <a:rPr lang="zh-CN" altLang="en-US"/>
              <a:t>论文中提出的 </a:t>
            </a:r>
            <a:r>
              <a:rPr lang="en-US" altLang="zh-CN" b="1"/>
              <a:t>ForeDroid</a:t>
            </a:r>
            <a:r>
              <a:rPr lang="zh-CN" altLang="en-US"/>
              <a:t> 面临几个技术性挑战：</a:t>
            </a:r>
            <a:endParaRPr lang="zh-CN" altLang="en-US"/>
          </a:p>
          <a:p>
            <a:r>
              <a:rPr lang="zh-CN" altLang="en-US" b="1"/>
              <a:t>场景建模</a:t>
            </a:r>
            <a:r>
              <a:rPr lang="zh-CN" altLang="en-US"/>
              <a:t>：</a:t>
            </a:r>
            <a:r>
              <a:rPr lang="en-US" altLang="zh-CN"/>
              <a:t>Android</a:t>
            </a:r>
            <a:r>
              <a:rPr lang="zh-CN" altLang="en-US"/>
              <a:t>应用程序通常由多个功能组成，每个功能可能有不同的入口点，这些入口点由多种用户界面（</a:t>
            </a:r>
            <a:r>
              <a:rPr lang="en-US" altLang="zh-CN"/>
              <a:t>UI</a:t>
            </a:r>
            <a:r>
              <a:rPr lang="zh-CN" altLang="en-US"/>
              <a:t>）交互或系统事件触发。如何准确将这些多样且隐含的入口点划分到语义一致的功能场景中是一个难题。</a:t>
            </a:r>
            <a:endParaRPr lang="zh-CN" altLang="en-US"/>
          </a:p>
          <a:p>
            <a:r>
              <a:rPr lang="zh-CN" altLang="en-US" b="1"/>
              <a:t>敏感行为表示</a:t>
            </a:r>
            <a:r>
              <a:rPr lang="zh-CN" altLang="en-US"/>
              <a:t>：敏感行为通常跨越异步调用和组件间通信，这使得传统静态分析工具难以完全捕捉。开发具有强鲁棒性的语义表示尤其困难，尤其是当涉及到代码混淆和不一致的命名规范时。</a:t>
            </a:r>
            <a:endParaRPr lang="zh-CN" altLang="en-US"/>
          </a:p>
          <a:p>
            <a:r>
              <a:rPr lang="zh-CN" altLang="en-US" b="1"/>
              <a:t>细粒度检测</a:t>
            </a:r>
            <a:r>
              <a:rPr lang="zh-CN" altLang="en-US"/>
              <a:t>：识别</a:t>
            </a:r>
            <a:r>
              <a:rPr lang="en-US" altLang="zh-CN"/>
              <a:t>API</a:t>
            </a:r>
            <a:r>
              <a:rPr lang="zh-CN" altLang="en-US"/>
              <a:t>调用链中的恶意行为，比依赖于应用级别的粗粒度分类要复杂得多。尤其是恶意行为可能会不断演化，表现出新的形式，尤其在零日攻击情境下，监督学习方法的泛化能力面临挑战。</a:t>
            </a:r>
            <a:endParaRPr lang="zh-CN" altLang="en-US"/>
          </a:p>
          <a:p>
            <a:r>
              <a:rPr lang="zh-CN" altLang="en-US" b="1"/>
              <a:t>行为解释</a:t>
            </a:r>
            <a:r>
              <a:rPr lang="zh-CN" altLang="en-US"/>
              <a:t>：要自动解释可疑行为，需要跨越低级执行代码和高级行为意图之间的语义差距。解释恶意行为的上下文和意图是一个涉及复杂推理的任务。</a:t>
            </a:r>
            <a:endParaRPr lang="en-US" altLang="zh-CN" b="1"/>
          </a:p>
          <a:p>
            <a:r>
              <a:rPr lang="zh-CN" altLang="en-US" b="1"/>
              <a:t>核心思路</a:t>
            </a:r>
            <a:endParaRPr lang="zh-CN" altLang="en-US" b="1"/>
          </a:p>
          <a:p>
            <a:r>
              <a:rPr lang="zh-CN" altLang="en-US" b="1"/>
              <a:t>功能场景建模</a:t>
            </a:r>
            <a:r>
              <a:rPr lang="zh-CN" altLang="en-US"/>
              <a:t>：提出通过对应用行为进行语义感知建模，将行为分配到合适的功能场景中，从而根据场景的期望功能检测行为不一致。</a:t>
            </a:r>
            <a:endParaRPr lang="zh-CN" altLang="en-US"/>
          </a:p>
          <a:p>
            <a:r>
              <a:rPr lang="zh-CN" altLang="en-US" b="1"/>
              <a:t>敏感行为的表示和总结</a:t>
            </a:r>
            <a:r>
              <a:rPr lang="zh-CN" altLang="en-US"/>
              <a:t>：通过从</a:t>
            </a:r>
            <a:r>
              <a:rPr lang="en-US" altLang="zh-CN"/>
              <a:t>API</a:t>
            </a:r>
            <a:r>
              <a:rPr lang="zh-CN" altLang="en-US"/>
              <a:t>调用链中抽取敏感行为并将其转换为高层次的行为表示。</a:t>
            </a:r>
            <a:endParaRPr lang="zh-CN" altLang="en-US"/>
          </a:p>
          <a:p>
            <a:r>
              <a:rPr lang="zh-CN" altLang="en-US" b="1"/>
              <a:t>无监督的异常检测</a:t>
            </a:r>
            <a:r>
              <a:rPr lang="zh-CN" altLang="en-US"/>
              <a:t>：通过学习良性行为的分布，</a:t>
            </a:r>
            <a:r>
              <a:rPr lang="en-US" altLang="zh-CN"/>
              <a:t>ForeDroid</a:t>
            </a:r>
            <a:r>
              <a:rPr lang="zh-CN" altLang="en-US"/>
              <a:t>能够识别出与良性行为有显著偏差的恶意行为，不依赖于传统的标签数据或规则构建。</a:t>
            </a:r>
            <a:endParaRPr lang="zh-CN" altLang="en-US"/>
          </a:p>
          <a:p>
            <a:r>
              <a:rPr lang="zh-CN" altLang="en-US" b="1"/>
              <a:t>结合场景建模与细粒度行为解释</a:t>
            </a:r>
            <a:r>
              <a:rPr lang="zh-CN" altLang="en-US"/>
              <a:t>：</a:t>
            </a:r>
            <a:r>
              <a:rPr lang="en-US" altLang="zh-CN"/>
              <a:t>ForeDroid</a:t>
            </a:r>
            <a:r>
              <a:rPr lang="zh-CN" altLang="en-US"/>
              <a:t>能够在细粒度上识别恶意行为，并且通过场景上下文和</a:t>
            </a:r>
            <a:r>
              <a:rPr lang="en-US" altLang="zh-CN"/>
              <a:t>API</a:t>
            </a:r>
            <a:r>
              <a:rPr lang="zh-CN" altLang="en-US"/>
              <a:t>调用链利用</a:t>
            </a:r>
            <a:r>
              <a:rPr lang="en-US" altLang="zh-CN"/>
              <a:t>LLM</a:t>
            </a:r>
            <a:r>
              <a:rPr lang="zh-CN" altLang="en-US"/>
              <a:t>生成可解释的异常报告，帮助分析人员理解行为背后的恶意意图。</a:t>
            </a:r>
            <a:endParaRPr lang="zh-CN" altLang="en-US"/>
          </a:p>
          <a:p>
            <a:endParaRPr lang="zh-CN" altLang="en-US"/>
          </a:p>
        </p:txBody>
      </p:sp>
      <p:sp>
        <p:nvSpPr>
          <p:cNvPr id="4" name="灯片编号占位符 3"/>
          <p:cNvSpPr>
            <a:spLocks noGrp="1"/>
          </p:cNvSpPr>
          <p:nvPr>
            <p:ph type="sldNum" sz="quarter" idx="5"/>
          </p:nvPr>
        </p:nvSpPr>
        <p:spPr/>
        <p:txBody>
          <a:bodyPr/>
          <a:lstStyle/>
          <a:p>
            <a:fld id="{6D18717E-F74C-4246-A795-6577BEDC8382}" type="slidenum">
              <a:rPr kumimoji="1" lang="zh-CN" altLang="en-US" smtClean="0"/>
            </a:fld>
            <a:endParaRPr kumimoji="1"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技术路径：微调</a:t>
            </a:r>
            <a:r>
              <a:rPr lang="en-US" altLang="zh-CN"/>
              <a:t> vs. </a:t>
            </a:r>
            <a:r>
              <a:rPr lang="zh-CN" altLang="en-US"/>
              <a:t>提示工程。第一篇是采用了</a:t>
            </a:r>
            <a:r>
              <a:rPr lang="en-US" altLang="zh-CN"/>
              <a:t> </a:t>
            </a:r>
            <a:r>
              <a:rPr lang="zh-CN" altLang="en-US"/>
              <a:t>微调</a:t>
            </a:r>
            <a:r>
              <a:rPr lang="en-US" altLang="zh-CN"/>
              <a:t>  </a:t>
            </a:r>
            <a:r>
              <a:rPr lang="zh-CN" altLang="en-US"/>
              <a:t>模式，针对特定子任务训练</a:t>
            </a:r>
            <a:r>
              <a:rPr lang="en-US" altLang="zh-CN"/>
              <a:t> LLM </a:t>
            </a:r>
            <a:r>
              <a:rPr lang="zh-CN" altLang="en-US"/>
              <a:t>。后面三篇均主要采用</a:t>
            </a:r>
            <a:r>
              <a:rPr lang="en-US" altLang="zh-CN"/>
              <a:t> </a:t>
            </a:r>
            <a:r>
              <a:rPr lang="zh-CN" altLang="en-US"/>
              <a:t>提示词工程。这降低了训练成本，更依赖</a:t>
            </a:r>
            <a:r>
              <a:rPr lang="en-US" altLang="zh-CN"/>
              <a:t> LLM </a:t>
            </a:r>
            <a:r>
              <a:rPr lang="zh-CN" altLang="en-US"/>
              <a:t>的通用理解能力。</a:t>
            </a:r>
            <a:endParaRPr lang="zh-CN" altLang="en-US"/>
          </a:p>
          <a:p>
            <a:r>
              <a:rPr lang="zh-CN" altLang="en-US"/>
              <a:t>此外目前的工作都与传统工具</a:t>
            </a:r>
            <a:r>
              <a:rPr lang="zh-CN" altLang="en-US"/>
              <a:t>进行结合，这说明当前</a:t>
            </a:r>
            <a:r>
              <a:rPr lang="en-US" altLang="zh-CN"/>
              <a:t> LLM </a:t>
            </a:r>
            <a:r>
              <a:rPr lang="zh-CN" altLang="en-US"/>
              <a:t>无法独立完成全流程分析，必须配合传统程序分析技术来</a:t>
            </a:r>
            <a:r>
              <a:rPr lang="en-US" altLang="zh-CN"/>
              <a:t>“</a:t>
            </a:r>
            <a:r>
              <a:rPr lang="zh-CN" altLang="en-US"/>
              <a:t>缩小范围</a:t>
            </a:r>
            <a:r>
              <a:rPr lang="en-US" altLang="zh-CN"/>
              <a:t>”</a:t>
            </a:r>
            <a:r>
              <a:rPr lang="zh-CN" altLang="en-US"/>
              <a:t>或</a:t>
            </a:r>
            <a:r>
              <a:rPr lang="en-US" altLang="zh-CN"/>
              <a:t>“</a:t>
            </a:r>
            <a:r>
              <a:rPr lang="zh-CN" altLang="en-US"/>
              <a:t>提供上下文</a:t>
            </a:r>
            <a:r>
              <a:rPr lang="en-US" altLang="zh-CN"/>
              <a:t>”</a:t>
            </a:r>
            <a:r>
              <a:rPr lang="zh-CN" altLang="en-US"/>
              <a:t>，以解决上下文长度限制和成本问题</a:t>
            </a:r>
            <a:endParaRPr lang="zh-CN" altLang="en-US"/>
          </a:p>
        </p:txBody>
      </p:sp>
      <p:sp>
        <p:nvSpPr>
          <p:cNvPr id="4" name="灯片编号占位符 3"/>
          <p:cNvSpPr>
            <a:spLocks noGrp="1"/>
          </p:cNvSpPr>
          <p:nvPr>
            <p:ph type="sldNum" sz="quarter" idx="5"/>
          </p:nvPr>
        </p:nvSpPr>
        <p:spPr/>
        <p:txBody>
          <a:bodyPr/>
          <a:lstStyle/>
          <a:p>
            <a:fld id="{6D18717E-F74C-4246-A795-6577BEDC8382}" type="slidenum">
              <a:rPr kumimoji="1" lang="zh-CN" altLang="en-US" smtClean="0"/>
            </a:fld>
            <a:endParaRPr kumimoji="1"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Level 3 </a:t>
            </a:r>
            <a:r>
              <a:rPr lang="zh-CN" altLang="en-US"/>
              <a:t>的探索表明，</a:t>
            </a:r>
            <a:r>
              <a:rPr lang="en-US" altLang="zh-CN"/>
              <a:t>LLM </a:t>
            </a:r>
            <a:r>
              <a:rPr lang="zh-CN" altLang="en-US"/>
              <a:t>在辅助分析任务方面潜力巨大，但距离完全取代人类专家仍有差距。因此，进入到</a:t>
            </a:r>
            <a:r>
              <a:rPr lang="en-US" altLang="zh-CN"/>
              <a:t> Level 4 </a:t>
            </a:r>
            <a:r>
              <a:rPr lang="zh-CN" altLang="en-US"/>
              <a:t>阶段，核心任务是构建智能体，也就是</a:t>
            </a:r>
            <a:r>
              <a:rPr lang="en-US" altLang="zh-CN"/>
              <a:t> Agent </a:t>
            </a:r>
            <a:r>
              <a:rPr lang="zh-CN" altLang="en-US"/>
              <a:t>等创新框架的提出。</a:t>
            </a:r>
            <a:endParaRPr lang="en-US" altLang="zh-CN"/>
          </a:p>
          <a:p>
            <a:r>
              <a:rPr lang="zh-CN" altLang="en-US"/>
              <a:t>该智能体不再局限于被动完成特定任务，如反编译或代码摘要，而是具备主动规划、决策和执行复杂分析流程的能力。这意味着智能体将从工具角色转变为具有自主性的分析主体，有望推动恶意软件分析领域迈向新阶段。</a:t>
            </a:r>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本文是</a:t>
            </a:r>
            <a:r>
              <a:rPr lang="en-US" altLang="zh-CN">
                <a:sym typeface="+mn-ea"/>
              </a:rPr>
              <a:t>USENIX Security 2024</a:t>
            </a:r>
            <a:r>
              <a:rPr lang="zh-CN" altLang="en-US">
                <a:sym typeface="+mn-ea"/>
              </a:rPr>
              <a:t>的关于</a:t>
            </a:r>
            <a:r>
              <a:rPr lang="en-US" altLang="zh-CN"/>
              <a:t>LLM </a:t>
            </a:r>
            <a:r>
              <a:rPr lang="zh-CN" altLang="en-US"/>
              <a:t>代码分析能力评估，评估</a:t>
            </a:r>
            <a:r>
              <a:rPr lang="en-US" altLang="zh-CN"/>
              <a:t> LLM </a:t>
            </a:r>
            <a:r>
              <a:rPr lang="zh-CN" altLang="en-US"/>
              <a:t>的代码理解和分析能力面临诸多挑战。一方面，目前缺少对</a:t>
            </a:r>
            <a:r>
              <a:rPr lang="en-US" altLang="zh-CN"/>
              <a:t>LLM</a:t>
            </a:r>
            <a:r>
              <a:rPr lang="zh-CN" altLang="en-US"/>
              <a:t>代码分析能力的系统性评测，现有自动化分析过度依赖预定义类型，缺乏通用性。而且，</a:t>
            </a:r>
            <a:r>
              <a:rPr lang="en-US" altLang="zh-CN"/>
              <a:t>LLM</a:t>
            </a:r>
            <a:r>
              <a:rPr lang="zh-CN" altLang="en-US"/>
              <a:t>对源代码和低可读、混淆代码的理解能力存疑，在安全相关实践中能否用于防御型分析任务也有待确定</a:t>
            </a:r>
            <a:r>
              <a:rPr lang="en-US" altLang="zh-CN"/>
              <a:t>.</a:t>
            </a:r>
            <a:endParaRPr lang="en-US" altLang="zh-CN"/>
          </a:p>
          <a:p>
            <a:r>
              <a:rPr lang="zh-CN" altLang="en-US"/>
              <a:t>为应对这些挑战，核心思路是先构建</a:t>
            </a:r>
            <a:r>
              <a:rPr lang="en-US" altLang="zh-CN"/>
              <a:t>“</a:t>
            </a:r>
            <a:r>
              <a:rPr lang="zh-CN" altLang="en-US"/>
              <a:t>真实世界代码</a:t>
            </a:r>
            <a:r>
              <a:rPr lang="en-US" altLang="zh-CN"/>
              <a:t>+</a:t>
            </a:r>
            <a:r>
              <a:rPr lang="zh-CN" altLang="en-US"/>
              <a:t>混淆版本</a:t>
            </a:r>
            <a:r>
              <a:rPr lang="en-US" altLang="zh-CN"/>
              <a:t>”</a:t>
            </a:r>
            <a:r>
              <a:rPr lang="zh-CN" altLang="en-US"/>
              <a:t>的对照数据集，确保评测涵盖真实难点。接着统一提示词让模型做代码解释，以保证可比性。然后用</a:t>
            </a:r>
            <a:r>
              <a:rPr lang="en-US" altLang="zh-CN"/>
              <a:t>“</a:t>
            </a:r>
            <a:r>
              <a:rPr lang="zh-CN" altLang="en-US"/>
              <a:t>人工核验</a:t>
            </a:r>
            <a:r>
              <a:rPr lang="en-US" altLang="zh-CN"/>
              <a:t>+</a:t>
            </a:r>
            <a:r>
              <a:rPr lang="zh-CN" altLang="en-US"/>
              <a:t>交叉检查</a:t>
            </a:r>
            <a:r>
              <a:rPr lang="en-US" altLang="zh-CN"/>
              <a:t>”</a:t>
            </a:r>
            <a:r>
              <a:rPr lang="zh-CN" altLang="en-US"/>
              <a:t>建立可信的</a:t>
            </a:r>
            <a:r>
              <a:rPr lang="en-US" altLang="zh-CN"/>
              <a:t>ground truth</a:t>
            </a:r>
            <a:r>
              <a:rPr lang="zh-CN" altLang="en-US"/>
              <a:t>，再对不同模型进行比较。最后用多种相似度、一致性指标，从不同角度暴露失败模式。</a:t>
            </a:r>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评估</a:t>
            </a:r>
            <a:r>
              <a:rPr lang="en-US" altLang="zh-CN"/>
              <a:t>LLM</a:t>
            </a:r>
            <a:r>
              <a:rPr lang="zh-CN" altLang="en-US"/>
              <a:t>在细粒度</a:t>
            </a:r>
            <a:r>
              <a:rPr lang="en-US" altLang="zh-CN"/>
              <a:t>Android</a:t>
            </a:r>
            <a:r>
              <a:rPr lang="zh-CN" altLang="en-US"/>
              <a:t>恶意软件行为审计中的能力面临诸多挑战</a:t>
            </a:r>
            <a:br>
              <a:rPr lang="zh-CN" altLang="en-US"/>
            </a:br>
            <a:r>
              <a:rPr lang="zh-CN" altLang="en-US"/>
              <a:t>链路端到端报告验证困难，依赖模型生成真值又缺乏可信依据，大</a:t>
            </a:r>
            <a:r>
              <a:rPr lang="en-US" altLang="zh-CN"/>
              <a:t>APK</a:t>
            </a:r>
            <a:r>
              <a:rPr lang="zh-CN" altLang="en-US"/>
              <a:t>上下文噪声大、推理成本高且信息冗余，同时也难以衡量评测证据归因的可靠性。</a:t>
            </a:r>
            <a:r>
              <a:rPr lang="zh-CN" altLang="en-US"/>
              <a:t>针对这些挑战，</a:t>
            </a:r>
            <a:r>
              <a:rPr lang="zh-CN" altLang="en-US"/>
              <a:t>本文提出了系统性的解决思路：</a:t>
            </a:r>
            <a:endParaRPr lang="zh-CN" altLang="en-US"/>
          </a:p>
          <a:p>
            <a:r>
              <a:rPr lang="en-US" altLang="zh-CN"/>
              <a:t>    </a:t>
            </a:r>
            <a:r>
              <a:rPr lang="zh-CN" altLang="en-US"/>
              <a:t>函数优先级排序：聚焦关键函数，提升审计效率。</a:t>
            </a:r>
            <a:endParaRPr lang="en-US" altLang="zh-CN"/>
          </a:p>
          <a:p>
            <a:r>
              <a:rPr lang="en-US" altLang="zh-CN"/>
              <a:t>    </a:t>
            </a:r>
            <a:r>
              <a:rPr lang="zh-CN" altLang="en-US"/>
              <a:t>证据归因机制：明确每个恶意行为的判定来源。</a:t>
            </a:r>
            <a:endParaRPr lang="en-US" altLang="zh-CN"/>
          </a:p>
          <a:p>
            <a:r>
              <a:rPr lang="en-US" altLang="zh-CN"/>
              <a:t>    </a:t>
            </a:r>
            <a:r>
              <a:rPr lang="zh-CN" altLang="en-US"/>
              <a:t>行为综合报告：全面、结构化呈现恶意行为逻辑。</a:t>
            </a:r>
            <a:endParaRPr lang="en-US" altLang="zh-CN"/>
          </a:p>
          <a:p>
            <a:r>
              <a:rPr lang="en-US" altLang="zh-CN"/>
              <a:t>    </a:t>
            </a:r>
            <a:r>
              <a:rPr lang="zh-CN" altLang="en-US"/>
              <a:t>引入思维链提示：引导模型逐步推理，增强分析的可解释性。</a:t>
            </a:r>
            <a:endParaRPr lang="en-US" altLang="zh-CN"/>
          </a:p>
          <a:p>
            <a:r>
              <a:rPr lang="zh-CN" altLang="en-US"/>
              <a:t>推动评估方式从传统的</a:t>
            </a:r>
            <a:r>
              <a:rPr lang="en-US" altLang="zh-CN"/>
              <a:t>“</a:t>
            </a:r>
            <a:r>
              <a:rPr lang="zh-CN" altLang="en-US"/>
              <a:t>是否恶意</a:t>
            </a:r>
            <a:r>
              <a:rPr lang="en-US" altLang="zh-CN"/>
              <a:t>”</a:t>
            </a:r>
            <a:r>
              <a:rPr lang="zh-CN" altLang="en-US"/>
              <a:t>判断，转向更深入的</a:t>
            </a:r>
            <a:r>
              <a:rPr lang="en-US" altLang="zh-CN"/>
              <a:t> “</a:t>
            </a:r>
            <a:r>
              <a:rPr lang="zh-CN" altLang="en-US"/>
              <a:t>证据在哪？行为逻辑是什么？</a:t>
            </a:r>
            <a:r>
              <a:rPr lang="en-US" altLang="zh-CN"/>
              <a:t>” </a:t>
            </a:r>
            <a:r>
              <a:rPr lang="zh-CN" altLang="en-US"/>
              <a:t>的细粒度行为审计。</a:t>
            </a:r>
            <a:endParaRPr lang="en-US" altLang="zh-CN"/>
          </a:p>
          <a:p>
            <a:r>
              <a:rPr lang="zh-CN" altLang="en-US"/>
              <a:t>本研究进一步系统评估了大语言模型在细粒度安卓恶意软件行为分析上的真实能力，</a:t>
            </a:r>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DeGPT </a:t>
            </a:r>
            <a:r>
              <a:rPr lang="zh-CN" altLang="en-US"/>
              <a:t>是一个弱自治的智能体系统，用于优化反编译代码的可读性</a:t>
            </a:r>
            <a:r>
              <a:rPr lang="en-US" altLang="zh-CN"/>
              <a:t> </a:t>
            </a:r>
            <a:r>
              <a:rPr lang="zh-CN" altLang="en-US"/>
              <a:t>。其面临诸多挑战，反编译代码冗长难读，严重影响后续程序分析；大模型受限于上下文长度和计算能力，效果欠佳；生成内容可能破坏原程序语义，导致程序崩溃；已有学习型方法泛化能力有限，适用性不足。</a:t>
            </a:r>
            <a:endParaRPr lang="zh-CN" altLang="en-US"/>
          </a:p>
          <a:p>
            <a:r>
              <a:rPr lang="zh-CN" altLang="en-US"/>
              <a:t>为应对这些挑战，它对反编译代码进行结构简化，降低理解难度；采用</a:t>
            </a:r>
            <a:r>
              <a:rPr lang="en-US" altLang="zh-CN"/>
              <a:t> Referee-Advisor-Operator </a:t>
            </a:r>
            <a:r>
              <a:rPr lang="zh-CN" altLang="en-US"/>
              <a:t>三角角色机制，提升优化效果与质量；</a:t>
            </a:r>
            <a:endParaRPr lang="zh-CN" altLang="en-US"/>
          </a:p>
          <a:p>
            <a:r>
              <a:rPr lang="zh-CN" altLang="en-US"/>
              <a:t>此外，引入了</a:t>
            </a:r>
            <a:r>
              <a:rPr lang="en-US" altLang="zh-CN"/>
              <a:t> MSSC (</a:t>
            </a:r>
            <a:r>
              <a:rPr lang="zh-CN" altLang="en-US"/>
              <a:t>语义一致性检查</a:t>
            </a:r>
            <a:r>
              <a:rPr lang="en-US" altLang="zh-CN"/>
              <a:t>)</a:t>
            </a:r>
            <a:r>
              <a:rPr lang="zh-CN" altLang="en-US"/>
              <a:t>，如果优化后的代码改变了原意，就会被拒绝。这形成了一个闭环反馈，让</a:t>
            </a:r>
            <a:r>
              <a:rPr lang="en-US" altLang="zh-CN"/>
              <a:t> Agent </a:t>
            </a:r>
            <a:r>
              <a:rPr lang="zh-CN" altLang="en-US"/>
              <a:t>在不破坏语义的前提下提升代码质量</a:t>
            </a:r>
            <a:r>
              <a:rPr lang="en-US" altLang="zh-CN"/>
              <a:t> </a:t>
            </a:r>
            <a:r>
              <a:rPr lang="zh-CN" altLang="en-US"/>
              <a:t>。</a:t>
            </a:r>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在恶意软件分类面临着诸多挑战。二进制信息难以直接理解，上下文受限，一次性推理不稳定，传统方法也存在误报高、难以解释清楚等问题。这些问题严重制约了恶意软件分类的准确性和效率。</a:t>
            </a:r>
            <a:endParaRPr lang="en-US" altLang="zh-CN"/>
          </a:p>
          <a:p>
            <a:r>
              <a:rPr lang="zh-CN" altLang="en-US"/>
              <a:t>为解决这些问题，本文提出了</a:t>
            </a:r>
            <a:r>
              <a:rPr lang="en-US" altLang="zh-CN"/>
              <a:t>AV-agent</a:t>
            </a:r>
            <a:r>
              <a:rPr lang="zh-CN" altLang="en-US"/>
              <a:t>。该方法尝试模拟人类分析师的分析思维，采用自底向上的流程：首先调用工具提取特征（感知阶段），然后通过大语言模型过滤无关信息（注意力阶段），最后进行分阶段推理与自我反思，完成最终判定。</a:t>
            </a:r>
            <a:endParaRPr lang="zh-CN" altLang="en-US"/>
          </a:p>
          <a:p>
            <a:r>
              <a:rPr lang="zh-CN" altLang="en-US"/>
              <a:t>在这一流程中，分析器作为感知模块，主动调用工具进行</a:t>
            </a:r>
            <a:r>
              <a:rPr lang="en-US" altLang="zh-CN"/>
              <a:t>Top-K</a:t>
            </a:r>
            <a:r>
              <a:rPr lang="zh-CN" altLang="en-US"/>
              <a:t>筛选，有效解决了二进制信息感知的难题；同时引入反思与自我修正的两阶段机制，提升了推理的稳定性和可靠性。通过将</a:t>
            </a:r>
            <a:r>
              <a:rPr lang="en-US" altLang="zh-CN"/>
              <a:t>“</a:t>
            </a:r>
            <a:r>
              <a:rPr lang="zh-CN" altLang="en-US"/>
              <a:t>感知</a:t>
            </a:r>
            <a:r>
              <a:rPr lang="en-US" altLang="zh-CN"/>
              <a:t>—</a:t>
            </a:r>
            <a:r>
              <a:rPr lang="zh-CN" altLang="en-US"/>
              <a:t>推理</a:t>
            </a:r>
            <a:r>
              <a:rPr lang="en-US" altLang="zh-CN"/>
              <a:t>—</a:t>
            </a:r>
            <a:r>
              <a:rPr lang="zh-CN" altLang="en-US"/>
              <a:t>决策</a:t>
            </a:r>
            <a:r>
              <a:rPr lang="en-US" altLang="zh-CN"/>
              <a:t>”</a:t>
            </a:r>
            <a:r>
              <a:rPr lang="zh-CN" altLang="en-US"/>
              <a:t>全过程显式化展开，该方法克服了传统方案中逻辑过程不透明、难以追溯的局限，为构建高效、可靠的恶意软件分类系统提供了新的方向。</a:t>
            </a:r>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本页对比了关于</a:t>
            </a:r>
            <a:r>
              <a:rPr lang="en-US" altLang="zh-CN"/>
              <a:t> LLM </a:t>
            </a:r>
            <a:r>
              <a:rPr lang="zh-CN" altLang="en-US"/>
              <a:t>代码能力的评估工作和初步的</a:t>
            </a:r>
            <a:r>
              <a:rPr lang="en-US" altLang="zh-CN"/>
              <a:t> Agent </a:t>
            </a:r>
            <a:r>
              <a:rPr lang="zh-CN" altLang="en-US"/>
              <a:t>构建工作。</a:t>
            </a:r>
            <a:endParaRPr lang="zh-CN" altLang="en-US"/>
          </a:p>
          <a:p>
            <a:r>
              <a:rPr lang="zh-CN" altLang="en-US"/>
              <a:t>横向对比分析，前两行评估</a:t>
            </a:r>
            <a:r>
              <a:rPr lang="zh-CN" altLang="en-US"/>
              <a:t>类前者指出</a:t>
            </a:r>
            <a:r>
              <a:rPr lang="en-US" altLang="zh-CN"/>
              <a:t> LLM </a:t>
            </a:r>
            <a:r>
              <a:rPr lang="zh-CN" altLang="en-US"/>
              <a:t>面对</a:t>
            </a:r>
            <a:r>
              <a:rPr lang="en-US" altLang="zh-CN"/>
              <a:t> </a:t>
            </a:r>
            <a:r>
              <a:rPr lang="zh-CN" altLang="en-US"/>
              <a:t>代码混淆</a:t>
            </a:r>
            <a:r>
              <a:rPr lang="en-US" altLang="zh-CN"/>
              <a:t> </a:t>
            </a:r>
            <a:r>
              <a:rPr lang="zh-CN" altLang="en-US"/>
              <a:t>时能力显著下降</a:t>
            </a:r>
            <a:r>
              <a:rPr lang="en-US" altLang="zh-CN"/>
              <a:t> </a:t>
            </a:r>
            <a:r>
              <a:rPr lang="zh-CN" altLang="en-US"/>
              <a:t>。后者指出</a:t>
            </a:r>
            <a:r>
              <a:rPr lang="en-US" altLang="zh-CN"/>
              <a:t> LLM </a:t>
            </a:r>
            <a:r>
              <a:rPr lang="zh-CN" altLang="en-US"/>
              <a:t>在</a:t>
            </a:r>
            <a:r>
              <a:rPr lang="en-US" altLang="zh-CN"/>
              <a:t> </a:t>
            </a:r>
            <a:r>
              <a:rPr lang="zh-CN" altLang="en-US"/>
              <a:t>细粒度行为审计</a:t>
            </a:r>
            <a:r>
              <a:rPr lang="en-US" altLang="zh-CN"/>
              <a:t> </a:t>
            </a:r>
            <a:r>
              <a:rPr lang="zh-CN" altLang="en-US"/>
              <a:t>和</a:t>
            </a:r>
            <a:r>
              <a:rPr lang="en-US" altLang="zh-CN"/>
              <a:t> </a:t>
            </a:r>
            <a:r>
              <a:rPr lang="zh-CN" altLang="en-US"/>
              <a:t>证据归因</a:t>
            </a:r>
            <a:r>
              <a:rPr lang="en-US" altLang="zh-CN"/>
              <a:t> </a:t>
            </a:r>
            <a:r>
              <a:rPr lang="zh-CN" altLang="en-US"/>
              <a:t>方面存在不足，容易产生幻觉</a:t>
            </a:r>
            <a:r>
              <a:rPr lang="en-US" altLang="zh-CN"/>
              <a:t> </a:t>
            </a:r>
            <a:r>
              <a:rPr lang="zh-CN" altLang="en-US"/>
              <a:t>。</a:t>
            </a:r>
            <a:endParaRPr lang="zh-CN" altLang="en-US"/>
          </a:p>
          <a:p>
            <a:r>
              <a:rPr lang="zh-CN" altLang="en-US"/>
              <a:t>后两行：</a:t>
            </a:r>
            <a:r>
              <a:rPr lang="en-US" altLang="zh-CN"/>
              <a:t>DeGPT </a:t>
            </a:r>
            <a:r>
              <a:rPr lang="zh-CN" altLang="en-US"/>
              <a:t>和</a:t>
            </a:r>
            <a:r>
              <a:rPr lang="en-US" altLang="zh-CN"/>
              <a:t> AV-Agent </a:t>
            </a:r>
            <a:r>
              <a:rPr lang="zh-CN" altLang="en-US"/>
              <a:t>都在尝试构建</a:t>
            </a:r>
            <a:r>
              <a:rPr lang="en-US" altLang="zh-CN"/>
              <a:t> </a:t>
            </a:r>
            <a:r>
              <a:rPr lang="zh-CN" altLang="en-US"/>
              <a:t>智能体</a:t>
            </a:r>
            <a:r>
              <a:rPr lang="en-US" altLang="zh-CN"/>
              <a:t> (Agent)</a:t>
            </a:r>
            <a:r>
              <a:rPr lang="zh-CN" altLang="en-US"/>
              <a:t>。</a:t>
            </a:r>
            <a:r>
              <a:rPr lang="en-US" altLang="zh-CN"/>
              <a:t>DeGPT </a:t>
            </a:r>
            <a:r>
              <a:rPr lang="zh-CN" altLang="en-US"/>
              <a:t>引入了多角色协作</a:t>
            </a:r>
            <a:r>
              <a:rPr lang="en-US" altLang="zh-CN"/>
              <a:t> (Referee-Advisor-Operator) </a:t>
            </a:r>
            <a:r>
              <a:rPr lang="zh-CN" altLang="en-US"/>
              <a:t>和</a:t>
            </a:r>
            <a:r>
              <a:rPr lang="en-US" altLang="zh-CN"/>
              <a:t> MSSC (</a:t>
            </a:r>
            <a:r>
              <a:rPr lang="zh-CN" altLang="en-US"/>
              <a:t>语义一致性检查</a:t>
            </a:r>
            <a:r>
              <a:rPr lang="en-US" altLang="zh-CN"/>
              <a:t>) </a:t>
            </a:r>
            <a:r>
              <a:rPr lang="zh-CN" altLang="en-US"/>
              <a:t>闭环</a:t>
            </a:r>
            <a:r>
              <a:rPr lang="en-US" altLang="zh-CN"/>
              <a:t> </a:t>
            </a:r>
            <a:r>
              <a:rPr lang="zh-CN" altLang="en-US"/>
              <a:t>。</a:t>
            </a:r>
            <a:r>
              <a:rPr lang="en-US" altLang="zh-CN"/>
              <a:t>AV-Agent </a:t>
            </a:r>
            <a:r>
              <a:rPr lang="zh-CN" altLang="en-US"/>
              <a:t>强调</a:t>
            </a:r>
            <a:r>
              <a:rPr lang="en-US" altLang="zh-CN"/>
              <a:t> </a:t>
            </a:r>
            <a:r>
              <a:rPr lang="zh-CN" altLang="en-US"/>
              <a:t>反思</a:t>
            </a:r>
            <a:r>
              <a:rPr lang="en-US" altLang="zh-CN"/>
              <a:t> (Reflection) </a:t>
            </a:r>
            <a:r>
              <a:rPr lang="zh-CN" altLang="en-US"/>
              <a:t>和</a:t>
            </a:r>
            <a:r>
              <a:rPr lang="en-US" altLang="zh-CN"/>
              <a:t> </a:t>
            </a:r>
            <a:r>
              <a:rPr lang="zh-CN" altLang="en-US"/>
              <a:t>分阶段推理，模拟人类分析师</a:t>
            </a:r>
            <a:r>
              <a:rPr lang="en-US" altLang="zh-CN"/>
              <a:t>“</a:t>
            </a:r>
            <a:r>
              <a:rPr lang="zh-CN" altLang="en-US"/>
              <a:t>感知</a:t>
            </a:r>
            <a:r>
              <a:rPr lang="en-US" altLang="zh-CN"/>
              <a:t>-</a:t>
            </a:r>
            <a:r>
              <a:rPr lang="zh-CN" altLang="en-US"/>
              <a:t>推理</a:t>
            </a:r>
            <a:r>
              <a:rPr lang="en-US" altLang="zh-CN"/>
              <a:t>-</a:t>
            </a:r>
            <a:r>
              <a:rPr lang="zh-CN" altLang="en-US"/>
              <a:t>决策</a:t>
            </a:r>
            <a:r>
              <a:rPr lang="en-US" altLang="zh-CN"/>
              <a:t>”</a:t>
            </a:r>
            <a:r>
              <a:rPr lang="zh-CN" altLang="en-US"/>
              <a:t>的过程</a:t>
            </a:r>
            <a:r>
              <a:rPr lang="en-US" altLang="zh-CN"/>
              <a:t> </a:t>
            </a:r>
            <a:r>
              <a:rPr lang="zh-CN" altLang="en-US"/>
              <a:t>。</a:t>
            </a:r>
            <a:endParaRPr lang="zh-CN" altLang="en-US"/>
          </a:p>
          <a:p>
            <a:r>
              <a:rPr lang="zh-CN" altLang="en-US"/>
              <a:t>纵向总结</a:t>
            </a:r>
            <a:r>
              <a:rPr lang="en-US" altLang="zh-CN"/>
              <a:t> (Agent Evolution)</a:t>
            </a:r>
            <a:r>
              <a:rPr lang="zh-CN" altLang="en-US"/>
              <a:t>：</a:t>
            </a:r>
            <a:r>
              <a:rPr lang="en-US" altLang="zh-CN"/>
              <a:t> </a:t>
            </a:r>
            <a:r>
              <a:rPr lang="zh-CN" altLang="en-US"/>
              <a:t>该领域正从基础评测走向系统构建</a:t>
            </a:r>
            <a:r>
              <a:rPr lang="en-US" altLang="zh-CN"/>
              <a:t> </a:t>
            </a:r>
            <a:r>
              <a:rPr lang="zh-CN" altLang="en-US"/>
              <a:t>。通过将输入数据结构化（如四元组、特征向量）以提升推理效率</a:t>
            </a:r>
            <a:r>
              <a:rPr lang="en-US" altLang="zh-CN"/>
              <a:t> </a:t>
            </a:r>
            <a:r>
              <a:rPr lang="zh-CN" altLang="en-US"/>
              <a:t>，并引入算法闭环替代人工核验以主动治理幻觉</a:t>
            </a:r>
            <a:r>
              <a:rPr lang="en-US" altLang="zh-CN"/>
              <a:t> </a:t>
            </a:r>
            <a:r>
              <a:rPr lang="zh-CN" altLang="en-US"/>
              <a:t>，实现了安全分析流程的自动化与高可靠性。</a:t>
            </a:r>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我们将恶意软件分析技术的演进逻辑提炼为四个层级，</a:t>
            </a:r>
            <a:endParaRPr lang="zh-CN" altLang="en-US"/>
          </a:p>
          <a:p>
            <a:r>
              <a:rPr lang="en-US" altLang="zh-CN"/>
              <a:t>Level </a:t>
            </a:r>
            <a:r>
              <a:rPr lang="zh-CN" altLang="en-US"/>
              <a:t>这一阶段是整个领域的起点，核心在于特征工程，即将无法直接计算的二进制代码转化为机器可理解的数学形式。提取能够有效区分恶意与良性软件的特征。这经历了从简单的统计特征到复杂的结构和语义特征的演变</a:t>
            </a:r>
            <a:r>
              <a:rPr lang="en-US" altLang="zh-CN"/>
              <a:t> </a:t>
            </a:r>
            <a:r>
              <a:rPr lang="zh-CN" altLang="en-US"/>
              <a:t>。</a:t>
            </a:r>
            <a:endParaRPr lang="zh-CN" altLang="en-US"/>
          </a:p>
          <a:p>
            <a:r>
              <a:rPr lang="en-US" altLang="zh-CN"/>
              <a:t>Level 2</a:t>
            </a:r>
            <a:r>
              <a:rPr lang="zh-CN" altLang="en-US"/>
              <a:t>这一阶段不再满足于实验室环境下的高准确率，而是直面现实世界中数据和环境的鲁棒性。</a:t>
            </a:r>
            <a:r>
              <a:rPr lang="en-US" altLang="zh-CN"/>
              <a:t> </a:t>
            </a:r>
            <a:r>
              <a:rPr lang="zh-CN" altLang="en-US"/>
              <a:t>核心目标：解决现实部署中的三大挑战</a:t>
            </a:r>
            <a:r>
              <a:rPr lang="en-US" altLang="zh-CN"/>
              <a:t>——</a:t>
            </a:r>
            <a:r>
              <a:rPr lang="zh-CN" altLang="en-US"/>
              <a:t>标签噪声（数据标错了）、概念漂移（恶意软件变种了）、样本不均衡（良性软件远多于恶意软件）</a:t>
            </a:r>
            <a:r>
              <a:rPr lang="en-US" altLang="zh-CN"/>
              <a:t> </a:t>
            </a:r>
            <a:r>
              <a:rPr lang="zh-CN" altLang="en-US"/>
              <a:t>。</a:t>
            </a:r>
            <a:endParaRPr lang="zh-CN" altLang="en-US"/>
          </a:p>
          <a:p>
            <a:r>
              <a:rPr lang="en-US" altLang="zh-CN"/>
              <a:t>Level 3</a:t>
            </a:r>
            <a:r>
              <a:rPr lang="zh-CN" altLang="en-US"/>
              <a:t>这一阶段引入了大语言模型</a:t>
            </a:r>
            <a:r>
              <a:rPr lang="en-US" altLang="zh-CN"/>
              <a:t> (LLM)</a:t>
            </a:r>
            <a:r>
              <a:rPr lang="zh-CN" altLang="en-US"/>
              <a:t>，从</a:t>
            </a:r>
            <a:r>
              <a:rPr lang="en-US" altLang="zh-CN"/>
              <a:t>“</a:t>
            </a:r>
            <a:r>
              <a:rPr lang="zh-CN" altLang="en-US"/>
              <a:t>判别式</a:t>
            </a:r>
            <a:r>
              <a:rPr lang="en-US" altLang="zh-CN"/>
              <a:t> AI”</a:t>
            </a:r>
            <a:r>
              <a:rPr lang="zh-CN" altLang="en-US"/>
              <a:t>转向</a:t>
            </a:r>
            <a:r>
              <a:rPr lang="en-US" altLang="zh-CN"/>
              <a:t>“</a:t>
            </a:r>
            <a:r>
              <a:rPr lang="zh-CN" altLang="en-US"/>
              <a:t>生成式</a:t>
            </a:r>
            <a:r>
              <a:rPr lang="en-US" altLang="zh-CN"/>
              <a:t> AI”</a:t>
            </a:r>
            <a:r>
              <a:rPr lang="zh-CN" altLang="en-US"/>
              <a:t>，不再止步于输出</a:t>
            </a:r>
            <a:r>
              <a:rPr lang="en-US" altLang="zh-CN"/>
              <a:t>0</a:t>
            </a:r>
            <a:r>
              <a:rPr lang="en-US"/>
              <a:t>/1</a:t>
            </a:r>
            <a:r>
              <a:rPr lang="zh-CN" altLang="en-US"/>
              <a:t>的标签，而是要进行符号恢复和恶意代码解释</a:t>
            </a:r>
            <a:r>
              <a:rPr lang="en-US" altLang="zh-CN"/>
              <a:t>.</a:t>
            </a:r>
            <a:endParaRPr lang="en-US" altLang="zh-CN"/>
          </a:p>
          <a:p>
            <a:r>
              <a:rPr lang="en-US" altLang="zh-CN"/>
              <a:t>Level 4</a:t>
            </a:r>
            <a:r>
              <a:rPr lang="zh-CN" altLang="en-US"/>
              <a:t>试图构建具有自主意识的</a:t>
            </a:r>
            <a:r>
              <a:rPr lang="en-US" altLang="zh-CN"/>
              <a:t> AI </a:t>
            </a:r>
            <a:r>
              <a:rPr lang="zh-CN" altLang="en-US"/>
              <a:t>实体。实现像人类专家一样，主动规划分析路径、决策下一步操作、并执行工具调用的全流程</a:t>
            </a:r>
            <a:r>
              <a:rPr lang="en-US" altLang="zh-CN"/>
              <a:t> </a:t>
            </a:r>
            <a:r>
              <a:rPr lang="zh-CN" altLang="en-US"/>
              <a:t>。</a:t>
            </a:r>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这是我们小组的具体分工情况。共分为四个</a:t>
            </a:r>
            <a:r>
              <a:rPr lang="en-US" altLang="zh-CN"/>
              <a:t> Level</a:t>
            </a:r>
            <a:r>
              <a:rPr lang="zh-CN" altLang="en-US"/>
              <a:t>，</a:t>
            </a:r>
            <a:r>
              <a:rPr lang="en-US" altLang="zh-CN"/>
              <a:t>Level 1 </a:t>
            </a:r>
            <a:r>
              <a:rPr lang="zh-CN" altLang="en-US"/>
              <a:t>传统恶意软件检测技术相关论文；</a:t>
            </a:r>
            <a:r>
              <a:rPr lang="en-US" altLang="zh-CN"/>
              <a:t>Level 2 </a:t>
            </a:r>
            <a:r>
              <a:rPr lang="zh-CN" altLang="en-US"/>
              <a:t>表征驱动，鲁棒化恶意软件分类</a:t>
            </a:r>
            <a:r>
              <a:rPr lang="en-US" altLang="zh-CN"/>
              <a:t>8</a:t>
            </a:r>
            <a:r>
              <a:rPr lang="zh-CN" altLang="en-US"/>
              <a:t>篇由两员分担，</a:t>
            </a:r>
            <a:r>
              <a:rPr lang="en-US" altLang="zh-CN"/>
              <a:t>Level 3 </a:t>
            </a:r>
            <a:r>
              <a:rPr lang="zh-CN" altLang="en-US"/>
              <a:t>走向</a:t>
            </a:r>
            <a:r>
              <a:rPr lang="en-US" altLang="zh-CN"/>
              <a:t>“</a:t>
            </a:r>
            <a:r>
              <a:rPr lang="zh-CN" altLang="en-US"/>
              <a:t>理解</a:t>
            </a:r>
            <a:r>
              <a:rPr lang="en-US" altLang="zh-CN"/>
              <a:t>”</a:t>
            </a:r>
            <a:r>
              <a:rPr lang="zh-CN" altLang="en-US"/>
              <a:t>恶意软件的独到视角负责；</a:t>
            </a:r>
            <a:r>
              <a:rPr lang="en-US" altLang="zh-CN"/>
              <a:t>Level 4 </a:t>
            </a:r>
            <a:r>
              <a:rPr lang="zh-CN" altLang="en-US"/>
              <a:t>智能体分析。</a:t>
            </a:r>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这是我们小组本次综述所引用的</a:t>
            </a:r>
            <a:r>
              <a:rPr lang="en-US" altLang="zh-CN"/>
              <a:t> 16 </a:t>
            </a:r>
            <a:r>
              <a:rPr lang="zh-CN" altLang="en-US"/>
              <a:t>篇顶级会议</a:t>
            </a:r>
            <a:r>
              <a:rPr lang="en-US" altLang="zh-CN"/>
              <a:t>/</a:t>
            </a:r>
            <a:r>
              <a:rPr lang="zh-CN" altLang="en-US"/>
              <a:t>期刊论文列表</a:t>
            </a:r>
            <a:r>
              <a:rPr lang="en-US" altLang="zh-CN"/>
              <a:t> </a:t>
            </a:r>
            <a:r>
              <a:rPr lang="zh-CN" altLang="en-US"/>
              <a:t>。</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4" Type="http://schemas.openxmlformats.org/officeDocument/2006/relationships/image" Target="../media/image1.jpeg"/><Relationship Id="rId3" Type="http://schemas.microsoft.com/office/2007/relationships/hdphoto" Target="../media/image3.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4" Type="http://schemas.openxmlformats.org/officeDocument/2006/relationships/image" Target="../media/image1.jpeg"/><Relationship Id="rId3" Type="http://schemas.microsoft.com/office/2007/relationships/hdphoto" Target="../media/image3.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4" Type="http://schemas.openxmlformats.org/officeDocument/2006/relationships/image" Target="../media/image1.jpeg"/><Relationship Id="rId3" Type="http://schemas.microsoft.com/office/2007/relationships/hdphoto" Target="../media/image3.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4" Type="http://schemas.openxmlformats.org/officeDocument/2006/relationships/image" Target="../media/image1.jpeg"/><Relationship Id="rId3" Type="http://schemas.microsoft.com/office/2007/relationships/hdphoto" Target="../media/image3.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4" Type="http://schemas.openxmlformats.org/officeDocument/2006/relationships/image" Target="../media/image1.jpeg"/><Relationship Id="rId3" Type="http://schemas.microsoft.com/office/2007/relationships/hdphoto" Target="../media/image3.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4" Type="http://schemas.openxmlformats.org/officeDocument/2006/relationships/image" Target="../media/image1.jpeg"/><Relationship Id="rId3" Type="http://schemas.microsoft.com/office/2007/relationships/hdphoto" Target="../media/image3.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grpSp>
        <p:nvGrpSpPr>
          <p:cNvPr id="25" name="组合 24"/>
          <p:cNvGrpSpPr/>
          <p:nvPr userDrawn="1"/>
        </p:nvGrpSpPr>
        <p:grpSpPr>
          <a:xfrm>
            <a:off x="599225" y="1736370"/>
            <a:ext cx="10993549" cy="1903301"/>
            <a:chOff x="599225" y="1921565"/>
            <a:chExt cx="10993549" cy="1903301"/>
          </a:xfrm>
        </p:grpSpPr>
        <p:sp>
          <p:nvSpPr>
            <p:cNvPr id="22" name="矩形 21"/>
            <p:cNvSpPr/>
            <p:nvPr userDrawn="1"/>
          </p:nvSpPr>
          <p:spPr>
            <a:xfrm>
              <a:off x="599225" y="1921565"/>
              <a:ext cx="10993549" cy="19033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半闭框 17"/>
            <p:cNvSpPr/>
            <p:nvPr userDrawn="1"/>
          </p:nvSpPr>
          <p:spPr>
            <a:xfrm>
              <a:off x="599225" y="1921565"/>
              <a:ext cx="821803" cy="867934"/>
            </a:xfrm>
            <a:prstGeom prst="halfFrame">
              <a:avLst>
                <a:gd name="adj1" fmla="val 23474"/>
                <a:gd name="adj2" fmla="val 23475"/>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24" name="矩形 23"/>
            <p:cNvSpPr/>
            <p:nvPr userDrawn="1"/>
          </p:nvSpPr>
          <p:spPr>
            <a:xfrm>
              <a:off x="10161778" y="3614195"/>
              <a:ext cx="1430996" cy="21067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12" name="Title 1"/>
          <p:cNvSpPr>
            <a:spLocks noGrp="1"/>
          </p:cNvSpPr>
          <p:nvPr>
            <p:ph type="ctrTitle"/>
          </p:nvPr>
        </p:nvSpPr>
        <p:spPr>
          <a:xfrm>
            <a:off x="963169" y="2028084"/>
            <a:ext cx="10265664" cy="1356406"/>
          </a:xfrm>
          <a:prstGeom prst="rect">
            <a:avLst/>
          </a:prstGeom>
          <a:effectLst/>
        </p:spPr>
        <p:txBody>
          <a:bodyPr anchor="b">
            <a:normAutofit/>
          </a:bodyPr>
          <a:lstStyle>
            <a:lvl1pPr algn="l">
              <a:defRPr lang="en-US" altLang="en-US" sz="3600" b="0" kern="1200" cap="all" dirty="0">
                <a:solidFill>
                  <a:srgbClr val="5C307D"/>
                </a:solidFill>
                <a:latin typeface="+mj-lt"/>
                <a:ea typeface="+mj-ea"/>
                <a:cs typeface="+mj-cs"/>
              </a:defRPr>
            </a:lvl1pPr>
          </a:lstStyle>
          <a:p>
            <a:r>
              <a:rPr lang="zh-CN" altLang="en-US"/>
              <a:t>单击此处编辑母版标题样式</a:t>
            </a:r>
            <a:endParaRPr lang="en-US"/>
          </a:p>
        </p:txBody>
      </p:sp>
      <p:sp>
        <p:nvSpPr>
          <p:cNvPr id="13" name="Subtitle 2"/>
          <p:cNvSpPr>
            <a:spLocks noGrp="1"/>
          </p:cNvSpPr>
          <p:nvPr>
            <p:ph type="subTitle" idx="1"/>
          </p:nvPr>
        </p:nvSpPr>
        <p:spPr>
          <a:xfrm>
            <a:off x="963169" y="3819054"/>
            <a:ext cx="10265664" cy="1340999"/>
          </a:xfrm>
        </p:spPr>
        <p:txBody>
          <a:bodyPr anchor="t">
            <a:normAutofit/>
          </a:bodyPr>
          <a:lstStyle>
            <a:lvl1pPr marL="0" indent="0" algn="l">
              <a:buNone/>
              <a:defRPr sz="20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a:p>
        </p:txBody>
      </p:sp>
      <p:sp>
        <p:nvSpPr>
          <p:cNvPr id="2" name="日期占位符 1"/>
          <p:cNvSpPr>
            <a:spLocks noGrp="1"/>
          </p:cNvSpPr>
          <p:nvPr>
            <p:ph type="dt" sz="half" idx="10"/>
          </p:nvPr>
        </p:nvSpPr>
        <p:spPr/>
        <p:txBody>
          <a:bodyPr/>
          <a:lstStyle/>
          <a:p>
            <a:fld id="{E4551058-E5DB-324A-A8E9-6D3BEF243C3B}" type="datetimeFigureOut">
              <a:rPr kumimoji="1" lang="zh-CN" altLang="en-US" smtClean="0"/>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977BA8E6-E826-B147-AA17-E3D76A29629C}" type="slidenum">
              <a:rPr kumimoji="1" lang="zh-CN" altLang="en-US" smtClean="0"/>
            </a:fld>
            <a:endParaRPr kumimoji="1" lang="zh-CN" altLang="en-US"/>
          </a:p>
        </p:txBody>
      </p:sp>
      <p:pic>
        <p:nvPicPr>
          <p:cNvPr id="4" name="图片 3"/>
          <p:cNvPicPr>
            <a:picLocks noChangeAspect="1"/>
          </p:cNvPicPr>
          <p:nvPr userDrawn="1"/>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0523013" y="0"/>
            <a:ext cx="1668987" cy="706285"/>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a:xfrm>
            <a:off x="833377" y="2180498"/>
            <a:ext cx="10521387" cy="3678303"/>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10" name="标题 9"/>
          <p:cNvSpPr>
            <a:spLocks noGrp="1"/>
          </p:cNvSpPr>
          <p:nvPr>
            <p:ph type="title"/>
          </p:nvPr>
        </p:nvSpPr>
        <p:spPr/>
        <p:txBody>
          <a:bodyPr/>
          <a:lstStyle/>
          <a:p>
            <a:r>
              <a:rPr kumimoji="1" lang="zh-CN" altLang="en-US"/>
              <a:t>单击此处编辑母版标题样式</a:t>
            </a:r>
            <a:endParaRPr kumimoji="1" lang="zh-CN" altLang="en-US"/>
          </a:p>
        </p:txBody>
      </p:sp>
      <p:sp>
        <p:nvSpPr>
          <p:cNvPr id="11" name="日期占位符 10"/>
          <p:cNvSpPr>
            <a:spLocks noGrp="1"/>
          </p:cNvSpPr>
          <p:nvPr>
            <p:ph type="dt" sz="half" idx="10"/>
          </p:nvPr>
        </p:nvSpPr>
        <p:spPr/>
        <p:txBody>
          <a:bodyPr/>
          <a:lstStyle/>
          <a:p>
            <a:fld id="{E4551058-E5DB-324A-A8E9-6D3BEF243C3B}" type="datetimeFigureOut">
              <a:rPr kumimoji="1" lang="zh-CN" altLang="en-US" smtClean="0"/>
            </a:fld>
            <a:endParaRPr kumimoji="1" lang="zh-CN" altLang="en-US"/>
          </a:p>
        </p:txBody>
      </p:sp>
      <p:sp>
        <p:nvSpPr>
          <p:cNvPr id="12" name="页脚占位符 11"/>
          <p:cNvSpPr>
            <a:spLocks noGrp="1"/>
          </p:cNvSpPr>
          <p:nvPr>
            <p:ph type="ftr" sz="quarter" idx="11"/>
          </p:nvPr>
        </p:nvSpPr>
        <p:spPr/>
        <p:txBody>
          <a:bodyPr/>
          <a:lstStyle/>
          <a:p>
            <a:endParaRPr kumimoji="1" lang="zh-CN" altLang="en-US"/>
          </a:p>
        </p:txBody>
      </p:sp>
      <p:sp>
        <p:nvSpPr>
          <p:cNvPr id="13" name="灯片编号占位符 12"/>
          <p:cNvSpPr>
            <a:spLocks noGrp="1"/>
          </p:cNvSpPr>
          <p:nvPr>
            <p:ph type="sldNum" sz="quarter" idx="12"/>
          </p:nvPr>
        </p:nvSpPr>
        <p:spPr/>
        <p:txBody>
          <a:bodyPr/>
          <a:lstStyle/>
          <a:p>
            <a:fld id="{977BA8E6-E826-B147-AA17-E3D76A29629C}" type="slidenum">
              <a:rPr kumimoji="1" lang="zh-CN" altLang="en-US" smtClean="0"/>
            </a:fld>
            <a:endParaRPr kumimoji="1"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showMasterSp="0" userDrawn="1">
  <p:cSld name="目录">
    <p:spTree>
      <p:nvGrpSpPr>
        <p:cNvPr id="1" name=""/>
        <p:cNvGrpSpPr/>
        <p:nvPr/>
      </p:nvGrpSpPr>
      <p:grpSpPr>
        <a:xfrm>
          <a:off x="0" y="0"/>
          <a:ext cx="0" cy="0"/>
          <a:chOff x="0" y="0"/>
          <a:chExt cx="0" cy="0"/>
        </a:xfrm>
      </p:grpSpPr>
      <p:sp>
        <p:nvSpPr>
          <p:cNvPr id="11" name="Content Placeholder 2"/>
          <p:cNvSpPr>
            <a:spLocks noGrp="1"/>
          </p:cNvSpPr>
          <p:nvPr>
            <p:ph idx="1"/>
          </p:nvPr>
        </p:nvSpPr>
        <p:spPr>
          <a:xfrm>
            <a:off x="1431883" y="2118167"/>
            <a:ext cx="10178926" cy="3602477"/>
          </a:xfrm>
        </p:spPr>
        <p:txBody>
          <a:bodyPr anchor="ctr">
            <a:normAutofit/>
          </a:bodyPr>
          <a:lstStyle>
            <a:lvl1pPr algn="l">
              <a:defRPr sz="3200"/>
            </a:lvl1pPr>
            <a:lvl2pPr algn="l">
              <a:defRPr sz="2800"/>
            </a:lvl2pPr>
            <a:lvl3pPr algn="l">
              <a:defRPr sz="2400"/>
            </a:lvl3pPr>
            <a:lvl4pPr algn="l">
              <a:defRPr sz="2000"/>
            </a:lvl4pPr>
            <a:lvl5pPr algn="l">
              <a:defRPr sz="2000"/>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13" name="Date Placeholder 3"/>
          <p:cNvSpPr>
            <a:spLocks noGrp="1"/>
          </p:cNvSpPr>
          <p:nvPr>
            <p:ph type="dt" sz="half" idx="10"/>
          </p:nvPr>
        </p:nvSpPr>
        <p:spPr>
          <a:xfrm>
            <a:off x="7605951" y="5597317"/>
            <a:ext cx="2844799" cy="365125"/>
          </a:xfrm>
        </p:spPr>
        <p:txBody>
          <a:bodyPr/>
          <a:lstStyle/>
          <a:p>
            <a:fld id="{E4551058-E5DB-324A-A8E9-6D3BEF243C3B}" type="datetimeFigureOut">
              <a:rPr kumimoji="1" lang="zh-CN" altLang="en-US" smtClean="0"/>
            </a:fld>
            <a:endParaRPr kumimoji="1" lang="zh-CN" altLang="en-US"/>
          </a:p>
        </p:txBody>
      </p:sp>
      <p:sp>
        <p:nvSpPr>
          <p:cNvPr id="16" name="Footer Placeholder 4"/>
          <p:cNvSpPr>
            <a:spLocks noGrp="1"/>
          </p:cNvSpPr>
          <p:nvPr>
            <p:ph type="ftr" sz="quarter" idx="11"/>
          </p:nvPr>
        </p:nvSpPr>
        <p:spPr>
          <a:xfrm>
            <a:off x="1431882" y="5592991"/>
            <a:ext cx="6066519" cy="365125"/>
          </a:xfrm>
        </p:spPr>
        <p:txBody>
          <a:bodyPr/>
          <a:lstStyle/>
          <a:p>
            <a:endParaRPr kumimoji="1" lang="zh-CN" altLang="en-US"/>
          </a:p>
        </p:txBody>
      </p:sp>
      <p:sp>
        <p:nvSpPr>
          <p:cNvPr id="17" name="Slide Number Placeholder 5"/>
          <p:cNvSpPr>
            <a:spLocks noGrp="1"/>
          </p:cNvSpPr>
          <p:nvPr>
            <p:ph type="sldNum" sz="quarter" idx="12"/>
          </p:nvPr>
        </p:nvSpPr>
        <p:spPr>
          <a:xfrm>
            <a:off x="10558300" y="5597317"/>
            <a:ext cx="1052508" cy="365125"/>
          </a:xfrm>
        </p:spPr>
        <p:txBody>
          <a:bodyPr/>
          <a:lstStyle/>
          <a:p>
            <a:fld id="{977BA8E6-E826-B147-AA17-E3D76A29629C}" type="slidenum">
              <a:rPr kumimoji="1" lang="zh-CN" altLang="en-US" smtClean="0"/>
            </a:fld>
            <a:endParaRPr kumimoji="1" lang="zh-CN" altLang="en-US"/>
          </a:p>
        </p:txBody>
      </p:sp>
      <p:sp>
        <p:nvSpPr>
          <p:cNvPr id="18" name="Title 1"/>
          <p:cNvSpPr>
            <a:spLocks noGrp="1"/>
          </p:cNvSpPr>
          <p:nvPr>
            <p:ph type="title"/>
          </p:nvPr>
        </p:nvSpPr>
        <p:spPr>
          <a:xfrm>
            <a:off x="1431882" y="490438"/>
            <a:ext cx="10178925" cy="1351451"/>
          </a:xfrm>
          <a:prstGeom prst="rect">
            <a:avLst/>
          </a:prstGeom>
        </p:spPr>
        <p:txBody>
          <a:bodyPr anchor="ctr">
            <a:normAutofit/>
          </a:bodyPr>
          <a:lstStyle>
            <a:lvl1pPr algn="l">
              <a:defRPr sz="3600"/>
            </a:lvl1pPr>
          </a:lstStyle>
          <a:p>
            <a:r>
              <a:rPr lang="zh-CN" altLang="en-US"/>
              <a:t>单击此处编辑母版标题样式</a:t>
            </a:r>
            <a:endParaRPr lang="en-US"/>
          </a:p>
        </p:txBody>
      </p:sp>
      <p:sp>
        <p:nvSpPr>
          <p:cNvPr id="21" name="Rectangle 8"/>
          <p:cNvSpPr/>
          <p:nvPr userDrawn="1"/>
        </p:nvSpPr>
        <p:spPr>
          <a:xfrm rot="5400000">
            <a:off x="-2692137" y="3263038"/>
            <a:ext cx="6858000" cy="331923"/>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pic>
        <p:nvPicPr>
          <p:cNvPr id="9" name="图片 8"/>
          <p:cNvPicPr/>
          <p:nvPr userDrawn="1"/>
        </p:nvPicPr>
        <p:blipFill rotWithShape="1">
          <a:blip r:embed="rId2" cstate="print">
            <a:clrChange>
              <a:clrFrom>
                <a:srgbClr val="FEFEFE"/>
              </a:clrFrom>
              <a:clrTo>
                <a:srgbClr val="FEFEFE">
                  <a:alpha val="0"/>
                </a:srgbClr>
              </a:clrTo>
            </a:clrChange>
            <a:duotone>
              <a:schemeClr val="accent1">
                <a:shade val="45000"/>
                <a:satMod val="135000"/>
              </a:schemeClr>
              <a:prstClr val="white"/>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rcRect/>
          <a:stretch>
            <a:fillRect/>
          </a:stretch>
        </p:blipFill>
        <p:spPr>
          <a:xfrm>
            <a:off x="7418876" y="6054012"/>
            <a:ext cx="4191931" cy="475343"/>
          </a:xfrm>
          <a:prstGeom prst="rect">
            <a:avLst/>
          </a:prstGeom>
        </p:spPr>
      </p:pic>
      <p:pic>
        <p:nvPicPr>
          <p:cNvPr id="2" name="图片 1"/>
          <p:cNvPicPr>
            <a:picLocks noChangeAspect="1"/>
          </p:cNvPicPr>
          <p:nvPr userDrawn="1"/>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0523013" y="0"/>
            <a:ext cx="1668987" cy="706285"/>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showMasterSp="0" userDrawn="1">
  <p:cSld name="节标题">
    <p:spTree>
      <p:nvGrpSpPr>
        <p:cNvPr id="1" name=""/>
        <p:cNvGrpSpPr/>
        <p:nvPr/>
      </p:nvGrpSpPr>
      <p:grpSpPr>
        <a:xfrm>
          <a:off x="0" y="0"/>
          <a:ext cx="0" cy="0"/>
          <a:chOff x="0" y="0"/>
          <a:chExt cx="0" cy="0"/>
        </a:xfrm>
      </p:grpSpPr>
      <p:grpSp>
        <p:nvGrpSpPr>
          <p:cNvPr id="9" name="组合 8"/>
          <p:cNvGrpSpPr/>
          <p:nvPr userDrawn="1"/>
        </p:nvGrpSpPr>
        <p:grpSpPr>
          <a:xfrm>
            <a:off x="599225" y="1736370"/>
            <a:ext cx="10993549" cy="1903301"/>
            <a:chOff x="599225" y="1921565"/>
            <a:chExt cx="10993549" cy="1903301"/>
          </a:xfrm>
        </p:grpSpPr>
        <p:sp>
          <p:nvSpPr>
            <p:cNvPr id="10" name="矩形 9"/>
            <p:cNvSpPr/>
            <p:nvPr userDrawn="1"/>
          </p:nvSpPr>
          <p:spPr>
            <a:xfrm>
              <a:off x="599225" y="1921565"/>
              <a:ext cx="10993549" cy="19033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矩形 11"/>
            <p:cNvSpPr/>
            <p:nvPr userDrawn="1"/>
          </p:nvSpPr>
          <p:spPr>
            <a:xfrm>
              <a:off x="599227" y="1921566"/>
              <a:ext cx="192900" cy="19033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24" name="Title 1"/>
          <p:cNvSpPr>
            <a:spLocks noGrp="1"/>
          </p:cNvSpPr>
          <p:nvPr>
            <p:ph type="ctrTitle"/>
          </p:nvPr>
        </p:nvSpPr>
        <p:spPr>
          <a:xfrm>
            <a:off x="963169" y="2028083"/>
            <a:ext cx="10265664" cy="1376851"/>
          </a:xfrm>
          <a:prstGeom prst="rect">
            <a:avLst/>
          </a:prstGeom>
          <a:effectLst/>
        </p:spPr>
        <p:txBody>
          <a:bodyPr anchor="ctr">
            <a:normAutofit/>
          </a:bodyPr>
          <a:lstStyle>
            <a:lvl1pPr algn="l">
              <a:defRPr lang="en-US" altLang="en-US" sz="3600" b="0" kern="1200" cap="all" dirty="0">
                <a:solidFill>
                  <a:srgbClr val="5C307D"/>
                </a:solidFill>
                <a:latin typeface="+mj-lt"/>
                <a:ea typeface="+mj-ea"/>
                <a:cs typeface="+mj-cs"/>
              </a:defRPr>
            </a:lvl1pPr>
          </a:lstStyle>
          <a:p>
            <a:r>
              <a:rPr lang="zh-CN" altLang="en-US"/>
              <a:t>单击此处编辑母版标题样式</a:t>
            </a:r>
            <a:endParaRPr lang="en-US"/>
          </a:p>
        </p:txBody>
      </p:sp>
      <p:sp>
        <p:nvSpPr>
          <p:cNvPr id="25" name="Subtitle 2"/>
          <p:cNvSpPr>
            <a:spLocks noGrp="1"/>
          </p:cNvSpPr>
          <p:nvPr>
            <p:ph type="subTitle" idx="1"/>
          </p:nvPr>
        </p:nvSpPr>
        <p:spPr>
          <a:xfrm>
            <a:off x="963169" y="3830629"/>
            <a:ext cx="10265664" cy="1340999"/>
          </a:xfrm>
        </p:spPr>
        <p:txBody>
          <a:bodyPr anchor="t">
            <a:normAutofit/>
          </a:bodyPr>
          <a:lstStyle>
            <a:lvl1pPr marL="0" indent="0" algn="l">
              <a:buNone/>
              <a:defRPr sz="20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a:p>
        </p:txBody>
      </p:sp>
      <p:sp>
        <p:nvSpPr>
          <p:cNvPr id="27" name="日期占位符 10"/>
          <p:cNvSpPr>
            <a:spLocks noGrp="1"/>
          </p:cNvSpPr>
          <p:nvPr>
            <p:ph type="dt" sz="half" idx="10"/>
          </p:nvPr>
        </p:nvSpPr>
        <p:spPr>
          <a:xfrm>
            <a:off x="7523545" y="5597323"/>
            <a:ext cx="2523280" cy="365125"/>
          </a:xfrm>
        </p:spPr>
        <p:txBody>
          <a:bodyPr/>
          <a:lstStyle/>
          <a:p>
            <a:fld id="{E4551058-E5DB-324A-A8E9-6D3BEF243C3B}" type="datetimeFigureOut">
              <a:rPr kumimoji="1" lang="zh-CN" altLang="en-US" smtClean="0"/>
            </a:fld>
            <a:endParaRPr kumimoji="1" lang="zh-CN" altLang="en-US"/>
          </a:p>
        </p:txBody>
      </p:sp>
      <p:sp>
        <p:nvSpPr>
          <p:cNvPr id="28" name="页脚占位符 11"/>
          <p:cNvSpPr>
            <a:spLocks noGrp="1"/>
          </p:cNvSpPr>
          <p:nvPr>
            <p:ph type="ftr" sz="quarter" idx="11"/>
          </p:nvPr>
        </p:nvSpPr>
        <p:spPr>
          <a:xfrm>
            <a:off x="833377" y="5592997"/>
            <a:ext cx="6585500" cy="365125"/>
          </a:xfrm>
        </p:spPr>
        <p:txBody>
          <a:bodyPr/>
          <a:lstStyle/>
          <a:p>
            <a:endParaRPr kumimoji="1" lang="zh-CN" altLang="en-US"/>
          </a:p>
        </p:txBody>
      </p:sp>
      <p:sp>
        <p:nvSpPr>
          <p:cNvPr id="29" name="灯片编号占位符 12"/>
          <p:cNvSpPr>
            <a:spLocks noGrp="1"/>
          </p:cNvSpPr>
          <p:nvPr>
            <p:ph type="sldNum" sz="quarter" idx="12"/>
          </p:nvPr>
        </p:nvSpPr>
        <p:spPr>
          <a:xfrm>
            <a:off x="10151493" y="5597323"/>
            <a:ext cx="1203271" cy="365125"/>
          </a:xfrm>
        </p:spPr>
        <p:txBody>
          <a:bodyPr/>
          <a:lstStyle/>
          <a:p>
            <a:fld id="{977BA8E6-E826-B147-AA17-E3D76A29629C}" type="slidenum">
              <a:rPr kumimoji="1" lang="zh-CN" altLang="en-US" smtClean="0"/>
            </a:fld>
            <a:endParaRPr kumimoji="1" lang="zh-CN" altLang="en-US"/>
          </a:p>
        </p:txBody>
      </p:sp>
      <p:pic>
        <p:nvPicPr>
          <p:cNvPr id="11" name="图片 10"/>
          <p:cNvPicPr/>
          <p:nvPr userDrawn="1"/>
        </p:nvPicPr>
        <p:blipFill rotWithShape="1">
          <a:blip r:embed="rId2" cstate="print">
            <a:clrChange>
              <a:clrFrom>
                <a:srgbClr val="FEFEFE"/>
              </a:clrFrom>
              <a:clrTo>
                <a:srgbClr val="FEFEFE">
                  <a:alpha val="0"/>
                </a:srgbClr>
              </a:clrTo>
            </a:clrChange>
            <a:duotone>
              <a:schemeClr val="accent1">
                <a:shade val="45000"/>
                <a:satMod val="135000"/>
              </a:schemeClr>
              <a:prstClr val="white"/>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rcRect/>
          <a:stretch>
            <a:fillRect/>
          </a:stretch>
        </p:blipFill>
        <p:spPr>
          <a:xfrm>
            <a:off x="7418876" y="6054012"/>
            <a:ext cx="4191931" cy="475343"/>
          </a:xfrm>
          <a:prstGeom prst="rect">
            <a:avLst/>
          </a:prstGeom>
        </p:spPr>
      </p:pic>
      <p:pic>
        <p:nvPicPr>
          <p:cNvPr id="3" name="图片 2"/>
          <p:cNvPicPr>
            <a:picLocks noChangeAspect="1"/>
          </p:cNvPicPr>
          <p:nvPr userDrawn="1"/>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0523013" y="0"/>
            <a:ext cx="1668987" cy="706285"/>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81194" y="2228004"/>
            <a:ext cx="5422391" cy="3633047"/>
          </a:xfrm>
        </p:spPr>
        <p:txBody>
          <a:bodyPr>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Content Placeholder 3"/>
          <p:cNvSpPr>
            <a:spLocks noGrp="1"/>
          </p:cNvSpPr>
          <p:nvPr>
            <p:ph sz="half" idx="2"/>
          </p:nvPr>
        </p:nvSpPr>
        <p:spPr>
          <a:xfrm>
            <a:off x="6188417" y="2228004"/>
            <a:ext cx="5422392" cy="3633047"/>
          </a:xfrm>
        </p:spPr>
        <p:txBody>
          <a:bodyPr>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5" name="Date Placeholder 4"/>
          <p:cNvSpPr>
            <a:spLocks noGrp="1"/>
          </p:cNvSpPr>
          <p:nvPr>
            <p:ph type="dt" sz="half" idx="10"/>
          </p:nvPr>
        </p:nvSpPr>
        <p:spPr/>
        <p:txBody>
          <a:bodyPr/>
          <a:lstStyle/>
          <a:p>
            <a:fld id="{E4551058-E5DB-324A-A8E9-6D3BEF243C3B}" type="datetimeFigureOut">
              <a:rPr kumimoji="1" lang="zh-CN" altLang="en-US" smtClean="0"/>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977BA8E6-E826-B147-AA17-E3D76A29629C}" type="slidenum">
              <a:rPr kumimoji="1" lang="zh-CN" altLang="en-US" smtClean="0"/>
            </a:fld>
            <a:endParaRPr kumimoji="1" lang="zh-CN" altLang="en-US"/>
          </a:p>
        </p:txBody>
      </p:sp>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87220" y="2250894"/>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581195" y="2926054"/>
            <a:ext cx="5393100" cy="2934999"/>
          </a:xfrm>
        </p:spPr>
        <p:txBody>
          <a:bodyPr anchor="t">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5" name="Text Placeholder 4"/>
          <p:cNvSpPr>
            <a:spLocks noGrp="1"/>
          </p:cNvSpPr>
          <p:nvPr>
            <p:ph type="body" sz="quarter" idx="3"/>
          </p:nvPr>
        </p:nvSpPr>
        <p:spPr>
          <a:xfrm>
            <a:off x="6523737" y="2250894"/>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6217710" y="2926054"/>
            <a:ext cx="5393100" cy="2934999"/>
          </a:xfrm>
        </p:spPr>
        <p:txBody>
          <a:bodyPr anchor="t">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7" name="Date Placeholder 6"/>
          <p:cNvSpPr>
            <a:spLocks noGrp="1"/>
          </p:cNvSpPr>
          <p:nvPr>
            <p:ph type="dt" sz="half" idx="10"/>
          </p:nvPr>
        </p:nvSpPr>
        <p:spPr/>
        <p:txBody>
          <a:bodyPr/>
          <a:lstStyle/>
          <a:p>
            <a:fld id="{E4551058-E5DB-324A-A8E9-6D3BEF243C3B}" type="datetimeFigureOut">
              <a:rPr kumimoji="1" lang="zh-CN" altLang="en-US" smtClean="0"/>
            </a:fld>
            <a:endParaRPr kumimoji="1" lang="zh-CN" altLang="en-US"/>
          </a:p>
        </p:txBody>
      </p:sp>
      <p:sp>
        <p:nvSpPr>
          <p:cNvPr id="8" name="Footer Placeholder 7"/>
          <p:cNvSpPr>
            <a:spLocks noGrp="1"/>
          </p:cNvSpPr>
          <p:nvPr>
            <p:ph type="ftr" sz="quarter" idx="11"/>
          </p:nvPr>
        </p:nvSpPr>
        <p:spPr/>
        <p:txBody>
          <a:bodyPr/>
          <a:lstStyle/>
          <a:p>
            <a:endParaRPr kumimoji="1" lang="zh-CN" altLang="en-US"/>
          </a:p>
        </p:txBody>
      </p:sp>
      <p:sp>
        <p:nvSpPr>
          <p:cNvPr id="9" name="Slide Number Placeholder 8"/>
          <p:cNvSpPr>
            <a:spLocks noGrp="1"/>
          </p:cNvSpPr>
          <p:nvPr>
            <p:ph type="sldNum" sz="quarter" idx="12"/>
          </p:nvPr>
        </p:nvSpPr>
        <p:spPr/>
        <p:txBody>
          <a:bodyPr/>
          <a:lstStyle/>
          <a:p>
            <a:fld id="{977BA8E6-E826-B147-AA17-E3D76A29629C}" type="slidenum">
              <a:rPr kumimoji="1" lang="zh-CN" altLang="en-US" smtClean="0"/>
            </a:fld>
            <a:endParaRPr kumimoji="1" lang="zh-CN" altLang="en-US"/>
          </a:p>
        </p:txBody>
      </p:sp>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E4551058-E5DB-324A-A8E9-6D3BEF243C3B}" type="datetimeFigureOut">
              <a:rPr kumimoji="1" lang="zh-CN" altLang="en-US" smtClean="0"/>
            </a:fld>
            <a:endParaRPr kumimoji="1" lang="zh-CN" altLang="en-US"/>
          </a:p>
        </p:txBody>
      </p:sp>
      <p:sp>
        <p:nvSpPr>
          <p:cNvPr id="4" name="Footer Placeholder 3"/>
          <p:cNvSpPr>
            <a:spLocks noGrp="1"/>
          </p:cNvSpPr>
          <p:nvPr>
            <p:ph type="ftr" sz="quarter" idx="11"/>
          </p:nvPr>
        </p:nvSpPr>
        <p:spPr/>
        <p:txBody>
          <a:bodyPr/>
          <a:lstStyle/>
          <a:p>
            <a:endParaRPr kumimoji="1" lang="zh-CN" altLang="en-US"/>
          </a:p>
        </p:txBody>
      </p:sp>
      <p:sp>
        <p:nvSpPr>
          <p:cNvPr id="5" name="Slide Number Placeholder 4"/>
          <p:cNvSpPr>
            <a:spLocks noGrp="1"/>
          </p:cNvSpPr>
          <p:nvPr>
            <p:ph type="sldNum" sz="quarter" idx="12"/>
          </p:nvPr>
        </p:nvSpPr>
        <p:spPr/>
        <p:txBody>
          <a:bodyPr/>
          <a:lstStyle/>
          <a:p>
            <a:fld id="{977BA8E6-E826-B147-AA17-E3D76A29629C}" type="slidenum">
              <a:rPr kumimoji="1" lang="zh-CN" altLang="en-US" smtClean="0"/>
            </a:fld>
            <a:endParaRPr kumimoji="1" lang="zh-CN" altLang="en-US"/>
          </a:p>
        </p:txBody>
      </p:sp>
      <p:sp>
        <p:nvSpPr>
          <p:cNvPr id="2" name="标题 1"/>
          <p:cNvSpPr>
            <a:spLocks noGrp="1"/>
          </p:cNvSpPr>
          <p:nvPr>
            <p:ph type="title"/>
          </p:nvPr>
        </p:nvSpPr>
        <p:spPr/>
        <p:txBody>
          <a:bodyPr/>
          <a:lstStyle>
            <a:lvl1pPr>
              <a:defRPr cap="none" baseline="0"/>
            </a:lvl1pPr>
          </a:lstStyle>
          <a:p>
            <a:r>
              <a:rPr kumimoji="1" lang="zh-CN" altLang="en-US"/>
              <a:t>单击此处编辑母版标题样式</a:t>
            </a:r>
            <a:endParaRPr kumimoji="1"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4551058-E5DB-324A-A8E9-6D3BEF243C3B}" type="datetimeFigureOut">
              <a:rPr kumimoji="1" lang="zh-CN" altLang="en-US" smtClean="0"/>
            </a:fld>
            <a:endParaRPr kumimoji="1" lang="zh-CN" altLang="en-US"/>
          </a:p>
        </p:txBody>
      </p:sp>
      <p:sp>
        <p:nvSpPr>
          <p:cNvPr id="3" name="Footer Placeholder 2"/>
          <p:cNvSpPr>
            <a:spLocks noGrp="1"/>
          </p:cNvSpPr>
          <p:nvPr>
            <p:ph type="ftr" sz="quarter" idx="11"/>
          </p:nvPr>
        </p:nvSpPr>
        <p:spPr/>
        <p:txBody>
          <a:bodyPr/>
          <a:lstStyle/>
          <a:p>
            <a:endParaRPr kumimoji="1" lang="zh-CN" altLang="en-US"/>
          </a:p>
        </p:txBody>
      </p:sp>
      <p:sp>
        <p:nvSpPr>
          <p:cNvPr id="4" name="Slide Number Placeholder 3"/>
          <p:cNvSpPr>
            <a:spLocks noGrp="1"/>
          </p:cNvSpPr>
          <p:nvPr>
            <p:ph type="sldNum" sz="quarter" idx="12"/>
          </p:nvPr>
        </p:nvSpPr>
        <p:spPr/>
        <p:txBody>
          <a:bodyPr/>
          <a:lstStyle/>
          <a:p>
            <a:fld id="{977BA8E6-E826-B147-AA17-E3D76A29629C}" type="slidenum">
              <a:rPr kumimoji="1" lang="zh-CN" altLang="en-US" smtClean="0"/>
            </a:fld>
            <a:endParaRPr kumimoji="1" lang="zh-CN" altLang="en-US"/>
          </a:p>
        </p:txBody>
      </p:sp>
      <p:pic>
        <p:nvPicPr>
          <p:cNvPr id="6" name="图片 5"/>
          <p:cNvPicPr/>
          <p:nvPr userDrawn="1"/>
        </p:nvPicPr>
        <p:blipFill rotWithShape="1">
          <a:blip r:embed="rId2" cstate="print">
            <a:clrChange>
              <a:clrFrom>
                <a:srgbClr val="FEFEFE"/>
              </a:clrFrom>
              <a:clrTo>
                <a:srgbClr val="FEFEFE">
                  <a:alpha val="0"/>
                </a:srgbClr>
              </a:clrTo>
            </a:clrChange>
            <a:duotone>
              <a:schemeClr val="accent1">
                <a:shade val="45000"/>
                <a:satMod val="135000"/>
              </a:schemeClr>
              <a:prstClr val="white"/>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rcRect/>
          <a:stretch>
            <a:fillRect/>
          </a:stretch>
        </p:blipFill>
        <p:spPr>
          <a:xfrm>
            <a:off x="7418876" y="6054012"/>
            <a:ext cx="4191931" cy="475343"/>
          </a:xfrm>
          <a:prstGeom prst="rect">
            <a:avLst/>
          </a:prstGeom>
        </p:spPr>
      </p:pic>
      <p:pic>
        <p:nvPicPr>
          <p:cNvPr id="7" name="图片 6"/>
          <p:cNvPicPr>
            <a:picLocks noChangeAspect="1"/>
          </p:cNvPicPr>
          <p:nvPr userDrawn="1"/>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0523013" y="0"/>
            <a:ext cx="1668987" cy="706285"/>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showMasterSp="0">
  <p:cSld name="内容与标题">
    <p:spTree>
      <p:nvGrpSpPr>
        <p:cNvPr id="1" name=""/>
        <p:cNvGrpSpPr/>
        <p:nvPr/>
      </p:nvGrpSpPr>
      <p:grpSpPr>
        <a:xfrm>
          <a:off x="0" y="0"/>
          <a:ext cx="0" cy="0"/>
          <a:chOff x="0" y="0"/>
          <a:chExt cx="0" cy="0"/>
        </a:xfrm>
      </p:grpSpPr>
      <p:sp>
        <p:nvSpPr>
          <p:cNvPr id="10" name="Rectangle 7"/>
          <p:cNvSpPr>
            <a:spLocks noChangeAspect="1"/>
          </p:cNvSpPr>
          <p:nvPr userDrawn="1"/>
        </p:nvSpPr>
        <p:spPr>
          <a:xfrm>
            <a:off x="447816" y="4914808"/>
            <a:ext cx="385561" cy="10322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2" name="Title 1"/>
          <p:cNvSpPr>
            <a:spLocks noGrp="1"/>
          </p:cNvSpPr>
          <p:nvPr>
            <p:ph type="title"/>
          </p:nvPr>
        </p:nvSpPr>
        <p:spPr>
          <a:xfrm>
            <a:off x="1021463" y="4928762"/>
            <a:ext cx="10333301" cy="653148"/>
          </a:xfrm>
          <a:prstGeom prst="rect">
            <a:avLst/>
          </a:prstGeom>
        </p:spPr>
        <p:txBody>
          <a:bodyPr anchor="ctr">
            <a:normAutofit/>
          </a:bodyPr>
          <a:lstStyle>
            <a:lvl1pPr algn="l">
              <a:defRPr sz="2400" b="0">
                <a:solidFill>
                  <a:srgbClr val="5C307D"/>
                </a:solidFill>
              </a:defRPr>
            </a:lvl1pPr>
          </a:lstStyle>
          <a:p>
            <a:r>
              <a:rPr lang="zh-CN" altLang="en-US"/>
              <a:t>单击此处编辑母版标题样式</a:t>
            </a:r>
            <a:endParaRPr lang="en-US"/>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Text Placeholder 3"/>
          <p:cNvSpPr>
            <a:spLocks noGrp="1"/>
          </p:cNvSpPr>
          <p:nvPr>
            <p:ph type="body" sz="half" idx="2"/>
          </p:nvPr>
        </p:nvSpPr>
        <p:spPr>
          <a:xfrm>
            <a:off x="1021463" y="5581910"/>
            <a:ext cx="10333301" cy="365126"/>
          </a:xfrm>
        </p:spPr>
        <p:txBody>
          <a:bodyPr anchor="ctr">
            <a:normAutofit/>
          </a:bodyPr>
          <a:lstStyle>
            <a:lvl1pPr marL="0" indent="0" algn="l">
              <a:buNone/>
              <a:defRPr sz="1600">
                <a:solidFill>
                  <a:srgbClr val="5C307D"/>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a:xfrm>
            <a:off x="7523545" y="6060170"/>
            <a:ext cx="2523280" cy="365125"/>
          </a:xfrm>
        </p:spPr>
        <p:txBody>
          <a:bodyPr/>
          <a:lstStyle>
            <a:lvl1pPr>
              <a:defRPr>
                <a:solidFill>
                  <a:schemeClr val="accent1">
                    <a:lumMod val="75000"/>
                    <a:lumOff val="25000"/>
                  </a:schemeClr>
                </a:solidFill>
              </a:defRPr>
            </a:lvl1pPr>
          </a:lstStyle>
          <a:p>
            <a:fld id="{E4551058-E5DB-324A-A8E9-6D3BEF243C3B}" type="datetimeFigureOut">
              <a:rPr kumimoji="1" lang="zh-CN" altLang="en-US" smtClean="0"/>
            </a:fld>
            <a:endParaRPr kumimoji="1" lang="zh-CN" altLang="en-US"/>
          </a:p>
        </p:txBody>
      </p:sp>
      <p:sp>
        <p:nvSpPr>
          <p:cNvPr id="6" name="Footer Placeholder 5"/>
          <p:cNvSpPr>
            <a:spLocks noGrp="1"/>
          </p:cNvSpPr>
          <p:nvPr>
            <p:ph type="ftr" sz="quarter" idx="11"/>
          </p:nvPr>
        </p:nvSpPr>
        <p:spPr>
          <a:xfrm>
            <a:off x="833377" y="6055844"/>
            <a:ext cx="6585500" cy="365125"/>
          </a:xfrm>
        </p:spPr>
        <p:txBody>
          <a:bodyPr/>
          <a:lstStyle>
            <a:lvl1pPr>
              <a:defRPr>
                <a:solidFill>
                  <a:schemeClr val="accent1">
                    <a:lumMod val="75000"/>
                    <a:lumOff val="25000"/>
                  </a:schemeClr>
                </a:solidFill>
              </a:defRPr>
            </a:lvl1pPr>
          </a:lstStyle>
          <a:p>
            <a:endParaRPr kumimoji="1" lang="zh-CN" altLang="en-US"/>
          </a:p>
        </p:txBody>
      </p:sp>
      <p:sp>
        <p:nvSpPr>
          <p:cNvPr id="7" name="Slide Number Placeholder 6"/>
          <p:cNvSpPr>
            <a:spLocks noGrp="1"/>
          </p:cNvSpPr>
          <p:nvPr>
            <p:ph type="sldNum" sz="quarter" idx="12"/>
          </p:nvPr>
        </p:nvSpPr>
        <p:spPr>
          <a:xfrm>
            <a:off x="10151493" y="6060170"/>
            <a:ext cx="1203271" cy="365125"/>
          </a:xfrm>
        </p:spPr>
        <p:txBody>
          <a:bodyPr/>
          <a:lstStyle>
            <a:lvl1pPr>
              <a:defRPr>
                <a:solidFill>
                  <a:schemeClr val="accent1">
                    <a:lumMod val="75000"/>
                    <a:lumOff val="25000"/>
                  </a:schemeClr>
                </a:solidFill>
              </a:defRPr>
            </a:lvl1pPr>
          </a:lstStyle>
          <a:p>
            <a:fld id="{977BA8E6-E826-B147-AA17-E3D76A29629C}" type="slidenum">
              <a:rPr kumimoji="1" lang="zh-CN" altLang="en-US" smtClean="0"/>
            </a:fld>
            <a:endParaRPr kumimoji="1" lang="zh-CN" altLang="en-US"/>
          </a:p>
        </p:txBody>
      </p:sp>
      <p:pic>
        <p:nvPicPr>
          <p:cNvPr id="11" name="图片 10"/>
          <p:cNvPicPr/>
          <p:nvPr userDrawn="1"/>
        </p:nvPicPr>
        <p:blipFill rotWithShape="1">
          <a:blip r:embed="rId2" cstate="print">
            <a:clrChange>
              <a:clrFrom>
                <a:srgbClr val="FEFEFE"/>
              </a:clrFrom>
              <a:clrTo>
                <a:srgbClr val="FEFEFE">
                  <a:alpha val="0"/>
                </a:srgbClr>
              </a:clrTo>
            </a:clrChange>
            <a:duotone>
              <a:schemeClr val="accent1">
                <a:shade val="45000"/>
                <a:satMod val="135000"/>
              </a:schemeClr>
              <a:prstClr val="white"/>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rcRect/>
          <a:stretch>
            <a:fillRect/>
          </a:stretch>
        </p:blipFill>
        <p:spPr>
          <a:xfrm>
            <a:off x="7418876" y="6054012"/>
            <a:ext cx="4191931" cy="475343"/>
          </a:xfrm>
          <a:prstGeom prst="rect">
            <a:avLst/>
          </a:prstGeom>
        </p:spPr>
      </p:pic>
      <p:pic>
        <p:nvPicPr>
          <p:cNvPr id="9" name="图片 8"/>
          <p:cNvPicPr>
            <a:picLocks noChangeAspect="1"/>
          </p:cNvPicPr>
          <p:nvPr userDrawn="1"/>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0523013" y="0"/>
            <a:ext cx="1668987" cy="706285"/>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showMasterSp="0">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81193" y="4395677"/>
            <a:ext cx="11029616" cy="566738"/>
          </a:xfrm>
          <a:prstGeom prst="rect">
            <a:avLst/>
          </a:prstGeom>
        </p:spPr>
        <p:txBody>
          <a:bodyPr anchor="b">
            <a:normAutofit/>
          </a:bodyPr>
          <a:lstStyle>
            <a:lvl1pPr algn="l">
              <a:defRPr sz="2400" b="0">
                <a:solidFill>
                  <a:schemeClr val="accent1"/>
                </a:solidFill>
              </a:defRPr>
            </a:lvl1pPr>
          </a:lstStyle>
          <a:p>
            <a:r>
              <a:rPr lang="zh-CN" altLang="en-US"/>
              <a:t>单击此处编辑母版标题样式</a:t>
            </a:r>
            <a:endParaRPr lang="en-US"/>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a:p>
        </p:txBody>
      </p:sp>
      <p:sp>
        <p:nvSpPr>
          <p:cNvPr id="4" name="Text Placeholder 3"/>
          <p:cNvSpPr>
            <a:spLocks noGrp="1"/>
          </p:cNvSpPr>
          <p:nvPr>
            <p:ph type="body" sz="half" idx="2"/>
          </p:nvPr>
        </p:nvSpPr>
        <p:spPr>
          <a:xfrm>
            <a:off x="581193" y="4962417"/>
            <a:ext cx="11029617" cy="598671"/>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E4551058-E5DB-324A-A8E9-6D3BEF243C3B}" type="datetimeFigureOut">
              <a:rPr kumimoji="1" lang="zh-CN" altLang="en-US" smtClean="0"/>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977BA8E6-E826-B147-AA17-E3D76A29629C}" type="slidenum">
              <a:rPr kumimoji="1" lang="zh-CN" altLang="en-US" smtClean="0"/>
            </a:fld>
            <a:endParaRPr kumimoji="1" lang="zh-CN" altLang="en-US"/>
          </a:p>
        </p:txBody>
      </p:sp>
      <p:pic>
        <p:nvPicPr>
          <p:cNvPr id="9" name="图片 8"/>
          <p:cNvPicPr/>
          <p:nvPr userDrawn="1"/>
        </p:nvPicPr>
        <p:blipFill rotWithShape="1">
          <a:blip r:embed="rId2" cstate="print">
            <a:clrChange>
              <a:clrFrom>
                <a:srgbClr val="FEFEFE"/>
              </a:clrFrom>
              <a:clrTo>
                <a:srgbClr val="FEFEFE">
                  <a:alpha val="0"/>
                </a:srgbClr>
              </a:clrTo>
            </a:clrChange>
            <a:duotone>
              <a:schemeClr val="accent1">
                <a:shade val="45000"/>
                <a:satMod val="135000"/>
              </a:schemeClr>
              <a:prstClr val="white"/>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rcRect/>
          <a:stretch>
            <a:fillRect/>
          </a:stretch>
        </p:blipFill>
        <p:spPr>
          <a:xfrm>
            <a:off x="7418876" y="6054012"/>
            <a:ext cx="4191931" cy="475343"/>
          </a:xfrm>
          <a:prstGeom prst="rect">
            <a:avLst/>
          </a:prstGeom>
        </p:spPr>
      </p:pic>
      <p:pic>
        <p:nvPicPr>
          <p:cNvPr id="10" name="图片 9"/>
          <p:cNvPicPr>
            <a:picLocks noChangeAspect="1"/>
          </p:cNvPicPr>
          <p:nvPr userDrawn="1"/>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0523013" y="0"/>
            <a:ext cx="1668987" cy="706285"/>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标题和竖排文字">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Date Placeholder 3"/>
          <p:cNvSpPr>
            <a:spLocks noGrp="1"/>
          </p:cNvSpPr>
          <p:nvPr>
            <p:ph type="dt" sz="half" idx="10"/>
          </p:nvPr>
        </p:nvSpPr>
        <p:spPr/>
        <p:txBody>
          <a:bodyPr/>
          <a:lstStyle/>
          <a:p>
            <a:fld id="{E4551058-E5DB-324A-A8E9-6D3BEF243C3B}" type="datetimeFigureOut">
              <a:rPr kumimoji="1" lang="zh-CN" altLang="en-US" smtClean="0"/>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977BA8E6-E826-B147-AA17-E3D76A29629C}" type="slidenum">
              <a:rPr kumimoji="1" lang="zh-CN" altLang="en-US" smtClean="0"/>
            </a:fld>
            <a:endParaRPr kumimoji="1" lang="zh-CN" altLang="en-US"/>
          </a:p>
        </p:txBody>
      </p:sp>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showMasterSp="0" userDrawn="1">
  <p:cSld name="竖排标题与文本">
    <p:spTree>
      <p:nvGrpSpPr>
        <p:cNvPr id="1" name=""/>
        <p:cNvGrpSpPr/>
        <p:nvPr/>
      </p:nvGrpSpPr>
      <p:grpSpPr>
        <a:xfrm>
          <a:off x="0" y="0"/>
          <a:ext cx="0" cy="0"/>
          <a:chOff x="0" y="0"/>
          <a:chExt cx="0" cy="0"/>
        </a:xfrm>
      </p:grpSpPr>
      <p:sp>
        <p:nvSpPr>
          <p:cNvPr id="10" name="Rectangle 6"/>
          <p:cNvSpPr>
            <a:spLocks noChangeAspect="1"/>
          </p:cNvSpPr>
          <p:nvPr userDrawn="1"/>
        </p:nvSpPr>
        <p:spPr>
          <a:xfrm>
            <a:off x="8884030" y="675726"/>
            <a:ext cx="88976" cy="79183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Vertical Title 1"/>
          <p:cNvSpPr>
            <a:spLocks noGrp="1"/>
          </p:cNvSpPr>
          <p:nvPr>
            <p:ph type="title" orient="vert"/>
          </p:nvPr>
        </p:nvSpPr>
        <p:spPr>
          <a:xfrm>
            <a:off x="9169649" y="675726"/>
            <a:ext cx="1899496" cy="5183073"/>
          </a:xfrm>
          <a:prstGeom prst="rect">
            <a:avLst/>
          </a:prstGeom>
        </p:spPr>
        <p:txBody>
          <a:bodyPr vert="eaVert" anchor="b"/>
          <a:lstStyle/>
          <a:p>
            <a:r>
              <a:rPr lang="zh-CN" altLang="en-US"/>
              <a:t>单击此处编辑母版标题样式</a:t>
            </a:r>
            <a:endParaRPr lang="en-US"/>
          </a:p>
        </p:txBody>
      </p:sp>
      <p:sp>
        <p:nvSpPr>
          <p:cNvPr id="12" name="Vertical Text Placeholder 2"/>
          <p:cNvSpPr>
            <a:spLocks noGrp="1"/>
          </p:cNvSpPr>
          <p:nvPr>
            <p:ph type="body" orient="vert" idx="1"/>
          </p:nvPr>
        </p:nvSpPr>
        <p:spPr>
          <a:xfrm>
            <a:off x="774923" y="675726"/>
            <a:ext cx="7791611" cy="5183073"/>
          </a:xfrm>
        </p:spPr>
        <p:txBody>
          <a:bodyPr vert="eaVert" ancho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2" name="日期占位符 1"/>
          <p:cNvSpPr>
            <a:spLocks noGrp="1"/>
          </p:cNvSpPr>
          <p:nvPr>
            <p:ph type="dt" sz="half" idx="10"/>
          </p:nvPr>
        </p:nvSpPr>
        <p:spPr/>
        <p:txBody>
          <a:bodyPr/>
          <a:lstStyle/>
          <a:p>
            <a:fld id="{E4551058-E5DB-324A-A8E9-6D3BEF243C3B}" type="datetimeFigureOut">
              <a:rPr kumimoji="1" lang="zh-CN" altLang="en-US" smtClean="0"/>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p:txBody>
          <a:bodyPr/>
          <a:lstStyle/>
          <a:p>
            <a:fld id="{977BA8E6-E826-B147-AA17-E3D76A29629C}" type="slidenum">
              <a:rPr kumimoji="1" lang="zh-CN" altLang="en-US" smtClean="0"/>
            </a:fld>
            <a:endParaRPr kumimoji="1" lang="zh-CN" altLang="en-US"/>
          </a:p>
        </p:txBody>
      </p:sp>
      <p:pic>
        <p:nvPicPr>
          <p:cNvPr id="13" name="图片 12"/>
          <p:cNvPicPr/>
          <p:nvPr userDrawn="1"/>
        </p:nvPicPr>
        <p:blipFill rotWithShape="1">
          <a:blip r:embed="rId2" cstate="print">
            <a:clrChange>
              <a:clrFrom>
                <a:srgbClr val="FEFEFE"/>
              </a:clrFrom>
              <a:clrTo>
                <a:srgbClr val="FEFEFE">
                  <a:alpha val="0"/>
                </a:srgbClr>
              </a:clrTo>
            </a:clrChange>
            <a:duotone>
              <a:schemeClr val="accent1">
                <a:shade val="45000"/>
                <a:satMod val="135000"/>
              </a:schemeClr>
              <a:prstClr val="white"/>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rcRect/>
          <a:stretch>
            <a:fillRect/>
          </a:stretch>
        </p:blipFill>
        <p:spPr>
          <a:xfrm>
            <a:off x="7418876" y="6054012"/>
            <a:ext cx="4191931" cy="475343"/>
          </a:xfrm>
          <a:prstGeom prst="rect">
            <a:avLst/>
          </a:prstGeom>
        </p:spPr>
      </p:pic>
      <p:pic>
        <p:nvPicPr>
          <p:cNvPr id="6" name="图片 5"/>
          <p:cNvPicPr>
            <a:picLocks noChangeAspect="1"/>
          </p:cNvPicPr>
          <p:nvPr userDrawn="1"/>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0523013" y="0"/>
            <a:ext cx="1668987" cy="706285"/>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1.jpeg"/><Relationship Id="rId14" Type="http://schemas.microsoft.com/office/2007/relationships/hdphoto" Target="../media/image3.wdp"/><Relationship Id="rId13" Type="http://schemas.openxmlformats.org/officeDocument/2006/relationships/image" Target="../media/image2.pn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标题占位符 6"/>
          <p:cNvSpPr>
            <a:spLocks noGrp="1"/>
          </p:cNvSpPr>
          <p:nvPr>
            <p:ph type="title"/>
          </p:nvPr>
        </p:nvSpPr>
        <p:spPr>
          <a:xfrm>
            <a:off x="835306" y="593424"/>
            <a:ext cx="10521388" cy="1015200"/>
          </a:xfrm>
          <a:prstGeom prst="rect">
            <a:avLst/>
          </a:prstGeom>
        </p:spPr>
        <p:txBody>
          <a:bodyPr vert="horz" lIns="91440" tIns="45720" rIns="91440" bIns="45720" rtlCol="0" anchor="ctr">
            <a:normAutofit/>
          </a:bodyPr>
          <a:lstStyle/>
          <a:p>
            <a:r>
              <a:rPr kumimoji="1" lang="zh-CN" altLang="en-US"/>
              <a:t>单击此处编辑母版标题样式</a:t>
            </a:r>
            <a:endParaRPr kumimoji="1" lang="zh-CN" altLang="en-US"/>
          </a:p>
        </p:txBody>
      </p:sp>
      <p:sp>
        <p:nvSpPr>
          <p:cNvPr id="3" name="Text Placeholder 2"/>
          <p:cNvSpPr>
            <a:spLocks noGrp="1"/>
          </p:cNvSpPr>
          <p:nvPr>
            <p:ph type="body" idx="1"/>
          </p:nvPr>
        </p:nvSpPr>
        <p:spPr>
          <a:xfrm>
            <a:off x="833376" y="2336003"/>
            <a:ext cx="10521388" cy="3154894"/>
          </a:xfrm>
          <a:prstGeom prst="rect">
            <a:avLst/>
          </a:prstGeom>
        </p:spPr>
        <p:txBody>
          <a:bodyPr vert="horz" lIns="91440" tIns="45720" rIns="91440" bIns="45720" rtlCol="0" anchor="t">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Date Placeholder 3"/>
          <p:cNvSpPr>
            <a:spLocks noGrp="1"/>
          </p:cNvSpPr>
          <p:nvPr>
            <p:ph type="dt" sz="half" idx="2"/>
          </p:nvPr>
        </p:nvSpPr>
        <p:spPr>
          <a:xfrm>
            <a:off x="7523545" y="5597323"/>
            <a:ext cx="2523280" cy="365125"/>
          </a:xfrm>
          <a:prstGeom prst="rect">
            <a:avLst/>
          </a:prstGeom>
        </p:spPr>
        <p:txBody>
          <a:bodyPr vert="horz" lIns="91440" tIns="45720" rIns="91440" bIns="45720" rtlCol="0" anchor="ctr"/>
          <a:lstStyle>
            <a:lvl1pPr algn="r">
              <a:defRPr sz="900">
                <a:solidFill>
                  <a:schemeClr val="accent2"/>
                </a:solidFill>
              </a:defRPr>
            </a:lvl1pPr>
          </a:lstStyle>
          <a:p>
            <a:fld id="{E4551058-E5DB-324A-A8E9-6D3BEF243C3B}" type="datetimeFigureOut">
              <a:rPr kumimoji="1" lang="zh-CN" altLang="en-US" smtClean="0"/>
            </a:fld>
            <a:endParaRPr kumimoji="1" lang="zh-CN" altLang="en-US"/>
          </a:p>
        </p:txBody>
      </p:sp>
      <p:sp>
        <p:nvSpPr>
          <p:cNvPr id="5" name="Footer Placeholder 4"/>
          <p:cNvSpPr>
            <a:spLocks noGrp="1"/>
          </p:cNvSpPr>
          <p:nvPr>
            <p:ph type="ftr" sz="quarter" idx="3"/>
          </p:nvPr>
        </p:nvSpPr>
        <p:spPr>
          <a:xfrm>
            <a:off x="833377" y="5592997"/>
            <a:ext cx="6585500" cy="365125"/>
          </a:xfrm>
          <a:prstGeom prst="rect">
            <a:avLst/>
          </a:prstGeom>
        </p:spPr>
        <p:txBody>
          <a:bodyPr vert="horz" lIns="91440" tIns="45720" rIns="91440" bIns="45720" rtlCol="0" anchor="ctr"/>
          <a:lstStyle>
            <a:lvl1pPr algn="l">
              <a:defRPr sz="900" cap="all">
                <a:solidFill>
                  <a:schemeClr val="accent2"/>
                </a:solidFill>
              </a:defRPr>
            </a:lvl1pPr>
          </a:lstStyle>
          <a:p>
            <a:endParaRPr kumimoji="1" lang="zh-CN" altLang="en-US"/>
          </a:p>
        </p:txBody>
      </p:sp>
      <p:sp>
        <p:nvSpPr>
          <p:cNvPr id="6" name="Slide Number Placeholder 5"/>
          <p:cNvSpPr>
            <a:spLocks noGrp="1"/>
          </p:cNvSpPr>
          <p:nvPr>
            <p:ph type="sldNum" sz="quarter" idx="4"/>
          </p:nvPr>
        </p:nvSpPr>
        <p:spPr>
          <a:xfrm>
            <a:off x="10151493" y="5597323"/>
            <a:ext cx="1203271" cy="365125"/>
          </a:xfrm>
          <a:prstGeom prst="rect">
            <a:avLst/>
          </a:prstGeom>
        </p:spPr>
        <p:txBody>
          <a:bodyPr vert="horz" lIns="91440" tIns="45720" rIns="91440" bIns="45720" rtlCol="0" anchor="ctr"/>
          <a:lstStyle>
            <a:lvl1pPr algn="r">
              <a:defRPr sz="900">
                <a:solidFill>
                  <a:schemeClr val="accent2"/>
                </a:solidFill>
              </a:defRPr>
            </a:lvl1pPr>
          </a:lstStyle>
          <a:p>
            <a:fld id="{977BA8E6-E826-B147-AA17-E3D76A29629C}" type="slidenum">
              <a:rPr kumimoji="1" lang="zh-CN" altLang="en-US" smtClean="0"/>
            </a:fld>
            <a:endParaRPr kumimoji="1" lang="zh-CN" altLang="en-US"/>
          </a:p>
        </p:txBody>
      </p:sp>
      <p:pic>
        <p:nvPicPr>
          <p:cNvPr id="11" name="图片 10"/>
          <p:cNvPicPr/>
          <p:nvPr userDrawn="1"/>
        </p:nvPicPr>
        <p:blipFill rotWithShape="1">
          <a:blip r:embed="rId13" cstate="print">
            <a:clrChange>
              <a:clrFrom>
                <a:srgbClr val="FEFEFE"/>
              </a:clrFrom>
              <a:clrTo>
                <a:srgbClr val="FEFEFE">
                  <a:alpha val="0"/>
                </a:srgbClr>
              </a:clrTo>
            </a:clrChange>
            <a:duotone>
              <a:schemeClr val="accent1">
                <a:shade val="45000"/>
                <a:satMod val="135000"/>
              </a:schemeClr>
              <a:prstClr val="white"/>
            </a:duotone>
            <a:extLst>
              <a:ext uri="{BEBA8EAE-BF5A-486C-A8C5-ECC9F3942E4B}">
                <a14:imgProps xmlns:a14="http://schemas.microsoft.com/office/drawing/2010/main">
                  <a14:imgLayer r:embed="rId14">
                    <a14:imgEffect>
                      <a14:saturation sat="400000"/>
                    </a14:imgEffect>
                  </a14:imgLayer>
                </a14:imgProps>
              </a:ext>
              <a:ext uri="{28A0092B-C50C-407E-A947-70E740481C1C}">
                <a14:useLocalDpi xmlns:a14="http://schemas.microsoft.com/office/drawing/2010/main" val="0"/>
              </a:ext>
            </a:extLst>
          </a:blip>
          <a:srcRect/>
          <a:stretch>
            <a:fillRect/>
          </a:stretch>
        </p:blipFill>
        <p:spPr>
          <a:xfrm>
            <a:off x="7418876" y="6054012"/>
            <a:ext cx="4191931" cy="475343"/>
          </a:xfrm>
          <a:prstGeom prst="rect">
            <a:avLst/>
          </a:prstGeom>
        </p:spPr>
      </p:pic>
      <p:sp>
        <p:nvSpPr>
          <p:cNvPr id="2" name="圆角矩形 1"/>
          <p:cNvSpPr/>
          <p:nvPr userDrawn="1"/>
        </p:nvSpPr>
        <p:spPr>
          <a:xfrm>
            <a:off x="586670" y="651024"/>
            <a:ext cx="80595" cy="900000"/>
          </a:xfrm>
          <a:prstGeom prst="roundRect">
            <a:avLst>
              <a:gd name="adj" fmla="val 0"/>
            </a:avLst>
          </a:prstGeom>
          <a:solidFill>
            <a:srgbClr val="5C307D"/>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8" name="图片 7"/>
          <p:cNvPicPr>
            <a:picLocks noChangeAspect="1"/>
          </p:cNvPicPr>
          <p:nvPr userDrawn="1"/>
        </p:nvPicPr>
        <p:blipFill>
          <a:blip r:embed="rId15"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0523013" y="0"/>
            <a:ext cx="1668987" cy="706285"/>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456565" rtl="0" eaLnBrk="1" latinLnBrk="0" hangingPunct="1">
        <a:spcBef>
          <a:spcPct val="0"/>
        </a:spcBef>
        <a:buNone/>
        <a:defRPr sz="2800" b="0" kern="1200" cap="all">
          <a:solidFill>
            <a:srgbClr val="5C307D"/>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70" indent="-306070" algn="l" defTabSz="456565"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29920" indent="-306070" algn="l" defTabSz="456565"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899795" indent="-269875" algn="l" defTabSz="456565"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60" indent="-233680" algn="l" defTabSz="456565"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105" indent="-233680" algn="l" defTabSz="456565"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899920" indent="-228600" algn="l" defTabSz="456565"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199640" indent="-228600" algn="l" defTabSz="456565"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499995" indent="-228600" algn="l" defTabSz="456565"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799715" indent="-228600" algn="l" defTabSz="456565"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6565" rtl="0" eaLnBrk="1" latinLnBrk="0" hangingPunct="1">
        <a:defRPr sz="1800" kern="1200">
          <a:solidFill>
            <a:schemeClr val="tx1"/>
          </a:solidFill>
          <a:latin typeface="+mn-lt"/>
          <a:ea typeface="+mn-ea"/>
          <a:cs typeface="+mn-cs"/>
        </a:defRPr>
      </a:lvl1pPr>
      <a:lvl2pPr marL="457200" algn="l" defTabSz="456565" rtl="0" eaLnBrk="1" latinLnBrk="0" hangingPunct="1">
        <a:defRPr sz="1800" kern="1200">
          <a:solidFill>
            <a:schemeClr val="tx1"/>
          </a:solidFill>
          <a:latin typeface="+mn-lt"/>
          <a:ea typeface="+mn-ea"/>
          <a:cs typeface="+mn-cs"/>
        </a:defRPr>
      </a:lvl2pPr>
      <a:lvl3pPr marL="914400" algn="l" defTabSz="456565" rtl="0" eaLnBrk="1" latinLnBrk="0" hangingPunct="1">
        <a:defRPr sz="1800" kern="1200">
          <a:solidFill>
            <a:schemeClr val="tx1"/>
          </a:solidFill>
          <a:latin typeface="+mn-lt"/>
          <a:ea typeface="+mn-ea"/>
          <a:cs typeface="+mn-cs"/>
        </a:defRPr>
      </a:lvl3pPr>
      <a:lvl4pPr marL="1371600" algn="l" defTabSz="456565" rtl="0" eaLnBrk="1" latinLnBrk="0" hangingPunct="1">
        <a:defRPr sz="1800" kern="1200">
          <a:solidFill>
            <a:schemeClr val="tx1"/>
          </a:solidFill>
          <a:latin typeface="+mn-lt"/>
          <a:ea typeface="+mn-ea"/>
          <a:cs typeface="+mn-cs"/>
        </a:defRPr>
      </a:lvl4pPr>
      <a:lvl5pPr marL="1828800" algn="l" defTabSz="456565" rtl="0" eaLnBrk="1" latinLnBrk="0" hangingPunct="1">
        <a:defRPr sz="1800" kern="1200">
          <a:solidFill>
            <a:schemeClr val="tx1"/>
          </a:solidFill>
          <a:latin typeface="+mn-lt"/>
          <a:ea typeface="+mn-ea"/>
          <a:cs typeface="+mn-cs"/>
        </a:defRPr>
      </a:lvl5pPr>
      <a:lvl6pPr marL="2286000" algn="l" defTabSz="456565" rtl="0" eaLnBrk="1" latinLnBrk="0" hangingPunct="1">
        <a:defRPr sz="1800" kern="1200">
          <a:solidFill>
            <a:schemeClr val="tx1"/>
          </a:solidFill>
          <a:latin typeface="+mn-lt"/>
          <a:ea typeface="+mn-ea"/>
          <a:cs typeface="+mn-cs"/>
        </a:defRPr>
      </a:lvl6pPr>
      <a:lvl7pPr marL="2743200" algn="l" defTabSz="456565" rtl="0" eaLnBrk="1" latinLnBrk="0" hangingPunct="1">
        <a:defRPr sz="1800" kern="1200">
          <a:solidFill>
            <a:schemeClr val="tx1"/>
          </a:solidFill>
          <a:latin typeface="+mn-lt"/>
          <a:ea typeface="+mn-ea"/>
          <a:cs typeface="+mn-cs"/>
        </a:defRPr>
      </a:lvl7pPr>
      <a:lvl8pPr marL="3200400" algn="l" defTabSz="456565" rtl="0" eaLnBrk="1" latinLnBrk="0" hangingPunct="1">
        <a:defRPr sz="1800" kern="1200">
          <a:solidFill>
            <a:schemeClr val="tx1"/>
          </a:solidFill>
          <a:latin typeface="+mn-lt"/>
          <a:ea typeface="+mn-ea"/>
          <a:cs typeface="+mn-cs"/>
        </a:defRPr>
      </a:lvl8pPr>
      <a:lvl9pPr marL="3657600" algn="l" defTabSz="456565"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7.xml"/><Relationship Id="rId2" Type="http://schemas.openxmlformats.org/officeDocument/2006/relationships/image" Target="../media/image10.png"/><Relationship Id="rId1"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7.xml"/><Relationship Id="rId1"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7.xml"/><Relationship Id="rId1"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7.xml"/><Relationship Id="rId1"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8.xml"/><Relationship Id="rId1" Type="http://schemas.openxmlformats.org/officeDocument/2006/relationships/tags" Target="../tags/tag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7.xml"/><Relationship Id="rId1" Type="http://schemas.openxmlformats.org/officeDocument/2006/relationships/image" Target="../media/image18.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7.xml"/><Relationship Id="rId1" Type="http://schemas.openxmlformats.org/officeDocument/2006/relationships/image" Target="../media/image19.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7.xml"/><Relationship Id="rId1" Type="http://schemas.openxmlformats.org/officeDocument/2006/relationships/image" Target="../media/image20.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7.xml"/><Relationship Id="rId1" Type="http://schemas.openxmlformats.org/officeDocument/2006/relationships/image" Target="../media/image21.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7.xml"/><Relationship Id="rId1" Type="http://schemas.openxmlformats.org/officeDocument/2006/relationships/image" Target="../media/image24.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chor="ctr">
            <a:normAutofit/>
          </a:bodyPr>
          <a:lstStyle/>
          <a:p>
            <a:pPr algn="ctr"/>
            <a:r>
              <a:rPr kumimoji="1" lang="en-US" altLang="zh-CN" sz="4800" cap="none"/>
              <a:t>The Evolution of Malware Analysis</a:t>
            </a:r>
            <a:endParaRPr kumimoji="1" lang="zh-CN" altLang="en-US" sz="4800" cap="none"/>
          </a:p>
        </p:txBody>
      </p:sp>
      <p:sp>
        <p:nvSpPr>
          <p:cNvPr id="3" name="副标题 2"/>
          <p:cNvSpPr>
            <a:spLocks noGrp="1"/>
          </p:cNvSpPr>
          <p:nvPr>
            <p:ph type="subTitle" idx="1"/>
          </p:nvPr>
        </p:nvSpPr>
        <p:spPr/>
        <p:txBody>
          <a:bodyPr/>
          <a:lstStyle/>
          <a:p>
            <a:r>
              <a:rPr kumimoji="1" lang="zh-CN" altLang="en-US"/>
              <a:t>汇报人：盖乐</a:t>
            </a:r>
            <a:endParaRPr kumimoji="1" lang="en-US" altLang="zh-CN"/>
          </a:p>
          <a:p>
            <a:r>
              <a:rPr kumimoji="1" lang="zh-CN" altLang="en-US"/>
              <a:t>组员：陈昕怡、王迪、贾泽栋、陈奕昊</a:t>
            </a:r>
            <a:endParaRPr kumimoji="1"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pPr algn="ctr"/>
            <a:r>
              <a:rPr kumimoji="1" lang="zh-CN" altLang="en-US"/>
              <a:t>目录</a:t>
            </a:r>
            <a:endParaRPr kumimoji="1" lang="zh-CN" altLang="en-US"/>
          </a:p>
        </p:txBody>
      </p:sp>
      <p:pic>
        <p:nvPicPr>
          <p:cNvPr id="6" name="内容占位符 5"/>
          <p:cNvPicPr>
            <a:picLocks noChangeAspect="1"/>
          </p:cNvPicPr>
          <p:nvPr>
            <p:ph idx="1"/>
          </p:nvPr>
        </p:nvPicPr>
        <p:blipFill>
          <a:blip r:embed="rId1"/>
          <a:stretch>
            <a:fillRect/>
          </a:stretch>
        </p:blipFill>
        <p:spPr>
          <a:xfrm>
            <a:off x="1431925" y="1432560"/>
            <a:ext cx="10359390" cy="512889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kumimoji="1" lang="en-US" altLang="zh-CN"/>
              <a:t>Level1</a:t>
            </a:r>
            <a:r>
              <a:rPr kumimoji="1" lang="zh-CN" altLang="en-US"/>
              <a:t>：传统恶意软件检测技术</a:t>
            </a:r>
            <a:endParaRPr kumimoji="1" lang="zh-CN" altLang="en-US"/>
          </a:p>
        </p:txBody>
      </p:sp>
      <p:sp>
        <p:nvSpPr>
          <p:cNvPr id="3" name="副标题 2"/>
          <p:cNvSpPr>
            <a:spLocks noGrp="1"/>
          </p:cNvSpPr>
          <p:nvPr>
            <p:ph type="subTitle" idx="1"/>
          </p:nvPr>
        </p:nvSpPr>
        <p:spPr>
          <a:xfrm>
            <a:off x="963167" y="3830629"/>
            <a:ext cx="10265664" cy="1340999"/>
          </a:xfrm>
        </p:spPr>
        <p:txBody>
          <a:bodyPr/>
          <a:lstStyle/>
          <a:p>
            <a:endParaRPr kumimoji="1" lang="en-US" altLang="zh-CN"/>
          </a:p>
          <a:p>
            <a:endParaRPr kumimoji="1" lang="zh-CN" altLang="en-US"/>
          </a:p>
        </p:txBody>
      </p:sp>
      <p:sp>
        <p:nvSpPr>
          <p:cNvPr id="4" name="副标题 2"/>
          <p:cNvSpPr txBox="1"/>
          <p:nvPr/>
        </p:nvSpPr>
        <p:spPr>
          <a:xfrm>
            <a:off x="963169" y="3830629"/>
            <a:ext cx="10265664" cy="1729443"/>
          </a:xfrm>
          <a:prstGeom prst="rect">
            <a:avLst/>
          </a:prstGeom>
        </p:spPr>
        <p:txBody>
          <a:bodyPr vert="horz" lIns="91440" tIns="45720" rIns="91440" bIns="45720" rtlCol="0" anchor="t">
            <a:normAutofit/>
          </a:bodyPr>
          <a:lstStyle>
            <a:lvl1pPr marL="0" indent="0" algn="l" defTabSz="456565" rtl="0" eaLnBrk="1" latinLnBrk="0" hangingPunct="1">
              <a:spcBef>
                <a:spcPct val="20000"/>
              </a:spcBef>
              <a:spcAft>
                <a:spcPts val="600"/>
              </a:spcAft>
              <a:buClr>
                <a:schemeClr val="accent2"/>
              </a:buClr>
              <a:buSzPct val="92000"/>
              <a:buFont typeface="Wingdings 2" panose="05020102010507070707" pitchFamily="18" charset="2"/>
              <a:buNone/>
              <a:defRPr sz="2000" kern="1200" cap="all">
                <a:solidFill>
                  <a:schemeClr val="accent2"/>
                </a:solidFill>
                <a:latin typeface="+mn-lt"/>
                <a:ea typeface="+mn-ea"/>
                <a:cs typeface="+mn-cs"/>
              </a:defRPr>
            </a:lvl1pPr>
            <a:lvl2pPr marL="457200" indent="0" algn="ctr" defTabSz="456565" rtl="0" eaLnBrk="1" latinLnBrk="0" hangingPunct="1">
              <a:spcBef>
                <a:spcPct val="20000"/>
              </a:spcBef>
              <a:spcAft>
                <a:spcPts val="600"/>
              </a:spcAft>
              <a:buClr>
                <a:schemeClr val="accent2"/>
              </a:buClr>
              <a:buSzPct val="92000"/>
              <a:buFont typeface="Wingdings 2" panose="05020102010507070707" pitchFamily="18" charset="2"/>
              <a:buNone/>
              <a:defRPr sz="1600" kern="1200">
                <a:solidFill>
                  <a:schemeClr val="tx1">
                    <a:tint val="75000"/>
                  </a:schemeClr>
                </a:solidFill>
                <a:latin typeface="+mn-lt"/>
                <a:ea typeface="+mn-ea"/>
                <a:cs typeface="+mn-cs"/>
              </a:defRPr>
            </a:lvl2pPr>
            <a:lvl3pPr marL="914400" indent="0" algn="ctr" defTabSz="456565" rtl="0" eaLnBrk="1" latinLnBrk="0" hangingPunct="1">
              <a:spcBef>
                <a:spcPct val="20000"/>
              </a:spcBef>
              <a:spcAft>
                <a:spcPts val="600"/>
              </a:spcAft>
              <a:buClr>
                <a:schemeClr val="accent2"/>
              </a:buClr>
              <a:buSzPct val="92000"/>
              <a:buFont typeface="Wingdings 2" panose="05020102010507070707" pitchFamily="18" charset="2"/>
              <a:buNone/>
              <a:defRPr sz="1400" kern="1200">
                <a:solidFill>
                  <a:schemeClr val="tx1">
                    <a:tint val="75000"/>
                  </a:schemeClr>
                </a:solidFill>
                <a:latin typeface="+mn-lt"/>
                <a:ea typeface="+mn-ea"/>
                <a:cs typeface="+mn-cs"/>
              </a:defRPr>
            </a:lvl3pPr>
            <a:lvl4pPr marL="1371600" indent="0" algn="ctr" defTabSz="456565"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4pPr>
            <a:lvl5pPr marL="1828800" indent="0" algn="ctr" defTabSz="456565"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5pPr>
            <a:lvl6pPr marL="2286000" indent="0" algn="ctr" defTabSz="456565"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6pPr>
            <a:lvl7pPr marL="2743200" indent="0" algn="ctr" defTabSz="456565"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7pPr>
            <a:lvl8pPr marL="3200400" indent="0" algn="ctr" defTabSz="456565"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8pPr>
            <a:lvl9pPr marL="3657600" indent="0" algn="ctr" defTabSz="456565"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9pPr>
          </a:lstStyle>
          <a:p>
            <a:pPr marL="342900" indent="-342900">
              <a:buFont typeface="Wingdings" panose="05000000000000000000" pitchFamily="2" charset="2"/>
              <a:buChar char="n"/>
            </a:pPr>
            <a:r>
              <a:rPr kumimoji="1" lang="zh-CN" altLang="en-US"/>
              <a:t>背景：</a:t>
            </a:r>
            <a:r>
              <a:rPr lang="zh-CN" altLang="en-US"/>
              <a:t>传统恶意软件检测并不直接依赖复杂模型，而是通过程序分析技术，将原始二进制代码逐步转化为可区分的特征空间，为后续分类与判别奠定基础。</a:t>
            </a:r>
            <a:endParaRPr kumimoji="1" lang="en-US" altLang="zh-CN"/>
          </a:p>
          <a:p>
            <a:pPr marL="342900" indent="-342900">
              <a:buFont typeface="Wingdings" panose="05000000000000000000" pitchFamily="2" charset="2"/>
              <a:buChar char="n"/>
            </a:pPr>
            <a:r>
              <a:rPr kumimoji="1" lang="zh-CN" altLang="en-US"/>
              <a:t>工作流：</a:t>
            </a:r>
            <a:r>
              <a:rPr lang="zh-CN" altLang="en-US" b="1"/>
              <a:t>原始数据 </a:t>
            </a:r>
            <a:r>
              <a:rPr lang="en-US" altLang="zh-CN" b="1"/>
              <a:t>-&gt; </a:t>
            </a:r>
            <a:r>
              <a:rPr lang="zh-CN" altLang="en-US" b="1"/>
              <a:t>特征抽象</a:t>
            </a:r>
            <a:r>
              <a:rPr lang="en-US" altLang="zh-CN" b="1"/>
              <a:t>/</a:t>
            </a:r>
            <a:r>
              <a:rPr lang="zh-CN" altLang="en-US" b="1"/>
              <a:t>提取 </a:t>
            </a:r>
            <a:r>
              <a:rPr lang="en-US" altLang="zh-CN" b="1"/>
              <a:t>-&gt; </a:t>
            </a:r>
            <a:r>
              <a:rPr lang="zh-CN" altLang="en-US" b="1"/>
              <a:t>中间表示构建 </a:t>
            </a:r>
            <a:r>
              <a:rPr lang="en-US" altLang="zh-CN" b="1"/>
              <a:t>-&gt; </a:t>
            </a:r>
            <a:r>
              <a:rPr lang="zh-CN" altLang="en-US" b="1"/>
              <a:t>分类器训练</a:t>
            </a:r>
            <a:endParaRPr kumimoji="1"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pPr marR="0" lvl="0" fontAlgn="auto">
              <a:lnSpc>
                <a:spcPct val="100000"/>
              </a:lnSpc>
              <a:spcAft>
                <a:spcPts val="600"/>
              </a:spcAft>
              <a:defRPr/>
            </a:pPr>
            <a:r>
              <a:rPr lang="en-US" altLang="zh-CN" cap="none" dirty="0"/>
              <a:t>MAMADROID: Detecting Android Malware by Building Markov Chains of Behavioral Models</a:t>
            </a:r>
            <a:endParaRPr lang="zh-CN" altLang="en-US" cap="none" dirty="0"/>
          </a:p>
        </p:txBody>
      </p:sp>
      <p:sp>
        <p:nvSpPr>
          <p:cNvPr id="6" name="文本框 5"/>
          <p:cNvSpPr txBox="1"/>
          <p:nvPr/>
        </p:nvSpPr>
        <p:spPr>
          <a:xfrm>
            <a:off x="833377" y="6079910"/>
            <a:ext cx="5942781" cy="369332"/>
          </a:xfrm>
          <a:prstGeom prst="rect">
            <a:avLst/>
          </a:prstGeom>
          <a:noFill/>
        </p:spPr>
        <p:txBody>
          <a:bodyPr wrap="none" rtlCol="0">
            <a:spAutoFit/>
          </a:bodyPr>
          <a:lstStyle/>
          <a:p>
            <a:r>
              <a:rPr lang="en-US" altLang="zh-CN" dirty="0"/>
              <a:t>[1]</a:t>
            </a:r>
            <a:r>
              <a:rPr lang="it-IT" altLang="zh-CN" dirty="0"/>
              <a:t> Mariconti E, Onwuzurike L, Andriotis P, et al</a:t>
            </a:r>
            <a:r>
              <a:rPr lang="en-US" altLang="zh-CN" dirty="0"/>
              <a:t>. NDSS 2017</a:t>
            </a:r>
            <a:endParaRPr lang="zh-CN" altLang="en-US" dirty="0"/>
          </a:p>
        </p:txBody>
      </p:sp>
      <p:pic>
        <p:nvPicPr>
          <p:cNvPr id="8" name="图片 7"/>
          <p:cNvPicPr>
            <a:picLocks noChangeAspect="1"/>
          </p:cNvPicPr>
          <p:nvPr/>
        </p:nvPicPr>
        <p:blipFill>
          <a:blip r:embed="rId1"/>
          <a:stretch>
            <a:fillRect/>
          </a:stretch>
        </p:blipFill>
        <p:spPr>
          <a:xfrm>
            <a:off x="833377" y="4395315"/>
            <a:ext cx="5326743" cy="1679973"/>
          </a:xfrm>
          <a:prstGeom prst="rect">
            <a:avLst/>
          </a:prstGeom>
        </p:spPr>
      </p:pic>
      <p:sp>
        <p:nvSpPr>
          <p:cNvPr id="10" name="文本框 9"/>
          <p:cNvSpPr txBox="1"/>
          <p:nvPr/>
        </p:nvSpPr>
        <p:spPr>
          <a:xfrm>
            <a:off x="833377" y="1608624"/>
            <a:ext cx="11010117" cy="3054939"/>
          </a:xfrm>
          <a:prstGeom prst="rect">
            <a:avLst/>
          </a:prstGeom>
          <a:noFill/>
        </p:spPr>
        <p:txBody>
          <a:bodyPr wrap="square">
            <a:spAutoFit/>
          </a:bodyPr>
          <a:lstStyle/>
          <a:p>
            <a:pPr>
              <a:lnSpc>
                <a:spcPct val="120000"/>
              </a:lnSpc>
            </a:pPr>
            <a:r>
              <a:rPr lang="en-US" altLang="zh-CN" b="1"/>
              <a:t>Motivation</a:t>
            </a:r>
            <a:r>
              <a:rPr lang="zh-CN" altLang="en-US" b="1"/>
              <a:t>：</a:t>
            </a:r>
            <a:endParaRPr lang="en-US" altLang="zh-CN" b="1"/>
          </a:p>
          <a:p>
            <a:pPr marL="285750" indent="-285750">
              <a:lnSpc>
                <a:spcPct val="120000"/>
              </a:lnSpc>
              <a:buFont typeface="Arial" panose="020B0604020202020204" pitchFamily="34" charset="0"/>
              <a:buChar char="•"/>
            </a:pPr>
            <a:r>
              <a:rPr lang="en-US" altLang="zh-CN"/>
              <a:t>API </a:t>
            </a:r>
            <a:r>
              <a:rPr lang="zh-CN" altLang="en-US"/>
              <a:t>频率特征无法捕捉程序运行的时序逻辑和上下文。</a:t>
            </a:r>
            <a:endParaRPr lang="zh-CN" altLang="en-US"/>
          </a:p>
          <a:p>
            <a:pPr marL="285750" indent="-285750">
              <a:lnSpc>
                <a:spcPct val="120000"/>
              </a:lnSpc>
              <a:buFont typeface="Arial" panose="020B0604020202020204" pitchFamily="34" charset="0"/>
              <a:buChar char="•"/>
            </a:pPr>
            <a:r>
              <a:rPr lang="zh-CN" altLang="en-US"/>
              <a:t>直接使用原始 </a:t>
            </a:r>
            <a:r>
              <a:rPr lang="en-US" altLang="zh-CN"/>
              <a:t>API </a:t>
            </a:r>
            <a:r>
              <a:rPr lang="zh-CN" altLang="en-US"/>
              <a:t>序列会导致特征维度过高且稀疏，且对 </a:t>
            </a:r>
            <a:r>
              <a:rPr lang="en-US" altLang="zh-CN"/>
              <a:t>API </a:t>
            </a:r>
            <a:r>
              <a:rPr lang="zh-CN" altLang="en-US"/>
              <a:t>更新非常敏感。</a:t>
            </a:r>
            <a:endParaRPr lang="en-US" altLang="zh-CN"/>
          </a:p>
          <a:p>
            <a:pPr>
              <a:lnSpc>
                <a:spcPct val="120000"/>
              </a:lnSpc>
            </a:pPr>
            <a:r>
              <a:rPr lang="zh-CN" altLang="en-US" b="1"/>
              <a:t>具体思路：</a:t>
            </a:r>
            <a:endParaRPr lang="zh-CN" altLang="en-US" b="1"/>
          </a:p>
          <a:p>
            <a:pPr marL="285750" indent="-285750">
              <a:lnSpc>
                <a:spcPct val="120000"/>
              </a:lnSpc>
              <a:buFont typeface="Arial" panose="020B0604020202020204" pitchFamily="34" charset="0"/>
              <a:buChar char="•"/>
            </a:pPr>
            <a:r>
              <a:rPr lang="zh-CN" altLang="en-US"/>
              <a:t>抽象化 ：首先将具体的</a:t>
            </a:r>
            <a:r>
              <a:rPr lang="en-US" altLang="zh-CN"/>
              <a:t>API</a:t>
            </a:r>
            <a:r>
              <a:rPr lang="zh-CN" altLang="en-US"/>
              <a:t>调用泛化为“包”或“家族”（例如将 </a:t>
            </a:r>
            <a:r>
              <a:rPr lang="en-US" altLang="zh-CN" err="1"/>
              <a:t>java.util.List.add</a:t>
            </a:r>
            <a:r>
              <a:rPr lang="en-US" altLang="zh-CN"/>
              <a:t>() </a:t>
            </a:r>
            <a:r>
              <a:rPr lang="zh-CN" altLang="en-US"/>
              <a:t>抽象为 </a:t>
            </a:r>
            <a:r>
              <a:rPr lang="en-US" altLang="zh-CN" err="1"/>
              <a:t>java.util</a:t>
            </a:r>
            <a:r>
              <a:rPr lang="zh-CN" altLang="en-US"/>
              <a:t>）。</a:t>
            </a:r>
            <a:endParaRPr lang="zh-CN" altLang="en-US"/>
          </a:p>
          <a:p>
            <a:pPr marL="285750" indent="-285750">
              <a:lnSpc>
                <a:spcPct val="120000"/>
              </a:lnSpc>
              <a:buFont typeface="Arial" panose="020B0604020202020204" pitchFamily="34" charset="0"/>
              <a:buChar char="•"/>
            </a:pPr>
            <a:r>
              <a:rPr lang="zh-CN" altLang="en-US"/>
              <a:t>马尔可夫链建模：计算从一个状态（包</a:t>
            </a:r>
            <a:r>
              <a:rPr lang="en-US" altLang="zh-CN"/>
              <a:t>/</a:t>
            </a:r>
            <a:r>
              <a:rPr lang="zh-CN" altLang="en-US"/>
              <a:t>家族）转移到另一个状态的概率。</a:t>
            </a:r>
            <a:endParaRPr lang="en-US" altLang="zh-CN"/>
          </a:p>
          <a:p>
            <a:pPr marL="285750" indent="-285750">
              <a:buFont typeface="Wingdings" panose="05000000000000000000" pitchFamily="2" charset="2"/>
              <a:buChar char="Ø"/>
            </a:pPr>
            <a:r>
              <a:rPr lang="zh-CN" altLang="en-US"/>
              <a:t>最终提取的特征为转移概率矩阵。通过分类器（如随机森林）基于该矩阵进行分类，从而捕捉程序运行过程中的行为逻辑，而非仅仅依赖静态的指令集合。</a:t>
            </a:r>
            <a:endParaRPr lang="zh-CN" altLang="en-US"/>
          </a:p>
          <a:p>
            <a:pPr marL="285750" indent="-285750">
              <a:lnSpc>
                <a:spcPct val="120000"/>
              </a:lnSpc>
              <a:buFont typeface="Arial" panose="020B0604020202020204" pitchFamily="34" charset="0"/>
              <a:buChar char="•"/>
            </a:pPr>
            <a:endParaRPr lang="zh-CN" altLang="en-US"/>
          </a:p>
        </p:txBody>
      </p:sp>
      <p:sp>
        <p:nvSpPr>
          <p:cNvPr id="12" name="文本框 11"/>
          <p:cNvSpPr txBox="1"/>
          <p:nvPr/>
        </p:nvSpPr>
        <p:spPr>
          <a:xfrm>
            <a:off x="6776158" y="4395315"/>
            <a:ext cx="5067336" cy="1393523"/>
          </a:xfrm>
          <a:prstGeom prst="rect">
            <a:avLst/>
          </a:prstGeom>
          <a:noFill/>
        </p:spPr>
        <p:txBody>
          <a:bodyPr wrap="square">
            <a:spAutoFit/>
          </a:bodyPr>
          <a:lstStyle/>
          <a:p>
            <a:pPr>
              <a:lnSpc>
                <a:spcPct val="120000"/>
              </a:lnSpc>
            </a:pPr>
            <a:r>
              <a:rPr lang="zh-CN" altLang="en-US" b="1"/>
              <a:t>最终效果</a:t>
            </a:r>
            <a:r>
              <a:rPr lang="zh-CN" altLang="en-US"/>
              <a:t>：</a:t>
            </a:r>
            <a:endParaRPr lang="zh-CN" altLang="en-US"/>
          </a:p>
          <a:p>
            <a:pPr marL="285750" indent="-285750">
              <a:lnSpc>
                <a:spcPct val="120000"/>
              </a:lnSpc>
              <a:buFont typeface="Arial" panose="020B0604020202020204" pitchFamily="34" charset="0"/>
              <a:buChar char="•"/>
            </a:pPr>
            <a:r>
              <a:rPr lang="zh-CN" altLang="en-US"/>
              <a:t>检测 </a:t>
            </a:r>
            <a:r>
              <a:rPr lang="en-US" altLang="zh-CN"/>
              <a:t>F-measure </a:t>
            </a:r>
            <a:r>
              <a:rPr lang="zh-CN" altLang="en-US"/>
              <a:t>高达 </a:t>
            </a:r>
            <a:r>
              <a:rPr lang="en-US" altLang="zh-CN" b="1"/>
              <a:t>99%</a:t>
            </a:r>
            <a:r>
              <a:rPr lang="zh-CN" altLang="en-US"/>
              <a:t>。</a:t>
            </a:r>
            <a:endParaRPr lang="zh-CN" altLang="en-US"/>
          </a:p>
          <a:p>
            <a:pPr marL="285750" indent="-285750">
              <a:lnSpc>
                <a:spcPct val="120000"/>
              </a:lnSpc>
              <a:buFont typeface="Arial" panose="020B0604020202020204" pitchFamily="34" charset="0"/>
              <a:buChar char="•"/>
            </a:pPr>
            <a:r>
              <a:rPr lang="zh-CN" altLang="en-US" b="1"/>
              <a:t>抗老化</a:t>
            </a:r>
            <a:r>
              <a:rPr lang="zh-CN" altLang="en-US"/>
              <a:t>：使用旧数据训练的模型在检测一年后的新样本时，性能下降幅度远小于对比方法。</a:t>
            </a:r>
            <a:endParaRPr lang="en-US" altLang="zh-C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内容占位符 7"/>
          <p:cNvPicPr>
            <a:picLocks noGrp="1" noChangeAspect="1"/>
          </p:cNvPicPr>
          <p:nvPr>
            <p:ph idx="1"/>
          </p:nvPr>
        </p:nvPicPr>
        <p:blipFill>
          <a:blip r:embed="rId1"/>
          <a:stretch>
            <a:fillRect/>
          </a:stretch>
        </p:blipFill>
        <p:spPr>
          <a:xfrm>
            <a:off x="827788" y="2005148"/>
            <a:ext cx="3071738" cy="3678238"/>
          </a:xfrm>
        </p:spPr>
      </p:pic>
      <p:sp>
        <p:nvSpPr>
          <p:cNvPr id="4" name="标题 3"/>
          <p:cNvSpPr>
            <a:spLocks noGrp="1"/>
          </p:cNvSpPr>
          <p:nvPr>
            <p:ph type="title"/>
          </p:nvPr>
        </p:nvSpPr>
        <p:spPr/>
        <p:txBody>
          <a:bodyPr>
            <a:normAutofit/>
          </a:bodyPr>
          <a:lstStyle/>
          <a:p>
            <a:pPr>
              <a:spcAft>
                <a:spcPts val="600"/>
              </a:spcAft>
              <a:defRPr/>
            </a:pPr>
            <a:r>
              <a:rPr lang="en-US" altLang="zh-CN" cap="none" dirty="0" err="1"/>
              <a:t>HinDroid</a:t>
            </a:r>
            <a:r>
              <a:rPr lang="en-US" altLang="zh-CN" cap="none" dirty="0"/>
              <a:t>: An Intelligent Android Malware Detection System Based on Structured Heterogeneous Information Network</a:t>
            </a:r>
            <a:endParaRPr lang="zh-CN" altLang="en-US" cap="none" dirty="0"/>
          </a:p>
        </p:txBody>
      </p:sp>
      <p:sp>
        <p:nvSpPr>
          <p:cNvPr id="2" name="文本框 1"/>
          <p:cNvSpPr txBox="1"/>
          <p:nvPr/>
        </p:nvSpPr>
        <p:spPr>
          <a:xfrm>
            <a:off x="833377" y="6264576"/>
            <a:ext cx="4994381" cy="369332"/>
          </a:xfrm>
          <a:prstGeom prst="rect">
            <a:avLst/>
          </a:prstGeom>
          <a:noFill/>
        </p:spPr>
        <p:txBody>
          <a:bodyPr wrap="none" rtlCol="0">
            <a:spAutoFit/>
          </a:bodyPr>
          <a:lstStyle/>
          <a:p>
            <a:r>
              <a:rPr lang="en-US" altLang="zh-CN" dirty="0"/>
              <a:t>[1]Hou S, Ye Y, Song Y, et al. ACM SIGKDD 2017 </a:t>
            </a:r>
            <a:endParaRPr lang="zh-CN" altLang="en-US" dirty="0"/>
          </a:p>
        </p:txBody>
      </p:sp>
      <p:sp>
        <p:nvSpPr>
          <p:cNvPr id="10" name="文本框 9"/>
          <p:cNvSpPr txBox="1"/>
          <p:nvPr/>
        </p:nvSpPr>
        <p:spPr>
          <a:xfrm>
            <a:off x="4191000" y="1623241"/>
            <a:ext cx="7772400" cy="4336636"/>
          </a:xfrm>
          <a:prstGeom prst="rect">
            <a:avLst/>
          </a:prstGeom>
          <a:noFill/>
        </p:spPr>
        <p:txBody>
          <a:bodyPr wrap="square" rtlCol="0">
            <a:spAutoFit/>
          </a:bodyPr>
          <a:lstStyle/>
          <a:p>
            <a:pPr>
              <a:lnSpc>
                <a:spcPct val="110000"/>
              </a:lnSpc>
            </a:pPr>
            <a:r>
              <a:rPr lang="en-US" altLang="zh-CN" b="1"/>
              <a:t>Motivation</a:t>
            </a:r>
            <a:r>
              <a:rPr lang="zh-CN" altLang="en-US"/>
              <a:t>：</a:t>
            </a:r>
            <a:endParaRPr lang="zh-CN" altLang="en-US"/>
          </a:p>
          <a:p>
            <a:pPr marL="285750" indent="-285750">
              <a:lnSpc>
                <a:spcPct val="110000"/>
              </a:lnSpc>
              <a:buFont typeface="Arial" panose="020B0604020202020204" pitchFamily="34" charset="0"/>
              <a:buChar char="•"/>
            </a:pPr>
            <a:r>
              <a:rPr lang="zh-CN" altLang="en-US"/>
              <a:t>仅分析 </a:t>
            </a:r>
            <a:r>
              <a:rPr lang="en-US" altLang="zh-CN"/>
              <a:t>API </a:t>
            </a:r>
            <a:r>
              <a:rPr lang="zh-CN" altLang="en-US"/>
              <a:t>调用列表忽略了 </a:t>
            </a:r>
            <a:r>
              <a:rPr lang="en-US" altLang="zh-CN"/>
              <a:t>API </a:t>
            </a:r>
            <a:r>
              <a:rPr lang="zh-CN" altLang="en-US"/>
              <a:t>之间复杂的关联关系，容易被攻击者通过添加无用调用来逃避检测。</a:t>
            </a:r>
            <a:endParaRPr lang="en-US" altLang="zh-CN"/>
          </a:p>
          <a:p>
            <a:pPr>
              <a:lnSpc>
                <a:spcPct val="110000"/>
              </a:lnSpc>
            </a:pPr>
            <a:r>
              <a:rPr lang="zh-CN" altLang="en-US" b="1"/>
              <a:t>具体思路：</a:t>
            </a:r>
            <a:endParaRPr lang="zh-CN" altLang="en-US" b="1"/>
          </a:p>
          <a:p>
            <a:pPr marL="285750" indent="-285750">
              <a:lnSpc>
                <a:spcPct val="110000"/>
              </a:lnSpc>
              <a:buFont typeface="Arial" panose="020B0604020202020204" pitchFamily="34" charset="0"/>
              <a:buChar char="•"/>
            </a:pPr>
            <a:r>
              <a:rPr lang="zh-CN" altLang="en-US"/>
              <a:t>原始输入：</a:t>
            </a:r>
            <a:r>
              <a:rPr lang="en-US" altLang="zh-CN"/>
              <a:t>App</a:t>
            </a:r>
            <a:r>
              <a:rPr lang="zh-CN" altLang="en-US"/>
              <a:t>代码和</a:t>
            </a:r>
            <a:r>
              <a:rPr lang="en-US" altLang="zh-CN"/>
              <a:t>API</a:t>
            </a:r>
            <a:r>
              <a:rPr lang="zh-CN" altLang="en-US"/>
              <a:t>列表。</a:t>
            </a:r>
            <a:endParaRPr lang="en-US" altLang="zh-CN"/>
          </a:p>
          <a:p>
            <a:pPr marL="285750" indent="-285750">
              <a:lnSpc>
                <a:spcPct val="110000"/>
              </a:lnSpc>
              <a:buFont typeface="Arial" panose="020B0604020202020204" pitchFamily="34" charset="0"/>
              <a:buChar char="•"/>
            </a:pPr>
            <a:r>
              <a:rPr lang="zh-CN" altLang="en-US"/>
              <a:t>构建异构信息网络 </a:t>
            </a:r>
            <a:r>
              <a:rPr lang="en-US" altLang="zh-CN"/>
              <a:t>(HIN)</a:t>
            </a:r>
            <a:r>
              <a:rPr lang="zh-CN" altLang="en-US"/>
              <a:t>：将</a:t>
            </a:r>
            <a:r>
              <a:rPr lang="en-US" altLang="zh-CN"/>
              <a:t>App</a:t>
            </a:r>
            <a:r>
              <a:rPr lang="zh-CN" altLang="en-US"/>
              <a:t>、</a:t>
            </a:r>
            <a:r>
              <a:rPr lang="en-US" altLang="zh-CN"/>
              <a:t>API</a:t>
            </a:r>
            <a:r>
              <a:rPr lang="zh-CN" altLang="en-US"/>
              <a:t>、代码块、</a:t>
            </a:r>
            <a:r>
              <a:rPr lang="en-US" altLang="zh-CN"/>
              <a:t>API</a:t>
            </a:r>
            <a:r>
              <a:rPr lang="zh-CN" altLang="en-US"/>
              <a:t>所属包等全部作为节点，构成一个图。</a:t>
            </a:r>
            <a:endParaRPr lang="zh-CN" altLang="en-US"/>
          </a:p>
          <a:p>
            <a:pPr marL="285750" indent="-285750">
              <a:lnSpc>
                <a:spcPct val="110000"/>
              </a:lnSpc>
              <a:buFont typeface="Arial" panose="020B0604020202020204" pitchFamily="34" charset="0"/>
              <a:buChar char="•"/>
            </a:pPr>
            <a:r>
              <a:rPr lang="zh-CN" altLang="en-US"/>
              <a:t>元路径 </a:t>
            </a:r>
            <a:r>
              <a:rPr lang="en-US" altLang="zh-CN"/>
              <a:t>(Meta-path) </a:t>
            </a:r>
            <a:r>
              <a:rPr lang="zh-CN" altLang="en-US"/>
              <a:t>提取：通过特定的路径，如 </a:t>
            </a:r>
            <a:r>
              <a:rPr lang="en-US" altLang="zh-CN"/>
              <a:t>App -&gt; API -&gt; Package -&gt; API -&gt; App</a:t>
            </a:r>
            <a:r>
              <a:rPr lang="zh-CN" altLang="en-US"/>
              <a:t>来定义特征。</a:t>
            </a:r>
            <a:endParaRPr lang="zh-CN" altLang="en-US"/>
          </a:p>
          <a:p>
            <a:pPr marL="285750" indent="-285750">
              <a:lnSpc>
                <a:spcPct val="110000"/>
              </a:lnSpc>
              <a:buFont typeface="Arial" panose="020B0604020202020204" pitchFamily="34" charset="0"/>
              <a:buChar char="•"/>
            </a:pPr>
            <a:r>
              <a:rPr lang="zh-CN" altLang="en-US"/>
              <a:t>多核学习：利用多核学习聚合这些路径权重，分类器能够基于复杂的结构化关系进行判定，而非简单的关键词匹配。</a:t>
            </a:r>
            <a:endParaRPr lang="en-US" altLang="zh-CN"/>
          </a:p>
          <a:p>
            <a:pPr>
              <a:lnSpc>
                <a:spcPct val="110000"/>
              </a:lnSpc>
            </a:pPr>
            <a:r>
              <a:rPr lang="zh-CN" altLang="en-US" b="1"/>
              <a:t>最终效果：</a:t>
            </a:r>
            <a:endParaRPr lang="zh-CN" altLang="en-US" b="1"/>
          </a:p>
          <a:p>
            <a:pPr marL="285750" indent="-285750">
              <a:lnSpc>
                <a:spcPct val="110000"/>
              </a:lnSpc>
              <a:buFont typeface="Arial" panose="020B0604020202020204" pitchFamily="34" charset="0"/>
              <a:buChar char="•"/>
            </a:pPr>
            <a:r>
              <a:rPr lang="zh-CN" altLang="en-US"/>
              <a:t>在真实数据集上 </a:t>
            </a:r>
            <a:r>
              <a:rPr lang="en-US" altLang="zh-CN"/>
              <a:t>F1-score </a:t>
            </a:r>
            <a:r>
              <a:rPr lang="zh-CN" altLang="en-US"/>
              <a:t>超过 </a:t>
            </a:r>
            <a:r>
              <a:rPr lang="en-US" altLang="zh-CN"/>
              <a:t>98%</a:t>
            </a:r>
            <a:r>
              <a:rPr lang="zh-CN" altLang="en-US"/>
              <a:t>，显著优于传统的机器学习方法。</a:t>
            </a:r>
            <a:endParaRPr lang="zh-CN" altLang="en-US"/>
          </a:p>
          <a:p>
            <a:pPr marL="285750" indent="-285750">
              <a:lnSpc>
                <a:spcPct val="110000"/>
              </a:lnSpc>
              <a:buFont typeface="Arial" panose="020B0604020202020204" pitchFamily="34" charset="0"/>
              <a:buChar char="•"/>
            </a:pPr>
            <a:r>
              <a:rPr lang="zh-CN" altLang="en-US"/>
              <a:t>具备很强的抗逃避能力，因为攻击者很难伪造深层的结构化关系。</a:t>
            </a:r>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内容占位符 5"/>
          <p:cNvPicPr>
            <a:picLocks noGrp="1" noChangeAspect="1"/>
          </p:cNvPicPr>
          <p:nvPr>
            <p:ph idx="1"/>
          </p:nvPr>
        </p:nvPicPr>
        <p:blipFill>
          <a:blip r:embed="rId1"/>
          <a:stretch>
            <a:fillRect/>
          </a:stretch>
        </p:blipFill>
        <p:spPr>
          <a:xfrm>
            <a:off x="4953625" y="4079136"/>
            <a:ext cx="6627812" cy="2027878"/>
          </a:xfrm>
        </p:spPr>
      </p:pic>
      <p:sp>
        <p:nvSpPr>
          <p:cNvPr id="4" name="标题 3"/>
          <p:cNvSpPr>
            <a:spLocks noGrp="1"/>
          </p:cNvSpPr>
          <p:nvPr>
            <p:ph type="title"/>
          </p:nvPr>
        </p:nvSpPr>
        <p:spPr/>
        <p:txBody>
          <a:bodyPr/>
          <a:lstStyle/>
          <a:p>
            <a:pPr marR="0" lvl="0" fontAlgn="auto">
              <a:lnSpc>
                <a:spcPct val="100000"/>
              </a:lnSpc>
              <a:spcAft>
                <a:spcPts val="600"/>
              </a:spcAft>
              <a:defRPr/>
            </a:pPr>
            <a:r>
              <a:rPr lang="en-US" altLang="zh-CN" cap="none" dirty="0"/>
              <a:t>Slowing Down the Aging of Learning-Based Malware Detectors With API Knowledge</a:t>
            </a:r>
            <a:endParaRPr lang="zh-CN" altLang="en-US" cap="none" dirty="0"/>
          </a:p>
        </p:txBody>
      </p:sp>
      <p:sp>
        <p:nvSpPr>
          <p:cNvPr id="2" name="文本框 1"/>
          <p:cNvSpPr txBox="1"/>
          <p:nvPr/>
        </p:nvSpPr>
        <p:spPr>
          <a:xfrm>
            <a:off x="833377" y="6181510"/>
            <a:ext cx="5028108" cy="369332"/>
          </a:xfrm>
          <a:prstGeom prst="rect">
            <a:avLst/>
          </a:prstGeom>
          <a:noFill/>
        </p:spPr>
        <p:txBody>
          <a:bodyPr wrap="none" rtlCol="0">
            <a:spAutoFit/>
          </a:bodyPr>
          <a:lstStyle/>
          <a:p>
            <a:r>
              <a:rPr lang="en-US" altLang="zh-CN"/>
              <a:t>[1] Zhang X, Zhang M, Zhang Y, et al. TDSC 2023 </a:t>
            </a:r>
            <a:endParaRPr lang="zh-CN" altLang="en-US"/>
          </a:p>
        </p:txBody>
      </p:sp>
      <p:sp>
        <p:nvSpPr>
          <p:cNvPr id="10" name="文本框 9"/>
          <p:cNvSpPr txBox="1"/>
          <p:nvPr/>
        </p:nvSpPr>
        <p:spPr>
          <a:xfrm>
            <a:off x="947677" y="1608624"/>
            <a:ext cx="10521389" cy="3054939"/>
          </a:xfrm>
          <a:prstGeom prst="rect">
            <a:avLst/>
          </a:prstGeom>
          <a:noFill/>
        </p:spPr>
        <p:txBody>
          <a:bodyPr wrap="square">
            <a:spAutoFit/>
          </a:bodyPr>
          <a:lstStyle/>
          <a:p>
            <a:pPr>
              <a:lnSpc>
                <a:spcPct val="120000"/>
              </a:lnSpc>
            </a:pPr>
            <a:r>
              <a:rPr lang="en-US" altLang="zh-CN" b="1"/>
              <a:t>Motivation</a:t>
            </a:r>
            <a:r>
              <a:rPr lang="zh-CN" altLang="en-US"/>
              <a:t>：</a:t>
            </a:r>
            <a:endParaRPr lang="zh-CN" altLang="en-US"/>
          </a:p>
          <a:p>
            <a:pPr marL="285750" indent="-285750">
              <a:lnSpc>
                <a:spcPct val="120000"/>
              </a:lnSpc>
              <a:buFont typeface="Arial" panose="020B0604020202020204" pitchFamily="34" charset="0"/>
              <a:buChar char="•"/>
            </a:pPr>
            <a:r>
              <a:rPr lang="zh-CN" altLang="en-US"/>
              <a:t>恶意软件演化迅速，导致基于机器学习的检测模型快速“老化”，性能大幅下降。</a:t>
            </a:r>
            <a:endParaRPr lang="zh-CN" altLang="en-US"/>
          </a:p>
          <a:p>
            <a:pPr marL="285750" indent="-285750">
              <a:lnSpc>
                <a:spcPct val="120000"/>
              </a:lnSpc>
              <a:buFont typeface="Arial" panose="020B0604020202020204" pitchFamily="34" charset="0"/>
              <a:buChar char="•"/>
            </a:pPr>
            <a:r>
              <a:rPr lang="zh-CN" altLang="en-US"/>
              <a:t>频繁重新训练模型需要大量人工标注新样本，成本过高。</a:t>
            </a:r>
            <a:endParaRPr lang="en-US" altLang="zh-CN"/>
          </a:p>
          <a:p>
            <a:pPr>
              <a:lnSpc>
                <a:spcPct val="120000"/>
              </a:lnSpc>
            </a:pPr>
            <a:r>
              <a:rPr lang="zh-CN" altLang="en-US" b="1"/>
              <a:t>具体思路 </a:t>
            </a:r>
            <a:r>
              <a:rPr lang="zh-CN" altLang="en-US"/>
              <a:t>：</a:t>
            </a:r>
            <a:endParaRPr lang="zh-CN" altLang="en-US"/>
          </a:p>
          <a:p>
            <a:pPr marL="342900" indent="-342900">
              <a:lnSpc>
                <a:spcPct val="120000"/>
              </a:lnSpc>
              <a:buFont typeface="Arial" panose="020B0604020202020204" pitchFamily="34" charset="0"/>
              <a:buChar char="•"/>
            </a:pPr>
            <a:r>
              <a:rPr lang="zh-CN" altLang="en-US" b="1"/>
              <a:t>知识图谱构建</a:t>
            </a:r>
            <a:r>
              <a:rPr lang="zh-CN" altLang="en-US"/>
              <a:t>：从 </a:t>
            </a:r>
            <a:r>
              <a:rPr lang="en-US" altLang="zh-CN"/>
              <a:t>API </a:t>
            </a:r>
            <a:r>
              <a:rPr lang="zh-CN" altLang="en-US"/>
              <a:t>文档中提取 </a:t>
            </a:r>
            <a:r>
              <a:rPr lang="en-US" altLang="zh-CN"/>
              <a:t>API </a:t>
            </a:r>
            <a:r>
              <a:rPr lang="zh-CN" altLang="en-US"/>
              <a:t>之间的语义关系（如等价、包含），构建 </a:t>
            </a:r>
            <a:r>
              <a:rPr lang="en-US" altLang="zh-CN"/>
              <a:t>API </a:t>
            </a:r>
            <a:r>
              <a:rPr lang="zh-CN" altLang="en-US"/>
              <a:t>知识图谱。</a:t>
            </a:r>
            <a:endParaRPr lang="zh-CN" altLang="en-US"/>
          </a:p>
          <a:p>
            <a:pPr marL="342900" indent="-342900">
              <a:lnSpc>
                <a:spcPct val="120000"/>
              </a:lnSpc>
              <a:buFont typeface="Arial" panose="020B0604020202020204" pitchFamily="34" charset="0"/>
              <a:buChar char="•"/>
            </a:pPr>
            <a:r>
              <a:rPr lang="zh-CN" altLang="en-US" b="1"/>
              <a:t>语义聚类</a:t>
            </a:r>
            <a:r>
              <a:rPr lang="zh-CN" altLang="en-US"/>
              <a:t>：利用图嵌入算法将语义相似的 </a:t>
            </a:r>
            <a:r>
              <a:rPr lang="en-US" altLang="zh-CN"/>
              <a:t>API </a:t>
            </a:r>
            <a:r>
              <a:rPr lang="zh-CN" altLang="en-US"/>
              <a:t>聚类为</a:t>
            </a:r>
            <a:r>
              <a:rPr lang="zh-CN" altLang="en-US" b="1"/>
              <a:t>语义群组 </a:t>
            </a:r>
            <a:r>
              <a:rPr lang="zh-CN" altLang="en-US"/>
              <a:t>。</a:t>
            </a:r>
            <a:endParaRPr lang="zh-CN" altLang="en-US"/>
          </a:p>
          <a:p>
            <a:pPr marL="342900" indent="-342900">
              <a:buFont typeface="Arial" panose="020B0604020202020204" pitchFamily="34" charset="0"/>
              <a:buChar char="•"/>
            </a:pPr>
            <a:r>
              <a:rPr lang="zh-CN" altLang="en-US" b="1"/>
              <a:t>特征替换</a:t>
            </a:r>
            <a:r>
              <a:rPr lang="zh-CN" altLang="en-US"/>
              <a:t>：在训练和检测时，将具体的 </a:t>
            </a:r>
            <a:r>
              <a:rPr lang="en-US" altLang="zh-CN"/>
              <a:t>API </a:t>
            </a:r>
            <a:r>
              <a:rPr lang="zh-CN" altLang="en-US"/>
              <a:t>替换为其所属的“群组 </a:t>
            </a:r>
            <a:r>
              <a:rPr lang="en-US" altLang="zh-CN"/>
              <a:t>ID”</a:t>
            </a:r>
            <a:r>
              <a:rPr lang="zh-CN" altLang="en-US"/>
              <a:t>，使模型学习通用的行为模式而非特定 </a:t>
            </a:r>
            <a:r>
              <a:rPr lang="en-US" altLang="zh-CN"/>
              <a:t>API</a:t>
            </a:r>
            <a:r>
              <a:rPr lang="zh-CN" altLang="en-US"/>
              <a:t>。</a:t>
            </a:r>
            <a:endParaRPr lang="zh-CN" altLang="en-US"/>
          </a:p>
          <a:p>
            <a:pPr marL="285750" indent="-285750">
              <a:lnSpc>
                <a:spcPct val="120000"/>
              </a:lnSpc>
              <a:buFont typeface="Arial" panose="020B0604020202020204" pitchFamily="34" charset="0"/>
              <a:buChar char="•"/>
            </a:pPr>
            <a:endParaRPr lang="zh-CN" altLang="en-US"/>
          </a:p>
        </p:txBody>
      </p:sp>
      <p:sp>
        <p:nvSpPr>
          <p:cNvPr id="12" name="文本框 11"/>
          <p:cNvSpPr txBox="1"/>
          <p:nvPr/>
        </p:nvSpPr>
        <p:spPr>
          <a:xfrm>
            <a:off x="947677" y="4186488"/>
            <a:ext cx="3893577" cy="1920526"/>
          </a:xfrm>
          <a:prstGeom prst="rect">
            <a:avLst/>
          </a:prstGeom>
          <a:noFill/>
        </p:spPr>
        <p:txBody>
          <a:bodyPr wrap="square">
            <a:spAutoFit/>
          </a:bodyPr>
          <a:lstStyle/>
          <a:p>
            <a:pPr>
              <a:lnSpc>
                <a:spcPct val="120000"/>
              </a:lnSpc>
            </a:pPr>
            <a:r>
              <a:rPr lang="zh-CN" altLang="en-US" b="1"/>
              <a:t>最终效果</a:t>
            </a:r>
            <a:r>
              <a:rPr lang="zh-CN" altLang="en-US"/>
              <a:t>：</a:t>
            </a:r>
            <a:endParaRPr lang="en-US" altLang="zh-CN"/>
          </a:p>
          <a:p>
            <a:pPr marL="285750" indent="-285750">
              <a:lnSpc>
                <a:spcPct val="120000"/>
              </a:lnSpc>
              <a:buFont typeface="Arial" panose="020B0604020202020204" pitchFamily="34" charset="0"/>
              <a:buChar char="•"/>
            </a:pPr>
            <a:r>
              <a:rPr lang="zh-CN" altLang="en-US"/>
              <a:t>将模型的老化速度延缓了 </a:t>
            </a:r>
            <a:r>
              <a:rPr lang="en-US" altLang="zh-CN" b="1"/>
              <a:t>5.9% </a:t>
            </a:r>
            <a:r>
              <a:rPr lang="zh-CN" altLang="en-US" b="1"/>
              <a:t>到 </a:t>
            </a:r>
            <a:r>
              <a:rPr lang="en-US" altLang="zh-CN" b="1"/>
              <a:t>19.6%</a:t>
            </a:r>
            <a:r>
              <a:rPr lang="zh-CN" altLang="en-US"/>
              <a:t>。</a:t>
            </a:r>
            <a:endParaRPr lang="zh-CN" altLang="en-US"/>
          </a:p>
          <a:p>
            <a:pPr marL="285750" indent="-285750">
              <a:buFont typeface="Arial" panose="020B0604020202020204" pitchFamily="34" charset="0"/>
              <a:buChar char="•"/>
            </a:pPr>
            <a:r>
              <a:rPr lang="zh-CN" altLang="en-US"/>
              <a:t>在维持相同检测性能的前提下，减少了 </a:t>
            </a:r>
            <a:r>
              <a:rPr lang="en-US" altLang="zh-CN" b="1"/>
              <a:t>33% </a:t>
            </a:r>
            <a:r>
              <a:rPr lang="zh-CN" altLang="en-US" b="1"/>
              <a:t>到 </a:t>
            </a:r>
            <a:r>
              <a:rPr lang="en-US" altLang="zh-CN" b="1"/>
              <a:t>96%</a:t>
            </a:r>
            <a:r>
              <a:rPr lang="zh-CN" altLang="en-US"/>
              <a:t> 的样本标注需求。</a:t>
            </a:r>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normAutofit/>
          </a:bodyPr>
          <a:lstStyle/>
          <a:p>
            <a:pPr>
              <a:spcAft>
                <a:spcPts val="600"/>
              </a:spcAft>
              <a:defRPr/>
            </a:pPr>
            <a:r>
              <a:rPr lang="en-US" altLang="zh-CN" cap="none" dirty="0" err="1"/>
              <a:t>DawnGNN</a:t>
            </a:r>
            <a:r>
              <a:rPr lang="en-US" altLang="zh-CN" cap="none" dirty="0"/>
              <a:t>: Documentation augmented windows malware detection using graph neural network</a:t>
            </a:r>
            <a:endParaRPr lang="zh-CN" altLang="en-US" cap="none" dirty="0"/>
          </a:p>
        </p:txBody>
      </p:sp>
      <p:sp>
        <p:nvSpPr>
          <p:cNvPr id="2" name="文本框 1"/>
          <p:cNvSpPr txBox="1"/>
          <p:nvPr/>
        </p:nvSpPr>
        <p:spPr>
          <a:xfrm>
            <a:off x="833377" y="6208113"/>
            <a:ext cx="5883214" cy="369332"/>
          </a:xfrm>
          <a:prstGeom prst="rect">
            <a:avLst/>
          </a:prstGeom>
          <a:noFill/>
        </p:spPr>
        <p:txBody>
          <a:bodyPr wrap="none" rtlCol="0">
            <a:spAutoFit/>
          </a:bodyPr>
          <a:lstStyle/>
          <a:p>
            <a:r>
              <a:rPr lang="en-US" altLang="zh-CN" dirty="0"/>
              <a:t>[1] Feng P, Gai L, Yang L, et al. Computers &amp; Security 2024</a:t>
            </a:r>
            <a:endParaRPr lang="zh-CN" altLang="en-US" dirty="0"/>
          </a:p>
        </p:txBody>
      </p:sp>
      <p:pic>
        <p:nvPicPr>
          <p:cNvPr id="6" name="图片 5"/>
          <p:cNvPicPr>
            <a:picLocks noChangeAspect="1"/>
          </p:cNvPicPr>
          <p:nvPr/>
        </p:nvPicPr>
        <p:blipFill>
          <a:blip r:embed="rId1"/>
          <a:stretch>
            <a:fillRect/>
          </a:stretch>
        </p:blipFill>
        <p:spPr>
          <a:xfrm>
            <a:off x="-6882" y="3807377"/>
            <a:ext cx="7606562" cy="2402708"/>
          </a:xfrm>
          <a:prstGeom prst="rect">
            <a:avLst/>
          </a:prstGeom>
        </p:spPr>
      </p:pic>
      <p:sp>
        <p:nvSpPr>
          <p:cNvPr id="7" name="文本框 6"/>
          <p:cNvSpPr txBox="1"/>
          <p:nvPr/>
        </p:nvSpPr>
        <p:spPr>
          <a:xfrm>
            <a:off x="7498691" y="3807661"/>
            <a:ext cx="3858004" cy="2308324"/>
          </a:xfrm>
          <a:prstGeom prst="rect">
            <a:avLst/>
          </a:prstGeom>
          <a:noFill/>
        </p:spPr>
        <p:txBody>
          <a:bodyPr wrap="square">
            <a:spAutoFit/>
          </a:bodyPr>
          <a:lstStyle/>
          <a:p>
            <a:r>
              <a:rPr lang="zh-CN" altLang="en-US" b="1"/>
              <a:t>最终效果</a:t>
            </a:r>
            <a:r>
              <a:rPr lang="zh-CN" altLang="en-US"/>
              <a:t>：</a:t>
            </a:r>
            <a:endParaRPr lang="zh-CN" altLang="en-US"/>
          </a:p>
          <a:p>
            <a:pPr marL="285750" indent="-285750">
              <a:buFont typeface="Arial" panose="020B0604020202020204" pitchFamily="34" charset="0"/>
              <a:buChar char="•"/>
            </a:pPr>
            <a:r>
              <a:rPr lang="zh-CN" altLang="en-US"/>
              <a:t>在 </a:t>
            </a:r>
            <a:r>
              <a:rPr lang="en-US" altLang="zh-CN"/>
              <a:t>MalBehavD-V1 </a:t>
            </a:r>
            <a:r>
              <a:rPr lang="zh-CN" altLang="en-US"/>
              <a:t>数据集上准确率达到 </a:t>
            </a:r>
            <a:r>
              <a:rPr lang="en-US" altLang="zh-CN"/>
              <a:t>96.38%</a:t>
            </a:r>
            <a:r>
              <a:rPr lang="zh-CN" altLang="en-US"/>
              <a:t>，优于 </a:t>
            </a:r>
            <a:r>
              <a:rPr lang="en-US" altLang="zh-CN" err="1"/>
              <a:t>MalDy</a:t>
            </a:r>
            <a:r>
              <a:rPr lang="en-US" altLang="zh-CN"/>
              <a:t> </a:t>
            </a:r>
            <a:r>
              <a:rPr lang="zh-CN" altLang="en-US"/>
              <a:t>和 </a:t>
            </a:r>
            <a:r>
              <a:rPr lang="en-US" altLang="zh-CN" err="1"/>
              <a:t>MalDetConv</a:t>
            </a:r>
            <a:r>
              <a:rPr lang="en-US" altLang="zh-CN"/>
              <a:t> </a:t>
            </a:r>
            <a:r>
              <a:rPr lang="zh-CN" altLang="en-US"/>
              <a:t>等基线方法 。</a:t>
            </a:r>
            <a:endParaRPr lang="en-US" altLang="zh-CN"/>
          </a:p>
          <a:p>
            <a:pPr marL="285750" indent="-285750">
              <a:buFont typeface="Arial" panose="020B0604020202020204" pitchFamily="34" charset="0"/>
              <a:buChar char="•"/>
            </a:pPr>
            <a:r>
              <a:rPr lang="zh-CN" altLang="en-US"/>
              <a:t>在 </a:t>
            </a:r>
            <a:r>
              <a:rPr lang="en-US" altLang="zh-CN"/>
              <a:t>APIMDS </a:t>
            </a:r>
            <a:r>
              <a:rPr lang="zh-CN" altLang="en-US"/>
              <a:t>数据集上准确率高达 </a:t>
            </a:r>
            <a:r>
              <a:rPr lang="en-US" altLang="zh-CN"/>
              <a:t>99.75% </a:t>
            </a:r>
            <a:r>
              <a:rPr lang="zh-CN" altLang="en-US"/>
              <a:t>。</a:t>
            </a:r>
            <a:endParaRPr lang="en-US" altLang="zh-CN"/>
          </a:p>
          <a:p>
            <a:pPr marL="285750" indent="-285750">
              <a:buFont typeface="Arial" panose="020B0604020202020204" pitchFamily="34" charset="0"/>
              <a:buChar char="•"/>
            </a:pPr>
            <a:r>
              <a:rPr lang="zh-CN" altLang="en-US"/>
              <a:t>证明了引入文档语义能显著提升检测性能 。</a:t>
            </a:r>
            <a:endParaRPr lang="zh-CN" altLang="en-US"/>
          </a:p>
        </p:txBody>
      </p:sp>
      <p:sp>
        <p:nvSpPr>
          <p:cNvPr id="9" name="文本框 8"/>
          <p:cNvSpPr txBox="1"/>
          <p:nvPr/>
        </p:nvSpPr>
        <p:spPr>
          <a:xfrm>
            <a:off x="835025" y="1554480"/>
            <a:ext cx="10521950" cy="2861310"/>
          </a:xfrm>
          <a:prstGeom prst="rect">
            <a:avLst/>
          </a:prstGeom>
          <a:noFill/>
        </p:spPr>
        <p:txBody>
          <a:bodyPr wrap="square">
            <a:spAutoFit/>
          </a:bodyPr>
          <a:lstStyle/>
          <a:p>
            <a:r>
              <a:rPr lang="en-US" altLang="zh-CN" b="1"/>
              <a:t>Motivation</a:t>
            </a:r>
            <a:r>
              <a:rPr lang="zh-CN" altLang="en-US" b="1"/>
              <a:t>：</a:t>
            </a:r>
            <a:endParaRPr lang="en-US" altLang="zh-CN" b="1"/>
          </a:p>
          <a:p>
            <a:pPr marL="285750" indent="-285750">
              <a:buFont typeface="Arial" panose="020B0604020202020204" pitchFamily="34" charset="0"/>
              <a:buChar char="•"/>
            </a:pPr>
            <a:r>
              <a:rPr lang="zh-CN" altLang="en-US"/>
              <a:t>现有的动态检测方法主要关注 </a:t>
            </a:r>
            <a:r>
              <a:rPr lang="en-US" altLang="zh-CN"/>
              <a:t>API </a:t>
            </a:r>
            <a:r>
              <a:rPr lang="zh-CN" altLang="en-US"/>
              <a:t>的名称或调用频率，忽略了 </a:t>
            </a:r>
            <a:r>
              <a:rPr lang="en-US" altLang="zh-CN"/>
              <a:t>API </a:t>
            </a:r>
            <a:r>
              <a:rPr lang="zh-CN" altLang="en-US"/>
              <a:t>背后丰富的</a:t>
            </a:r>
            <a:r>
              <a:rPr lang="zh-CN" altLang="en-US" b="1"/>
              <a:t>语义信息，且</a:t>
            </a:r>
            <a:r>
              <a:rPr lang="zh-CN" altLang="en-US"/>
              <a:t>官方 </a:t>
            </a:r>
            <a:r>
              <a:rPr lang="en-US" altLang="zh-CN"/>
              <a:t>API </a:t>
            </a:r>
            <a:r>
              <a:rPr lang="zh-CN" altLang="en-US"/>
              <a:t>文档是一个尚未被充分利用的信息源。</a:t>
            </a:r>
            <a:endParaRPr lang="en-US" altLang="zh-CN"/>
          </a:p>
          <a:p>
            <a:r>
              <a:rPr lang="zh-CN" altLang="en-US" b="1"/>
              <a:t>具体思路</a:t>
            </a:r>
            <a:r>
              <a:rPr lang="zh-CN" altLang="en-US"/>
              <a:t>：</a:t>
            </a:r>
            <a:endParaRPr lang="zh-CN" altLang="en-US"/>
          </a:p>
          <a:p>
            <a:pPr marL="285750" indent="-285750">
              <a:buFont typeface="Arial" panose="020B0604020202020204" pitchFamily="34" charset="0"/>
              <a:buChar char="•"/>
            </a:pPr>
            <a:r>
              <a:rPr lang="zh-CN" altLang="en-US" b="1"/>
              <a:t>图构建</a:t>
            </a:r>
            <a:r>
              <a:rPr lang="zh-CN" altLang="en-US"/>
              <a:t>：将沙箱生成的动态 </a:t>
            </a:r>
            <a:r>
              <a:rPr lang="en-US" altLang="zh-CN"/>
              <a:t>API </a:t>
            </a:r>
            <a:r>
              <a:rPr lang="zh-CN" altLang="en-US"/>
              <a:t>调用序列转换为</a:t>
            </a:r>
            <a:r>
              <a:rPr lang="zh-CN" altLang="en-US" b="1"/>
              <a:t>有向 </a:t>
            </a:r>
            <a:r>
              <a:rPr lang="en-US" altLang="zh-CN" b="1"/>
              <a:t>API </a:t>
            </a:r>
            <a:r>
              <a:rPr lang="zh-CN" altLang="en-US" b="1"/>
              <a:t>图</a:t>
            </a:r>
            <a:r>
              <a:rPr lang="zh-CN" altLang="en-US"/>
              <a:t>，捕捉结构依赖 。</a:t>
            </a:r>
            <a:endParaRPr lang="zh-CN" altLang="en-US"/>
          </a:p>
          <a:p>
            <a:pPr marL="285750" indent="-285750">
              <a:buFont typeface="Arial" panose="020B0604020202020204" pitchFamily="34" charset="0"/>
              <a:buChar char="•"/>
            </a:pPr>
            <a:r>
              <a:rPr lang="zh-CN" altLang="en-US" b="1"/>
              <a:t>语义嵌入</a:t>
            </a:r>
            <a:r>
              <a:rPr lang="zh-CN" altLang="en-US"/>
              <a:t>：爬取官方 </a:t>
            </a:r>
            <a:r>
              <a:rPr lang="en-US" altLang="zh-CN"/>
              <a:t>API </a:t>
            </a:r>
            <a:r>
              <a:rPr lang="zh-CN" altLang="en-US"/>
              <a:t>文档，使用预训练的 </a:t>
            </a:r>
            <a:r>
              <a:rPr lang="en-US" altLang="zh-CN" b="1"/>
              <a:t>BERT</a:t>
            </a:r>
            <a:r>
              <a:rPr lang="zh-CN" altLang="en-US"/>
              <a:t> 模型将功能描述文本编码为 </a:t>
            </a:r>
            <a:r>
              <a:rPr lang="en-US" altLang="zh-CN"/>
              <a:t>API </a:t>
            </a:r>
            <a:r>
              <a:rPr lang="zh-CN" altLang="en-US"/>
              <a:t>节点的特征向量。</a:t>
            </a:r>
            <a:endParaRPr lang="zh-CN" altLang="en-US"/>
          </a:p>
          <a:p>
            <a:pPr marL="285750" indent="-285750">
              <a:buFont typeface="Arial" panose="020B0604020202020204" pitchFamily="34" charset="0"/>
              <a:buChar char="•"/>
            </a:pPr>
            <a:r>
              <a:rPr lang="zh-CN" altLang="en-US" b="1"/>
              <a:t>分类模型</a:t>
            </a:r>
            <a:r>
              <a:rPr lang="zh-CN" altLang="en-US"/>
              <a:t>：使用 </a:t>
            </a:r>
            <a:r>
              <a:rPr lang="en-US" altLang="zh-CN" b="1"/>
              <a:t>GAT (</a:t>
            </a:r>
            <a:r>
              <a:rPr lang="zh-CN" altLang="en-US" b="1"/>
              <a:t>图注意力网络</a:t>
            </a:r>
            <a:r>
              <a:rPr lang="en-US" altLang="zh-CN" b="1"/>
              <a:t>)</a:t>
            </a:r>
            <a:r>
              <a:rPr lang="zh-CN" altLang="en-US"/>
              <a:t> 处理带有语义属性的 </a:t>
            </a:r>
            <a:r>
              <a:rPr lang="en-US" altLang="zh-CN"/>
              <a:t>API </a:t>
            </a:r>
            <a:r>
              <a:rPr lang="zh-CN" altLang="en-US"/>
              <a:t>图，利用注意力机制聚合邻居节点信息进行分类 。</a:t>
            </a:r>
            <a:endParaRPr lang="en-US" altLang="zh-CN"/>
          </a:p>
          <a:p>
            <a:pPr marL="285750" indent="-285750">
              <a:buFont typeface="Arial" panose="020B0604020202020204" pitchFamily="34" charset="0"/>
              <a:buChar char="•"/>
            </a:pPr>
            <a:endParaRPr lang="en-US" altLang="zh-CN" b="1"/>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685930" y="600842"/>
            <a:ext cx="6647974" cy="461665"/>
          </a:xfrm>
          <a:prstGeom prst="rect">
            <a:avLst/>
          </a:prstGeom>
          <a:noFill/>
        </p:spPr>
        <p:txBody>
          <a:bodyPr wrap="none" rtlCol="0">
            <a:spAutoFit/>
          </a:bodyPr>
          <a:lstStyle/>
          <a:p>
            <a:r>
              <a:rPr lang="zh-CN" altLang="en-US" sz="2400" b="1">
                <a:solidFill>
                  <a:srgbClr val="5C307D"/>
                </a:solidFill>
              </a:rPr>
              <a:t>传统恶意软件检测技术：中间特征提取横向对比</a:t>
            </a:r>
            <a:endParaRPr lang="zh-CN" altLang="en-US" sz="2400" b="1">
              <a:solidFill>
                <a:srgbClr val="5C307D"/>
              </a:solidFill>
            </a:endParaRPr>
          </a:p>
        </p:txBody>
      </p:sp>
      <p:graphicFrame>
        <p:nvGraphicFramePr>
          <p:cNvPr id="6" name="表格 5"/>
          <p:cNvGraphicFramePr>
            <a:graphicFrameLocks noGrp="1"/>
          </p:cNvGraphicFramePr>
          <p:nvPr/>
        </p:nvGraphicFramePr>
        <p:xfrm>
          <a:off x="1475236" y="1195053"/>
          <a:ext cx="11025505" cy="4892675"/>
        </p:xfrm>
        <a:graphic>
          <a:graphicData uri="http://schemas.openxmlformats.org/drawingml/2006/table">
            <a:tbl>
              <a:tblPr firstRow="1"/>
              <a:tblGrid>
                <a:gridCol w="1826810"/>
                <a:gridCol w="1724816"/>
                <a:gridCol w="1724816"/>
                <a:gridCol w="1955831"/>
                <a:gridCol w="1837248"/>
              </a:tblGrid>
              <a:tr h="324610">
                <a:tc>
                  <a:txBody>
                    <a:bodyPr/>
                    <a:lstStyle>
                      <a:lvl1pPr marL="0" algn="l" defTabSz="456565" rtl="0" eaLnBrk="1" latinLnBrk="0" hangingPunct="1">
                        <a:defRPr sz="1800" kern="1200">
                          <a:solidFill>
                            <a:schemeClr val="tx1"/>
                          </a:solidFill>
                          <a:latin typeface="Gill Sans MT" panose="020B0502020104020203"/>
                        </a:defRPr>
                      </a:lvl1pPr>
                      <a:lvl2pPr marL="457200" algn="l" defTabSz="456565" rtl="0" eaLnBrk="1" latinLnBrk="0" hangingPunct="1">
                        <a:defRPr sz="1800" kern="1200">
                          <a:solidFill>
                            <a:schemeClr val="tx1"/>
                          </a:solidFill>
                          <a:latin typeface="Gill Sans MT" panose="020B0502020104020203"/>
                        </a:defRPr>
                      </a:lvl2pPr>
                      <a:lvl3pPr marL="914400" algn="l" defTabSz="456565" rtl="0" eaLnBrk="1" latinLnBrk="0" hangingPunct="1">
                        <a:defRPr sz="1800" kern="1200">
                          <a:solidFill>
                            <a:schemeClr val="tx1"/>
                          </a:solidFill>
                          <a:latin typeface="Gill Sans MT" panose="020B0502020104020203"/>
                        </a:defRPr>
                      </a:lvl3pPr>
                      <a:lvl4pPr marL="1371600" algn="l" defTabSz="456565" rtl="0" eaLnBrk="1" latinLnBrk="0" hangingPunct="1">
                        <a:defRPr sz="1800" kern="1200">
                          <a:solidFill>
                            <a:schemeClr val="tx1"/>
                          </a:solidFill>
                          <a:latin typeface="Gill Sans MT" panose="020B0502020104020203"/>
                        </a:defRPr>
                      </a:lvl4pPr>
                      <a:lvl5pPr marL="1828800" algn="l" defTabSz="456565" rtl="0" eaLnBrk="1" latinLnBrk="0" hangingPunct="1">
                        <a:defRPr sz="1800" kern="1200">
                          <a:solidFill>
                            <a:schemeClr val="tx1"/>
                          </a:solidFill>
                          <a:latin typeface="Gill Sans MT" panose="020B0502020104020203"/>
                        </a:defRPr>
                      </a:lvl5pPr>
                      <a:lvl6pPr marL="2286000" algn="l" defTabSz="456565" rtl="0" eaLnBrk="1" latinLnBrk="0" hangingPunct="1">
                        <a:defRPr sz="1800" kern="1200">
                          <a:solidFill>
                            <a:schemeClr val="tx1"/>
                          </a:solidFill>
                          <a:latin typeface="Gill Sans MT" panose="020B0502020104020203"/>
                        </a:defRPr>
                      </a:lvl6pPr>
                      <a:lvl7pPr marL="2743200" algn="l" defTabSz="456565" rtl="0" eaLnBrk="1" latinLnBrk="0" hangingPunct="1">
                        <a:defRPr sz="1800" kern="1200">
                          <a:solidFill>
                            <a:schemeClr val="tx1"/>
                          </a:solidFill>
                          <a:latin typeface="Gill Sans MT" panose="020B0502020104020203"/>
                        </a:defRPr>
                      </a:lvl7pPr>
                      <a:lvl8pPr marL="3200400" algn="l" defTabSz="456565" rtl="0" eaLnBrk="1" latinLnBrk="0" hangingPunct="1">
                        <a:defRPr sz="1800" kern="1200">
                          <a:solidFill>
                            <a:schemeClr val="tx1"/>
                          </a:solidFill>
                          <a:latin typeface="Gill Sans MT" panose="020B0502020104020203"/>
                        </a:defRPr>
                      </a:lvl8pPr>
                      <a:lvl9pPr marL="3657600" algn="l" defTabSz="456565" rtl="0" eaLnBrk="1" latinLnBrk="0" hangingPunct="1">
                        <a:defRPr sz="1800" kern="1200">
                          <a:solidFill>
                            <a:schemeClr val="tx1"/>
                          </a:solidFill>
                          <a:latin typeface="Gill Sans MT" panose="020B0502020104020203"/>
                        </a:defRPr>
                      </a:lvl9pPr>
                    </a:lstStyle>
                    <a:p>
                      <a:pPr marL="0" indent="0" algn="ctr" defTabSz="456565" rtl="0" eaLnBrk="1" latinLnBrk="0" hangingPunct="1">
                        <a:lnSpc>
                          <a:spcPct val="120000"/>
                        </a:lnSpc>
                        <a:spcBef>
                          <a:spcPct val="0"/>
                        </a:spcBef>
                        <a:spcAft>
                          <a:spcPct val="0"/>
                        </a:spcAft>
                      </a:pPr>
                      <a:r>
                        <a:rPr lang="zh-CN" altLang="en-US" sz="1400" b="1" i="0" u="none" kern="1200">
                          <a:solidFill>
                            <a:srgbClr val="5B3478"/>
                          </a:solidFill>
                          <a:latin typeface="+mn-lt"/>
                          <a:ea typeface="+mn-ea"/>
                          <a:cs typeface="+mn-cs"/>
                        </a:rPr>
                        <a:t>比较维度</a:t>
                      </a:r>
                      <a:endParaRPr lang="zh-CN" altLang="en-US" sz="1400" b="1" i="0" u="none" kern="1200">
                        <a:solidFill>
                          <a:srgbClr val="5B3478"/>
                        </a:solidFill>
                        <a:latin typeface="+mn-lt"/>
                        <a:ea typeface="+mn-ea"/>
                        <a:cs typeface="+mn-cs"/>
                      </a:endParaRPr>
                    </a:p>
                  </a:txBody>
                  <a:tcPr marL="25400" marR="25400" marT="6350" marB="63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L="0" algn="l" defTabSz="456565" rtl="0" eaLnBrk="1" latinLnBrk="0" hangingPunct="1">
                        <a:defRPr sz="1800" kern="1200">
                          <a:solidFill>
                            <a:schemeClr val="tx1"/>
                          </a:solidFill>
                          <a:latin typeface="Gill Sans MT" panose="020B0502020104020203"/>
                        </a:defRPr>
                      </a:lvl1pPr>
                      <a:lvl2pPr marL="457200" algn="l" defTabSz="456565" rtl="0" eaLnBrk="1" latinLnBrk="0" hangingPunct="1">
                        <a:defRPr sz="1800" kern="1200">
                          <a:solidFill>
                            <a:schemeClr val="tx1"/>
                          </a:solidFill>
                          <a:latin typeface="Gill Sans MT" panose="020B0502020104020203"/>
                        </a:defRPr>
                      </a:lvl2pPr>
                      <a:lvl3pPr marL="914400" algn="l" defTabSz="456565" rtl="0" eaLnBrk="1" latinLnBrk="0" hangingPunct="1">
                        <a:defRPr sz="1800" kern="1200">
                          <a:solidFill>
                            <a:schemeClr val="tx1"/>
                          </a:solidFill>
                          <a:latin typeface="Gill Sans MT" panose="020B0502020104020203"/>
                        </a:defRPr>
                      </a:lvl3pPr>
                      <a:lvl4pPr marL="1371600" algn="l" defTabSz="456565" rtl="0" eaLnBrk="1" latinLnBrk="0" hangingPunct="1">
                        <a:defRPr sz="1800" kern="1200">
                          <a:solidFill>
                            <a:schemeClr val="tx1"/>
                          </a:solidFill>
                          <a:latin typeface="Gill Sans MT" panose="020B0502020104020203"/>
                        </a:defRPr>
                      </a:lvl4pPr>
                      <a:lvl5pPr marL="1828800" algn="l" defTabSz="456565" rtl="0" eaLnBrk="1" latinLnBrk="0" hangingPunct="1">
                        <a:defRPr sz="1800" kern="1200">
                          <a:solidFill>
                            <a:schemeClr val="tx1"/>
                          </a:solidFill>
                          <a:latin typeface="Gill Sans MT" panose="020B0502020104020203"/>
                        </a:defRPr>
                      </a:lvl5pPr>
                      <a:lvl6pPr marL="2286000" algn="l" defTabSz="456565" rtl="0" eaLnBrk="1" latinLnBrk="0" hangingPunct="1">
                        <a:defRPr sz="1800" kern="1200">
                          <a:solidFill>
                            <a:schemeClr val="tx1"/>
                          </a:solidFill>
                          <a:latin typeface="Gill Sans MT" panose="020B0502020104020203"/>
                        </a:defRPr>
                      </a:lvl6pPr>
                      <a:lvl7pPr marL="2743200" algn="l" defTabSz="456565" rtl="0" eaLnBrk="1" latinLnBrk="0" hangingPunct="1">
                        <a:defRPr sz="1800" kern="1200">
                          <a:solidFill>
                            <a:schemeClr val="tx1"/>
                          </a:solidFill>
                          <a:latin typeface="Gill Sans MT" panose="020B0502020104020203"/>
                        </a:defRPr>
                      </a:lvl7pPr>
                      <a:lvl8pPr marL="3200400" algn="l" defTabSz="456565" rtl="0" eaLnBrk="1" latinLnBrk="0" hangingPunct="1">
                        <a:defRPr sz="1800" kern="1200">
                          <a:solidFill>
                            <a:schemeClr val="tx1"/>
                          </a:solidFill>
                          <a:latin typeface="Gill Sans MT" panose="020B0502020104020203"/>
                        </a:defRPr>
                      </a:lvl8pPr>
                      <a:lvl9pPr marL="3657600" algn="l" defTabSz="456565" rtl="0" eaLnBrk="1" latinLnBrk="0" hangingPunct="1">
                        <a:defRPr sz="1800" kern="1200">
                          <a:solidFill>
                            <a:schemeClr val="tx1"/>
                          </a:solidFill>
                          <a:latin typeface="Gill Sans MT" panose="020B0502020104020203"/>
                        </a:defRPr>
                      </a:lvl9pPr>
                    </a:lstStyle>
                    <a:p>
                      <a:pPr marL="0" indent="0" algn="ctr" defTabSz="456565" rtl="0" eaLnBrk="1" latinLnBrk="0" hangingPunct="1">
                        <a:lnSpc>
                          <a:spcPct val="120000"/>
                        </a:lnSpc>
                        <a:spcBef>
                          <a:spcPct val="0"/>
                        </a:spcBef>
                        <a:spcAft>
                          <a:spcPct val="0"/>
                        </a:spcAft>
                      </a:pPr>
                      <a:r>
                        <a:rPr lang="en-US" sz="1400" b="1" i="0" u="none" kern="1200" err="1">
                          <a:solidFill>
                            <a:srgbClr val="5B3478"/>
                          </a:solidFill>
                          <a:latin typeface="+mn-lt"/>
                          <a:ea typeface="+mn-ea"/>
                          <a:cs typeface="+mn-cs"/>
                        </a:rPr>
                        <a:t>MaMaDroid</a:t>
                      </a:r>
                      <a:endParaRPr lang="en-US" sz="1400" b="1" i="0" u="none" kern="1200">
                        <a:solidFill>
                          <a:srgbClr val="5B3478"/>
                        </a:solidFill>
                        <a:latin typeface="+mn-lt"/>
                        <a:ea typeface="+mn-ea"/>
                        <a:cs typeface="+mn-cs"/>
                      </a:endParaRPr>
                    </a:p>
                  </a:txBody>
                  <a:tcPr marL="25400" marR="25400" marT="6350" marB="63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L="0" algn="l" defTabSz="456565" rtl="0" eaLnBrk="1" latinLnBrk="0" hangingPunct="1">
                        <a:defRPr sz="1800" kern="1200">
                          <a:solidFill>
                            <a:schemeClr val="tx1"/>
                          </a:solidFill>
                          <a:latin typeface="Gill Sans MT" panose="020B0502020104020203"/>
                        </a:defRPr>
                      </a:lvl1pPr>
                      <a:lvl2pPr marL="457200" algn="l" defTabSz="456565" rtl="0" eaLnBrk="1" latinLnBrk="0" hangingPunct="1">
                        <a:defRPr sz="1800" kern="1200">
                          <a:solidFill>
                            <a:schemeClr val="tx1"/>
                          </a:solidFill>
                          <a:latin typeface="Gill Sans MT" panose="020B0502020104020203"/>
                        </a:defRPr>
                      </a:lvl2pPr>
                      <a:lvl3pPr marL="914400" algn="l" defTabSz="456565" rtl="0" eaLnBrk="1" latinLnBrk="0" hangingPunct="1">
                        <a:defRPr sz="1800" kern="1200">
                          <a:solidFill>
                            <a:schemeClr val="tx1"/>
                          </a:solidFill>
                          <a:latin typeface="Gill Sans MT" panose="020B0502020104020203"/>
                        </a:defRPr>
                      </a:lvl3pPr>
                      <a:lvl4pPr marL="1371600" algn="l" defTabSz="456565" rtl="0" eaLnBrk="1" latinLnBrk="0" hangingPunct="1">
                        <a:defRPr sz="1800" kern="1200">
                          <a:solidFill>
                            <a:schemeClr val="tx1"/>
                          </a:solidFill>
                          <a:latin typeface="Gill Sans MT" panose="020B0502020104020203"/>
                        </a:defRPr>
                      </a:lvl4pPr>
                      <a:lvl5pPr marL="1828800" algn="l" defTabSz="456565" rtl="0" eaLnBrk="1" latinLnBrk="0" hangingPunct="1">
                        <a:defRPr sz="1800" kern="1200">
                          <a:solidFill>
                            <a:schemeClr val="tx1"/>
                          </a:solidFill>
                          <a:latin typeface="Gill Sans MT" panose="020B0502020104020203"/>
                        </a:defRPr>
                      </a:lvl5pPr>
                      <a:lvl6pPr marL="2286000" algn="l" defTabSz="456565" rtl="0" eaLnBrk="1" latinLnBrk="0" hangingPunct="1">
                        <a:defRPr sz="1800" kern="1200">
                          <a:solidFill>
                            <a:schemeClr val="tx1"/>
                          </a:solidFill>
                          <a:latin typeface="Gill Sans MT" panose="020B0502020104020203"/>
                        </a:defRPr>
                      </a:lvl6pPr>
                      <a:lvl7pPr marL="2743200" algn="l" defTabSz="456565" rtl="0" eaLnBrk="1" latinLnBrk="0" hangingPunct="1">
                        <a:defRPr sz="1800" kern="1200">
                          <a:solidFill>
                            <a:schemeClr val="tx1"/>
                          </a:solidFill>
                          <a:latin typeface="Gill Sans MT" panose="020B0502020104020203"/>
                        </a:defRPr>
                      </a:lvl7pPr>
                      <a:lvl8pPr marL="3200400" algn="l" defTabSz="456565" rtl="0" eaLnBrk="1" latinLnBrk="0" hangingPunct="1">
                        <a:defRPr sz="1800" kern="1200">
                          <a:solidFill>
                            <a:schemeClr val="tx1"/>
                          </a:solidFill>
                          <a:latin typeface="Gill Sans MT" panose="020B0502020104020203"/>
                        </a:defRPr>
                      </a:lvl8pPr>
                      <a:lvl9pPr marL="3657600" algn="l" defTabSz="456565" rtl="0" eaLnBrk="1" latinLnBrk="0" hangingPunct="1">
                        <a:defRPr sz="1800" kern="1200">
                          <a:solidFill>
                            <a:schemeClr val="tx1"/>
                          </a:solidFill>
                          <a:latin typeface="Gill Sans MT" panose="020B0502020104020203"/>
                        </a:defRPr>
                      </a:lvl9pPr>
                    </a:lstStyle>
                    <a:p>
                      <a:pPr marL="0" indent="0" algn="ctr" defTabSz="456565" rtl="0" eaLnBrk="1" latinLnBrk="0" hangingPunct="1">
                        <a:lnSpc>
                          <a:spcPct val="120000"/>
                        </a:lnSpc>
                        <a:spcBef>
                          <a:spcPct val="0"/>
                        </a:spcBef>
                        <a:spcAft>
                          <a:spcPct val="0"/>
                        </a:spcAft>
                      </a:pPr>
                      <a:r>
                        <a:rPr lang="en-US" sz="1400" b="1" i="0" u="none" kern="1200" err="1">
                          <a:solidFill>
                            <a:srgbClr val="5B3478"/>
                          </a:solidFill>
                          <a:latin typeface="+mn-lt"/>
                          <a:ea typeface="+mn-ea"/>
                          <a:cs typeface="+mn-cs"/>
                        </a:rPr>
                        <a:t>HinDroid</a:t>
                      </a:r>
                      <a:endParaRPr lang="en-US" sz="1400" b="1" i="0" u="none" kern="1200">
                        <a:solidFill>
                          <a:srgbClr val="5B3478"/>
                        </a:solidFill>
                        <a:latin typeface="+mn-lt"/>
                        <a:ea typeface="+mn-ea"/>
                        <a:cs typeface="+mn-cs"/>
                      </a:endParaRPr>
                    </a:p>
                  </a:txBody>
                  <a:tcPr marL="25400" marR="25400" marT="6350" marB="63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pPr marL="0" indent="0" algn="ctr" defTabSz="456565" rtl="0" eaLnBrk="1" latinLnBrk="0" hangingPunct="1">
                        <a:lnSpc>
                          <a:spcPct val="120000"/>
                        </a:lnSpc>
                        <a:spcBef>
                          <a:spcPct val="0"/>
                        </a:spcBef>
                        <a:spcAft>
                          <a:spcPct val="0"/>
                        </a:spcAft>
                      </a:pPr>
                      <a:r>
                        <a:rPr lang="en-US" sz="1400" b="1" i="0" u="none" kern="1200" err="1">
                          <a:solidFill>
                            <a:srgbClr val="5B3478"/>
                          </a:solidFill>
                          <a:latin typeface="+mn-lt"/>
                          <a:ea typeface="+mn-ea"/>
                          <a:cs typeface="+mn-cs"/>
                        </a:rPr>
                        <a:t>APIGraph</a:t>
                      </a:r>
                      <a:endParaRPr lang="en-US" sz="1400" b="1" i="0" u="none" kern="1200" err="1">
                        <a:solidFill>
                          <a:srgbClr val="5B3478"/>
                        </a:solidFill>
                        <a:latin typeface="+mn-lt"/>
                        <a:ea typeface="+mn-ea"/>
                        <a:cs typeface="+mn-cs"/>
                      </a:endParaRPr>
                    </a:p>
                  </a:txBody>
                  <a:tcPr marL="25400" marR="25400" marT="6350" marB="63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L="0" algn="l" defTabSz="456565" rtl="0" eaLnBrk="1" latinLnBrk="0" hangingPunct="1">
                        <a:defRPr sz="1800" kern="1200">
                          <a:solidFill>
                            <a:schemeClr val="tx1"/>
                          </a:solidFill>
                          <a:latin typeface="Gill Sans MT" panose="020B0502020104020203"/>
                        </a:defRPr>
                      </a:lvl1pPr>
                      <a:lvl2pPr marL="457200" algn="l" defTabSz="456565" rtl="0" eaLnBrk="1" latinLnBrk="0" hangingPunct="1">
                        <a:defRPr sz="1800" kern="1200">
                          <a:solidFill>
                            <a:schemeClr val="tx1"/>
                          </a:solidFill>
                          <a:latin typeface="Gill Sans MT" panose="020B0502020104020203"/>
                        </a:defRPr>
                      </a:lvl2pPr>
                      <a:lvl3pPr marL="914400" algn="l" defTabSz="456565" rtl="0" eaLnBrk="1" latinLnBrk="0" hangingPunct="1">
                        <a:defRPr sz="1800" kern="1200">
                          <a:solidFill>
                            <a:schemeClr val="tx1"/>
                          </a:solidFill>
                          <a:latin typeface="Gill Sans MT" panose="020B0502020104020203"/>
                        </a:defRPr>
                      </a:lvl3pPr>
                      <a:lvl4pPr marL="1371600" algn="l" defTabSz="456565" rtl="0" eaLnBrk="1" latinLnBrk="0" hangingPunct="1">
                        <a:defRPr sz="1800" kern="1200">
                          <a:solidFill>
                            <a:schemeClr val="tx1"/>
                          </a:solidFill>
                          <a:latin typeface="Gill Sans MT" panose="020B0502020104020203"/>
                        </a:defRPr>
                      </a:lvl4pPr>
                      <a:lvl5pPr marL="1828800" algn="l" defTabSz="456565" rtl="0" eaLnBrk="1" latinLnBrk="0" hangingPunct="1">
                        <a:defRPr sz="1800" kern="1200">
                          <a:solidFill>
                            <a:schemeClr val="tx1"/>
                          </a:solidFill>
                          <a:latin typeface="Gill Sans MT" panose="020B0502020104020203"/>
                        </a:defRPr>
                      </a:lvl5pPr>
                      <a:lvl6pPr marL="2286000" algn="l" defTabSz="456565" rtl="0" eaLnBrk="1" latinLnBrk="0" hangingPunct="1">
                        <a:defRPr sz="1800" kern="1200">
                          <a:solidFill>
                            <a:schemeClr val="tx1"/>
                          </a:solidFill>
                          <a:latin typeface="Gill Sans MT" panose="020B0502020104020203"/>
                        </a:defRPr>
                      </a:lvl6pPr>
                      <a:lvl7pPr marL="2743200" algn="l" defTabSz="456565" rtl="0" eaLnBrk="1" latinLnBrk="0" hangingPunct="1">
                        <a:defRPr sz="1800" kern="1200">
                          <a:solidFill>
                            <a:schemeClr val="tx1"/>
                          </a:solidFill>
                          <a:latin typeface="Gill Sans MT" panose="020B0502020104020203"/>
                        </a:defRPr>
                      </a:lvl7pPr>
                      <a:lvl8pPr marL="3200400" algn="l" defTabSz="456565" rtl="0" eaLnBrk="1" latinLnBrk="0" hangingPunct="1">
                        <a:defRPr sz="1800" kern="1200">
                          <a:solidFill>
                            <a:schemeClr val="tx1"/>
                          </a:solidFill>
                          <a:latin typeface="Gill Sans MT" panose="020B0502020104020203"/>
                        </a:defRPr>
                      </a:lvl8pPr>
                      <a:lvl9pPr marL="3657600" algn="l" defTabSz="456565" rtl="0" eaLnBrk="1" latinLnBrk="0" hangingPunct="1">
                        <a:defRPr sz="1800" kern="1200">
                          <a:solidFill>
                            <a:schemeClr val="tx1"/>
                          </a:solidFill>
                          <a:latin typeface="Gill Sans MT" panose="020B0502020104020203"/>
                        </a:defRPr>
                      </a:lvl9pPr>
                    </a:lstStyle>
                    <a:p>
                      <a:pPr marL="0" indent="0" algn="ctr" defTabSz="456565" rtl="0" eaLnBrk="1" latinLnBrk="0" hangingPunct="1">
                        <a:lnSpc>
                          <a:spcPct val="120000"/>
                        </a:lnSpc>
                        <a:spcBef>
                          <a:spcPct val="0"/>
                        </a:spcBef>
                        <a:spcAft>
                          <a:spcPct val="0"/>
                        </a:spcAft>
                      </a:pPr>
                      <a:r>
                        <a:rPr lang="en-US" sz="1400" b="1" i="0" u="none" kern="1200" err="1">
                          <a:solidFill>
                            <a:srgbClr val="5B3478"/>
                          </a:solidFill>
                          <a:latin typeface="+mn-lt"/>
                          <a:ea typeface="+mn-ea"/>
                          <a:cs typeface="+mn-cs"/>
                        </a:rPr>
                        <a:t>DawnGNN</a:t>
                      </a:r>
                      <a:endParaRPr lang="en-US" sz="1400" b="1" i="0" u="none" kern="1200" err="1">
                        <a:solidFill>
                          <a:srgbClr val="5B3478"/>
                        </a:solidFill>
                        <a:latin typeface="+mn-lt"/>
                        <a:ea typeface="+mn-ea"/>
                        <a:cs typeface="+mn-cs"/>
                      </a:endParaRPr>
                    </a:p>
                  </a:txBody>
                  <a:tcPr marL="25400" marR="25400" marT="6350" marB="63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652725">
                <a:tc>
                  <a:txBody>
                    <a:bodyPr/>
                    <a:lstStyle>
                      <a:lvl1pPr marL="0" algn="l" defTabSz="456565" rtl="0" eaLnBrk="1" latinLnBrk="0" hangingPunct="1">
                        <a:defRPr sz="1800" kern="1200">
                          <a:solidFill>
                            <a:schemeClr val="tx1"/>
                          </a:solidFill>
                          <a:latin typeface="Gill Sans MT" panose="020B0502020104020203"/>
                        </a:defRPr>
                      </a:lvl1pPr>
                      <a:lvl2pPr marL="457200" algn="l" defTabSz="456565" rtl="0" eaLnBrk="1" latinLnBrk="0" hangingPunct="1">
                        <a:defRPr sz="1800" kern="1200">
                          <a:solidFill>
                            <a:schemeClr val="tx1"/>
                          </a:solidFill>
                          <a:latin typeface="Gill Sans MT" panose="020B0502020104020203"/>
                        </a:defRPr>
                      </a:lvl2pPr>
                      <a:lvl3pPr marL="914400" algn="l" defTabSz="456565" rtl="0" eaLnBrk="1" latinLnBrk="0" hangingPunct="1">
                        <a:defRPr sz="1800" kern="1200">
                          <a:solidFill>
                            <a:schemeClr val="tx1"/>
                          </a:solidFill>
                          <a:latin typeface="Gill Sans MT" panose="020B0502020104020203"/>
                        </a:defRPr>
                      </a:lvl3pPr>
                      <a:lvl4pPr marL="1371600" algn="l" defTabSz="456565" rtl="0" eaLnBrk="1" latinLnBrk="0" hangingPunct="1">
                        <a:defRPr sz="1800" kern="1200">
                          <a:solidFill>
                            <a:schemeClr val="tx1"/>
                          </a:solidFill>
                          <a:latin typeface="Gill Sans MT" panose="020B0502020104020203"/>
                        </a:defRPr>
                      </a:lvl4pPr>
                      <a:lvl5pPr marL="1828800" algn="l" defTabSz="456565" rtl="0" eaLnBrk="1" latinLnBrk="0" hangingPunct="1">
                        <a:defRPr sz="1800" kern="1200">
                          <a:solidFill>
                            <a:schemeClr val="tx1"/>
                          </a:solidFill>
                          <a:latin typeface="Gill Sans MT" panose="020B0502020104020203"/>
                        </a:defRPr>
                      </a:lvl5pPr>
                      <a:lvl6pPr marL="2286000" algn="l" defTabSz="456565" rtl="0" eaLnBrk="1" latinLnBrk="0" hangingPunct="1">
                        <a:defRPr sz="1800" kern="1200">
                          <a:solidFill>
                            <a:schemeClr val="tx1"/>
                          </a:solidFill>
                          <a:latin typeface="Gill Sans MT" panose="020B0502020104020203"/>
                        </a:defRPr>
                      </a:lvl6pPr>
                      <a:lvl7pPr marL="2743200" algn="l" defTabSz="456565" rtl="0" eaLnBrk="1" latinLnBrk="0" hangingPunct="1">
                        <a:defRPr sz="1800" kern="1200">
                          <a:solidFill>
                            <a:schemeClr val="tx1"/>
                          </a:solidFill>
                          <a:latin typeface="Gill Sans MT" panose="020B0502020104020203"/>
                        </a:defRPr>
                      </a:lvl7pPr>
                      <a:lvl8pPr marL="3200400" algn="l" defTabSz="456565" rtl="0" eaLnBrk="1" latinLnBrk="0" hangingPunct="1">
                        <a:defRPr sz="1800" kern="1200">
                          <a:solidFill>
                            <a:schemeClr val="tx1"/>
                          </a:solidFill>
                          <a:latin typeface="Gill Sans MT" panose="020B0502020104020203"/>
                        </a:defRPr>
                      </a:lvl8pPr>
                      <a:lvl9pPr marL="3657600" algn="l" defTabSz="456565" rtl="0" eaLnBrk="1" latinLnBrk="0" hangingPunct="1">
                        <a:defRPr sz="1800" kern="1200">
                          <a:solidFill>
                            <a:schemeClr val="tx1"/>
                          </a:solidFill>
                          <a:latin typeface="Gill Sans MT" panose="020B0502020104020203"/>
                        </a:defRPr>
                      </a:lvl9pPr>
                    </a:lstStyle>
                    <a:p>
                      <a:pPr marL="0" indent="0" algn="ctr" defTabSz="456565" rtl="0" eaLnBrk="1" latinLnBrk="0" hangingPunct="1">
                        <a:lnSpc>
                          <a:spcPct val="120000"/>
                        </a:lnSpc>
                        <a:spcBef>
                          <a:spcPct val="0"/>
                        </a:spcBef>
                        <a:spcAft>
                          <a:spcPct val="0"/>
                        </a:spcAft>
                      </a:pPr>
                      <a:r>
                        <a:rPr lang="zh-CN" altLang="en-US" sz="1400" u="none" kern="1200"/>
                        <a:t>核心视角</a:t>
                      </a:r>
                      <a:endParaRPr lang="zh-CN" altLang="en-US" sz="1400" u="none" kern="1200"/>
                    </a:p>
                  </a:txBody>
                  <a:tcPr marL="25400" marR="25400" marT="6350" marB="63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lvl1pPr marL="0" algn="l" defTabSz="456565" rtl="0" eaLnBrk="1" latinLnBrk="0" hangingPunct="1">
                        <a:defRPr sz="1800" kern="1200">
                          <a:solidFill>
                            <a:schemeClr val="tx1"/>
                          </a:solidFill>
                          <a:latin typeface="Gill Sans MT" panose="020B0502020104020203"/>
                        </a:defRPr>
                      </a:lvl1pPr>
                      <a:lvl2pPr marL="457200" algn="l" defTabSz="456565" rtl="0" eaLnBrk="1" latinLnBrk="0" hangingPunct="1">
                        <a:defRPr sz="1800" kern="1200">
                          <a:solidFill>
                            <a:schemeClr val="tx1"/>
                          </a:solidFill>
                          <a:latin typeface="Gill Sans MT" panose="020B0502020104020203"/>
                        </a:defRPr>
                      </a:lvl2pPr>
                      <a:lvl3pPr marL="914400" algn="l" defTabSz="456565" rtl="0" eaLnBrk="1" latinLnBrk="0" hangingPunct="1">
                        <a:defRPr sz="1800" kern="1200">
                          <a:solidFill>
                            <a:schemeClr val="tx1"/>
                          </a:solidFill>
                          <a:latin typeface="Gill Sans MT" panose="020B0502020104020203"/>
                        </a:defRPr>
                      </a:lvl3pPr>
                      <a:lvl4pPr marL="1371600" algn="l" defTabSz="456565" rtl="0" eaLnBrk="1" latinLnBrk="0" hangingPunct="1">
                        <a:defRPr sz="1800" kern="1200">
                          <a:solidFill>
                            <a:schemeClr val="tx1"/>
                          </a:solidFill>
                          <a:latin typeface="Gill Sans MT" panose="020B0502020104020203"/>
                        </a:defRPr>
                      </a:lvl4pPr>
                      <a:lvl5pPr marL="1828800" algn="l" defTabSz="456565" rtl="0" eaLnBrk="1" latinLnBrk="0" hangingPunct="1">
                        <a:defRPr sz="1800" kern="1200">
                          <a:solidFill>
                            <a:schemeClr val="tx1"/>
                          </a:solidFill>
                          <a:latin typeface="Gill Sans MT" panose="020B0502020104020203"/>
                        </a:defRPr>
                      </a:lvl5pPr>
                      <a:lvl6pPr marL="2286000" algn="l" defTabSz="456565" rtl="0" eaLnBrk="1" latinLnBrk="0" hangingPunct="1">
                        <a:defRPr sz="1800" kern="1200">
                          <a:solidFill>
                            <a:schemeClr val="tx1"/>
                          </a:solidFill>
                          <a:latin typeface="Gill Sans MT" panose="020B0502020104020203"/>
                        </a:defRPr>
                      </a:lvl6pPr>
                      <a:lvl7pPr marL="2743200" algn="l" defTabSz="456565" rtl="0" eaLnBrk="1" latinLnBrk="0" hangingPunct="1">
                        <a:defRPr sz="1800" kern="1200">
                          <a:solidFill>
                            <a:schemeClr val="tx1"/>
                          </a:solidFill>
                          <a:latin typeface="Gill Sans MT" panose="020B0502020104020203"/>
                        </a:defRPr>
                      </a:lvl7pPr>
                      <a:lvl8pPr marL="3200400" algn="l" defTabSz="456565" rtl="0" eaLnBrk="1" latinLnBrk="0" hangingPunct="1">
                        <a:defRPr sz="1800" kern="1200">
                          <a:solidFill>
                            <a:schemeClr val="tx1"/>
                          </a:solidFill>
                          <a:latin typeface="Gill Sans MT" panose="020B0502020104020203"/>
                        </a:defRPr>
                      </a:lvl8pPr>
                      <a:lvl9pPr marL="3657600" algn="l" defTabSz="456565" rtl="0" eaLnBrk="1" latinLnBrk="0" hangingPunct="1">
                        <a:defRPr sz="1800" kern="1200">
                          <a:solidFill>
                            <a:schemeClr val="tx1"/>
                          </a:solidFill>
                          <a:latin typeface="Gill Sans MT" panose="020B0502020104020203"/>
                        </a:defRPr>
                      </a:lvl9pPr>
                    </a:lstStyle>
                    <a:p>
                      <a:pPr marL="0" indent="0" algn="l" defTabSz="456565" rtl="0" eaLnBrk="1" latinLnBrk="0" hangingPunct="1">
                        <a:lnSpc>
                          <a:spcPct val="120000"/>
                        </a:lnSpc>
                        <a:spcBef>
                          <a:spcPct val="0"/>
                        </a:spcBef>
                        <a:spcAft>
                          <a:spcPct val="0"/>
                        </a:spcAft>
                      </a:pPr>
                      <a:r>
                        <a:rPr lang="zh-CN" altLang="en-US" sz="1400" u="none" kern="1200"/>
                        <a:t>时序视角</a:t>
                      </a:r>
                      <a:br>
                        <a:rPr lang="zh-CN" altLang="en-US" sz="1400" u="none" kern="1200"/>
                      </a:br>
                      <a:r>
                        <a:rPr lang="en-US" altLang="zh-CN" sz="1400" u="none" kern="1200"/>
                        <a:t>(</a:t>
                      </a:r>
                      <a:r>
                        <a:rPr lang="en-US" sz="1400" u="none" kern="1200"/>
                        <a:t>Sequence)</a:t>
                      </a:r>
                      <a:endParaRPr lang="en-US" sz="1400" u="none" kern="1200"/>
                    </a:p>
                  </a:txBody>
                  <a:tcPr marL="25400" marR="25400" marT="6350" marB="63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lvl1pPr marL="0" algn="l" defTabSz="456565" rtl="0" eaLnBrk="1" latinLnBrk="0" hangingPunct="1">
                        <a:defRPr sz="1800" kern="1200">
                          <a:solidFill>
                            <a:schemeClr val="tx1"/>
                          </a:solidFill>
                          <a:latin typeface="Gill Sans MT" panose="020B0502020104020203"/>
                        </a:defRPr>
                      </a:lvl1pPr>
                      <a:lvl2pPr marL="457200" algn="l" defTabSz="456565" rtl="0" eaLnBrk="1" latinLnBrk="0" hangingPunct="1">
                        <a:defRPr sz="1800" kern="1200">
                          <a:solidFill>
                            <a:schemeClr val="tx1"/>
                          </a:solidFill>
                          <a:latin typeface="Gill Sans MT" panose="020B0502020104020203"/>
                        </a:defRPr>
                      </a:lvl2pPr>
                      <a:lvl3pPr marL="914400" algn="l" defTabSz="456565" rtl="0" eaLnBrk="1" latinLnBrk="0" hangingPunct="1">
                        <a:defRPr sz="1800" kern="1200">
                          <a:solidFill>
                            <a:schemeClr val="tx1"/>
                          </a:solidFill>
                          <a:latin typeface="Gill Sans MT" panose="020B0502020104020203"/>
                        </a:defRPr>
                      </a:lvl3pPr>
                      <a:lvl4pPr marL="1371600" algn="l" defTabSz="456565" rtl="0" eaLnBrk="1" latinLnBrk="0" hangingPunct="1">
                        <a:defRPr sz="1800" kern="1200">
                          <a:solidFill>
                            <a:schemeClr val="tx1"/>
                          </a:solidFill>
                          <a:latin typeface="Gill Sans MT" panose="020B0502020104020203"/>
                        </a:defRPr>
                      </a:lvl4pPr>
                      <a:lvl5pPr marL="1828800" algn="l" defTabSz="456565" rtl="0" eaLnBrk="1" latinLnBrk="0" hangingPunct="1">
                        <a:defRPr sz="1800" kern="1200">
                          <a:solidFill>
                            <a:schemeClr val="tx1"/>
                          </a:solidFill>
                          <a:latin typeface="Gill Sans MT" panose="020B0502020104020203"/>
                        </a:defRPr>
                      </a:lvl5pPr>
                      <a:lvl6pPr marL="2286000" algn="l" defTabSz="456565" rtl="0" eaLnBrk="1" latinLnBrk="0" hangingPunct="1">
                        <a:defRPr sz="1800" kern="1200">
                          <a:solidFill>
                            <a:schemeClr val="tx1"/>
                          </a:solidFill>
                          <a:latin typeface="Gill Sans MT" panose="020B0502020104020203"/>
                        </a:defRPr>
                      </a:lvl6pPr>
                      <a:lvl7pPr marL="2743200" algn="l" defTabSz="456565" rtl="0" eaLnBrk="1" latinLnBrk="0" hangingPunct="1">
                        <a:defRPr sz="1800" kern="1200">
                          <a:solidFill>
                            <a:schemeClr val="tx1"/>
                          </a:solidFill>
                          <a:latin typeface="Gill Sans MT" panose="020B0502020104020203"/>
                        </a:defRPr>
                      </a:lvl7pPr>
                      <a:lvl8pPr marL="3200400" algn="l" defTabSz="456565" rtl="0" eaLnBrk="1" latinLnBrk="0" hangingPunct="1">
                        <a:defRPr sz="1800" kern="1200">
                          <a:solidFill>
                            <a:schemeClr val="tx1"/>
                          </a:solidFill>
                          <a:latin typeface="Gill Sans MT" panose="020B0502020104020203"/>
                        </a:defRPr>
                      </a:lvl8pPr>
                      <a:lvl9pPr marL="3657600" algn="l" defTabSz="456565" rtl="0" eaLnBrk="1" latinLnBrk="0" hangingPunct="1">
                        <a:defRPr sz="1800" kern="1200">
                          <a:solidFill>
                            <a:schemeClr val="tx1"/>
                          </a:solidFill>
                          <a:latin typeface="Gill Sans MT" panose="020B0502020104020203"/>
                        </a:defRPr>
                      </a:lvl9pPr>
                    </a:lstStyle>
                    <a:p>
                      <a:pPr marL="0" indent="0" algn="l" defTabSz="456565" rtl="0" eaLnBrk="1" latinLnBrk="0" hangingPunct="1">
                        <a:lnSpc>
                          <a:spcPct val="120000"/>
                        </a:lnSpc>
                        <a:spcBef>
                          <a:spcPct val="0"/>
                        </a:spcBef>
                        <a:spcAft>
                          <a:spcPct val="0"/>
                        </a:spcAft>
                      </a:pPr>
                      <a:r>
                        <a:rPr lang="zh-CN" altLang="en-US" sz="1400" u="none" kern="1200"/>
                        <a:t>关系视角</a:t>
                      </a:r>
                      <a:br>
                        <a:rPr lang="zh-CN" altLang="en-US" sz="1400" u="none" kern="1200"/>
                      </a:br>
                      <a:r>
                        <a:rPr lang="en-US" altLang="zh-CN" sz="1400" u="none" kern="1200"/>
                        <a:t>(</a:t>
                      </a:r>
                      <a:r>
                        <a:rPr lang="en-US" sz="1400" u="none" kern="1200"/>
                        <a:t>Relationship)</a:t>
                      </a:r>
                      <a:endParaRPr lang="en-US" sz="1400" u="none" kern="1200"/>
                    </a:p>
                  </a:txBody>
                  <a:tcPr marL="25400" marR="25400" marT="6350" marB="63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p>
                      <a:pPr marL="0" indent="0" algn="l" defTabSz="456565" rtl="0" eaLnBrk="1" latinLnBrk="0" hangingPunct="1">
                        <a:lnSpc>
                          <a:spcPct val="120000"/>
                        </a:lnSpc>
                        <a:spcBef>
                          <a:spcPct val="0"/>
                        </a:spcBef>
                        <a:spcAft>
                          <a:spcPct val="0"/>
                        </a:spcAft>
                      </a:pPr>
                      <a:r>
                        <a:rPr lang="zh-CN" altLang="en-US" sz="1400" u="none" kern="1200"/>
                        <a:t>语义视角</a:t>
                      </a:r>
                      <a:br>
                        <a:rPr lang="zh-CN" altLang="en-US" sz="1400" u="none" kern="1200"/>
                      </a:br>
                      <a:r>
                        <a:rPr lang="en-US" altLang="zh-CN" sz="1400" u="none" kern="1200"/>
                        <a:t>(</a:t>
                      </a:r>
                      <a:r>
                        <a:rPr lang="en-US" sz="1400" u="none" kern="1200"/>
                        <a:t>Semantics)</a:t>
                      </a:r>
                      <a:endParaRPr lang="en-US" sz="1400" u="none" kern="1200"/>
                    </a:p>
                  </a:txBody>
                  <a:tcPr marL="25400" marR="25400" marT="6350" marB="63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lvl1pPr marL="0" algn="l" defTabSz="456565" rtl="0" eaLnBrk="1" latinLnBrk="0" hangingPunct="1">
                        <a:defRPr sz="1800" kern="1200">
                          <a:solidFill>
                            <a:schemeClr val="tx1"/>
                          </a:solidFill>
                          <a:latin typeface="Gill Sans MT" panose="020B0502020104020203"/>
                        </a:defRPr>
                      </a:lvl1pPr>
                      <a:lvl2pPr marL="457200" algn="l" defTabSz="456565" rtl="0" eaLnBrk="1" latinLnBrk="0" hangingPunct="1">
                        <a:defRPr sz="1800" kern="1200">
                          <a:solidFill>
                            <a:schemeClr val="tx1"/>
                          </a:solidFill>
                          <a:latin typeface="Gill Sans MT" panose="020B0502020104020203"/>
                        </a:defRPr>
                      </a:lvl2pPr>
                      <a:lvl3pPr marL="914400" algn="l" defTabSz="456565" rtl="0" eaLnBrk="1" latinLnBrk="0" hangingPunct="1">
                        <a:defRPr sz="1800" kern="1200">
                          <a:solidFill>
                            <a:schemeClr val="tx1"/>
                          </a:solidFill>
                          <a:latin typeface="Gill Sans MT" panose="020B0502020104020203"/>
                        </a:defRPr>
                      </a:lvl3pPr>
                      <a:lvl4pPr marL="1371600" algn="l" defTabSz="456565" rtl="0" eaLnBrk="1" latinLnBrk="0" hangingPunct="1">
                        <a:defRPr sz="1800" kern="1200">
                          <a:solidFill>
                            <a:schemeClr val="tx1"/>
                          </a:solidFill>
                          <a:latin typeface="Gill Sans MT" panose="020B0502020104020203"/>
                        </a:defRPr>
                      </a:lvl4pPr>
                      <a:lvl5pPr marL="1828800" algn="l" defTabSz="456565" rtl="0" eaLnBrk="1" latinLnBrk="0" hangingPunct="1">
                        <a:defRPr sz="1800" kern="1200">
                          <a:solidFill>
                            <a:schemeClr val="tx1"/>
                          </a:solidFill>
                          <a:latin typeface="Gill Sans MT" panose="020B0502020104020203"/>
                        </a:defRPr>
                      </a:lvl5pPr>
                      <a:lvl6pPr marL="2286000" algn="l" defTabSz="456565" rtl="0" eaLnBrk="1" latinLnBrk="0" hangingPunct="1">
                        <a:defRPr sz="1800" kern="1200">
                          <a:solidFill>
                            <a:schemeClr val="tx1"/>
                          </a:solidFill>
                          <a:latin typeface="Gill Sans MT" panose="020B0502020104020203"/>
                        </a:defRPr>
                      </a:lvl6pPr>
                      <a:lvl7pPr marL="2743200" algn="l" defTabSz="456565" rtl="0" eaLnBrk="1" latinLnBrk="0" hangingPunct="1">
                        <a:defRPr sz="1800" kern="1200">
                          <a:solidFill>
                            <a:schemeClr val="tx1"/>
                          </a:solidFill>
                          <a:latin typeface="Gill Sans MT" panose="020B0502020104020203"/>
                        </a:defRPr>
                      </a:lvl7pPr>
                      <a:lvl8pPr marL="3200400" algn="l" defTabSz="456565" rtl="0" eaLnBrk="1" latinLnBrk="0" hangingPunct="1">
                        <a:defRPr sz="1800" kern="1200">
                          <a:solidFill>
                            <a:schemeClr val="tx1"/>
                          </a:solidFill>
                          <a:latin typeface="Gill Sans MT" panose="020B0502020104020203"/>
                        </a:defRPr>
                      </a:lvl8pPr>
                      <a:lvl9pPr marL="3657600" algn="l" defTabSz="456565" rtl="0" eaLnBrk="1" latinLnBrk="0" hangingPunct="1">
                        <a:defRPr sz="1800" kern="1200">
                          <a:solidFill>
                            <a:schemeClr val="tx1"/>
                          </a:solidFill>
                          <a:latin typeface="Gill Sans MT" panose="020B0502020104020203"/>
                        </a:defRPr>
                      </a:lvl9pPr>
                    </a:lstStyle>
                    <a:p>
                      <a:pPr marL="0" indent="0" algn="l" defTabSz="456565" rtl="0" eaLnBrk="1" latinLnBrk="0" hangingPunct="1">
                        <a:lnSpc>
                          <a:spcPct val="120000"/>
                        </a:lnSpc>
                        <a:spcBef>
                          <a:spcPct val="0"/>
                        </a:spcBef>
                        <a:spcAft>
                          <a:spcPct val="0"/>
                        </a:spcAft>
                      </a:pPr>
                      <a:r>
                        <a:rPr lang="zh-CN" altLang="en-US" sz="1400" u="none" kern="1200"/>
                        <a:t>语义</a:t>
                      </a:r>
                      <a:r>
                        <a:rPr lang="en-US" altLang="zh-CN" sz="1400" u="none" kern="1200"/>
                        <a:t>+</a:t>
                      </a:r>
                      <a:r>
                        <a:rPr lang="zh-CN" altLang="en-US" sz="1400" u="none" kern="1200"/>
                        <a:t>结构视角</a:t>
                      </a:r>
                      <a:br>
                        <a:rPr lang="zh-CN" altLang="en-US" sz="1400" u="none" kern="1200"/>
                      </a:br>
                      <a:r>
                        <a:rPr lang="en-US" altLang="zh-CN" sz="1400" u="none" kern="1200"/>
                        <a:t>(</a:t>
                      </a:r>
                      <a:r>
                        <a:rPr lang="en-US" sz="1400" u="none" kern="1200"/>
                        <a:t>Semantics + Graph)</a:t>
                      </a:r>
                      <a:endParaRPr lang="en-US" sz="1400" u="none" kern="1200"/>
                    </a:p>
                  </a:txBody>
                  <a:tcPr marL="25400" marR="25400" marT="6350" marB="63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r>
              <a:tr h="555035">
                <a:tc>
                  <a:txBody>
                    <a:bodyPr/>
                    <a:lstStyle>
                      <a:lvl1pPr marL="0" algn="l" defTabSz="456565" rtl="0" eaLnBrk="1" latinLnBrk="0" hangingPunct="1">
                        <a:defRPr sz="1800" kern="1200">
                          <a:solidFill>
                            <a:schemeClr val="tx1"/>
                          </a:solidFill>
                          <a:latin typeface="Gill Sans MT" panose="020B0502020104020203"/>
                        </a:defRPr>
                      </a:lvl1pPr>
                      <a:lvl2pPr marL="457200" algn="l" defTabSz="456565" rtl="0" eaLnBrk="1" latinLnBrk="0" hangingPunct="1">
                        <a:defRPr sz="1800" kern="1200">
                          <a:solidFill>
                            <a:schemeClr val="tx1"/>
                          </a:solidFill>
                          <a:latin typeface="Gill Sans MT" panose="020B0502020104020203"/>
                        </a:defRPr>
                      </a:lvl2pPr>
                      <a:lvl3pPr marL="914400" algn="l" defTabSz="456565" rtl="0" eaLnBrk="1" latinLnBrk="0" hangingPunct="1">
                        <a:defRPr sz="1800" kern="1200">
                          <a:solidFill>
                            <a:schemeClr val="tx1"/>
                          </a:solidFill>
                          <a:latin typeface="Gill Sans MT" panose="020B0502020104020203"/>
                        </a:defRPr>
                      </a:lvl3pPr>
                      <a:lvl4pPr marL="1371600" algn="l" defTabSz="456565" rtl="0" eaLnBrk="1" latinLnBrk="0" hangingPunct="1">
                        <a:defRPr sz="1800" kern="1200">
                          <a:solidFill>
                            <a:schemeClr val="tx1"/>
                          </a:solidFill>
                          <a:latin typeface="Gill Sans MT" panose="020B0502020104020203"/>
                        </a:defRPr>
                      </a:lvl4pPr>
                      <a:lvl5pPr marL="1828800" algn="l" defTabSz="456565" rtl="0" eaLnBrk="1" latinLnBrk="0" hangingPunct="1">
                        <a:defRPr sz="1800" kern="1200">
                          <a:solidFill>
                            <a:schemeClr val="tx1"/>
                          </a:solidFill>
                          <a:latin typeface="Gill Sans MT" panose="020B0502020104020203"/>
                        </a:defRPr>
                      </a:lvl5pPr>
                      <a:lvl6pPr marL="2286000" algn="l" defTabSz="456565" rtl="0" eaLnBrk="1" latinLnBrk="0" hangingPunct="1">
                        <a:defRPr sz="1800" kern="1200">
                          <a:solidFill>
                            <a:schemeClr val="tx1"/>
                          </a:solidFill>
                          <a:latin typeface="Gill Sans MT" panose="020B0502020104020203"/>
                        </a:defRPr>
                      </a:lvl6pPr>
                      <a:lvl7pPr marL="2743200" algn="l" defTabSz="456565" rtl="0" eaLnBrk="1" latinLnBrk="0" hangingPunct="1">
                        <a:defRPr sz="1800" kern="1200">
                          <a:solidFill>
                            <a:schemeClr val="tx1"/>
                          </a:solidFill>
                          <a:latin typeface="Gill Sans MT" panose="020B0502020104020203"/>
                        </a:defRPr>
                      </a:lvl7pPr>
                      <a:lvl8pPr marL="3200400" algn="l" defTabSz="456565" rtl="0" eaLnBrk="1" latinLnBrk="0" hangingPunct="1">
                        <a:defRPr sz="1800" kern="1200">
                          <a:solidFill>
                            <a:schemeClr val="tx1"/>
                          </a:solidFill>
                          <a:latin typeface="Gill Sans MT" panose="020B0502020104020203"/>
                        </a:defRPr>
                      </a:lvl8pPr>
                      <a:lvl9pPr marL="3657600" algn="l" defTabSz="456565" rtl="0" eaLnBrk="1" latinLnBrk="0" hangingPunct="1">
                        <a:defRPr sz="1800" kern="1200">
                          <a:solidFill>
                            <a:schemeClr val="tx1"/>
                          </a:solidFill>
                          <a:latin typeface="Gill Sans MT" panose="020B0502020104020203"/>
                        </a:defRPr>
                      </a:lvl9pPr>
                    </a:lstStyle>
                    <a:p>
                      <a:pPr marL="0" indent="0" algn="ctr" defTabSz="456565" rtl="0" eaLnBrk="1" latinLnBrk="0" hangingPunct="1">
                        <a:lnSpc>
                          <a:spcPct val="120000"/>
                        </a:lnSpc>
                        <a:spcBef>
                          <a:spcPct val="0"/>
                        </a:spcBef>
                        <a:spcAft>
                          <a:spcPct val="0"/>
                        </a:spcAft>
                      </a:pPr>
                      <a:r>
                        <a:rPr lang="zh-CN" altLang="en-US" sz="1400" u="none" kern="1200"/>
                        <a:t>原始输入</a:t>
                      </a:r>
                      <a:endParaRPr lang="zh-CN" altLang="en-US" sz="1400" u="none" kern="1200"/>
                    </a:p>
                  </a:txBody>
                  <a:tcPr marL="25400" marR="25400" marT="6350" marB="63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lvl1pPr marL="0" algn="l" defTabSz="456565" rtl="0" eaLnBrk="1" latinLnBrk="0" hangingPunct="1">
                        <a:defRPr sz="1800" kern="1200">
                          <a:solidFill>
                            <a:schemeClr val="tx1"/>
                          </a:solidFill>
                          <a:latin typeface="Gill Sans MT" panose="020B0502020104020203"/>
                        </a:defRPr>
                      </a:lvl1pPr>
                      <a:lvl2pPr marL="457200" algn="l" defTabSz="456565" rtl="0" eaLnBrk="1" latinLnBrk="0" hangingPunct="1">
                        <a:defRPr sz="1800" kern="1200">
                          <a:solidFill>
                            <a:schemeClr val="tx1"/>
                          </a:solidFill>
                          <a:latin typeface="Gill Sans MT" panose="020B0502020104020203"/>
                        </a:defRPr>
                      </a:lvl2pPr>
                      <a:lvl3pPr marL="914400" algn="l" defTabSz="456565" rtl="0" eaLnBrk="1" latinLnBrk="0" hangingPunct="1">
                        <a:defRPr sz="1800" kern="1200">
                          <a:solidFill>
                            <a:schemeClr val="tx1"/>
                          </a:solidFill>
                          <a:latin typeface="Gill Sans MT" panose="020B0502020104020203"/>
                        </a:defRPr>
                      </a:lvl3pPr>
                      <a:lvl4pPr marL="1371600" algn="l" defTabSz="456565" rtl="0" eaLnBrk="1" latinLnBrk="0" hangingPunct="1">
                        <a:defRPr sz="1800" kern="1200">
                          <a:solidFill>
                            <a:schemeClr val="tx1"/>
                          </a:solidFill>
                          <a:latin typeface="Gill Sans MT" panose="020B0502020104020203"/>
                        </a:defRPr>
                      </a:lvl4pPr>
                      <a:lvl5pPr marL="1828800" algn="l" defTabSz="456565" rtl="0" eaLnBrk="1" latinLnBrk="0" hangingPunct="1">
                        <a:defRPr sz="1800" kern="1200">
                          <a:solidFill>
                            <a:schemeClr val="tx1"/>
                          </a:solidFill>
                          <a:latin typeface="Gill Sans MT" panose="020B0502020104020203"/>
                        </a:defRPr>
                      </a:lvl5pPr>
                      <a:lvl6pPr marL="2286000" algn="l" defTabSz="456565" rtl="0" eaLnBrk="1" latinLnBrk="0" hangingPunct="1">
                        <a:defRPr sz="1800" kern="1200">
                          <a:solidFill>
                            <a:schemeClr val="tx1"/>
                          </a:solidFill>
                          <a:latin typeface="Gill Sans MT" panose="020B0502020104020203"/>
                        </a:defRPr>
                      </a:lvl6pPr>
                      <a:lvl7pPr marL="2743200" algn="l" defTabSz="456565" rtl="0" eaLnBrk="1" latinLnBrk="0" hangingPunct="1">
                        <a:defRPr sz="1800" kern="1200">
                          <a:solidFill>
                            <a:schemeClr val="tx1"/>
                          </a:solidFill>
                          <a:latin typeface="Gill Sans MT" panose="020B0502020104020203"/>
                        </a:defRPr>
                      </a:lvl7pPr>
                      <a:lvl8pPr marL="3200400" algn="l" defTabSz="456565" rtl="0" eaLnBrk="1" latinLnBrk="0" hangingPunct="1">
                        <a:defRPr sz="1800" kern="1200">
                          <a:solidFill>
                            <a:schemeClr val="tx1"/>
                          </a:solidFill>
                          <a:latin typeface="Gill Sans MT" panose="020B0502020104020203"/>
                        </a:defRPr>
                      </a:lvl8pPr>
                      <a:lvl9pPr marL="3657600" algn="l" defTabSz="456565" rtl="0" eaLnBrk="1" latinLnBrk="0" hangingPunct="1">
                        <a:defRPr sz="1800" kern="1200">
                          <a:solidFill>
                            <a:schemeClr val="tx1"/>
                          </a:solidFill>
                          <a:latin typeface="Gill Sans MT" panose="020B0502020104020203"/>
                        </a:defRPr>
                      </a:lvl9pPr>
                    </a:lstStyle>
                    <a:p>
                      <a:pPr marL="0" indent="0" algn="l" defTabSz="456565" rtl="0" eaLnBrk="1" latinLnBrk="0" hangingPunct="1">
                        <a:lnSpc>
                          <a:spcPct val="120000"/>
                        </a:lnSpc>
                        <a:spcBef>
                          <a:spcPct val="0"/>
                        </a:spcBef>
                        <a:spcAft>
                          <a:spcPct val="0"/>
                        </a:spcAft>
                      </a:pPr>
                      <a:r>
                        <a:rPr lang="en-US" sz="1400" u="none" kern="1200"/>
                        <a:t>API </a:t>
                      </a:r>
                      <a:r>
                        <a:rPr lang="zh-CN" altLang="en-US" sz="1400" u="none" kern="1200"/>
                        <a:t>调用序列</a:t>
                      </a:r>
                      <a:endParaRPr lang="zh-CN" altLang="en-US" sz="1400" u="none" kern="1200"/>
                    </a:p>
                  </a:txBody>
                  <a:tcPr marL="25400" marR="25400" marT="6350" marB="63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lvl1pPr marL="0" algn="l" defTabSz="456565" rtl="0" eaLnBrk="1" latinLnBrk="0" hangingPunct="1">
                        <a:defRPr sz="1800" kern="1200">
                          <a:solidFill>
                            <a:schemeClr val="tx1"/>
                          </a:solidFill>
                          <a:latin typeface="Gill Sans MT" panose="020B0502020104020203"/>
                        </a:defRPr>
                      </a:lvl1pPr>
                      <a:lvl2pPr marL="457200" algn="l" defTabSz="456565" rtl="0" eaLnBrk="1" latinLnBrk="0" hangingPunct="1">
                        <a:defRPr sz="1800" kern="1200">
                          <a:solidFill>
                            <a:schemeClr val="tx1"/>
                          </a:solidFill>
                          <a:latin typeface="Gill Sans MT" panose="020B0502020104020203"/>
                        </a:defRPr>
                      </a:lvl2pPr>
                      <a:lvl3pPr marL="914400" algn="l" defTabSz="456565" rtl="0" eaLnBrk="1" latinLnBrk="0" hangingPunct="1">
                        <a:defRPr sz="1800" kern="1200">
                          <a:solidFill>
                            <a:schemeClr val="tx1"/>
                          </a:solidFill>
                          <a:latin typeface="Gill Sans MT" panose="020B0502020104020203"/>
                        </a:defRPr>
                      </a:lvl3pPr>
                      <a:lvl4pPr marL="1371600" algn="l" defTabSz="456565" rtl="0" eaLnBrk="1" latinLnBrk="0" hangingPunct="1">
                        <a:defRPr sz="1800" kern="1200">
                          <a:solidFill>
                            <a:schemeClr val="tx1"/>
                          </a:solidFill>
                          <a:latin typeface="Gill Sans MT" panose="020B0502020104020203"/>
                        </a:defRPr>
                      </a:lvl4pPr>
                      <a:lvl5pPr marL="1828800" algn="l" defTabSz="456565" rtl="0" eaLnBrk="1" latinLnBrk="0" hangingPunct="1">
                        <a:defRPr sz="1800" kern="1200">
                          <a:solidFill>
                            <a:schemeClr val="tx1"/>
                          </a:solidFill>
                          <a:latin typeface="Gill Sans MT" panose="020B0502020104020203"/>
                        </a:defRPr>
                      </a:lvl5pPr>
                      <a:lvl6pPr marL="2286000" algn="l" defTabSz="456565" rtl="0" eaLnBrk="1" latinLnBrk="0" hangingPunct="1">
                        <a:defRPr sz="1800" kern="1200">
                          <a:solidFill>
                            <a:schemeClr val="tx1"/>
                          </a:solidFill>
                          <a:latin typeface="Gill Sans MT" panose="020B0502020104020203"/>
                        </a:defRPr>
                      </a:lvl6pPr>
                      <a:lvl7pPr marL="2743200" algn="l" defTabSz="456565" rtl="0" eaLnBrk="1" latinLnBrk="0" hangingPunct="1">
                        <a:defRPr sz="1800" kern="1200">
                          <a:solidFill>
                            <a:schemeClr val="tx1"/>
                          </a:solidFill>
                          <a:latin typeface="Gill Sans MT" panose="020B0502020104020203"/>
                        </a:defRPr>
                      </a:lvl7pPr>
                      <a:lvl8pPr marL="3200400" algn="l" defTabSz="456565" rtl="0" eaLnBrk="1" latinLnBrk="0" hangingPunct="1">
                        <a:defRPr sz="1800" kern="1200">
                          <a:solidFill>
                            <a:schemeClr val="tx1"/>
                          </a:solidFill>
                          <a:latin typeface="Gill Sans MT" panose="020B0502020104020203"/>
                        </a:defRPr>
                      </a:lvl8pPr>
                      <a:lvl9pPr marL="3657600" algn="l" defTabSz="456565" rtl="0" eaLnBrk="1" latinLnBrk="0" hangingPunct="1">
                        <a:defRPr sz="1800" kern="1200">
                          <a:solidFill>
                            <a:schemeClr val="tx1"/>
                          </a:solidFill>
                          <a:latin typeface="Gill Sans MT" panose="020B0502020104020203"/>
                        </a:defRPr>
                      </a:lvl9pPr>
                    </a:lstStyle>
                    <a:p>
                      <a:pPr marL="0" indent="0" algn="l" defTabSz="456565" rtl="0" eaLnBrk="1" latinLnBrk="0" hangingPunct="1">
                        <a:lnSpc>
                          <a:spcPct val="120000"/>
                        </a:lnSpc>
                        <a:spcBef>
                          <a:spcPct val="0"/>
                        </a:spcBef>
                        <a:spcAft>
                          <a:spcPct val="0"/>
                        </a:spcAft>
                      </a:pPr>
                      <a:r>
                        <a:rPr lang="en-US" sz="1400" u="none" kern="1200"/>
                        <a:t>App </a:t>
                      </a:r>
                      <a:r>
                        <a:rPr lang="zh-CN" altLang="en-US" sz="1400" u="none" kern="1200"/>
                        <a:t>代码、</a:t>
                      </a:r>
                      <a:r>
                        <a:rPr lang="en-US" sz="1400" u="none" kern="1200"/>
                        <a:t>API </a:t>
                      </a:r>
                      <a:r>
                        <a:rPr lang="zh-CN" altLang="en-US" sz="1400" u="none" kern="1200"/>
                        <a:t>列表</a:t>
                      </a:r>
                      <a:endParaRPr lang="zh-CN" altLang="en-US" sz="1400" u="none" kern="1200"/>
                    </a:p>
                  </a:txBody>
                  <a:tcPr marL="25400" marR="25400" marT="6350" marB="63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p>
                      <a:pPr marL="0" indent="0" algn="l" defTabSz="456565" rtl="0" eaLnBrk="1" latinLnBrk="0" hangingPunct="1">
                        <a:lnSpc>
                          <a:spcPct val="120000"/>
                        </a:lnSpc>
                        <a:spcBef>
                          <a:spcPct val="0"/>
                        </a:spcBef>
                        <a:spcAft>
                          <a:spcPct val="0"/>
                        </a:spcAft>
                      </a:pPr>
                      <a:r>
                        <a:rPr lang="en-US" sz="1400" u="none" kern="1200"/>
                        <a:t>API </a:t>
                      </a:r>
                      <a:r>
                        <a:rPr lang="zh-CN" altLang="en-US" sz="1400" u="none" kern="1200"/>
                        <a:t>调用列表</a:t>
                      </a:r>
                      <a:endParaRPr lang="zh-CN" altLang="en-US" sz="1400" u="none" kern="1200"/>
                    </a:p>
                  </a:txBody>
                  <a:tcPr marL="25400" marR="25400" marT="6350" marB="63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lvl1pPr marL="0" algn="l" defTabSz="456565" rtl="0" eaLnBrk="1" latinLnBrk="0" hangingPunct="1">
                        <a:defRPr sz="1800" kern="1200">
                          <a:solidFill>
                            <a:schemeClr val="tx1"/>
                          </a:solidFill>
                          <a:latin typeface="Gill Sans MT" panose="020B0502020104020203"/>
                        </a:defRPr>
                      </a:lvl1pPr>
                      <a:lvl2pPr marL="457200" algn="l" defTabSz="456565" rtl="0" eaLnBrk="1" latinLnBrk="0" hangingPunct="1">
                        <a:defRPr sz="1800" kern="1200">
                          <a:solidFill>
                            <a:schemeClr val="tx1"/>
                          </a:solidFill>
                          <a:latin typeface="Gill Sans MT" panose="020B0502020104020203"/>
                        </a:defRPr>
                      </a:lvl2pPr>
                      <a:lvl3pPr marL="914400" algn="l" defTabSz="456565" rtl="0" eaLnBrk="1" latinLnBrk="0" hangingPunct="1">
                        <a:defRPr sz="1800" kern="1200">
                          <a:solidFill>
                            <a:schemeClr val="tx1"/>
                          </a:solidFill>
                          <a:latin typeface="Gill Sans MT" panose="020B0502020104020203"/>
                        </a:defRPr>
                      </a:lvl3pPr>
                      <a:lvl4pPr marL="1371600" algn="l" defTabSz="456565" rtl="0" eaLnBrk="1" latinLnBrk="0" hangingPunct="1">
                        <a:defRPr sz="1800" kern="1200">
                          <a:solidFill>
                            <a:schemeClr val="tx1"/>
                          </a:solidFill>
                          <a:latin typeface="Gill Sans MT" panose="020B0502020104020203"/>
                        </a:defRPr>
                      </a:lvl4pPr>
                      <a:lvl5pPr marL="1828800" algn="l" defTabSz="456565" rtl="0" eaLnBrk="1" latinLnBrk="0" hangingPunct="1">
                        <a:defRPr sz="1800" kern="1200">
                          <a:solidFill>
                            <a:schemeClr val="tx1"/>
                          </a:solidFill>
                          <a:latin typeface="Gill Sans MT" panose="020B0502020104020203"/>
                        </a:defRPr>
                      </a:lvl5pPr>
                      <a:lvl6pPr marL="2286000" algn="l" defTabSz="456565" rtl="0" eaLnBrk="1" latinLnBrk="0" hangingPunct="1">
                        <a:defRPr sz="1800" kern="1200">
                          <a:solidFill>
                            <a:schemeClr val="tx1"/>
                          </a:solidFill>
                          <a:latin typeface="Gill Sans MT" panose="020B0502020104020203"/>
                        </a:defRPr>
                      </a:lvl6pPr>
                      <a:lvl7pPr marL="2743200" algn="l" defTabSz="456565" rtl="0" eaLnBrk="1" latinLnBrk="0" hangingPunct="1">
                        <a:defRPr sz="1800" kern="1200">
                          <a:solidFill>
                            <a:schemeClr val="tx1"/>
                          </a:solidFill>
                          <a:latin typeface="Gill Sans MT" panose="020B0502020104020203"/>
                        </a:defRPr>
                      </a:lvl7pPr>
                      <a:lvl8pPr marL="3200400" algn="l" defTabSz="456565" rtl="0" eaLnBrk="1" latinLnBrk="0" hangingPunct="1">
                        <a:defRPr sz="1800" kern="1200">
                          <a:solidFill>
                            <a:schemeClr val="tx1"/>
                          </a:solidFill>
                          <a:latin typeface="Gill Sans MT" panose="020B0502020104020203"/>
                        </a:defRPr>
                      </a:lvl8pPr>
                      <a:lvl9pPr marL="3657600" algn="l" defTabSz="456565" rtl="0" eaLnBrk="1" latinLnBrk="0" hangingPunct="1">
                        <a:defRPr sz="1800" kern="1200">
                          <a:solidFill>
                            <a:schemeClr val="tx1"/>
                          </a:solidFill>
                          <a:latin typeface="Gill Sans MT" panose="020B0502020104020203"/>
                        </a:defRPr>
                      </a:lvl9pPr>
                    </a:lstStyle>
                    <a:p>
                      <a:pPr marL="0" indent="0" algn="l" defTabSz="456565" rtl="0" eaLnBrk="1" latinLnBrk="0" hangingPunct="1">
                        <a:lnSpc>
                          <a:spcPct val="120000"/>
                        </a:lnSpc>
                        <a:spcBef>
                          <a:spcPct val="0"/>
                        </a:spcBef>
                        <a:spcAft>
                          <a:spcPct val="0"/>
                        </a:spcAft>
                      </a:pPr>
                      <a:r>
                        <a:rPr lang="zh-CN" altLang="en-US" sz="1400" u="none" kern="1200"/>
                        <a:t>动态 </a:t>
                      </a:r>
                      <a:r>
                        <a:rPr lang="en-US" altLang="zh-CN" sz="1400" u="none" kern="1200"/>
                        <a:t>API </a:t>
                      </a:r>
                      <a:r>
                        <a:rPr lang="zh-CN" altLang="en-US" sz="1400" u="none" kern="1200"/>
                        <a:t>调用序列 </a:t>
                      </a:r>
                      <a:endParaRPr lang="en-US" altLang="zh-CN" sz="1400" u="none" kern="1200"/>
                    </a:p>
                  </a:txBody>
                  <a:tcPr marL="25400" marR="25400" marT="6350" marB="63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r>
              <a:tr h="1086535">
                <a:tc>
                  <a:txBody>
                    <a:bodyPr/>
                    <a:lstStyle>
                      <a:lvl1pPr marL="0" algn="l" defTabSz="456565" rtl="0" eaLnBrk="1" latinLnBrk="0" hangingPunct="1">
                        <a:defRPr sz="1800" kern="1200">
                          <a:solidFill>
                            <a:schemeClr val="tx1"/>
                          </a:solidFill>
                          <a:latin typeface="Gill Sans MT" panose="020B0502020104020203"/>
                        </a:defRPr>
                      </a:lvl1pPr>
                      <a:lvl2pPr marL="457200" algn="l" defTabSz="456565" rtl="0" eaLnBrk="1" latinLnBrk="0" hangingPunct="1">
                        <a:defRPr sz="1800" kern="1200">
                          <a:solidFill>
                            <a:schemeClr val="tx1"/>
                          </a:solidFill>
                          <a:latin typeface="Gill Sans MT" panose="020B0502020104020203"/>
                        </a:defRPr>
                      </a:lvl2pPr>
                      <a:lvl3pPr marL="914400" algn="l" defTabSz="456565" rtl="0" eaLnBrk="1" latinLnBrk="0" hangingPunct="1">
                        <a:defRPr sz="1800" kern="1200">
                          <a:solidFill>
                            <a:schemeClr val="tx1"/>
                          </a:solidFill>
                          <a:latin typeface="Gill Sans MT" panose="020B0502020104020203"/>
                        </a:defRPr>
                      </a:lvl3pPr>
                      <a:lvl4pPr marL="1371600" algn="l" defTabSz="456565" rtl="0" eaLnBrk="1" latinLnBrk="0" hangingPunct="1">
                        <a:defRPr sz="1800" kern="1200">
                          <a:solidFill>
                            <a:schemeClr val="tx1"/>
                          </a:solidFill>
                          <a:latin typeface="Gill Sans MT" panose="020B0502020104020203"/>
                        </a:defRPr>
                      </a:lvl4pPr>
                      <a:lvl5pPr marL="1828800" algn="l" defTabSz="456565" rtl="0" eaLnBrk="1" latinLnBrk="0" hangingPunct="1">
                        <a:defRPr sz="1800" kern="1200">
                          <a:solidFill>
                            <a:schemeClr val="tx1"/>
                          </a:solidFill>
                          <a:latin typeface="Gill Sans MT" panose="020B0502020104020203"/>
                        </a:defRPr>
                      </a:lvl5pPr>
                      <a:lvl6pPr marL="2286000" algn="l" defTabSz="456565" rtl="0" eaLnBrk="1" latinLnBrk="0" hangingPunct="1">
                        <a:defRPr sz="1800" kern="1200">
                          <a:solidFill>
                            <a:schemeClr val="tx1"/>
                          </a:solidFill>
                          <a:latin typeface="Gill Sans MT" panose="020B0502020104020203"/>
                        </a:defRPr>
                      </a:lvl6pPr>
                      <a:lvl7pPr marL="2743200" algn="l" defTabSz="456565" rtl="0" eaLnBrk="1" latinLnBrk="0" hangingPunct="1">
                        <a:defRPr sz="1800" kern="1200">
                          <a:solidFill>
                            <a:schemeClr val="tx1"/>
                          </a:solidFill>
                          <a:latin typeface="Gill Sans MT" panose="020B0502020104020203"/>
                        </a:defRPr>
                      </a:lvl7pPr>
                      <a:lvl8pPr marL="3200400" algn="l" defTabSz="456565" rtl="0" eaLnBrk="1" latinLnBrk="0" hangingPunct="1">
                        <a:defRPr sz="1800" kern="1200">
                          <a:solidFill>
                            <a:schemeClr val="tx1"/>
                          </a:solidFill>
                          <a:latin typeface="Gill Sans MT" panose="020B0502020104020203"/>
                        </a:defRPr>
                      </a:lvl8pPr>
                      <a:lvl9pPr marL="3657600" algn="l" defTabSz="456565" rtl="0" eaLnBrk="1" latinLnBrk="0" hangingPunct="1">
                        <a:defRPr sz="1800" kern="1200">
                          <a:solidFill>
                            <a:schemeClr val="tx1"/>
                          </a:solidFill>
                          <a:latin typeface="Gill Sans MT" panose="020B0502020104020203"/>
                        </a:defRPr>
                      </a:lvl9pPr>
                    </a:lstStyle>
                    <a:p>
                      <a:pPr marL="0" indent="0" algn="ctr" defTabSz="456565" rtl="0" eaLnBrk="1" latinLnBrk="0" hangingPunct="1">
                        <a:lnSpc>
                          <a:spcPct val="120000"/>
                        </a:lnSpc>
                        <a:spcBef>
                          <a:spcPct val="0"/>
                        </a:spcBef>
                        <a:spcAft>
                          <a:spcPct val="0"/>
                        </a:spcAft>
                      </a:pPr>
                      <a:r>
                        <a:rPr lang="zh-CN" altLang="en-US" sz="1400" u="none" kern="1200"/>
                        <a:t>中间特征提取</a:t>
                      </a:r>
                      <a:br>
                        <a:rPr lang="zh-CN" altLang="en-US" sz="1400" u="none" kern="1200"/>
                      </a:br>
                      <a:r>
                        <a:rPr lang="en-US" altLang="zh-CN" sz="1400" u="none" kern="1200"/>
                        <a:t>(</a:t>
                      </a:r>
                      <a:r>
                        <a:rPr lang="zh-CN" altLang="en-US" sz="1400" u="none" kern="1200"/>
                        <a:t>核心步骤</a:t>
                      </a:r>
                      <a:r>
                        <a:rPr lang="en-US" altLang="zh-CN" sz="1400" u="none" kern="1200"/>
                        <a:t>)</a:t>
                      </a:r>
                      <a:endParaRPr lang="en-US" altLang="zh-CN" sz="1400" u="none" kern="1200"/>
                    </a:p>
                  </a:txBody>
                  <a:tcPr marL="25400" marR="25400" marT="6350" marB="63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lvl1pPr marL="0" algn="l" defTabSz="456565" rtl="0" eaLnBrk="1" latinLnBrk="0" hangingPunct="1">
                        <a:defRPr sz="1800" kern="1200">
                          <a:solidFill>
                            <a:schemeClr val="tx1"/>
                          </a:solidFill>
                          <a:latin typeface="Gill Sans MT" panose="020B0502020104020203"/>
                        </a:defRPr>
                      </a:lvl1pPr>
                      <a:lvl2pPr marL="457200" algn="l" defTabSz="456565" rtl="0" eaLnBrk="1" latinLnBrk="0" hangingPunct="1">
                        <a:defRPr sz="1800" kern="1200">
                          <a:solidFill>
                            <a:schemeClr val="tx1"/>
                          </a:solidFill>
                          <a:latin typeface="Gill Sans MT" panose="020B0502020104020203"/>
                        </a:defRPr>
                      </a:lvl2pPr>
                      <a:lvl3pPr marL="914400" algn="l" defTabSz="456565" rtl="0" eaLnBrk="1" latinLnBrk="0" hangingPunct="1">
                        <a:defRPr sz="1800" kern="1200">
                          <a:solidFill>
                            <a:schemeClr val="tx1"/>
                          </a:solidFill>
                          <a:latin typeface="Gill Sans MT" panose="020B0502020104020203"/>
                        </a:defRPr>
                      </a:lvl3pPr>
                      <a:lvl4pPr marL="1371600" algn="l" defTabSz="456565" rtl="0" eaLnBrk="1" latinLnBrk="0" hangingPunct="1">
                        <a:defRPr sz="1800" kern="1200">
                          <a:solidFill>
                            <a:schemeClr val="tx1"/>
                          </a:solidFill>
                          <a:latin typeface="Gill Sans MT" panose="020B0502020104020203"/>
                        </a:defRPr>
                      </a:lvl4pPr>
                      <a:lvl5pPr marL="1828800" algn="l" defTabSz="456565" rtl="0" eaLnBrk="1" latinLnBrk="0" hangingPunct="1">
                        <a:defRPr sz="1800" kern="1200">
                          <a:solidFill>
                            <a:schemeClr val="tx1"/>
                          </a:solidFill>
                          <a:latin typeface="Gill Sans MT" panose="020B0502020104020203"/>
                        </a:defRPr>
                      </a:lvl5pPr>
                      <a:lvl6pPr marL="2286000" algn="l" defTabSz="456565" rtl="0" eaLnBrk="1" latinLnBrk="0" hangingPunct="1">
                        <a:defRPr sz="1800" kern="1200">
                          <a:solidFill>
                            <a:schemeClr val="tx1"/>
                          </a:solidFill>
                          <a:latin typeface="Gill Sans MT" panose="020B0502020104020203"/>
                        </a:defRPr>
                      </a:lvl6pPr>
                      <a:lvl7pPr marL="2743200" algn="l" defTabSz="456565" rtl="0" eaLnBrk="1" latinLnBrk="0" hangingPunct="1">
                        <a:defRPr sz="1800" kern="1200">
                          <a:solidFill>
                            <a:schemeClr val="tx1"/>
                          </a:solidFill>
                          <a:latin typeface="Gill Sans MT" panose="020B0502020104020203"/>
                        </a:defRPr>
                      </a:lvl7pPr>
                      <a:lvl8pPr marL="3200400" algn="l" defTabSz="456565" rtl="0" eaLnBrk="1" latinLnBrk="0" hangingPunct="1">
                        <a:defRPr sz="1800" kern="1200">
                          <a:solidFill>
                            <a:schemeClr val="tx1"/>
                          </a:solidFill>
                          <a:latin typeface="Gill Sans MT" panose="020B0502020104020203"/>
                        </a:defRPr>
                      </a:lvl8pPr>
                      <a:lvl9pPr marL="3657600" algn="l" defTabSz="456565" rtl="0" eaLnBrk="1" latinLnBrk="0" hangingPunct="1">
                        <a:defRPr sz="1800" kern="1200">
                          <a:solidFill>
                            <a:schemeClr val="tx1"/>
                          </a:solidFill>
                          <a:latin typeface="Gill Sans MT" panose="020B0502020104020203"/>
                        </a:defRPr>
                      </a:lvl9pPr>
                    </a:lstStyle>
                    <a:p>
                      <a:pPr marL="0" indent="0" algn="l" defTabSz="456565" rtl="0" eaLnBrk="1" latinLnBrk="0" hangingPunct="1">
                        <a:lnSpc>
                          <a:spcPct val="120000"/>
                        </a:lnSpc>
                        <a:spcBef>
                          <a:spcPct val="0"/>
                        </a:spcBef>
                        <a:spcAft>
                          <a:spcPct val="0"/>
                        </a:spcAft>
                      </a:pPr>
                      <a:r>
                        <a:rPr lang="zh-CN" altLang="en-US" sz="1400" u="none" kern="1200"/>
                        <a:t>马尔可夫链：</a:t>
                      </a:r>
                      <a:br>
                        <a:rPr lang="zh-CN" altLang="en-US" sz="1400" u="none" kern="1200"/>
                      </a:br>
                      <a:r>
                        <a:rPr lang="zh-CN" altLang="en-US" sz="1400" u="none" kern="1200"/>
                        <a:t>计算抽象化后的 </a:t>
                      </a:r>
                      <a:r>
                        <a:rPr lang="en-US" altLang="zh-CN" sz="1400" u="none" kern="1200"/>
                        <a:t>API </a:t>
                      </a:r>
                      <a:r>
                        <a:rPr lang="zh-CN" altLang="en-US" sz="1400" u="none" kern="1200"/>
                        <a:t>包</a:t>
                      </a:r>
                      <a:r>
                        <a:rPr lang="en-US" altLang="zh-CN" sz="1400" u="none" kern="1200"/>
                        <a:t>/</a:t>
                      </a:r>
                      <a:r>
                        <a:rPr lang="zh-CN" altLang="en-US" sz="1400" u="none" kern="1200"/>
                        <a:t>家族之间的转移概率</a:t>
                      </a:r>
                      <a:endParaRPr lang="zh-CN" altLang="en-US" sz="1400" u="none" kern="1200"/>
                    </a:p>
                  </a:txBody>
                  <a:tcPr marL="25400" marR="25400" marT="6350" marB="63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lvl1pPr marL="0" algn="l" defTabSz="456565" rtl="0" eaLnBrk="1" latinLnBrk="0" hangingPunct="1">
                        <a:defRPr sz="1800" kern="1200">
                          <a:solidFill>
                            <a:schemeClr val="tx1"/>
                          </a:solidFill>
                          <a:latin typeface="Gill Sans MT" panose="020B0502020104020203"/>
                        </a:defRPr>
                      </a:lvl1pPr>
                      <a:lvl2pPr marL="457200" algn="l" defTabSz="456565" rtl="0" eaLnBrk="1" latinLnBrk="0" hangingPunct="1">
                        <a:defRPr sz="1800" kern="1200">
                          <a:solidFill>
                            <a:schemeClr val="tx1"/>
                          </a:solidFill>
                          <a:latin typeface="Gill Sans MT" panose="020B0502020104020203"/>
                        </a:defRPr>
                      </a:lvl2pPr>
                      <a:lvl3pPr marL="914400" algn="l" defTabSz="456565" rtl="0" eaLnBrk="1" latinLnBrk="0" hangingPunct="1">
                        <a:defRPr sz="1800" kern="1200">
                          <a:solidFill>
                            <a:schemeClr val="tx1"/>
                          </a:solidFill>
                          <a:latin typeface="Gill Sans MT" panose="020B0502020104020203"/>
                        </a:defRPr>
                      </a:lvl3pPr>
                      <a:lvl4pPr marL="1371600" algn="l" defTabSz="456565" rtl="0" eaLnBrk="1" latinLnBrk="0" hangingPunct="1">
                        <a:defRPr sz="1800" kern="1200">
                          <a:solidFill>
                            <a:schemeClr val="tx1"/>
                          </a:solidFill>
                          <a:latin typeface="Gill Sans MT" panose="020B0502020104020203"/>
                        </a:defRPr>
                      </a:lvl4pPr>
                      <a:lvl5pPr marL="1828800" algn="l" defTabSz="456565" rtl="0" eaLnBrk="1" latinLnBrk="0" hangingPunct="1">
                        <a:defRPr sz="1800" kern="1200">
                          <a:solidFill>
                            <a:schemeClr val="tx1"/>
                          </a:solidFill>
                          <a:latin typeface="Gill Sans MT" panose="020B0502020104020203"/>
                        </a:defRPr>
                      </a:lvl5pPr>
                      <a:lvl6pPr marL="2286000" algn="l" defTabSz="456565" rtl="0" eaLnBrk="1" latinLnBrk="0" hangingPunct="1">
                        <a:defRPr sz="1800" kern="1200">
                          <a:solidFill>
                            <a:schemeClr val="tx1"/>
                          </a:solidFill>
                          <a:latin typeface="Gill Sans MT" panose="020B0502020104020203"/>
                        </a:defRPr>
                      </a:lvl6pPr>
                      <a:lvl7pPr marL="2743200" algn="l" defTabSz="456565" rtl="0" eaLnBrk="1" latinLnBrk="0" hangingPunct="1">
                        <a:defRPr sz="1800" kern="1200">
                          <a:solidFill>
                            <a:schemeClr val="tx1"/>
                          </a:solidFill>
                          <a:latin typeface="Gill Sans MT" panose="020B0502020104020203"/>
                        </a:defRPr>
                      </a:lvl7pPr>
                      <a:lvl8pPr marL="3200400" algn="l" defTabSz="456565" rtl="0" eaLnBrk="1" latinLnBrk="0" hangingPunct="1">
                        <a:defRPr sz="1800" kern="1200">
                          <a:solidFill>
                            <a:schemeClr val="tx1"/>
                          </a:solidFill>
                          <a:latin typeface="Gill Sans MT" panose="020B0502020104020203"/>
                        </a:defRPr>
                      </a:lvl8pPr>
                      <a:lvl9pPr marL="3657600" algn="l" defTabSz="456565" rtl="0" eaLnBrk="1" latinLnBrk="0" hangingPunct="1">
                        <a:defRPr sz="1800" kern="1200">
                          <a:solidFill>
                            <a:schemeClr val="tx1"/>
                          </a:solidFill>
                          <a:latin typeface="Gill Sans MT" panose="020B0502020104020203"/>
                        </a:defRPr>
                      </a:lvl9pPr>
                    </a:lstStyle>
                    <a:p>
                      <a:pPr marL="0" indent="0" algn="l" defTabSz="456565" rtl="0" eaLnBrk="1" latinLnBrk="0" hangingPunct="1">
                        <a:lnSpc>
                          <a:spcPct val="120000"/>
                        </a:lnSpc>
                        <a:spcBef>
                          <a:spcPct val="0"/>
                        </a:spcBef>
                        <a:spcAft>
                          <a:spcPct val="0"/>
                        </a:spcAft>
                      </a:pPr>
                      <a:r>
                        <a:rPr lang="zh-CN" altLang="en-US" sz="1400" u="none" kern="1200"/>
                        <a:t>元路径 </a:t>
                      </a:r>
                      <a:r>
                        <a:rPr lang="en-US" altLang="zh-CN" sz="1400" u="none" kern="1200"/>
                        <a:t>(Meta-path)</a:t>
                      </a:r>
                      <a:r>
                        <a:rPr lang="zh-CN" altLang="en-US" sz="1400" u="none" kern="1200"/>
                        <a:t>：</a:t>
                      </a:r>
                      <a:br>
                        <a:rPr lang="zh-CN" altLang="en-US" sz="1400" u="none" kern="1200"/>
                      </a:br>
                      <a:r>
                        <a:rPr lang="zh-CN" altLang="en-US" sz="1400" u="none" kern="1200"/>
                        <a:t>在异构网络中提取特定的节点连接路径</a:t>
                      </a:r>
                      <a:endParaRPr lang="zh-CN" altLang="en-US" sz="1400" u="none" kern="1200"/>
                    </a:p>
                  </a:txBody>
                  <a:tcPr marL="25400" marR="25400" marT="6350" marB="63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p>
                      <a:pPr marL="0" indent="0" algn="l" defTabSz="456565" rtl="0" eaLnBrk="1" latinLnBrk="0" hangingPunct="1">
                        <a:lnSpc>
                          <a:spcPct val="120000"/>
                        </a:lnSpc>
                        <a:spcBef>
                          <a:spcPct val="0"/>
                        </a:spcBef>
                        <a:spcAft>
                          <a:spcPct val="0"/>
                        </a:spcAft>
                      </a:pPr>
                      <a:r>
                        <a:rPr lang="zh-CN" altLang="en-US" sz="1400" u="none" kern="1200"/>
                        <a:t>语义聚类：</a:t>
                      </a:r>
                      <a:br>
                        <a:rPr lang="zh-CN" altLang="en-US" sz="1400" u="none" kern="1200"/>
                      </a:br>
                      <a:r>
                        <a:rPr lang="zh-CN" altLang="en-US" sz="1400" u="none" kern="1200"/>
                        <a:t>构建 </a:t>
                      </a:r>
                      <a:r>
                        <a:rPr lang="en-US" altLang="zh-CN" sz="1400" u="none" kern="1200"/>
                        <a:t>API </a:t>
                      </a:r>
                      <a:r>
                        <a:rPr lang="zh-CN" altLang="en-US" sz="1400" u="none" kern="1200"/>
                        <a:t>知识图谱，将相似 </a:t>
                      </a:r>
                      <a:r>
                        <a:rPr lang="en-US" altLang="zh-CN" sz="1400" u="none" kern="1200"/>
                        <a:t>API </a:t>
                      </a:r>
                      <a:r>
                        <a:rPr lang="zh-CN" altLang="en-US" sz="1400" u="none" kern="1200"/>
                        <a:t>聚类为“语义群组”</a:t>
                      </a:r>
                      <a:endParaRPr lang="zh-CN" altLang="en-US" sz="1400" u="none" kern="1200"/>
                    </a:p>
                  </a:txBody>
                  <a:tcPr marL="25400" marR="25400" marT="6350" marB="63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lvl1pPr marL="0" algn="l" defTabSz="456565" rtl="0" eaLnBrk="1" latinLnBrk="0" hangingPunct="1">
                        <a:defRPr sz="1800" kern="1200">
                          <a:solidFill>
                            <a:schemeClr val="tx1"/>
                          </a:solidFill>
                          <a:latin typeface="Gill Sans MT" panose="020B0502020104020203"/>
                        </a:defRPr>
                      </a:lvl1pPr>
                      <a:lvl2pPr marL="457200" algn="l" defTabSz="456565" rtl="0" eaLnBrk="1" latinLnBrk="0" hangingPunct="1">
                        <a:defRPr sz="1800" kern="1200">
                          <a:solidFill>
                            <a:schemeClr val="tx1"/>
                          </a:solidFill>
                          <a:latin typeface="Gill Sans MT" panose="020B0502020104020203"/>
                        </a:defRPr>
                      </a:lvl2pPr>
                      <a:lvl3pPr marL="914400" algn="l" defTabSz="456565" rtl="0" eaLnBrk="1" latinLnBrk="0" hangingPunct="1">
                        <a:defRPr sz="1800" kern="1200">
                          <a:solidFill>
                            <a:schemeClr val="tx1"/>
                          </a:solidFill>
                          <a:latin typeface="Gill Sans MT" panose="020B0502020104020203"/>
                        </a:defRPr>
                      </a:lvl3pPr>
                      <a:lvl4pPr marL="1371600" algn="l" defTabSz="456565" rtl="0" eaLnBrk="1" latinLnBrk="0" hangingPunct="1">
                        <a:defRPr sz="1800" kern="1200">
                          <a:solidFill>
                            <a:schemeClr val="tx1"/>
                          </a:solidFill>
                          <a:latin typeface="Gill Sans MT" panose="020B0502020104020203"/>
                        </a:defRPr>
                      </a:lvl4pPr>
                      <a:lvl5pPr marL="1828800" algn="l" defTabSz="456565" rtl="0" eaLnBrk="1" latinLnBrk="0" hangingPunct="1">
                        <a:defRPr sz="1800" kern="1200">
                          <a:solidFill>
                            <a:schemeClr val="tx1"/>
                          </a:solidFill>
                          <a:latin typeface="Gill Sans MT" panose="020B0502020104020203"/>
                        </a:defRPr>
                      </a:lvl5pPr>
                      <a:lvl6pPr marL="2286000" algn="l" defTabSz="456565" rtl="0" eaLnBrk="1" latinLnBrk="0" hangingPunct="1">
                        <a:defRPr sz="1800" kern="1200">
                          <a:solidFill>
                            <a:schemeClr val="tx1"/>
                          </a:solidFill>
                          <a:latin typeface="Gill Sans MT" panose="020B0502020104020203"/>
                        </a:defRPr>
                      </a:lvl6pPr>
                      <a:lvl7pPr marL="2743200" algn="l" defTabSz="456565" rtl="0" eaLnBrk="1" latinLnBrk="0" hangingPunct="1">
                        <a:defRPr sz="1800" kern="1200">
                          <a:solidFill>
                            <a:schemeClr val="tx1"/>
                          </a:solidFill>
                          <a:latin typeface="Gill Sans MT" panose="020B0502020104020203"/>
                        </a:defRPr>
                      </a:lvl7pPr>
                      <a:lvl8pPr marL="3200400" algn="l" defTabSz="456565" rtl="0" eaLnBrk="1" latinLnBrk="0" hangingPunct="1">
                        <a:defRPr sz="1800" kern="1200">
                          <a:solidFill>
                            <a:schemeClr val="tx1"/>
                          </a:solidFill>
                          <a:latin typeface="Gill Sans MT" panose="020B0502020104020203"/>
                        </a:defRPr>
                      </a:lvl8pPr>
                      <a:lvl9pPr marL="3657600" algn="l" defTabSz="456565" rtl="0" eaLnBrk="1" latinLnBrk="0" hangingPunct="1">
                        <a:defRPr sz="1800" kern="1200">
                          <a:solidFill>
                            <a:schemeClr val="tx1"/>
                          </a:solidFill>
                          <a:latin typeface="Gill Sans MT" panose="020B0502020104020203"/>
                        </a:defRPr>
                      </a:lvl9pPr>
                    </a:lstStyle>
                    <a:p>
                      <a:pPr marL="0" indent="0" algn="l" defTabSz="456565" rtl="0" eaLnBrk="1" latinLnBrk="0" hangingPunct="1">
                        <a:lnSpc>
                          <a:spcPct val="120000"/>
                        </a:lnSpc>
                        <a:spcBef>
                          <a:spcPct val="0"/>
                        </a:spcBef>
                        <a:spcAft>
                          <a:spcPct val="0"/>
                        </a:spcAft>
                      </a:pPr>
                      <a:r>
                        <a:rPr lang="zh-CN" altLang="en-US" sz="1400" u="none" kern="1200"/>
                        <a:t>图构建 </a:t>
                      </a:r>
                      <a:r>
                        <a:rPr lang="en-US" altLang="zh-CN" sz="1400" u="none" kern="1200"/>
                        <a:t>+ BERT </a:t>
                      </a:r>
                      <a:r>
                        <a:rPr lang="zh-CN" altLang="en-US" sz="1400" u="none" kern="1200"/>
                        <a:t>嵌入：</a:t>
                      </a:r>
                      <a:br>
                        <a:rPr lang="zh-CN" altLang="en-US" sz="1400" u="none" kern="1200"/>
                      </a:br>
                      <a:r>
                        <a:rPr lang="en-US" altLang="zh-CN" sz="1400" u="none" kern="1200"/>
                        <a:t>1. </a:t>
                      </a:r>
                      <a:r>
                        <a:rPr lang="zh-CN" altLang="en-US" sz="1400" u="none" kern="1200"/>
                        <a:t>序列转 </a:t>
                      </a:r>
                      <a:r>
                        <a:rPr lang="en-US" altLang="zh-CN" sz="1400" u="none" kern="1200"/>
                        <a:t>API </a:t>
                      </a:r>
                      <a:r>
                        <a:rPr lang="zh-CN" altLang="en-US" sz="1400" u="none" kern="1200"/>
                        <a:t>图</a:t>
                      </a:r>
                      <a:br>
                        <a:rPr lang="zh-CN" altLang="en-US" sz="1400" u="none" kern="1200"/>
                      </a:br>
                      <a:r>
                        <a:rPr lang="en-US" altLang="zh-CN" sz="1400" u="none" kern="1200"/>
                        <a:t>2. </a:t>
                      </a:r>
                      <a:r>
                        <a:rPr lang="zh-CN" altLang="en-US" sz="1400" u="none" kern="1200"/>
                        <a:t>用 </a:t>
                      </a:r>
                      <a:r>
                        <a:rPr lang="en-US" altLang="zh-CN" sz="1400" u="none" kern="1200"/>
                        <a:t>BERT </a:t>
                      </a:r>
                      <a:r>
                        <a:rPr lang="zh-CN" altLang="en-US" sz="1400" u="none" kern="1200"/>
                        <a:t>编码文档生成节点向量 </a:t>
                      </a:r>
                      <a:endParaRPr lang="en-US" altLang="zh-CN" sz="1400" u="none" kern="1200"/>
                    </a:p>
                  </a:txBody>
                  <a:tcPr marL="25400" marR="25400" marT="6350" marB="63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r>
              <a:tr h="680792">
                <a:tc>
                  <a:txBody>
                    <a:bodyPr/>
                    <a:lstStyle>
                      <a:lvl1pPr marL="0" algn="l" defTabSz="456565" rtl="0" eaLnBrk="1" latinLnBrk="0" hangingPunct="1">
                        <a:defRPr sz="1800" kern="1200">
                          <a:solidFill>
                            <a:schemeClr val="tx1"/>
                          </a:solidFill>
                          <a:latin typeface="Gill Sans MT" panose="020B0502020104020203"/>
                        </a:defRPr>
                      </a:lvl1pPr>
                      <a:lvl2pPr marL="457200" algn="l" defTabSz="456565" rtl="0" eaLnBrk="1" latinLnBrk="0" hangingPunct="1">
                        <a:defRPr sz="1800" kern="1200">
                          <a:solidFill>
                            <a:schemeClr val="tx1"/>
                          </a:solidFill>
                          <a:latin typeface="Gill Sans MT" panose="020B0502020104020203"/>
                        </a:defRPr>
                      </a:lvl2pPr>
                      <a:lvl3pPr marL="914400" algn="l" defTabSz="456565" rtl="0" eaLnBrk="1" latinLnBrk="0" hangingPunct="1">
                        <a:defRPr sz="1800" kern="1200">
                          <a:solidFill>
                            <a:schemeClr val="tx1"/>
                          </a:solidFill>
                          <a:latin typeface="Gill Sans MT" panose="020B0502020104020203"/>
                        </a:defRPr>
                      </a:lvl3pPr>
                      <a:lvl4pPr marL="1371600" algn="l" defTabSz="456565" rtl="0" eaLnBrk="1" latinLnBrk="0" hangingPunct="1">
                        <a:defRPr sz="1800" kern="1200">
                          <a:solidFill>
                            <a:schemeClr val="tx1"/>
                          </a:solidFill>
                          <a:latin typeface="Gill Sans MT" panose="020B0502020104020203"/>
                        </a:defRPr>
                      </a:lvl4pPr>
                      <a:lvl5pPr marL="1828800" algn="l" defTabSz="456565" rtl="0" eaLnBrk="1" latinLnBrk="0" hangingPunct="1">
                        <a:defRPr sz="1800" kern="1200">
                          <a:solidFill>
                            <a:schemeClr val="tx1"/>
                          </a:solidFill>
                          <a:latin typeface="Gill Sans MT" panose="020B0502020104020203"/>
                        </a:defRPr>
                      </a:lvl5pPr>
                      <a:lvl6pPr marL="2286000" algn="l" defTabSz="456565" rtl="0" eaLnBrk="1" latinLnBrk="0" hangingPunct="1">
                        <a:defRPr sz="1800" kern="1200">
                          <a:solidFill>
                            <a:schemeClr val="tx1"/>
                          </a:solidFill>
                          <a:latin typeface="Gill Sans MT" panose="020B0502020104020203"/>
                        </a:defRPr>
                      </a:lvl6pPr>
                      <a:lvl7pPr marL="2743200" algn="l" defTabSz="456565" rtl="0" eaLnBrk="1" latinLnBrk="0" hangingPunct="1">
                        <a:defRPr sz="1800" kern="1200">
                          <a:solidFill>
                            <a:schemeClr val="tx1"/>
                          </a:solidFill>
                          <a:latin typeface="Gill Sans MT" panose="020B0502020104020203"/>
                        </a:defRPr>
                      </a:lvl7pPr>
                      <a:lvl8pPr marL="3200400" algn="l" defTabSz="456565" rtl="0" eaLnBrk="1" latinLnBrk="0" hangingPunct="1">
                        <a:defRPr sz="1800" kern="1200">
                          <a:solidFill>
                            <a:schemeClr val="tx1"/>
                          </a:solidFill>
                          <a:latin typeface="Gill Sans MT" panose="020B0502020104020203"/>
                        </a:defRPr>
                      </a:lvl8pPr>
                      <a:lvl9pPr marL="3657600" algn="l" defTabSz="456565" rtl="0" eaLnBrk="1" latinLnBrk="0" hangingPunct="1">
                        <a:defRPr sz="1800" kern="1200">
                          <a:solidFill>
                            <a:schemeClr val="tx1"/>
                          </a:solidFill>
                          <a:latin typeface="Gill Sans MT" panose="020B0502020104020203"/>
                        </a:defRPr>
                      </a:lvl9pPr>
                    </a:lstStyle>
                    <a:p>
                      <a:pPr marL="0" indent="0" algn="ctr" defTabSz="456565" rtl="0" eaLnBrk="1" latinLnBrk="0" hangingPunct="1">
                        <a:lnSpc>
                          <a:spcPct val="120000"/>
                        </a:lnSpc>
                        <a:spcBef>
                          <a:spcPct val="0"/>
                        </a:spcBef>
                        <a:spcAft>
                          <a:spcPct val="0"/>
                        </a:spcAft>
                      </a:pPr>
                      <a:r>
                        <a:rPr lang="zh-CN" altLang="en-US" sz="1400" u="none" kern="1200"/>
                        <a:t>利用的外部</a:t>
                      </a:r>
                      <a:r>
                        <a:rPr lang="en-US" altLang="zh-CN" sz="1400" u="none" kern="1200"/>
                        <a:t>/</a:t>
                      </a:r>
                      <a:r>
                        <a:rPr lang="zh-CN" altLang="en-US" sz="1400" u="none" kern="1200"/>
                        <a:t>辅助知识</a:t>
                      </a:r>
                      <a:endParaRPr lang="zh-CN" altLang="en-US" sz="1400" u="none" kern="1200"/>
                    </a:p>
                  </a:txBody>
                  <a:tcPr marL="25400" marR="25400" marT="6350" marB="63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lvl1pPr marL="0" algn="l" defTabSz="456565" rtl="0" eaLnBrk="1" latinLnBrk="0" hangingPunct="1">
                        <a:defRPr sz="1800" kern="1200">
                          <a:solidFill>
                            <a:schemeClr val="tx1"/>
                          </a:solidFill>
                          <a:latin typeface="Gill Sans MT" panose="020B0502020104020203"/>
                        </a:defRPr>
                      </a:lvl1pPr>
                      <a:lvl2pPr marL="457200" algn="l" defTabSz="456565" rtl="0" eaLnBrk="1" latinLnBrk="0" hangingPunct="1">
                        <a:defRPr sz="1800" kern="1200">
                          <a:solidFill>
                            <a:schemeClr val="tx1"/>
                          </a:solidFill>
                          <a:latin typeface="Gill Sans MT" panose="020B0502020104020203"/>
                        </a:defRPr>
                      </a:lvl2pPr>
                      <a:lvl3pPr marL="914400" algn="l" defTabSz="456565" rtl="0" eaLnBrk="1" latinLnBrk="0" hangingPunct="1">
                        <a:defRPr sz="1800" kern="1200">
                          <a:solidFill>
                            <a:schemeClr val="tx1"/>
                          </a:solidFill>
                          <a:latin typeface="Gill Sans MT" panose="020B0502020104020203"/>
                        </a:defRPr>
                      </a:lvl3pPr>
                      <a:lvl4pPr marL="1371600" algn="l" defTabSz="456565" rtl="0" eaLnBrk="1" latinLnBrk="0" hangingPunct="1">
                        <a:defRPr sz="1800" kern="1200">
                          <a:solidFill>
                            <a:schemeClr val="tx1"/>
                          </a:solidFill>
                          <a:latin typeface="Gill Sans MT" panose="020B0502020104020203"/>
                        </a:defRPr>
                      </a:lvl4pPr>
                      <a:lvl5pPr marL="1828800" algn="l" defTabSz="456565" rtl="0" eaLnBrk="1" latinLnBrk="0" hangingPunct="1">
                        <a:defRPr sz="1800" kern="1200">
                          <a:solidFill>
                            <a:schemeClr val="tx1"/>
                          </a:solidFill>
                          <a:latin typeface="Gill Sans MT" panose="020B0502020104020203"/>
                        </a:defRPr>
                      </a:lvl5pPr>
                      <a:lvl6pPr marL="2286000" algn="l" defTabSz="456565" rtl="0" eaLnBrk="1" latinLnBrk="0" hangingPunct="1">
                        <a:defRPr sz="1800" kern="1200">
                          <a:solidFill>
                            <a:schemeClr val="tx1"/>
                          </a:solidFill>
                          <a:latin typeface="Gill Sans MT" panose="020B0502020104020203"/>
                        </a:defRPr>
                      </a:lvl6pPr>
                      <a:lvl7pPr marL="2743200" algn="l" defTabSz="456565" rtl="0" eaLnBrk="1" latinLnBrk="0" hangingPunct="1">
                        <a:defRPr sz="1800" kern="1200">
                          <a:solidFill>
                            <a:schemeClr val="tx1"/>
                          </a:solidFill>
                          <a:latin typeface="Gill Sans MT" panose="020B0502020104020203"/>
                        </a:defRPr>
                      </a:lvl7pPr>
                      <a:lvl8pPr marL="3200400" algn="l" defTabSz="456565" rtl="0" eaLnBrk="1" latinLnBrk="0" hangingPunct="1">
                        <a:defRPr sz="1800" kern="1200">
                          <a:solidFill>
                            <a:schemeClr val="tx1"/>
                          </a:solidFill>
                          <a:latin typeface="Gill Sans MT" panose="020B0502020104020203"/>
                        </a:defRPr>
                      </a:lvl8pPr>
                      <a:lvl9pPr marL="3657600" algn="l" defTabSz="456565" rtl="0" eaLnBrk="1" latinLnBrk="0" hangingPunct="1">
                        <a:defRPr sz="1800" kern="1200">
                          <a:solidFill>
                            <a:schemeClr val="tx1"/>
                          </a:solidFill>
                          <a:latin typeface="Gill Sans MT" panose="020B0502020104020203"/>
                        </a:defRPr>
                      </a:lvl9pPr>
                    </a:lstStyle>
                    <a:p>
                      <a:pPr marL="0" indent="0" algn="l" defTabSz="456565" rtl="0" eaLnBrk="1" latinLnBrk="0" hangingPunct="1">
                        <a:lnSpc>
                          <a:spcPct val="120000"/>
                        </a:lnSpc>
                        <a:spcBef>
                          <a:spcPct val="0"/>
                        </a:spcBef>
                        <a:spcAft>
                          <a:spcPct val="0"/>
                        </a:spcAft>
                      </a:pPr>
                      <a:r>
                        <a:rPr lang="en-US" altLang="zh-CN" sz="1400" u="none" kern="1200"/>
                        <a:t>API </a:t>
                      </a:r>
                      <a:r>
                        <a:rPr lang="zh-CN" altLang="en-US" sz="1400" u="none" kern="1200"/>
                        <a:t>包层级结构</a:t>
                      </a:r>
                      <a:br>
                        <a:rPr lang="zh-CN" altLang="en-US" sz="1400" u="none" kern="1200"/>
                      </a:br>
                      <a:r>
                        <a:rPr lang="en-US" altLang="zh-CN" sz="1400" u="none" kern="1200"/>
                        <a:t>(</a:t>
                      </a:r>
                      <a:r>
                        <a:rPr lang="zh-CN" altLang="en-US" sz="1400" u="none" kern="1200"/>
                        <a:t>用于抽象化</a:t>
                      </a:r>
                      <a:r>
                        <a:rPr lang="en-US" altLang="zh-CN" sz="1400" u="none" kern="1200"/>
                        <a:t>)</a:t>
                      </a:r>
                      <a:endParaRPr lang="en-US" altLang="zh-CN" sz="1400" u="none" kern="1200"/>
                    </a:p>
                  </a:txBody>
                  <a:tcPr marL="25400" marR="25400" marT="6350" marB="63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lvl1pPr marL="0" algn="l" defTabSz="456565" rtl="0" eaLnBrk="1" latinLnBrk="0" hangingPunct="1">
                        <a:defRPr sz="1800" kern="1200">
                          <a:solidFill>
                            <a:schemeClr val="tx1"/>
                          </a:solidFill>
                          <a:latin typeface="Gill Sans MT" panose="020B0502020104020203"/>
                        </a:defRPr>
                      </a:lvl1pPr>
                      <a:lvl2pPr marL="457200" algn="l" defTabSz="456565" rtl="0" eaLnBrk="1" latinLnBrk="0" hangingPunct="1">
                        <a:defRPr sz="1800" kern="1200">
                          <a:solidFill>
                            <a:schemeClr val="tx1"/>
                          </a:solidFill>
                          <a:latin typeface="Gill Sans MT" panose="020B0502020104020203"/>
                        </a:defRPr>
                      </a:lvl2pPr>
                      <a:lvl3pPr marL="914400" algn="l" defTabSz="456565" rtl="0" eaLnBrk="1" latinLnBrk="0" hangingPunct="1">
                        <a:defRPr sz="1800" kern="1200">
                          <a:solidFill>
                            <a:schemeClr val="tx1"/>
                          </a:solidFill>
                          <a:latin typeface="Gill Sans MT" panose="020B0502020104020203"/>
                        </a:defRPr>
                      </a:lvl3pPr>
                      <a:lvl4pPr marL="1371600" algn="l" defTabSz="456565" rtl="0" eaLnBrk="1" latinLnBrk="0" hangingPunct="1">
                        <a:defRPr sz="1800" kern="1200">
                          <a:solidFill>
                            <a:schemeClr val="tx1"/>
                          </a:solidFill>
                          <a:latin typeface="Gill Sans MT" panose="020B0502020104020203"/>
                        </a:defRPr>
                      </a:lvl4pPr>
                      <a:lvl5pPr marL="1828800" algn="l" defTabSz="456565" rtl="0" eaLnBrk="1" latinLnBrk="0" hangingPunct="1">
                        <a:defRPr sz="1800" kern="1200">
                          <a:solidFill>
                            <a:schemeClr val="tx1"/>
                          </a:solidFill>
                          <a:latin typeface="Gill Sans MT" panose="020B0502020104020203"/>
                        </a:defRPr>
                      </a:lvl5pPr>
                      <a:lvl6pPr marL="2286000" algn="l" defTabSz="456565" rtl="0" eaLnBrk="1" latinLnBrk="0" hangingPunct="1">
                        <a:defRPr sz="1800" kern="1200">
                          <a:solidFill>
                            <a:schemeClr val="tx1"/>
                          </a:solidFill>
                          <a:latin typeface="Gill Sans MT" panose="020B0502020104020203"/>
                        </a:defRPr>
                      </a:lvl6pPr>
                      <a:lvl7pPr marL="2743200" algn="l" defTabSz="456565" rtl="0" eaLnBrk="1" latinLnBrk="0" hangingPunct="1">
                        <a:defRPr sz="1800" kern="1200">
                          <a:solidFill>
                            <a:schemeClr val="tx1"/>
                          </a:solidFill>
                          <a:latin typeface="Gill Sans MT" panose="020B0502020104020203"/>
                        </a:defRPr>
                      </a:lvl7pPr>
                      <a:lvl8pPr marL="3200400" algn="l" defTabSz="456565" rtl="0" eaLnBrk="1" latinLnBrk="0" hangingPunct="1">
                        <a:defRPr sz="1800" kern="1200">
                          <a:solidFill>
                            <a:schemeClr val="tx1"/>
                          </a:solidFill>
                          <a:latin typeface="Gill Sans MT" panose="020B0502020104020203"/>
                        </a:defRPr>
                      </a:lvl8pPr>
                      <a:lvl9pPr marL="3657600" algn="l" defTabSz="456565" rtl="0" eaLnBrk="1" latinLnBrk="0" hangingPunct="1">
                        <a:defRPr sz="1800" kern="1200">
                          <a:solidFill>
                            <a:schemeClr val="tx1"/>
                          </a:solidFill>
                          <a:latin typeface="Gill Sans MT" panose="020B0502020104020203"/>
                        </a:defRPr>
                      </a:lvl9pPr>
                    </a:lstStyle>
                    <a:p>
                      <a:pPr marL="0" indent="0" algn="l" defTabSz="456565" rtl="0" eaLnBrk="1" latinLnBrk="0" hangingPunct="1">
                        <a:lnSpc>
                          <a:spcPct val="120000"/>
                        </a:lnSpc>
                        <a:spcBef>
                          <a:spcPct val="0"/>
                        </a:spcBef>
                        <a:spcAft>
                          <a:spcPct val="0"/>
                        </a:spcAft>
                      </a:pPr>
                      <a:r>
                        <a:rPr lang="zh-CN" altLang="en-US" sz="1400" u="none" kern="1200"/>
                        <a:t>无</a:t>
                      </a:r>
                      <a:br>
                        <a:rPr lang="zh-CN" altLang="en-US" sz="1400" u="none" kern="1200"/>
                      </a:br>
                      <a:r>
                        <a:rPr lang="en-US" altLang="zh-CN" sz="1400" u="none" kern="1200"/>
                        <a:t>(</a:t>
                      </a:r>
                      <a:r>
                        <a:rPr lang="zh-CN" altLang="en-US" sz="1400" u="none" kern="1200"/>
                        <a:t>仅利用代码内部结构</a:t>
                      </a:r>
                      <a:r>
                        <a:rPr lang="en-US" altLang="zh-CN" sz="1400" u="none" kern="1200"/>
                        <a:t>)</a:t>
                      </a:r>
                      <a:endParaRPr lang="en-US" altLang="zh-CN" sz="1400" u="none" kern="1200"/>
                    </a:p>
                  </a:txBody>
                  <a:tcPr marL="25400" marR="25400" marT="6350" marB="63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p>
                      <a:pPr marL="0" indent="0" algn="l" defTabSz="456565" rtl="0" eaLnBrk="1" latinLnBrk="0" hangingPunct="1">
                        <a:lnSpc>
                          <a:spcPct val="120000"/>
                        </a:lnSpc>
                        <a:spcBef>
                          <a:spcPct val="0"/>
                        </a:spcBef>
                        <a:spcAft>
                          <a:spcPct val="0"/>
                        </a:spcAft>
                      </a:pPr>
                      <a:r>
                        <a:rPr lang="en-US" altLang="zh-CN" sz="1400" u="none" kern="1200"/>
                        <a:t>API </a:t>
                      </a:r>
                      <a:r>
                        <a:rPr lang="zh-CN" altLang="en-US" sz="1400" u="none" kern="1200"/>
                        <a:t>官方文档</a:t>
                      </a:r>
                      <a:br>
                        <a:rPr lang="zh-CN" altLang="en-US" sz="1400" u="none" kern="1200"/>
                      </a:br>
                      <a:r>
                        <a:rPr lang="en-US" altLang="zh-CN" sz="1400" u="none" kern="1200"/>
                        <a:t>(</a:t>
                      </a:r>
                      <a:r>
                        <a:rPr lang="zh-CN" altLang="en-US" sz="1400" u="none" kern="1200"/>
                        <a:t>用于提取关系</a:t>
                      </a:r>
                      <a:r>
                        <a:rPr lang="en-US" altLang="zh-CN" sz="1400" u="none" kern="1200"/>
                        <a:t>)</a:t>
                      </a:r>
                      <a:endParaRPr lang="en-US" altLang="zh-CN" sz="1400" u="none" kern="1200"/>
                    </a:p>
                  </a:txBody>
                  <a:tcPr marL="25400" marR="25400" marT="6350" marB="63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lvl1pPr marL="0" algn="l" defTabSz="456565" rtl="0" eaLnBrk="1" latinLnBrk="0" hangingPunct="1">
                        <a:defRPr sz="1800" kern="1200">
                          <a:solidFill>
                            <a:schemeClr val="tx1"/>
                          </a:solidFill>
                          <a:latin typeface="Gill Sans MT" panose="020B0502020104020203"/>
                        </a:defRPr>
                      </a:lvl1pPr>
                      <a:lvl2pPr marL="457200" algn="l" defTabSz="456565" rtl="0" eaLnBrk="1" latinLnBrk="0" hangingPunct="1">
                        <a:defRPr sz="1800" kern="1200">
                          <a:solidFill>
                            <a:schemeClr val="tx1"/>
                          </a:solidFill>
                          <a:latin typeface="Gill Sans MT" panose="020B0502020104020203"/>
                        </a:defRPr>
                      </a:lvl2pPr>
                      <a:lvl3pPr marL="914400" algn="l" defTabSz="456565" rtl="0" eaLnBrk="1" latinLnBrk="0" hangingPunct="1">
                        <a:defRPr sz="1800" kern="1200">
                          <a:solidFill>
                            <a:schemeClr val="tx1"/>
                          </a:solidFill>
                          <a:latin typeface="Gill Sans MT" panose="020B0502020104020203"/>
                        </a:defRPr>
                      </a:lvl3pPr>
                      <a:lvl4pPr marL="1371600" algn="l" defTabSz="456565" rtl="0" eaLnBrk="1" latinLnBrk="0" hangingPunct="1">
                        <a:defRPr sz="1800" kern="1200">
                          <a:solidFill>
                            <a:schemeClr val="tx1"/>
                          </a:solidFill>
                          <a:latin typeface="Gill Sans MT" panose="020B0502020104020203"/>
                        </a:defRPr>
                      </a:lvl4pPr>
                      <a:lvl5pPr marL="1828800" algn="l" defTabSz="456565" rtl="0" eaLnBrk="1" latinLnBrk="0" hangingPunct="1">
                        <a:defRPr sz="1800" kern="1200">
                          <a:solidFill>
                            <a:schemeClr val="tx1"/>
                          </a:solidFill>
                          <a:latin typeface="Gill Sans MT" panose="020B0502020104020203"/>
                        </a:defRPr>
                      </a:lvl5pPr>
                      <a:lvl6pPr marL="2286000" algn="l" defTabSz="456565" rtl="0" eaLnBrk="1" latinLnBrk="0" hangingPunct="1">
                        <a:defRPr sz="1800" kern="1200">
                          <a:solidFill>
                            <a:schemeClr val="tx1"/>
                          </a:solidFill>
                          <a:latin typeface="Gill Sans MT" panose="020B0502020104020203"/>
                        </a:defRPr>
                      </a:lvl6pPr>
                      <a:lvl7pPr marL="2743200" algn="l" defTabSz="456565" rtl="0" eaLnBrk="1" latinLnBrk="0" hangingPunct="1">
                        <a:defRPr sz="1800" kern="1200">
                          <a:solidFill>
                            <a:schemeClr val="tx1"/>
                          </a:solidFill>
                          <a:latin typeface="Gill Sans MT" panose="020B0502020104020203"/>
                        </a:defRPr>
                      </a:lvl7pPr>
                      <a:lvl8pPr marL="3200400" algn="l" defTabSz="456565" rtl="0" eaLnBrk="1" latinLnBrk="0" hangingPunct="1">
                        <a:defRPr sz="1800" kern="1200">
                          <a:solidFill>
                            <a:schemeClr val="tx1"/>
                          </a:solidFill>
                          <a:latin typeface="Gill Sans MT" panose="020B0502020104020203"/>
                        </a:defRPr>
                      </a:lvl8pPr>
                      <a:lvl9pPr marL="3657600" algn="l" defTabSz="456565" rtl="0" eaLnBrk="1" latinLnBrk="0" hangingPunct="1">
                        <a:defRPr sz="1800" kern="1200">
                          <a:solidFill>
                            <a:schemeClr val="tx1"/>
                          </a:solidFill>
                          <a:latin typeface="Gill Sans MT" panose="020B0502020104020203"/>
                        </a:defRPr>
                      </a:lvl9pPr>
                    </a:lstStyle>
                    <a:p>
                      <a:pPr marL="0" indent="0" algn="l" defTabSz="456565" rtl="0" eaLnBrk="1" latinLnBrk="0" hangingPunct="1">
                        <a:lnSpc>
                          <a:spcPct val="120000"/>
                        </a:lnSpc>
                        <a:spcBef>
                          <a:spcPct val="0"/>
                        </a:spcBef>
                        <a:spcAft>
                          <a:spcPct val="0"/>
                        </a:spcAft>
                      </a:pPr>
                      <a:r>
                        <a:rPr lang="en-US" altLang="zh-CN" sz="1400" u="none" kern="1200"/>
                        <a:t>API </a:t>
                      </a:r>
                      <a:r>
                        <a:rPr lang="zh-CN" altLang="en-US" sz="1400" u="none" kern="1200"/>
                        <a:t>官方文档</a:t>
                      </a:r>
                      <a:br>
                        <a:rPr lang="zh-CN" altLang="en-US" sz="1400" u="none" kern="1200"/>
                      </a:br>
                      <a:r>
                        <a:rPr lang="en-US" altLang="zh-CN" sz="1400" u="none" kern="1200"/>
                        <a:t>(</a:t>
                      </a:r>
                      <a:r>
                        <a:rPr lang="zh-CN" altLang="en-US" sz="1400" u="none" kern="1200"/>
                        <a:t>用于提取功能语义</a:t>
                      </a:r>
                      <a:r>
                        <a:rPr lang="en-US" altLang="zh-CN" sz="1400" u="none" kern="1200"/>
                        <a:t>) </a:t>
                      </a:r>
                      <a:endParaRPr lang="en-US" altLang="zh-CN" sz="1400" u="none" kern="1200"/>
                    </a:p>
                  </a:txBody>
                  <a:tcPr marL="25400" marR="25400" marT="6350" marB="63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r>
              <a:tr h="812506">
                <a:tc>
                  <a:txBody>
                    <a:bodyPr/>
                    <a:lstStyle>
                      <a:lvl1pPr marL="0" algn="l" defTabSz="456565" rtl="0" eaLnBrk="1" latinLnBrk="0" hangingPunct="1">
                        <a:defRPr sz="1800" kern="1200">
                          <a:solidFill>
                            <a:schemeClr val="tx1"/>
                          </a:solidFill>
                          <a:latin typeface="Gill Sans MT" panose="020B0502020104020203"/>
                        </a:defRPr>
                      </a:lvl1pPr>
                      <a:lvl2pPr marL="457200" algn="l" defTabSz="456565" rtl="0" eaLnBrk="1" latinLnBrk="0" hangingPunct="1">
                        <a:defRPr sz="1800" kern="1200">
                          <a:solidFill>
                            <a:schemeClr val="tx1"/>
                          </a:solidFill>
                          <a:latin typeface="Gill Sans MT" panose="020B0502020104020203"/>
                        </a:defRPr>
                      </a:lvl2pPr>
                      <a:lvl3pPr marL="914400" algn="l" defTabSz="456565" rtl="0" eaLnBrk="1" latinLnBrk="0" hangingPunct="1">
                        <a:defRPr sz="1800" kern="1200">
                          <a:solidFill>
                            <a:schemeClr val="tx1"/>
                          </a:solidFill>
                          <a:latin typeface="Gill Sans MT" panose="020B0502020104020203"/>
                        </a:defRPr>
                      </a:lvl3pPr>
                      <a:lvl4pPr marL="1371600" algn="l" defTabSz="456565" rtl="0" eaLnBrk="1" latinLnBrk="0" hangingPunct="1">
                        <a:defRPr sz="1800" kern="1200">
                          <a:solidFill>
                            <a:schemeClr val="tx1"/>
                          </a:solidFill>
                          <a:latin typeface="Gill Sans MT" panose="020B0502020104020203"/>
                        </a:defRPr>
                      </a:lvl4pPr>
                      <a:lvl5pPr marL="1828800" algn="l" defTabSz="456565" rtl="0" eaLnBrk="1" latinLnBrk="0" hangingPunct="1">
                        <a:defRPr sz="1800" kern="1200">
                          <a:solidFill>
                            <a:schemeClr val="tx1"/>
                          </a:solidFill>
                          <a:latin typeface="Gill Sans MT" panose="020B0502020104020203"/>
                        </a:defRPr>
                      </a:lvl5pPr>
                      <a:lvl6pPr marL="2286000" algn="l" defTabSz="456565" rtl="0" eaLnBrk="1" latinLnBrk="0" hangingPunct="1">
                        <a:defRPr sz="1800" kern="1200">
                          <a:solidFill>
                            <a:schemeClr val="tx1"/>
                          </a:solidFill>
                          <a:latin typeface="Gill Sans MT" panose="020B0502020104020203"/>
                        </a:defRPr>
                      </a:lvl6pPr>
                      <a:lvl7pPr marL="2743200" algn="l" defTabSz="456565" rtl="0" eaLnBrk="1" latinLnBrk="0" hangingPunct="1">
                        <a:defRPr sz="1800" kern="1200">
                          <a:solidFill>
                            <a:schemeClr val="tx1"/>
                          </a:solidFill>
                          <a:latin typeface="Gill Sans MT" panose="020B0502020104020203"/>
                        </a:defRPr>
                      </a:lvl7pPr>
                      <a:lvl8pPr marL="3200400" algn="l" defTabSz="456565" rtl="0" eaLnBrk="1" latinLnBrk="0" hangingPunct="1">
                        <a:defRPr sz="1800" kern="1200">
                          <a:solidFill>
                            <a:schemeClr val="tx1"/>
                          </a:solidFill>
                          <a:latin typeface="Gill Sans MT" panose="020B0502020104020203"/>
                        </a:defRPr>
                      </a:lvl8pPr>
                      <a:lvl9pPr marL="3657600" algn="l" defTabSz="456565" rtl="0" eaLnBrk="1" latinLnBrk="0" hangingPunct="1">
                        <a:defRPr sz="1800" kern="1200">
                          <a:solidFill>
                            <a:schemeClr val="tx1"/>
                          </a:solidFill>
                          <a:latin typeface="Gill Sans MT" panose="020B0502020104020203"/>
                        </a:defRPr>
                      </a:lvl9pPr>
                    </a:lstStyle>
                    <a:p>
                      <a:pPr marL="0" indent="0" algn="ctr" defTabSz="456565" rtl="0" eaLnBrk="1" latinLnBrk="0" hangingPunct="1">
                        <a:lnSpc>
                          <a:spcPct val="120000"/>
                        </a:lnSpc>
                        <a:spcBef>
                          <a:spcPct val="0"/>
                        </a:spcBef>
                        <a:spcAft>
                          <a:spcPct val="0"/>
                        </a:spcAft>
                      </a:pPr>
                      <a:r>
                        <a:rPr lang="zh-CN" altLang="en-US" sz="1400" u="none" kern="1200"/>
                        <a:t>特征提取目的</a:t>
                      </a:r>
                      <a:endParaRPr lang="zh-CN" altLang="en-US" sz="1400" u="none" kern="1200"/>
                    </a:p>
                  </a:txBody>
                  <a:tcPr marL="25400" marR="25400" marT="6350" marB="63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lvl1pPr marL="0" algn="l" defTabSz="456565" rtl="0" eaLnBrk="1" latinLnBrk="0" hangingPunct="1">
                        <a:defRPr sz="1800" kern="1200">
                          <a:solidFill>
                            <a:schemeClr val="tx1"/>
                          </a:solidFill>
                          <a:latin typeface="Gill Sans MT" panose="020B0502020104020203"/>
                        </a:defRPr>
                      </a:lvl1pPr>
                      <a:lvl2pPr marL="457200" algn="l" defTabSz="456565" rtl="0" eaLnBrk="1" latinLnBrk="0" hangingPunct="1">
                        <a:defRPr sz="1800" kern="1200">
                          <a:solidFill>
                            <a:schemeClr val="tx1"/>
                          </a:solidFill>
                          <a:latin typeface="Gill Sans MT" panose="020B0502020104020203"/>
                        </a:defRPr>
                      </a:lvl2pPr>
                      <a:lvl3pPr marL="914400" algn="l" defTabSz="456565" rtl="0" eaLnBrk="1" latinLnBrk="0" hangingPunct="1">
                        <a:defRPr sz="1800" kern="1200">
                          <a:solidFill>
                            <a:schemeClr val="tx1"/>
                          </a:solidFill>
                          <a:latin typeface="Gill Sans MT" panose="020B0502020104020203"/>
                        </a:defRPr>
                      </a:lvl3pPr>
                      <a:lvl4pPr marL="1371600" algn="l" defTabSz="456565" rtl="0" eaLnBrk="1" latinLnBrk="0" hangingPunct="1">
                        <a:defRPr sz="1800" kern="1200">
                          <a:solidFill>
                            <a:schemeClr val="tx1"/>
                          </a:solidFill>
                          <a:latin typeface="Gill Sans MT" panose="020B0502020104020203"/>
                        </a:defRPr>
                      </a:lvl4pPr>
                      <a:lvl5pPr marL="1828800" algn="l" defTabSz="456565" rtl="0" eaLnBrk="1" latinLnBrk="0" hangingPunct="1">
                        <a:defRPr sz="1800" kern="1200">
                          <a:solidFill>
                            <a:schemeClr val="tx1"/>
                          </a:solidFill>
                          <a:latin typeface="Gill Sans MT" panose="020B0502020104020203"/>
                        </a:defRPr>
                      </a:lvl5pPr>
                      <a:lvl6pPr marL="2286000" algn="l" defTabSz="456565" rtl="0" eaLnBrk="1" latinLnBrk="0" hangingPunct="1">
                        <a:defRPr sz="1800" kern="1200">
                          <a:solidFill>
                            <a:schemeClr val="tx1"/>
                          </a:solidFill>
                          <a:latin typeface="Gill Sans MT" panose="020B0502020104020203"/>
                        </a:defRPr>
                      </a:lvl6pPr>
                      <a:lvl7pPr marL="2743200" algn="l" defTabSz="456565" rtl="0" eaLnBrk="1" latinLnBrk="0" hangingPunct="1">
                        <a:defRPr sz="1800" kern="1200">
                          <a:solidFill>
                            <a:schemeClr val="tx1"/>
                          </a:solidFill>
                          <a:latin typeface="Gill Sans MT" panose="020B0502020104020203"/>
                        </a:defRPr>
                      </a:lvl7pPr>
                      <a:lvl8pPr marL="3200400" algn="l" defTabSz="456565" rtl="0" eaLnBrk="1" latinLnBrk="0" hangingPunct="1">
                        <a:defRPr sz="1800" kern="1200">
                          <a:solidFill>
                            <a:schemeClr val="tx1"/>
                          </a:solidFill>
                          <a:latin typeface="Gill Sans MT" panose="020B0502020104020203"/>
                        </a:defRPr>
                      </a:lvl8pPr>
                      <a:lvl9pPr marL="3657600" algn="l" defTabSz="456565" rtl="0" eaLnBrk="1" latinLnBrk="0" hangingPunct="1">
                        <a:defRPr sz="1800" kern="1200">
                          <a:solidFill>
                            <a:schemeClr val="tx1"/>
                          </a:solidFill>
                          <a:latin typeface="Gill Sans MT" panose="020B0502020104020203"/>
                        </a:defRPr>
                      </a:lvl9pPr>
                    </a:lstStyle>
                    <a:p>
                      <a:pPr marL="0" indent="0" algn="l" defTabSz="456565" rtl="0" eaLnBrk="1" latinLnBrk="0" hangingPunct="1">
                        <a:lnSpc>
                          <a:spcPct val="120000"/>
                        </a:lnSpc>
                        <a:spcBef>
                          <a:spcPct val="0"/>
                        </a:spcBef>
                        <a:spcAft>
                          <a:spcPct val="0"/>
                        </a:spcAft>
                      </a:pPr>
                      <a:r>
                        <a:rPr lang="zh-CN" altLang="en-US" sz="1400" u="none" kern="1200"/>
                        <a:t>行为建模：</a:t>
                      </a:r>
                      <a:br>
                        <a:rPr lang="zh-CN" altLang="en-US" sz="1400" u="none" kern="1200"/>
                      </a:br>
                      <a:r>
                        <a:rPr lang="zh-CN" altLang="en-US" sz="1400" u="none" kern="1200"/>
                        <a:t>捕捉操作的先后逻辑和意图</a:t>
                      </a:r>
                      <a:endParaRPr lang="zh-CN" altLang="en-US" sz="1400" u="none" kern="1200"/>
                    </a:p>
                  </a:txBody>
                  <a:tcPr marL="25400" marR="25400" marT="6350" marB="63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lvl1pPr marL="0" algn="l" defTabSz="456565" rtl="0" eaLnBrk="1" latinLnBrk="0" hangingPunct="1">
                        <a:defRPr sz="1800" kern="1200">
                          <a:solidFill>
                            <a:schemeClr val="tx1"/>
                          </a:solidFill>
                          <a:latin typeface="Gill Sans MT" panose="020B0502020104020203"/>
                        </a:defRPr>
                      </a:lvl1pPr>
                      <a:lvl2pPr marL="457200" algn="l" defTabSz="456565" rtl="0" eaLnBrk="1" latinLnBrk="0" hangingPunct="1">
                        <a:defRPr sz="1800" kern="1200">
                          <a:solidFill>
                            <a:schemeClr val="tx1"/>
                          </a:solidFill>
                          <a:latin typeface="Gill Sans MT" panose="020B0502020104020203"/>
                        </a:defRPr>
                      </a:lvl2pPr>
                      <a:lvl3pPr marL="914400" algn="l" defTabSz="456565" rtl="0" eaLnBrk="1" latinLnBrk="0" hangingPunct="1">
                        <a:defRPr sz="1800" kern="1200">
                          <a:solidFill>
                            <a:schemeClr val="tx1"/>
                          </a:solidFill>
                          <a:latin typeface="Gill Sans MT" panose="020B0502020104020203"/>
                        </a:defRPr>
                      </a:lvl3pPr>
                      <a:lvl4pPr marL="1371600" algn="l" defTabSz="456565" rtl="0" eaLnBrk="1" latinLnBrk="0" hangingPunct="1">
                        <a:defRPr sz="1800" kern="1200">
                          <a:solidFill>
                            <a:schemeClr val="tx1"/>
                          </a:solidFill>
                          <a:latin typeface="Gill Sans MT" panose="020B0502020104020203"/>
                        </a:defRPr>
                      </a:lvl4pPr>
                      <a:lvl5pPr marL="1828800" algn="l" defTabSz="456565" rtl="0" eaLnBrk="1" latinLnBrk="0" hangingPunct="1">
                        <a:defRPr sz="1800" kern="1200">
                          <a:solidFill>
                            <a:schemeClr val="tx1"/>
                          </a:solidFill>
                          <a:latin typeface="Gill Sans MT" panose="020B0502020104020203"/>
                        </a:defRPr>
                      </a:lvl5pPr>
                      <a:lvl6pPr marL="2286000" algn="l" defTabSz="456565" rtl="0" eaLnBrk="1" latinLnBrk="0" hangingPunct="1">
                        <a:defRPr sz="1800" kern="1200">
                          <a:solidFill>
                            <a:schemeClr val="tx1"/>
                          </a:solidFill>
                          <a:latin typeface="Gill Sans MT" panose="020B0502020104020203"/>
                        </a:defRPr>
                      </a:lvl6pPr>
                      <a:lvl7pPr marL="2743200" algn="l" defTabSz="456565" rtl="0" eaLnBrk="1" latinLnBrk="0" hangingPunct="1">
                        <a:defRPr sz="1800" kern="1200">
                          <a:solidFill>
                            <a:schemeClr val="tx1"/>
                          </a:solidFill>
                          <a:latin typeface="Gill Sans MT" panose="020B0502020104020203"/>
                        </a:defRPr>
                      </a:lvl7pPr>
                      <a:lvl8pPr marL="3200400" algn="l" defTabSz="456565" rtl="0" eaLnBrk="1" latinLnBrk="0" hangingPunct="1">
                        <a:defRPr sz="1800" kern="1200">
                          <a:solidFill>
                            <a:schemeClr val="tx1"/>
                          </a:solidFill>
                          <a:latin typeface="Gill Sans MT" panose="020B0502020104020203"/>
                        </a:defRPr>
                      </a:lvl8pPr>
                      <a:lvl9pPr marL="3657600" algn="l" defTabSz="456565" rtl="0" eaLnBrk="1" latinLnBrk="0" hangingPunct="1">
                        <a:defRPr sz="1800" kern="1200">
                          <a:solidFill>
                            <a:schemeClr val="tx1"/>
                          </a:solidFill>
                          <a:latin typeface="Gill Sans MT" panose="020B0502020104020203"/>
                        </a:defRPr>
                      </a:lvl9pPr>
                    </a:lstStyle>
                    <a:p>
                      <a:pPr marL="0" indent="0" algn="l" defTabSz="456565" rtl="0" eaLnBrk="1" latinLnBrk="0" hangingPunct="1">
                        <a:lnSpc>
                          <a:spcPct val="120000"/>
                        </a:lnSpc>
                        <a:spcBef>
                          <a:spcPct val="0"/>
                        </a:spcBef>
                        <a:spcAft>
                          <a:spcPct val="0"/>
                        </a:spcAft>
                      </a:pPr>
                      <a:r>
                        <a:rPr lang="zh-CN" altLang="en-US" sz="1400" u="none" kern="1200"/>
                        <a:t>抗逃避：</a:t>
                      </a:r>
                      <a:br>
                        <a:rPr lang="zh-CN" altLang="en-US" sz="1400" u="none" kern="1200"/>
                      </a:br>
                      <a:r>
                        <a:rPr lang="zh-CN" altLang="en-US" sz="1400" u="none" kern="1200"/>
                        <a:t>挖掘深层的代码结构关联，难以伪造</a:t>
                      </a:r>
                      <a:endParaRPr lang="zh-CN" altLang="en-US" sz="1400" u="none" kern="1200"/>
                    </a:p>
                  </a:txBody>
                  <a:tcPr marL="25400" marR="25400" marT="6350" marB="63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p>
                      <a:pPr marL="0" indent="0" algn="l" defTabSz="456565" rtl="0" eaLnBrk="1" latinLnBrk="0" hangingPunct="1">
                        <a:lnSpc>
                          <a:spcPct val="120000"/>
                        </a:lnSpc>
                        <a:spcBef>
                          <a:spcPct val="0"/>
                        </a:spcBef>
                        <a:spcAft>
                          <a:spcPct val="0"/>
                        </a:spcAft>
                      </a:pPr>
                      <a:r>
                        <a:rPr lang="zh-CN" altLang="en-US" sz="1400" u="none" kern="1200"/>
                        <a:t>抗老化：</a:t>
                      </a:r>
                      <a:br>
                        <a:rPr lang="zh-CN" altLang="en-US" sz="1400" u="none" kern="1200"/>
                      </a:br>
                      <a:r>
                        <a:rPr lang="zh-CN" altLang="en-US" sz="1400" u="none" kern="1200"/>
                        <a:t>用群组代替具体 </a:t>
                      </a:r>
                      <a:r>
                        <a:rPr lang="en-US" sz="1400" u="none" kern="1200"/>
                        <a:t>API，</a:t>
                      </a:r>
                      <a:r>
                        <a:rPr lang="zh-CN" altLang="en-US" sz="1400" u="none" kern="1200"/>
                        <a:t>抵抗 </a:t>
                      </a:r>
                      <a:r>
                        <a:rPr lang="en-US" sz="1400" u="none" kern="1200"/>
                        <a:t>API </a:t>
                      </a:r>
                      <a:r>
                        <a:rPr lang="zh-CN" altLang="en-US" sz="1400" u="none" kern="1200"/>
                        <a:t>演化</a:t>
                      </a:r>
                      <a:endParaRPr lang="zh-CN" altLang="en-US" sz="1400" u="none" kern="1200"/>
                    </a:p>
                  </a:txBody>
                  <a:tcPr marL="25400" marR="25400" marT="6350" marB="63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lvl1pPr marL="0" algn="l" defTabSz="456565" rtl="0" eaLnBrk="1" latinLnBrk="0" hangingPunct="1">
                        <a:defRPr sz="1800" kern="1200">
                          <a:solidFill>
                            <a:schemeClr val="tx1"/>
                          </a:solidFill>
                          <a:latin typeface="Gill Sans MT" panose="020B0502020104020203"/>
                        </a:defRPr>
                      </a:lvl1pPr>
                      <a:lvl2pPr marL="457200" algn="l" defTabSz="456565" rtl="0" eaLnBrk="1" latinLnBrk="0" hangingPunct="1">
                        <a:defRPr sz="1800" kern="1200">
                          <a:solidFill>
                            <a:schemeClr val="tx1"/>
                          </a:solidFill>
                          <a:latin typeface="Gill Sans MT" panose="020B0502020104020203"/>
                        </a:defRPr>
                      </a:lvl2pPr>
                      <a:lvl3pPr marL="914400" algn="l" defTabSz="456565" rtl="0" eaLnBrk="1" latinLnBrk="0" hangingPunct="1">
                        <a:defRPr sz="1800" kern="1200">
                          <a:solidFill>
                            <a:schemeClr val="tx1"/>
                          </a:solidFill>
                          <a:latin typeface="Gill Sans MT" panose="020B0502020104020203"/>
                        </a:defRPr>
                      </a:lvl3pPr>
                      <a:lvl4pPr marL="1371600" algn="l" defTabSz="456565" rtl="0" eaLnBrk="1" latinLnBrk="0" hangingPunct="1">
                        <a:defRPr sz="1800" kern="1200">
                          <a:solidFill>
                            <a:schemeClr val="tx1"/>
                          </a:solidFill>
                          <a:latin typeface="Gill Sans MT" panose="020B0502020104020203"/>
                        </a:defRPr>
                      </a:lvl4pPr>
                      <a:lvl5pPr marL="1828800" algn="l" defTabSz="456565" rtl="0" eaLnBrk="1" latinLnBrk="0" hangingPunct="1">
                        <a:defRPr sz="1800" kern="1200">
                          <a:solidFill>
                            <a:schemeClr val="tx1"/>
                          </a:solidFill>
                          <a:latin typeface="Gill Sans MT" panose="020B0502020104020203"/>
                        </a:defRPr>
                      </a:lvl5pPr>
                      <a:lvl6pPr marL="2286000" algn="l" defTabSz="456565" rtl="0" eaLnBrk="1" latinLnBrk="0" hangingPunct="1">
                        <a:defRPr sz="1800" kern="1200">
                          <a:solidFill>
                            <a:schemeClr val="tx1"/>
                          </a:solidFill>
                          <a:latin typeface="Gill Sans MT" panose="020B0502020104020203"/>
                        </a:defRPr>
                      </a:lvl6pPr>
                      <a:lvl7pPr marL="2743200" algn="l" defTabSz="456565" rtl="0" eaLnBrk="1" latinLnBrk="0" hangingPunct="1">
                        <a:defRPr sz="1800" kern="1200">
                          <a:solidFill>
                            <a:schemeClr val="tx1"/>
                          </a:solidFill>
                          <a:latin typeface="Gill Sans MT" panose="020B0502020104020203"/>
                        </a:defRPr>
                      </a:lvl7pPr>
                      <a:lvl8pPr marL="3200400" algn="l" defTabSz="456565" rtl="0" eaLnBrk="1" latinLnBrk="0" hangingPunct="1">
                        <a:defRPr sz="1800" kern="1200">
                          <a:solidFill>
                            <a:schemeClr val="tx1"/>
                          </a:solidFill>
                          <a:latin typeface="Gill Sans MT" panose="020B0502020104020203"/>
                        </a:defRPr>
                      </a:lvl8pPr>
                      <a:lvl9pPr marL="3657600" algn="l" defTabSz="456565" rtl="0" eaLnBrk="1" latinLnBrk="0" hangingPunct="1">
                        <a:defRPr sz="1800" kern="1200">
                          <a:solidFill>
                            <a:schemeClr val="tx1"/>
                          </a:solidFill>
                          <a:latin typeface="Gill Sans MT" panose="020B0502020104020203"/>
                        </a:defRPr>
                      </a:lvl9pPr>
                    </a:lstStyle>
                    <a:p>
                      <a:pPr marL="0" indent="0" algn="l" defTabSz="456565" rtl="0" eaLnBrk="1" latinLnBrk="0" hangingPunct="1">
                        <a:lnSpc>
                          <a:spcPct val="120000"/>
                        </a:lnSpc>
                        <a:spcBef>
                          <a:spcPct val="0"/>
                        </a:spcBef>
                        <a:spcAft>
                          <a:spcPct val="0"/>
                        </a:spcAft>
                      </a:pPr>
                      <a:r>
                        <a:rPr lang="zh-CN" altLang="en-US" sz="1400" u="none" kern="1200"/>
                        <a:t>语义增强：</a:t>
                      </a:r>
                      <a:br>
                        <a:rPr lang="zh-CN" altLang="en-US" sz="1400" u="none" kern="1200"/>
                      </a:br>
                      <a:r>
                        <a:rPr lang="zh-CN" altLang="en-US" sz="1400" u="none" kern="1200"/>
                        <a:t>补充 </a:t>
                      </a:r>
                      <a:r>
                        <a:rPr lang="en-US" altLang="zh-CN" sz="1400" u="none" kern="1200"/>
                        <a:t>Raw API </a:t>
                      </a:r>
                      <a:r>
                        <a:rPr lang="zh-CN" altLang="en-US" sz="1400" u="none" kern="1200"/>
                        <a:t>缺乏的语义信息 </a:t>
                      </a:r>
                      <a:endParaRPr lang="en-US" altLang="zh-CN" sz="1400" u="none" kern="1200"/>
                    </a:p>
                  </a:txBody>
                  <a:tcPr marL="25400" marR="25400" marT="6350" marB="63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r>
              <a:tr h="680792">
                <a:tc>
                  <a:txBody>
                    <a:bodyPr/>
                    <a:lstStyle>
                      <a:lvl1pPr marL="0" algn="l" defTabSz="456565" rtl="0" eaLnBrk="1" latinLnBrk="0" hangingPunct="1">
                        <a:defRPr sz="1800" kern="1200">
                          <a:solidFill>
                            <a:schemeClr val="tx1"/>
                          </a:solidFill>
                          <a:latin typeface="Gill Sans MT" panose="020B0502020104020203"/>
                        </a:defRPr>
                      </a:lvl1pPr>
                      <a:lvl2pPr marL="457200" algn="l" defTabSz="456565" rtl="0" eaLnBrk="1" latinLnBrk="0" hangingPunct="1">
                        <a:defRPr sz="1800" kern="1200">
                          <a:solidFill>
                            <a:schemeClr val="tx1"/>
                          </a:solidFill>
                          <a:latin typeface="Gill Sans MT" panose="020B0502020104020203"/>
                        </a:defRPr>
                      </a:lvl2pPr>
                      <a:lvl3pPr marL="914400" algn="l" defTabSz="456565" rtl="0" eaLnBrk="1" latinLnBrk="0" hangingPunct="1">
                        <a:defRPr sz="1800" kern="1200">
                          <a:solidFill>
                            <a:schemeClr val="tx1"/>
                          </a:solidFill>
                          <a:latin typeface="Gill Sans MT" panose="020B0502020104020203"/>
                        </a:defRPr>
                      </a:lvl3pPr>
                      <a:lvl4pPr marL="1371600" algn="l" defTabSz="456565" rtl="0" eaLnBrk="1" latinLnBrk="0" hangingPunct="1">
                        <a:defRPr sz="1800" kern="1200">
                          <a:solidFill>
                            <a:schemeClr val="tx1"/>
                          </a:solidFill>
                          <a:latin typeface="Gill Sans MT" panose="020B0502020104020203"/>
                        </a:defRPr>
                      </a:lvl4pPr>
                      <a:lvl5pPr marL="1828800" algn="l" defTabSz="456565" rtl="0" eaLnBrk="1" latinLnBrk="0" hangingPunct="1">
                        <a:defRPr sz="1800" kern="1200">
                          <a:solidFill>
                            <a:schemeClr val="tx1"/>
                          </a:solidFill>
                          <a:latin typeface="Gill Sans MT" panose="020B0502020104020203"/>
                        </a:defRPr>
                      </a:lvl5pPr>
                      <a:lvl6pPr marL="2286000" algn="l" defTabSz="456565" rtl="0" eaLnBrk="1" latinLnBrk="0" hangingPunct="1">
                        <a:defRPr sz="1800" kern="1200">
                          <a:solidFill>
                            <a:schemeClr val="tx1"/>
                          </a:solidFill>
                          <a:latin typeface="Gill Sans MT" panose="020B0502020104020203"/>
                        </a:defRPr>
                      </a:lvl6pPr>
                      <a:lvl7pPr marL="2743200" algn="l" defTabSz="456565" rtl="0" eaLnBrk="1" latinLnBrk="0" hangingPunct="1">
                        <a:defRPr sz="1800" kern="1200">
                          <a:solidFill>
                            <a:schemeClr val="tx1"/>
                          </a:solidFill>
                          <a:latin typeface="Gill Sans MT" panose="020B0502020104020203"/>
                        </a:defRPr>
                      </a:lvl7pPr>
                      <a:lvl8pPr marL="3200400" algn="l" defTabSz="456565" rtl="0" eaLnBrk="1" latinLnBrk="0" hangingPunct="1">
                        <a:defRPr sz="1800" kern="1200">
                          <a:solidFill>
                            <a:schemeClr val="tx1"/>
                          </a:solidFill>
                          <a:latin typeface="Gill Sans MT" panose="020B0502020104020203"/>
                        </a:defRPr>
                      </a:lvl8pPr>
                      <a:lvl9pPr marL="3657600" algn="l" defTabSz="456565" rtl="0" eaLnBrk="1" latinLnBrk="0" hangingPunct="1">
                        <a:defRPr sz="1800" kern="1200">
                          <a:solidFill>
                            <a:schemeClr val="tx1"/>
                          </a:solidFill>
                          <a:latin typeface="Gill Sans MT" panose="020B0502020104020203"/>
                        </a:defRPr>
                      </a:lvl9pPr>
                    </a:lstStyle>
                    <a:p>
                      <a:pPr marL="0" indent="0" algn="ctr" defTabSz="456565" rtl="0" eaLnBrk="1" latinLnBrk="0" hangingPunct="1">
                        <a:lnSpc>
                          <a:spcPct val="120000"/>
                        </a:lnSpc>
                        <a:spcBef>
                          <a:spcPct val="0"/>
                        </a:spcBef>
                        <a:spcAft>
                          <a:spcPct val="0"/>
                        </a:spcAft>
                      </a:pPr>
                      <a:r>
                        <a:rPr lang="zh-CN" altLang="en-US" sz="1400" u="none" kern="1200"/>
                        <a:t>分类器模型</a:t>
                      </a:r>
                      <a:endParaRPr lang="zh-CN" altLang="en-US" sz="1400" u="none" kern="1200"/>
                    </a:p>
                  </a:txBody>
                  <a:tcPr marL="25400" marR="25400" marT="6350" marB="63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lvl1pPr marL="0" algn="l" defTabSz="456565" rtl="0" eaLnBrk="1" latinLnBrk="0" hangingPunct="1">
                        <a:defRPr sz="1800" kern="1200">
                          <a:solidFill>
                            <a:schemeClr val="tx1"/>
                          </a:solidFill>
                          <a:latin typeface="Gill Sans MT" panose="020B0502020104020203"/>
                        </a:defRPr>
                      </a:lvl1pPr>
                      <a:lvl2pPr marL="457200" algn="l" defTabSz="456565" rtl="0" eaLnBrk="1" latinLnBrk="0" hangingPunct="1">
                        <a:defRPr sz="1800" kern="1200">
                          <a:solidFill>
                            <a:schemeClr val="tx1"/>
                          </a:solidFill>
                          <a:latin typeface="Gill Sans MT" panose="020B0502020104020203"/>
                        </a:defRPr>
                      </a:lvl2pPr>
                      <a:lvl3pPr marL="914400" algn="l" defTabSz="456565" rtl="0" eaLnBrk="1" latinLnBrk="0" hangingPunct="1">
                        <a:defRPr sz="1800" kern="1200">
                          <a:solidFill>
                            <a:schemeClr val="tx1"/>
                          </a:solidFill>
                          <a:latin typeface="Gill Sans MT" panose="020B0502020104020203"/>
                        </a:defRPr>
                      </a:lvl3pPr>
                      <a:lvl4pPr marL="1371600" algn="l" defTabSz="456565" rtl="0" eaLnBrk="1" latinLnBrk="0" hangingPunct="1">
                        <a:defRPr sz="1800" kern="1200">
                          <a:solidFill>
                            <a:schemeClr val="tx1"/>
                          </a:solidFill>
                          <a:latin typeface="Gill Sans MT" panose="020B0502020104020203"/>
                        </a:defRPr>
                      </a:lvl4pPr>
                      <a:lvl5pPr marL="1828800" algn="l" defTabSz="456565" rtl="0" eaLnBrk="1" latinLnBrk="0" hangingPunct="1">
                        <a:defRPr sz="1800" kern="1200">
                          <a:solidFill>
                            <a:schemeClr val="tx1"/>
                          </a:solidFill>
                          <a:latin typeface="Gill Sans MT" panose="020B0502020104020203"/>
                        </a:defRPr>
                      </a:lvl5pPr>
                      <a:lvl6pPr marL="2286000" algn="l" defTabSz="456565" rtl="0" eaLnBrk="1" latinLnBrk="0" hangingPunct="1">
                        <a:defRPr sz="1800" kern="1200">
                          <a:solidFill>
                            <a:schemeClr val="tx1"/>
                          </a:solidFill>
                          <a:latin typeface="Gill Sans MT" panose="020B0502020104020203"/>
                        </a:defRPr>
                      </a:lvl6pPr>
                      <a:lvl7pPr marL="2743200" algn="l" defTabSz="456565" rtl="0" eaLnBrk="1" latinLnBrk="0" hangingPunct="1">
                        <a:defRPr sz="1800" kern="1200">
                          <a:solidFill>
                            <a:schemeClr val="tx1"/>
                          </a:solidFill>
                          <a:latin typeface="Gill Sans MT" panose="020B0502020104020203"/>
                        </a:defRPr>
                      </a:lvl7pPr>
                      <a:lvl8pPr marL="3200400" algn="l" defTabSz="456565" rtl="0" eaLnBrk="1" latinLnBrk="0" hangingPunct="1">
                        <a:defRPr sz="1800" kern="1200">
                          <a:solidFill>
                            <a:schemeClr val="tx1"/>
                          </a:solidFill>
                          <a:latin typeface="Gill Sans MT" panose="020B0502020104020203"/>
                        </a:defRPr>
                      </a:lvl8pPr>
                      <a:lvl9pPr marL="3657600" algn="l" defTabSz="456565" rtl="0" eaLnBrk="1" latinLnBrk="0" hangingPunct="1">
                        <a:defRPr sz="1800" kern="1200">
                          <a:solidFill>
                            <a:schemeClr val="tx1"/>
                          </a:solidFill>
                          <a:latin typeface="Gill Sans MT" panose="020B0502020104020203"/>
                        </a:defRPr>
                      </a:lvl9pPr>
                    </a:lstStyle>
                    <a:p>
                      <a:pPr marL="0" indent="0" algn="l" defTabSz="456565" rtl="0" eaLnBrk="1" latinLnBrk="0" hangingPunct="1">
                        <a:lnSpc>
                          <a:spcPct val="120000"/>
                        </a:lnSpc>
                        <a:spcBef>
                          <a:spcPct val="0"/>
                        </a:spcBef>
                        <a:spcAft>
                          <a:spcPct val="0"/>
                        </a:spcAft>
                      </a:pPr>
                      <a:r>
                        <a:rPr lang="zh-CN" altLang="en-US" sz="1400" u="none" kern="1200"/>
                        <a:t>随机森林</a:t>
                      </a:r>
                      <a:r>
                        <a:rPr lang="en-US" altLang="zh-CN" sz="1400" u="none" kern="1200"/>
                        <a:t>, </a:t>
                      </a:r>
                      <a:r>
                        <a:rPr lang="en-US" sz="1400" u="none" kern="1200"/>
                        <a:t>KNN, SVM</a:t>
                      </a:r>
                      <a:endParaRPr lang="en-US" sz="1400" u="none" kern="1200"/>
                    </a:p>
                  </a:txBody>
                  <a:tcPr marL="25400" marR="25400" marT="6350" marB="63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lvl1pPr marL="0" algn="l" defTabSz="456565" rtl="0" eaLnBrk="1" latinLnBrk="0" hangingPunct="1">
                        <a:defRPr sz="1800" kern="1200">
                          <a:solidFill>
                            <a:schemeClr val="tx1"/>
                          </a:solidFill>
                          <a:latin typeface="Gill Sans MT" panose="020B0502020104020203"/>
                        </a:defRPr>
                      </a:lvl1pPr>
                      <a:lvl2pPr marL="457200" algn="l" defTabSz="456565" rtl="0" eaLnBrk="1" latinLnBrk="0" hangingPunct="1">
                        <a:defRPr sz="1800" kern="1200">
                          <a:solidFill>
                            <a:schemeClr val="tx1"/>
                          </a:solidFill>
                          <a:latin typeface="Gill Sans MT" panose="020B0502020104020203"/>
                        </a:defRPr>
                      </a:lvl2pPr>
                      <a:lvl3pPr marL="914400" algn="l" defTabSz="456565" rtl="0" eaLnBrk="1" latinLnBrk="0" hangingPunct="1">
                        <a:defRPr sz="1800" kern="1200">
                          <a:solidFill>
                            <a:schemeClr val="tx1"/>
                          </a:solidFill>
                          <a:latin typeface="Gill Sans MT" panose="020B0502020104020203"/>
                        </a:defRPr>
                      </a:lvl3pPr>
                      <a:lvl4pPr marL="1371600" algn="l" defTabSz="456565" rtl="0" eaLnBrk="1" latinLnBrk="0" hangingPunct="1">
                        <a:defRPr sz="1800" kern="1200">
                          <a:solidFill>
                            <a:schemeClr val="tx1"/>
                          </a:solidFill>
                          <a:latin typeface="Gill Sans MT" panose="020B0502020104020203"/>
                        </a:defRPr>
                      </a:lvl4pPr>
                      <a:lvl5pPr marL="1828800" algn="l" defTabSz="456565" rtl="0" eaLnBrk="1" latinLnBrk="0" hangingPunct="1">
                        <a:defRPr sz="1800" kern="1200">
                          <a:solidFill>
                            <a:schemeClr val="tx1"/>
                          </a:solidFill>
                          <a:latin typeface="Gill Sans MT" panose="020B0502020104020203"/>
                        </a:defRPr>
                      </a:lvl5pPr>
                      <a:lvl6pPr marL="2286000" algn="l" defTabSz="456565" rtl="0" eaLnBrk="1" latinLnBrk="0" hangingPunct="1">
                        <a:defRPr sz="1800" kern="1200">
                          <a:solidFill>
                            <a:schemeClr val="tx1"/>
                          </a:solidFill>
                          <a:latin typeface="Gill Sans MT" panose="020B0502020104020203"/>
                        </a:defRPr>
                      </a:lvl6pPr>
                      <a:lvl7pPr marL="2743200" algn="l" defTabSz="456565" rtl="0" eaLnBrk="1" latinLnBrk="0" hangingPunct="1">
                        <a:defRPr sz="1800" kern="1200">
                          <a:solidFill>
                            <a:schemeClr val="tx1"/>
                          </a:solidFill>
                          <a:latin typeface="Gill Sans MT" panose="020B0502020104020203"/>
                        </a:defRPr>
                      </a:lvl7pPr>
                      <a:lvl8pPr marL="3200400" algn="l" defTabSz="456565" rtl="0" eaLnBrk="1" latinLnBrk="0" hangingPunct="1">
                        <a:defRPr sz="1800" kern="1200">
                          <a:solidFill>
                            <a:schemeClr val="tx1"/>
                          </a:solidFill>
                          <a:latin typeface="Gill Sans MT" panose="020B0502020104020203"/>
                        </a:defRPr>
                      </a:lvl8pPr>
                      <a:lvl9pPr marL="3657600" algn="l" defTabSz="456565" rtl="0" eaLnBrk="1" latinLnBrk="0" hangingPunct="1">
                        <a:defRPr sz="1800" kern="1200">
                          <a:solidFill>
                            <a:schemeClr val="tx1"/>
                          </a:solidFill>
                          <a:latin typeface="Gill Sans MT" panose="020B0502020104020203"/>
                        </a:defRPr>
                      </a:lvl9pPr>
                    </a:lstStyle>
                    <a:p>
                      <a:pPr marL="0" indent="0" algn="l" defTabSz="456565" rtl="0" eaLnBrk="1" latinLnBrk="0" hangingPunct="1">
                        <a:lnSpc>
                          <a:spcPct val="120000"/>
                        </a:lnSpc>
                        <a:spcBef>
                          <a:spcPct val="0"/>
                        </a:spcBef>
                        <a:spcAft>
                          <a:spcPct val="0"/>
                        </a:spcAft>
                      </a:pPr>
                      <a:r>
                        <a:rPr lang="zh-CN" altLang="en-US" sz="1400" u="none" kern="1200"/>
                        <a:t>多核学习</a:t>
                      </a:r>
                      <a:br>
                        <a:rPr lang="zh-CN" altLang="en-US" sz="1400" u="none" kern="1200"/>
                      </a:br>
                      <a:r>
                        <a:rPr lang="en-US" altLang="zh-CN" sz="1400" u="none" kern="1200"/>
                        <a:t>(</a:t>
                      </a:r>
                      <a:r>
                        <a:rPr lang="en-US" sz="1400" u="none" kern="1200"/>
                        <a:t>Multi-kernel Learning)</a:t>
                      </a:r>
                      <a:endParaRPr lang="en-US" sz="1400" u="none" kern="1200"/>
                    </a:p>
                  </a:txBody>
                  <a:tcPr marL="25400" marR="25400" marT="6350" marB="63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p>
                      <a:pPr marL="0" indent="0" algn="l" defTabSz="456565" rtl="0" eaLnBrk="1" latinLnBrk="0" hangingPunct="1">
                        <a:lnSpc>
                          <a:spcPct val="120000"/>
                        </a:lnSpc>
                        <a:spcBef>
                          <a:spcPct val="0"/>
                        </a:spcBef>
                        <a:spcAft>
                          <a:spcPct val="0"/>
                        </a:spcAft>
                      </a:pPr>
                      <a:r>
                        <a:rPr lang="zh-CN" altLang="en-US" sz="1400" u="none" kern="1200"/>
                        <a:t>传统机器学习</a:t>
                      </a:r>
                      <a:br>
                        <a:rPr lang="zh-CN" altLang="en-US" sz="1400" u="none" kern="1200"/>
                      </a:br>
                      <a:r>
                        <a:rPr lang="en-US" altLang="zh-CN" sz="1400" u="none" kern="1200"/>
                        <a:t>(</a:t>
                      </a:r>
                      <a:r>
                        <a:rPr lang="zh-CN" altLang="en-US" sz="1400" u="none" kern="1200"/>
                        <a:t>如 </a:t>
                      </a:r>
                      <a:r>
                        <a:rPr lang="en-US" sz="1400" u="none" kern="1200"/>
                        <a:t>SVM, Random Forest)</a:t>
                      </a:r>
                      <a:endParaRPr lang="en-US" sz="1400" u="none" kern="1200"/>
                    </a:p>
                  </a:txBody>
                  <a:tcPr marL="25400" marR="25400" marT="6350" marB="63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lvl1pPr marL="0" algn="l" defTabSz="456565" rtl="0" eaLnBrk="1" latinLnBrk="0" hangingPunct="1">
                        <a:defRPr sz="1800" kern="1200">
                          <a:solidFill>
                            <a:schemeClr val="tx1"/>
                          </a:solidFill>
                          <a:latin typeface="Gill Sans MT" panose="020B0502020104020203"/>
                        </a:defRPr>
                      </a:lvl1pPr>
                      <a:lvl2pPr marL="457200" algn="l" defTabSz="456565" rtl="0" eaLnBrk="1" latinLnBrk="0" hangingPunct="1">
                        <a:defRPr sz="1800" kern="1200">
                          <a:solidFill>
                            <a:schemeClr val="tx1"/>
                          </a:solidFill>
                          <a:latin typeface="Gill Sans MT" panose="020B0502020104020203"/>
                        </a:defRPr>
                      </a:lvl2pPr>
                      <a:lvl3pPr marL="914400" algn="l" defTabSz="456565" rtl="0" eaLnBrk="1" latinLnBrk="0" hangingPunct="1">
                        <a:defRPr sz="1800" kern="1200">
                          <a:solidFill>
                            <a:schemeClr val="tx1"/>
                          </a:solidFill>
                          <a:latin typeface="Gill Sans MT" panose="020B0502020104020203"/>
                        </a:defRPr>
                      </a:lvl3pPr>
                      <a:lvl4pPr marL="1371600" algn="l" defTabSz="456565" rtl="0" eaLnBrk="1" latinLnBrk="0" hangingPunct="1">
                        <a:defRPr sz="1800" kern="1200">
                          <a:solidFill>
                            <a:schemeClr val="tx1"/>
                          </a:solidFill>
                          <a:latin typeface="Gill Sans MT" panose="020B0502020104020203"/>
                        </a:defRPr>
                      </a:lvl4pPr>
                      <a:lvl5pPr marL="1828800" algn="l" defTabSz="456565" rtl="0" eaLnBrk="1" latinLnBrk="0" hangingPunct="1">
                        <a:defRPr sz="1800" kern="1200">
                          <a:solidFill>
                            <a:schemeClr val="tx1"/>
                          </a:solidFill>
                          <a:latin typeface="Gill Sans MT" panose="020B0502020104020203"/>
                        </a:defRPr>
                      </a:lvl5pPr>
                      <a:lvl6pPr marL="2286000" algn="l" defTabSz="456565" rtl="0" eaLnBrk="1" latinLnBrk="0" hangingPunct="1">
                        <a:defRPr sz="1800" kern="1200">
                          <a:solidFill>
                            <a:schemeClr val="tx1"/>
                          </a:solidFill>
                          <a:latin typeface="Gill Sans MT" panose="020B0502020104020203"/>
                        </a:defRPr>
                      </a:lvl6pPr>
                      <a:lvl7pPr marL="2743200" algn="l" defTabSz="456565" rtl="0" eaLnBrk="1" latinLnBrk="0" hangingPunct="1">
                        <a:defRPr sz="1800" kern="1200">
                          <a:solidFill>
                            <a:schemeClr val="tx1"/>
                          </a:solidFill>
                          <a:latin typeface="Gill Sans MT" panose="020B0502020104020203"/>
                        </a:defRPr>
                      </a:lvl7pPr>
                      <a:lvl8pPr marL="3200400" algn="l" defTabSz="456565" rtl="0" eaLnBrk="1" latinLnBrk="0" hangingPunct="1">
                        <a:defRPr sz="1800" kern="1200">
                          <a:solidFill>
                            <a:schemeClr val="tx1"/>
                          </a:solidFill>
                          <a:latin typeface="Gill Sans MT" panose="020B0502020104020203"/>
                        </a:defRPr>
                      </a:lvl8pPr>
                      <a:lvl9pPr marL="3657600" algn="l" defTabSz="456565" rtl="0" eaLnBrk="1" latinLnBrk="0" hangingPunct="1">
                        <a:defRPr sz="1800" kern="1200">
                          <a:solidFill>
                            <a:schemeClr val="tx1"/>
                          </a:solidFill>
                          <a:latin typeface="Gill Sans MT" panose="020B0502020104020203"/>
                        </a:defRPr>
                      </a:lvl9pPr>
                    </a:lstStyle>
                    <a:p>
                      <a:pPr marL="0" indent="0" algn="l" defTabSz="456565" rtl="0" eaLnBrk="1" latinLnBrk="0" hangingPunct="1">
                        <a:lnSpc>
                          <a:spcPct val="120000"/>
                        </a:lnSpc>
                        <a:spcBef>
                          <a:spcPct val="0"/>
                        </a:spcBef>
                        <a:spcAft>
                          <a:spcPct val="0"/>
                        </a:spcAft>
                      </a:pPr>
                      <a:r>
                        <a:rPr lang="zh-CN" altLang="en-US" sz="1400" u="none" kern="1200"/>
                        <a:t>图注意力网络 </a:t>
                      </a:r>
                      <a:r>
                        <a:rPr lang="en-US" altLang="zh-CN" sz="1400" u="none" kern="1200"/>
                        <a:t>(GAT)</a:t>
                      </a:r>
                      <a:r>
                        <a:rPr lang="zh-CN" altLang="en-US" sz="1400" u="none" kern="1200"/>
                        <a:t> </a:t>
                      </a:r>
                      <a:endParaRPr lang="en-US" altLang="zh-CN" sz="1400" u="none" kern="1200"/>
                    </a:p>
                  </a:txBody>
                  <a:tcPr marL="25400" marR="25400" marT="6350" marB="63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kumimoji="1" lang="en-US" altLang="zh-CN"/>
              <a:t>Level2</a:t>
            </a:r>
            <a:r>
              <a:rPr kumimoji="1" lang="zh-CN" altLang="en-US"/>
              <a:t>：</a:t>
            </a:r>
            <a:r>
              <a:rPr lang="zh-CN" altLang="en-US"/>
              <a:t>表征驱动，鲁棒化恶意软件分类</a:t>
            </a:r>
            <a:endParaRPr kumimoji="1" lang="zh-CN" altLang="en-US"/>
          </a:p>
        </p:txBody>
      </p:sp>
      <p:sp>
        <p:nvSpPr>
          <p:cNvPr id="3" name="副标题 2"/>
          <p:cNvSpPr>
            <a:spLocks noGrp="1"/>
          </p:cNvSpPr>
          <p:nvPr>
            <p:ph type="subTitle" idx="1"/>
          </p:nvPr>
        </p:nvSpPr>
        <p:spPr>
          <a:xfrm>
            <a:off x="963169" y="3830629"/>
            <a:ext cx="10265664" cy="1729443"/>
          </a:xfrm>
        </p:spPr>
        <p:txBody>
          <a:bodyPr/>
          <a:lstStyle/>
          <a:p>
            <a:pPr marL="342900" indent="-342900">
              <a:buFont typeface="Wingdings" panose="05000000000000000000" pitchFamily="2" charset="2"/>
              <a:buChar char="n"/>
            </a:pPr>
            <a:r>
              <a:rPr kumimoji="1" lang="zh-CN" altLang="en-US"/>
              <a:t>核心任务：基于结构化表征，训练模型以解决“是不是恶意软件”等分类问题</a:t>
            </a:r>
            <a:endParaRPr kumimoji="1" lang="en-US" altLang="zh-CN"/>
          </a:p>
          <a:p>
            <a:pPr marL="342900" indent="-342900">
              <a:buFont typeface="Wingdings" panose="05000000000000000000" pitchFamily="2" charset="2"/>
              <a:buChar char="n"/>
            </a:pPr>
            <a:r>
              <a:rPr kumimoji="1" lang="zh-CN" altLang="en-US"/>
              <a:t>演进路径：从基于手工特征的传统机器学习，发展到基于深度学习的自动表征学习，并聚焦于解决概念漂移、标签噪声和对抗攻击等现实挑战，追求模型的鲁棒性</a:t>
            </a:r>
            <a:endParaRPr kumimoji="1"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a:t>Decoding the Secrets of Machine Learning in Malware Classification: A </a:t>
            </a:r>
            <a:br>
              <a:rPr lang="en-US" altLang="zh-CN"/>
            </a:br>
            <a:r>
              <a:rPr lang="en-US" altLang="zh-CN"/>
              <a:t>Deep Dive into Datasets, Feature Extraction, and Model Performance</a:t>
            </a:r>
            <a:endParaRPr lang="zh-CN" altLang="en-US"/>
          </a:p>
        </p:txBody>
      </p:sp>
      <p:sp>
        <p:nvSpPr>
          <p:cNvPr id="5" name="Rectangle 1"/>
          <p:cNvSpPr>
            <a:spLocks noChangeArrowheads="1"/>
          </p:cNvSpPr>
          <p:nvPr/>
        </p:nvSpPr>
        <p:spPr bwMode="auto">
          <a:xfrm>
            <a:off x="480538" y="6264576"/>
            <a:ext cx="703558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lvl="0" algn="just" defTabSz="914400" eaLnBrk="0" fontAlgn="base" hangingPunct="0">
              <a:spcBef>
                <a:spcPct val="0"/>
              </a:spcBef>
              <a:spcAft>
                <a:spcPct val="0"/>
              </a:spcAft>
            </a:pPr>
            <a:r>
              <a:rPr kumimoji="0" lang="en-US" altLang="zh-CN" sz="1100" b="0" i="0" u="none" strike="noStrike" cap="none" normalizeH="0" baseline="0">
                <a:ln>
                  <a:noFill/>
                </a:ln>
                <a:solidFill>
                  <a:srgbClr val="333333"/>
                </a:solidFill>
                <a:effectLst/>
                <a:latin typeface="微软雅黑" panose="020B0503020204020204" pitchFamily="34" charset="-122"/>
                <a:ea typeface="微软雅黑" panose="020B0503020204020204" pitchFamily="34" charset="-122"/>
              </a:rPr>
              <a:t>[1]</a:t>
            </a:r>
            <a:r>
              <a:rPr lang="en-US" altLang="zh-CN"/>
              <a:t> </a:t>
            </a:r>
            <a:r>
              <a:rPr lang="en-US" altLang="zh-CN" sz="1400"/>
              <a:t>YUFEI HAN, SIMONE AONZO, PLATON KOTZIAS   CCS 2023</a:t>
            </a:r>
            <a:endParaRPr lang="zh-CN" altLang="zh-CN" sz="1400"/>
          </a:p>
        </p:txBody>
      </p:sp>
      <p:sp>
        <p:nvSpPr>
          <p:cNvPr id="7" name="文本框 6"/>
          <p:cNvSpPr txBox="1"/>
          <p:nvPr/>
        </p:nvSpPr>
        <p:spPr>
          <a:xfrm>
            <a:off x="672105" y="1690151"/>
            <a:ext cx="6233349" cy="4201160"/>
          </a:xfrm>
          <a:prstGeom prst="rect">
            <a:avLst/>
          </a:prstGeom>
          <a:noFill/>
        </p:spPr>
        <p:txBody>
          <a:bodyPr wrap="square" rtlCol="0">
            <a:spAutoFit/>
          </a:bodyPr>
          <a:lstStyle/>
          <a:p>
            <a:pPr marL="285750" indent="-285750">
              <a:buFont typeface="Arial" panose="020B0604020202020204" pitchFamily="34" charset="0"/>
              <a:buChar char="•"/>
            </a:pPr>
            <a:r>
              <a:rPr lang="zh-CN" altLang="en-US"/>
              <a:t>分析 </a:t>
            </a:r>
            <a:r>
              <a:rPr lang="en-US" altLang="zh-CN"/>
              <a:t>Windows </a:t>
            </a:r>
            <a:r>
              <a:rPr lang="zh-CN" altLang="en-US"/>
              <a:t>恶意软件机器学习分类的关键影响因素</a:t>
            </a:r>
            <a:endParaRPr lang="en-US" altLang="zh-CN"/>
          </a:p>
          <a:p>
            <a:pPr marL="285750" indent="-285750">
              <a:buFont typeface="Arial" panose="020B0604020202020204" pitchFamily="34" charset="0"/>
              <a:buChar char="•"/>
            </a:pPr>
            <a:endParaRPr lang="en-US" altLang="zh-CN"/>
          </a:p>
          <a:p>
            <a:pPr marL="285750" indent="-285750">
              <a:buFont typeface="Arial" panose="020B0604020202020204" pitchFamily="34" charset="0"/>
              <a:buChar char="•"/>
            </a:pPr>
            <a:r>
              <a:rPr lang="zh-CN" altLang="en-US"/>
              <a:t>背景</a:t>
            </a:r>
            <a:endParaRPr lang="en-US" altLang="zh-CN"/>
          </a:p>
          <a:p>
            <a:pPr marL="742950" lvl="1" indent="-285750">
              <a:lnSpc>
                <a:spcPct val="130000"/>
              </a:lnSpc>
              <a:buFont typeface="Arial" panose="020B0604020202020204" pitchFamily="34" charset="0"/>
              <a:buChar char="•"/>
            </a:pPr>
            <a:r>
              <a:rPr lang="zh-CN" altLang="en-US" sz="1600"/>
              <a:t>现状：</a:t>
            </a:r>
            <a:r>
              <a:rPr lang="en-US" altLang="zh-CN" sz="1600"/>
              <a:t>ML-based </a:t>
            </a:r>
            <a:r>
              <a:rPr lang="zh-CN" altLang="en-US" sz="1600"/>
              <a:t>恶意软件分类常报告高准确率，但数据集构建、特征选择等差异导致结果缺乏可比性</a:t>
            </a:r>
            <a:endParaRPr lang="en-US" altLang="zh-CN" sz="1600"/>
          </a:p>
          <a:p>
            <a:pPr marL="742950" lvl="1" indent="-285750">
              <a:lnSpc>
                <a:spcPct val="130000"/>
              </a:lnSpc>
              <a:buFont typeface="Arial" panose="020B0604020202020204" pitchFamily="34" charset="0"/>
              <a:buChar char="•"/>
            </a:pPr>
            <a:r>
              <a:rPr lang="zh-CN" altLang="en-US" sz="1600"/>
              <a:t>问题：核心影响因素尚未明确</a:t>
            </a:r>
            <a:endParaRPr lang="en-US" altLang="zh-CN" sz="1600"/>
          </a:p>
          <a:p>
            <a:pPr marL="285750" indent="-285750">
              <a:lnSpc>
                <a:spcPct val="130000"/>
              </a:lnSpc>
              <a:buFont typeface="Arial" panose="020B0604020202020204" pitchFamily="34" charset="0"/>
              <a:buChar char="•"/>
            </a:pPr>
            <a:r>
              <a:rPr lang="zh-CN" altLang="en-US"/>
              <a:t>方法</a:t>
            </a:r>
            <a:endParaRPr lang="en-US" altLang="zh-CN"/>
          </a:p>
          <a:p>
            <a:pPr marL="742950" lvl="1" indent="-285750">
              <a:lnSpc>
                <a:spcPct val="130000"/>
              </a:lnSpc>
              <a:buFont typeface="Arial" panose="020B0604020202020204" pitchFamily="34" charset="0"/>
              <a:buChar char="•"/>
            </a:pPr>
            <a:r>
              <a:rPr lang="zh-CN" altLang="en-US" sz="1600"/>
              <a:t>数据集：构建目前</a:t>
            </a:r>
            <a:r>
              <a:rPr lang="zh-CN" altLang="en-US" sz="1600">
                <a:solidFill>
                  <a:schemeClr val="accent2"/>
                </a:solidFill>
              </a:rPr>
              <a:t>最大平衡数据集</a:t>
            </a:r>
            <a:endParaRPr lang="en-US" altLang="zh-CN" sz="1600">
              <a:solidFill>
                <a:schemeClr val="accent2"/>
              </a:solidFill>
            </a:endParaRPr>
          </a:p>
          <a:p>
            <a:pPr marL="742950" lvl="1" indent="-285750">
              <a:lnSpc>
                <a:spcPct val="130000"/>
              </a:lnSpc>
              <a:buFont typeface="Arial" panose="020B0604020202020204" pitchFamily="34" charset="0"/>
              <a:buChar char="•"/>
            </a:pPr>
            <a:r>
              <a:rPr lang="zh-CN" altLang="en-US" sz="1600"/>
              <a:t>特征：提取 </a:t>
            </a:r>
            <a:r>
              <a:rPr lang="en-US" altLang="zh-CN" sz="1600">
                <a:solidFill>
                  <a:schemeClr val="accent2"/>
                </a:solidFill>
              </a:rPr>
              <a:t>8 </a:t>
            </a:r>
            <a:r>
              <a:rPr lang="zh-CN" altLang="en-US" sz="1600">
                <a:solidFill>
                  <a:schemeClr val="accent2"/>
                </a:solidFill>
              </a:rPr>
              <a:t>类</a:t>
            </a:r>
            <a:r>
              <a:rPr lang="zh-CN" altLang="en-US" sz="1600"/>
              <a:t>静态特征和</a:t>
            </a:r>
            <a:r>
              <a:rPr lang="en-US" altLang="zh-CN" sz="1600">
                <a:solidFill>
                  <a:schemeClr val="accent2"/>
                </a:solidFill>
              </a:rPr>
              <a:t>7</a:t>
            </a:r>
            <a:r>
              <a:rPr lang="zh-CN" altLang="en-US" sz="1600">
                <a:solidFill>
                  <a:schemeClr val="accent2"/>
                </a:solidFill>
              </a:rPr>
              <a:t>类</a:t>
            </a:r>
            <a:r>
              <a:rPr lang="zh-CN" altLang="en-US" sz="1600"/>
              <a:t>动态特征</a:t>
            </a:r>
            <a:endParaRPr lang="en-US" altLang="zh-CN" sz="1200"/>
          </a:p>
          <a:p>
            <a:pPr marL="742950" lvl="1" indent="-285750">
              <a:lnSpc>
                <a:spcPct val="130000"/>
              </a:lnSpc>
              <a:buFont typeface="Arial" panose="020B0604020202020204" pitchFamily="34" charset="0"/>
              <a:buChar char="•"/>
            </a:pPr>
            <a:r>
              <a:rPr lang="zh-CN" altLang="en-US" sz="1600"/>
              <a:t>模型：基于 </a:t>
            </a:r>
            <a:r>
              <a:rPr lang="en-US" altLang="zh-CN" sz="1600"/>
              <a:t>Random Forest/</a:t>
            </a:r>
            <a:r>
              <a:rPr lang="en-US" altLang="zh-CN" sz="1600" err="1"/>
              <a:t>XGBoost</a:t>
            </a:r>
            <a:r>
              <a:rPr lang="zh-CN" altLang="en-US" sz="1600"/>
              <a:t>，验证二分类</a:t>
            </a:r>
            <a:endParaRPr lang="en-US" altLang="zh-CN" sz="1600"/>
          </a:p>
          <a:p>
            <a:pPr marL="285750" indent="-285750">
              <a:lnSpc>
                <a:spcPct val="130000"/>
              </a:lnSpc>
              <a:buFont typeface="Arial" panose="020B0604020202020204" pitchFamily="34" charset="0"/>
              <a:buChar char="•"/>
            </a:pPr>
            <a:r>
              <a:rPr lang="zh-CN" altLang="en-US"/>
              <a:t>结论</a:t>
            </a:r>
            <a:endParaRPr lang="en-US" altLang="zh-CN"/>
          </a:p>
          <a:p>
            <a:pPr marL="742950" lvl="1" indent="-285750">
              <a:lnSpc>
                <a:spcPct val="130000"/>
              </a:lnSpc>
              <a:buFont typeface="Arial" panose="020B0604020202020204" pitchFamily="34" charset="0"/>
              <a:buChar char="•"/>
            </a:pPr>
            <a:r>
              <a:rPr lang="zh-CN" altLang="en-US" sz="1600"/>
              <a:t>静态特征优于动态特征</a:t>
            </a:r>
            <a:endParaRPr lang="en-US" altLang="zh-CN" sz="1600"/>
          </a:p>
          <a:p>
            <a:pPr marL="742950" lvl="1" indent="-285750">
              <a:lnSpc>
                <a:spcPct val="130000"/>
              </a:lnSpc>
              <a:buFont typeface="Arial" panose="020B0604020202020204" pitchFamily="34" charset="0"/>
              <a:buChar char="•"/>
            </a:pPr>
            <a:r>
              <a:rPr lang="zh-CN" altLang="en-US" sz="1600"/>
              <a:t>数据集：家族数量越多分类越难，样本均衡分布提升泛化性</a:t>
            </a:r>
            <a:endParaRPr lang="en-US" altLang="zh-CN" sz="1200"/>
          </a:p>
        </p:txBody>
      </p:sp>
      <p:pic>
        <p:nvPicPr>
          <p:cNvPr id="9" name="图片 8" descr="图表, 树状图&#10;&#10;AI 生成的内容可能不正确。"/>
          <p:cNvPicPr>
            <a:picLocks noChangeAspect="1"/>
          </p:cNvPicPr>
          <p:nvPr/>
        </p:nvPicPr>
        <p:blipFill>
          <a:blip r:embed="rId1"/>
          <a:stretch>
            <a:fillRect/>
          </a:stretch>
        </p:blipFill>
        <p:spPr>
          <a:xfrm>
            <a:off x="6821371" y="1808255"/>
            <a:ext cx="2866528" cy="3888827"/>
          </a:xfrm>
          <a:prstGeom prst="rect">
            <a:avLst/>
          </a:prstGeom>
        </p:spPr>
      </p:pic>
      <p:pic>
        <p:nvPicPr>
          <p:cNvPr id="11" name="图片 10" descr="图表&#10;&#10;AI 生成的内容可能不正确。"/>
          <p:cNvPicPr>
            <a:picLocks noChangeAspect="1"/>
          </p:cNvPicPr>
          <p:nvPr/>
        </p:nvPicPr>
        <p:blipFill>
          <a:blip r:embed="rId2"/>
          <a:stretch>
            <a:fillRect/>
          </a:stretch>
        </p:blipFill>
        <p:spPr>
          <a:xfrm>
            <a:off x="9445560" y="1832405"/>
            <a:ext cx="2680794" cy="3864677"/>
          </a:xfrm>
          <a:prstGeom prst="rect">
            <a:avLst/>
          </a:prstGeom>
        </p:spPr>
      </p:pic>
      <p:sp>
        <p:nvSpPr>
          <p:cNvPr id="12" name="文本框 11"/>
          <p:cNvSpPr txBox="1"/>
          <p:nvPr/>
        </p:nvSpPr>
        <p:spPr>
          <a:xfrm>
            <a:off x="9007077" y="5742824"/>
            <a:ext cx="1261884" cy="307777"/>
          </a:xfrm>
          <a:prstGeom prst="rect">
            <a:avLst/>
          </a:prstGeom>
          <a:noFill/>
        </p:spPr>
        <p:txBody>
          <a:bodyPr wrap="none" rtlCol="0">
            <a:spAutoFit/>
          </a:bodyPr>
          <a:lstStyle/>
          <a:p>
            <a:r>
              <a:rPr lang="zh-CN" altLang="en-US" sz="1400"/>
              <a:t>部分实验结果</a:t>
            </a:r>
            <a:endParaRPr lang="zh-CN" altLang="en-US" sz="14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descr="文本, 信件&#10;&#10;AI 生成的内容可能不正确。"/>
          <p:cNvPicPr>
            <a:picLocks noChangeAspect="1"/>
          </p:cNvPicPr>
          <p:nvPr/>
        </p:nvPicPr>
        <p:blipFill>
          <a:blip r:embed="rId1"/>
          <a:stretch>
            <a:fillRect/>
          </a:stretch>
        </p:blipFill>
        <p:spPr>
          <a:xfrm>
            <a:off x="6778617" y="2506137"/>
            <a:ext cx="4835314" cy="3833352"/>
          </a:xfrm>
          <a:prstGeom prst="rect">
            <a:avLst/>
          </a:prstGeom>
        </p:spPr>
      </p:pic>
      <p:sp>
        <p:nvSpPr>
          <p:cNvPr id="9" name="矩形 8"/>
          <p:cNvSpPr/>
          <p:nvPr/>
        </p:nvSpPr>
        <p:spPr>
          <a:xfrm>
            <a:off x="735167" y="1728951"/>
            <a:ext cx="5965178" cy="190762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2" name="标题 1"/>
          <p:cNvSpPr>
            <a:spLocks noGrp="1"/>
          </p:cNvSpPr>
          <p:nvPr>
            <p:ph type="title"/>
          </p:nvPr>
        </p:nvSpPr>
        <p:spPr/>
        <p:txBody>
          <a:bodyPr/>
          <a:lstStyle/>
          <a:p>
            <a:r>
              <a:rPr lang="en-US" altLang="zh-CN"/>
              <a:t>Differential Training: A Generic Framework to </a:t>
            </a:r>
            <a:br>
              <a:rPr lang="en-US" altLang="zh-CN"/>
            </a:br>
            <a:r>
              <a:rPr lang="en-US" altLang="zh-CN"/>
              <a:t>Reduce Label Noises for Android Malware Detection</a:t>
            </a:r>
            <a:endParaRPr lang="zh-CN" altLang="en-US"/>
          </a:p>
        </p:txBody>
      </p:sp>
      <p:sp>
        <p:nvSpPr>
          <p:cNvPr id="4" name="Rectangle 1"/>
          <p:cNvSpPr>
            <a:spLocks noChangeArrowheads="1"/>
          </p:cNvSpPr>
          <p:nvPr/>
        </p:nvSpPr>
        <p:spPr bwMode="auto">
          <a:xfrm>
            <a:off x="475615" y="6223635"/>
            <a:ext cx="581914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lvl="0" algn="just" defTabSz="914400" eaLnBrk="0" fontAlgn="base" hangingPunct="0">
              <a:spcBef>
                <a:spcPct val="0"/>
              </a:spcBef>
              <a:spcAft>
                <a:spcPct val="0"/>
              </a:spcAft>
            </a:pPr>
            <a:r>
              <a:rPr kumimoji="0" lang="en-US" altLang="zh-CN" sz="1100" b="0" i="0" u="none" strike="noStrike" cap="none" normalizeH="0" baseline="0">
                <a:ln>
                  <a:noFill/>
                </a:ln>
                <a:solidFill>
                  <a:srgbClr val="333333"/>
                </a:solidFill>
                <a:effectLst/>
                <a:latin typeface="微软雅黑" panose="020B0503020204020204" pitchFamily="34" charset="-122"/>
                <a:ea typeface="微软雅黑" panose="020B0503020204020204" pitchFamily="34" charset="-122"/>
              </a:rPr>
              <a:t>[1]</a:t>
            </a:r>
            <a:r>
              <a:rPr lang="en-US" altLang="zh-CN"/>
              <a:t> </a:t>
            </a:r>
            <a:r>
              <a:rPr lang="en-US" altLang="zh-CN" sz="1400" err="1"/>
              <a:t>Jiayun</a:t>
            </a:r>
            <a:r>
              <a:rPr lang="en-US" altLang="zh-CN" sz="1400"/>
              <a:t> Xu, </a:t>
            </a:r>
            <a:r>
              <a:rPr lang="en-US" altLang="zh-CN" sz="1400" err="1"/>
              <a:t>Yingjiu</a:t>
            </a:r>
            <a:r>
              <a:rPr lang="en-US" altLang="zh-CN" sz="1400"/>
              <a:t> Li, Robert H. Deng  </a:t>
            </a:r>
            <a:r>
              <a:rPr kumimoji="0" lang="zh-CN" altLang="zh-CN" sz="1400" b="0" i="0" u="none" strike="noStrike" cap="none" normalizeH="0" baseline="0">
                <a:ln>
                  <a:noFill/>
                </a:ln>
                <a:solidFill>
                  <a:srgbClr val="333333"/>
                </a:solidFill>
                <a:effectLst/>
                <a:latin typeface="+mj-lt"/>
                <a:ea typeface="微软雅黑" panose="020B0503020204020204" pitchFamily="34" charset="-122"/>
              </a:rPr>
              <a:t>NDSS 2021</a:t>
            </a:r>
            <a:endParaRPr kumimoji="0" lang="zh-CN" altLang="zh-CN" sz="1400" b="0" i="0" u="none" strike="noStrike" cap="none" normalizeH="0" baseline="0">
              <a:ln>
                <a:noFill/>
              </a:ln>
              <a:solidFill>
                <a:schemeClr val="tx1"/>
              </a:solidFill>
              <a:effectLst/>
              <a:latin typeface="+mj-lt"/>
            </a:endParaRPr>
          </a:p>
        </p:txBody>
      </p:sp>
      <p:sp>
        <p:nvSpPr>
          <p:cNvPr id="6" name="文本框 5"/>
          <p:cNvSpPr txBox="1"/>
          <p:nvPr/>
        </p:nvSpPr>
        <p:spPr>
          <a:xfrm>
            <a:off x="735330" y="1776730"/>
            <a:ext cx="6043295" cy="4172585"/>
          </a:xfrm>
          <a:prstGeom prst="rect">
            <a:avLst/>
          </a:prstGeom>
          <a:noFill/>
        </p:spPr>
        <p:txBody>
          <a:bodyPr wrap="square" rtlCol="0">
            <a:noAutofit/>
          </a:bodyPr>
          <a:lstStyle/>
          <a:p>
            <a:pPr marL="285750" indent="-285750">
              <a:buFont typeface="Arial" panose="020B0604020202020204" pitchFamily="34" charset="0"/>
              <a:buChar char="•"/>
            </a:pPr>
            <a:r>
              <a:rPr lang="zh-CN" altLang="en-US"/>
              <a:t>背景与挑战</a:t>
            </a:r>
            <a:endParaRPr lang="en-US" altLang="zh-CN"/>
          </a:p>
          <a:p>
            <a:pPr marL="742950" lvl="1" indent="-285750">
              <a:lnSpc>
                <a:spcPct val="150000"/>
              </a:lnSpc>
              <a:buFont typeface="Arial" panose="020B0604020202020204" pitchFamily="34" charset="0"/>
              <a:buChar char="•"/>
            </a:pPr>
            <a:r>
              <a:rPr lang="en-US" altLang="zh-CN" sz="1600"/>
              <a:t>Android </a:t>
            </a:r>
            <a:r>
              <a:rPr lang="zh-CN" altLang="en-US" sz="1600"/>
              <a:t>恶意软件检测通常依赖于机器学习模型，而模型的训练和评估需要大量带标签的应用样本</a:t>
            </a:r>
            <a:endParaRPr lang="en-US" altLang="zh-CN" sz="1600"/>
          </a:p>
          <a:p>
            <a:pPr marL="742950" lvl="1" indent="-285750">
              <a:lnSpc>
                <a:spcPct val="150000"/>
              </a:lnSpc>
              <a:buFont typeface="Arial" panose="020B0604020202020204" pitchFamily="34" charset="0"/>
              <a:buChar char="•"/>
            </a:pPr>
            <a:r>
              <a:rPr lang="zh-CN" altLang="en-US" sz="1600"/>
              <a:t>标签易出错，标签噪声导致检测模型性能下降、评估失真</a:t>
            </a:r>
            <a:endParaRPr lang="en-US" altLang="zh-CN" sz="1600"/>
          </a:p>
          <a:p>
            <a:pPr marL="742950" lvl="1" indent="-285750">
              <a:lnSpc>
                <a:spcPct val="150000"/>
              </a:lnSpc>
              <a:buFont typeface="Arial" panose="020B0604020202020204" pitchFamily="34" charset="0"/>
              <a:buChar char="•"/>
            </a:pPr>
            <a:r>
              <a:rPr lang="zh-CN" altLang="en-US" sz="1600"/>
              <a:t>缺乏标准基准数据集</a:t>
            </a:r>
            <a:endParaRPr lang="en-US" altLang="zh-CN" sz="1600"/>
          </a:p>
          <a:p>
            <a:pPr marL="285750" indent="-285750">
              <a:lnSpc>
                <a:spcPct val="130000"/>
              </a:lnSpc>
              <a:buFont typeface="Arial" panose="020B0604020202020204" pitchFamily="34" charset="0"/>
              <a:buChar char="•"/>
            </a:pPr>
            <a:endParaRPr lang="en-US" altLang="zh-CN"/>
          </a:p>
          <a:p>
            <a:pPr marL="285750" indent="-285750">
              <a:lnSpc>
                <a:spcPct val="130000"/>
              </a:lnSpc>
              <a:buFont typeface="Arial" panose="020B0604020202020204" pitchFamily="34" charset="0"/>
              <a:buChar char="•"/>
            </a:pPr>
            <a:r>
              <a:rPr lang="zh-CN" altLang="en-US"/>
              <a:t>方法</a:t>
            </a:r>
            <a:endParaRPr lang="en-US" altLang="zh-CN"/>
          </a:p>
          <a:p>
            <a:pPr marL="742950" lvl="1" indent="-285750">
              <a:lnSpc>
                <a:spcPct val="150000"/>
              </a:lnSpc>
              <a:buFont typeface="Arial" panose="020B0604020202020204" pitchFamily="34" charset="0"/>
              <a:buChar char="•"/>
            </a:pPr>
            <a:r>
              <a:rPr lang="zh-CN" altLang="en-US" sz="1600"/>
              <a:t>假设：数据集中多数标签是正确的，仅有少数是噪声</a:t>
            </a:r>
            <a:endParaRPr lang="en-US" altLang="zh-CN" sz="1600"/>
          </a:p>
          <a:p>
            <a:pPr marL="742950" lvl="1" indent="-285750">
              <a:lnSpc>
                <a:spcPct val="150000"/>
              </a:lnSpc>
              <a:buFont typeface="Arial" panose="020B0604020202020204" pitchFamily="34" charset="0"/>
              <a:buChar char="•"/>
            </a:pPr>
            <a:r>
              <a:rPr lang="zh-CN" altLang="en-US" sz="1600"/>
              <a:t>训练两个模型</a:t>
            </a:r>
            <a:endParaRPr lang="en-US" altLang="zh-CN" sz="1600"/>
          </a:p>
          <a:p>
            <a:pPr marL="1200150" lvl="2" indent="-285750">
              <a:lnSpc>
                <a:spcPct val="150000"/>
              </a:lnSpc>
              <a:buFont typeface="Arial" panose="020B0604020202020204" pitchFamily="34" charset="0"/>
              <a:buChar char="•"/>
            </a:pPr>
            <a:r>
              <a:rPr lang="en-US" altLang="zh-CN" sz="1200"/>
              <a:t>WS</a:t>
            </a:r>
            <a:r>
              <a:rPr lang="zh-CN" altLang="en-US" sz="1200"/>
              <a:t>模型：在全量数据集上进行训练</a:t>
            </a:r>
            <a:endParaRPr lang="en-US" altLang="zh-CN" sz="1200"/>
          </a:p>
          <a:p>
            <a:pPr marL="1200150" lvl="2" indent="-285750">
              <a:lnSpc>
                <a:spcPct val="150000"/>
              </a:lnSpc>
              <a:buFont typeface="Arial" panose="020B0604020202020204" pitchFamily="34" charset="0"/>
              <a:buChar char="•"/>
            </a:pPr>
            <a:r>
              <a:rPr lang="en-US" altLang="zh-CN" sz="1200"/>
              <a:t>DS</a:t>
            </a:r>
            <a:r>
              <a:rPr lang="zh-CN" altLang="en-US" sz="1200"/>
              <a:t>模型：在一个随机下采样的子集上训练</a:t>
            </a:r>
            <a:endParaRPr lang="en-US" altLang="zh-CN" sz="1200"/>
          </a:p>
          <a:p>
            <a:pPr marL="742950" lvl="1" indent="-285750">
              <a:lnSpc>
                <a:spcPct val="150000"/>
              </a:lnSpc>
              <a:buFont typeface="Arial" panose="020B0604020202020204" pitchFamily="34" charset="0"/>
              <a:buChar char="•"/>
            </a:pPr>
            <a:r>
              <a:rPr lang="zh-CN" altLang="en-US" sz="1400"/>
              <a:t>基于</a:t>
            </a:r>
            <a:r>
              <a:rPr lang="zh-CN" altLang="en-US" sz="1400" b="1"/>
              <a:t>离群值检测算法</a:t>
            </a:r>
            <a:r>
              <a:rPr lang="zh-CN" altLang="en-US" sz="1400"/>
              <a:t>识别标签错误的样本，并进行标签修正</a:t>
            </a:r>
            <a:endParaRPr lang="en-US" altLang="zh-CN" sz="1400"/>
          </a:p>
          <a:p>
            <a:pPr marL="285750" indent="-285750">
              <a:lnSpc>
                <a:spcPct val="130000"/>
              </a:lnSpc>
              <a:buFont typeface="Arial" panose="020B0604020202020204" pitchFamily="34" charset="0"/>
              <a:buChar char="•"/>
            </a:pPr>
            <a:endParaRPr lang="zh-CN" altLang="en-US"/>
          </a:p>
        </p:txBody>
      </p:sp>
      <p:sp>
        <p:nvSpPr>
          <p:cNvPr id="7" name="箭头: 右 6"/>
          <p:cNvSpPr/>
          <p:nvPr/>
        </p:nvSpPr>
        <p:spPr>
          <a:xfrm>
            <a:off x="6920504" y="2072871"/>
            <a:ext cx="667963" cy="17295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962451" y="1974680"/>
            <a:ext cx="2038574"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zh-CN" altLang="en-US"/>
              <a:t>标签噪声消减框架</a:t>
            </a:r>
            <a:endParaRPr lang="zh-CN" altLang="en-US" sz="14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a:t>Continuous Learning for Android Malware Detection</a:t>
            </a:r>
            <a:endParaRPr lang="zh-CN" altLang="en-US"/>
          </a:p>
        </p:txBody>
      </p:sp>
      <p:sp>
        <p:nvSpPr>
          <p:cNvPr id="5" name="Rectangle 1"/>
          <p:cNvSpPr>
            <a:spLocks noChangeArrowheads="1"/>
          </p:cNvSpPr>
          <p:nvPr/>
        </p:nvSpPr>
        <p:spPr bwMode="auto">
          <a:xfrm>
            <a:off x="547629" y="6264576"/>
            <a:ext cx="909561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lvl="0" algn="just" defTabSz="914400" eaLnBrk="0" fontAlgn="base" hangingPunct="0">
              <a:spcBef>
                <a:spcPct val="0"/>
              </a:spcBef>
              <a:spcAft>
                <a:spcPct val="0"/>
              </a:spcAft>
            </a:pPr>
            <a:r>
              <a:rPr kumimoji="0" lang="en-US" altLang="zh-CN" sz="1100" b="0" i="0" u="none" strike="noStrike" cap="none" normalizeH="0" baseline="0">
                <a:ln>
                  <a:noFill/>
                </a:ln>
                <a:solidFill>
                  <a:srgbClr val="333333"/>
                </a:solidFill>
                <a:effectLst/>
                <a:latin typeface="微软雅黑" panose="020B0503020204020204" pitchFamily="34" charset="-122"/>
                <a:ea typeface="微软雅黑" panose="020B0503020204020204" pitchFamily="34" charset="-122"/>
              </a:rPr>
              <a:t>[1]</a:t>
            </a:r>
            <a:r>
              <a:rPr lang="en-US" altLang="zh-CN"/>
              <a:t> </a:t>
            </a:r>
            <a:r>
              <a:rPr lang="en-US" altLang="zh-CN" sz="1400" err="1"/>
              <a:t>Yizheng</a:t>
            </a:r>
            <a:r>
              <a:rPr lang="en-US" altLang="zh-CN" sz="1400"/>
              <a:t> Chen</a:t>
            </a:r>
            <a:r>
              <a:rPr lang="zh-CN" altLang="en-US" sz="1400"/>
              <a:t>，</a:t>
            </a:r>
            <a:r>
              <a:rPr lang="en-US" altLang="zh-CN" sz="1400" err="1"/>
              <a:t>Zhoujie</a:t>
            </a:r>
            <a:r>
              <a:rPr lang="en-US" altLang="zh-CN" sz="1400"/>
              <a:t> Ding, David Wagner, UC Berkeley USENIX Security 2023 </a:t>
            </a:r>
            <a:r>
              <a:rPr lang="zh-CN" altLang="en-US" sz="1400"/>
              <a:t> </a:t>
            </a:r>
            <a:endParaRPr lang="zh-CN" altLang="zh-CN" sz="1400"/>
          </a:p>
        </p:txBody>
      </p:sp>
      <p:sp>
        <p:nvSpPr>
          <p:cNvPr id="7" name="文本框 6"/>
          <p:cNvSpPr txBox="1"/>
          <p:nvPr/>
        </p:nvSpPr>
        <p:spPr>
          <a:xfrm>
            <a:off x="693126" y="1708363"/>
            <a:ext cx="6248956" cy="4265142"/>
          </a:xfrm>
          <a:prstGeom prst="rect">
            <a:avLst/>
          </a:prstGeom>
          <a:noFill/>
        </p:spPr>
        <p:txBody>
          <a:bodyPr wrap="square" rtlCol="0">
            <a:spAutoFit/>
          </a:bodyPr>
          <a:lstStyle/>
          <a:p>
            <a:pPr marL="285750" indent="-285750">
              <a:buFont typeface="Arial" panose="020B0604020202020204" pitchFamily="34" charset="0"/>
              <a:buChar char="•"/>
            </a:pPr>
            <a:r>
              <a:rPr lang="zh-CN" altLang="en-US"/>
              <a:t>持续学习对抗概念漂移 </a:t>
            </a:r>
            <a:r>
              <a:rPr lang="en-US" altLang="zh-CN"/>
              <a:t>——Android </a:t>
            </a:r>
            <a:r>
              <a:rPr lang="zh-CN" altLang="en-US"/>
              <a:t>恶意软件检测新框架</a:t>
            </a:r>
            <a:endParaRPr lang="en-US" altLang="zh-CN"/>
          </a:p>
          <a:p>
            <a:pPr marL="285750" indent="-285750">
              <a:buFont typeface="Arial" panose="020B0604020202020204" pitchFamily="34" charset="0"/>
              <a:buChar char="•"/>
            </a:pPr>
            <a:endParaRPr lang="en-US" altLang="zh-CN"/>
          </a:p>
          <a:p>
            <a:pPr marL="285750" indent="-285750">
              <a:buFont typeface="Arial" panose="020B0604020202020204" pitchFamily="34" charset="0"/>
              <a:buChar char="•"/>
            </a:pPr>
            <a:r>
              <a:rPr lang="zh-CN" altLang="en-US"/>
              <a:t>背景</a:t>
            </a:r>
            <a:endParaRPr lang="en-US" altLang="zh-CN"/>
          </a:p>
          <a:p>
            <a:pPr marL="742950" lvl="1" indent="-285750">
              <a:buFont typeface="Arial" panose="020B0604020202020204" pitchFamily="34" charset="0"/>
              <a:buChar char="•"/>
            </a:pPr>
            <a:r>
              <a:rPr lang="zh-CN" altLang="en-US" sz="1600"/>
              <a:t>痛点：</a:t>
            </a:r>
            <a:r>
              <a:rPr lang="en-US" altLang="zh-CN" sz="1600"/>
              <a:t>ML </a:t>
            </a:r>
            <a:r>
              <a:rPr lang="zh-CN" altLang="en-US" sz="1600"/>
              <a:t>模型易受概念漂移影响，训练后 </a:t>
            </a:r>
            <a:r>
              <a:rPr lang="en-US" altLang="zh-CN" sz="1600">
                <a:solidFill>
                  <a:schemeClr val="accent2"/>
                </a:solidFill>
              </a:rPr>
              <a:t>6 </a:t>
            </a:r>
            <a:r>
              <a:rPr lang="zh-CN" altLang="en-US" sz="1600">
                <a:solidFill>
                  <a:schemeClr val="accent2"/>
                </a:solidFill>
              </a:rPr>
              <a:t>个月 </a:t>
            </a:r>
            <a:r>
              <a:rPr lang="en-US" altLang="zh-CN" sz="1600">
                <a:solidFill>
                  <a:schemeClr val="accent2"/>
                </a:solidFill>
              </a:rPr>
              <a:t>F1 </a:t>
            </a:r>
            <a:r>
              <a:rPr lang="zh-CN" altLang="en-US" sz="1600">
                <a:solidFill>
                  <a:schemeClr val="accent2"/>
                </a:solidFill>
              </a:rPr>
              <a:t>从 </a:t>
            </a:r>
            <a:r>
              <a:rPr lang="en-US" altLang="zh-CN" sz="1600">
                <a:solidFill>
                  <a:schemeClr val="accent2"/>
                </a:solidFill>
              </a:rPr>
              <a:t>0.99 </a:t>
            </a:r>
            <a:r>
              <a:rPr lang="zh-CN" altLang="en-US" sz="1600">
                <a:solidFill>
                  <a:schemeClr val="accent2"/>
                </a:solidFill>
              </a:rPr>
              <a:t>跌至 </a:t>
            </a:r>
            <a:r>
              <a:rPr lang="en-US" altLang="zh-CN" sz="1600">
                <a:solidFill>
                  <a:schemeClr val="accent2"/>
                </a:solidFill>
              </a:rPr>
              <a:t>0.76</a:t>
            </a:r>
            <a:endParaRPr lang="en-US" altLang="zh-CN" sz="1600">
              <a:solidFill>
                <a:schemeClr val="accent2"/>
              </a:solidFill>
            </a:endParaRPr>
          </a:p>
          <a:p>
            <a:pPr marL="742950" lvl="1" indent="-285750">
              <a:buFont typeface="Arial" panose="020B0604020202020204" pitchFamily="34" charset="0"/>
              <a:buChar char="•"/>
            </a:pPr>
            <a:r>
              <a:rPr lang="zh-CN" altLang="en-US" sz="1600"/>
              <a:t>需求：需持续更新模型，且最大化利用人工标注资源</a:t>
            </a:r>
            <a:endParaRPr lang="en-US" altLang="zh-CN" sz="1600"/>
          </a:p>
          <a:p>
            <a:pPr marL="742950" lvl="1" indent="-285750">
              <a:buFont typeface="Arial" panose="020B0604020202020204" pitchFamily="34" charset="0"/>
              <a:buChar char="•"/>
            </a:pPr>
            <a:endParaRPr lang="en-US" altLang="zh-CN" sz="1600"/>
          </a:p>
          <a:p>
            <a:pPr marL="285750" indent="-285750">
              <a:buFont typeface="Arial" panose="020B0604020202020204" pitchFamily="34" charset="0"/>
              <a:buChar char="•"/>
            </a:pPr>
            <a:endParaRPr lang="en-US" altLang="zh-CN"/>
          </a:p>
          <a:p>
            <a:pPr marL="285750" indent="-285750">
              <a:buFont typeface="Arial" panose="020B0604020202020204" pitchFamily="34" charset="0"/>
              <a:buChar char="•"/>
            </a:pPr>
            <a:r>
              <a:rPr lang="zh-CN" altLang="en-US"/>
              <a:t>方法</a:t>
            </a:r>
            <a:endParaRPr lang="en-US" altLang="zh-CN"/>
          </a:p>
          <a:p>
            <a:pPr marL="742950" lvl="1" indent="-285750">
              <a:lnSpc>
                <a:spcPct val="150000"/>
              </a:lnSpc>
              <a:buFont typeface="Arial" panose="020B0604020202020204" pitchFamily="34" charset="0"/>
              <a:buChar char="•"/>
            </a:pPr>
            <a:r>
              <a:rPr lang="zh-CN" altLang="en-US" sz="1600"/>
              <a:t>分层对比学习：学习嵌入空间，使恶意与良性样本强区分</a:t>
            </a:r>
            <a:endParaRPr lang="en-US" altLang="zh-CN" sz="1600"/>
          </a:p>
          <a:p>
            <a:pPr marL="742950" lvl="1" indent="-285750">
              <a:lnSpc>
                <a:spcPct val="150000"/>
              </a:lnSpc>
              <a:buFont typeface="Arial" panose="020B0604020202020204" pitchFamily="34" charset="0"/>
              <a:buChar char="•"/>
            </a:pPr>
            <a:r>
              <a:rPr lang="zh-CN" altLang="en-US" sz="1600"/>
              <a:t>伪损失采样：创新不确定性度量，筛选高价值样本供人工标注</a:t>
            </a:r>
            <a:endParaRPr lang="en-US" altLang="zh-CN" sz="1600"/>
          </a:p>
          <a:p>
            <a:pPr marL="742950" lvl="1" indent="-285750">
              <a:lnSpc>
                <a:spcPct val="150000"/>
              </a:lnSpc>
              <a:buFont typeface="Arial" panose="020B0604020202020204" pitchFamily="34" charset="0"/>
              <a:buChar char="•"/>
            </a:pPr>
            <a:r>
              <a:rPr lang="zh-CN" altLang="en-US" sz="1600"/>
              <a:t>暖启动更新：基于历史模型权重持续训练，适配新样本且不遗忘旧知识</a:t>
            </a:r>
            <a:endParaRPr lang="en-US" altLang="zh-CN" sz="1400"/>
          </a:p>
        </p:txBody>
      </p:sp>
      <p:pic>
        <p:nvPicPr>
          <p:cNvPr id="4" name="图片 3" descr="图示&#10;&#10;AI 生成的内容可能不正确。"/>
          <p:cNvPicPr>
            <a:picLocks noChangeAspect="1"/>
          </p:cNvPicPr>
          <p:nvPr/>
        </p:nvPicPr>
        <p:blipFill>
          <a:blip r:embed="rId1"/>
          <a:stretch>
            <a:fillRect/>
          </a:stretch>
        </p:blipFill>
        <p:spPr>
          <a:xfrm>
            <a:off x="7032078" y="1894440"/>
            <a:ext cx="5033266" cy="3472672"/>
          </a:xfrm>
          <a:prstGeom prst="rect">
            <a:avLst/>
          </a:prstGeom>
        </p:spPr>
      </p:pic>
      <p:sp>
        <p:nvSpPr>
          <p:cNvPr id="6" name="文本框 5"/>
          <p:cNvSpPr txBox="1"/>
          <p:nvPr/>
        </p:nvSpPr>
        <p:spPr>
          <a:xfrm>
            <a:off x="8879297" y="5468262"/>
            <a:ext cx="1198880" cy="337185"/>
          </a:xfrm>
          <a:prstGeom prst="rect">
            <a:avLst/>
          </a:prstGeom>
          <a:noFill/>
        </p:spPr>
        <p:txBody>
          <a:bodyPr wrap="none" rtlCol="0">
            <a:spAutoFit/>
          </a:bodyPr>
          <a:lstStyle/>
          <a:p>
            <a:r>
              <a:rPr lang="zh-CN" altLang="en-US" sz="1600"/>
              <a:t>系统框架图</a:t>
            </a:r>
            <a:endParaRPr lang="zh-CN" altLang="en-US" sz="16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ChangeArrowheads="1"/>
          </p:cNvSpPr>
          <p:nvPr/>
        </p:nvSpPr>
        <p:spPr bwMode="auto">
          <a:xfrm>
            <a:off x="545308" y="6251876"/>
            <a:ext cx="771350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lvl="0" algn="just" defTabSz="914400" eaLnBrk="0" fontAlgn="base" hangingPunct="0">
              <a:spcBef>
                <a:spcPct val="0"/>
              </a:spcBef>
              <a:spcAft>
                <a:spcPct val="0"/>
              </a:spcAft>
            </a:pPr>
            <a:r>
              <a:rPr kumimoji="0" lang="en-US" altLang="zh-CN" sz="1100" b="0" i="0" u="none" strike="noStrike" cap="none" normalizeH="0" baseline="0">
                <a:ln>
                  <a:noFill/>
                </a:ln>
                <a:solidFill>
                  <a:srgbClr val="333333"/>
                </a:solidFill>
                <a:effectLst/>
                <a:latin typeface="微软雅黑" panose="020B0503020204020204" pitchFamily="34" charset="-122"/>
                <a:ea typeface="微软雅黑" panose="020B0503020204020204" pitchFamily="34" charset="-122"/>
              </a:rPr>
              <a:t>[1]</a:t>
            </a:r>
            <a:r>
              <a:rPr lang="en-US" altLang="zh-CN"/>
              <a:t> </a:t>
            </a:r>
            <a:r>
              <a:rPr lang="en-US" altLang="zh-CN" sz="1400"/>
              <a:t>Adrian Shuai Li, Arun Iyengar, Ashish Kundu, Elisa Bertino  NDSS 2025    </a:t>
            </a:r>
            <a:endParaRPr lang="zh-CN" altLang="zh-CN" sz="1400"/>
          </a:p>
        </p:txBody>
      </p:sp>
      <p:sp>
        <p:nvSpPr>
          <p:cNvPr id="7" name="文本框 6"/>
          <p:cNvSpPr txBox="1"/>
          <p:nvPr/>
        </p:nvSpPr>
        <p:spPr>
          <a:xfrm>
            <a:off x="859850" y="1634790"/>
            <a:ext cx="6248956" cy="2492990"/>
          </a:xfrm>
          <a:prstGeom prst="rect">
            <a:avLst/>
          </a:prstGeom>
          <a:noFill/>
        </p:spPr>
        <p:txBody>
          <a:bodyPr wrap="square" rtlCol="0">
            <a:spAutoFit/>
          </a:bodyPr>
          <a:lstStyle/>
          <a:p>
            <a:pPr marL="285750" indent="-285750">
              <a:buFont typeface="Arial" panose="020B0604020202020204" pitchFamily="34" charset="0"/>
              <a:buChar char="•"/>
            </a:pPr>
            <a:r>
              <a:rPr lang="en-US" altLang="zh-CN"/>
              <a:t>Windows </a:t>
            </a:r>
            <a:r>
              <a:rPr lang="zh-CN" altLang="en-US"/>
              <a:t>恶意软件漂移检测新方案</a:t>
            </a:r>
            <a:endParaRPr lang="en-US" altLang="zh-CN"/>
          </a:p>
          <a:p>
            <a:pPr marL="285750" indent="-285750">
              <a:buFont typeface="Arial" panose="020B0604020202020204" pitchFamily="34" charset="0"/>
              <a:buChar char="•"/>
            </a:pPr>
            <a:endParaRPr lang="en-US" altLang="zh-CN" sz="1400"/>
          </a:p>
          <a:p>
            <a:pPr marL="285750" indent="-285750">
              <a:buFont typeface="Arial" panose="020B0604020202020204" pitchFamily="34" charset="0"/>
              <a:buChar char="•"/>
            </a:pPr>
            <a:r>
              <a:rPr lang="zh-CN" altLang="en-US"/>
              <a:t>背景</a:t>
            </a:r>
            <a:endParaRPr lang="en-US" altLang="zh-CN"/>
          </a:p>
          <a:p>
            <a:pPr marL="742950" lvl="1" indent="-285750">
              <a:lnSpc>
                <a:spcPct val="150000"/>
              </a:lnSpc>
              <a:buFont typeface="Arial" panose="020B0604020202020204" pitchFamily="34" charset="0"/>
              <a:buChar char="•"/>
            </a:pPr>
            <a:r>
              <a:rPr lang="zh-CN" altLang="en-US" sz="1600"/>
              <a:t>恶意软件演化导致概念漂移</a:t>
            </a:r>
            <a:endParaRPr lang="en-US" altLang="zh-CN" sz="1600"/>
          </a:p>
          <a:p>
            <a:pPr marL="742950" lvl="1" indent="-285750">
              <a:lnSpc>
                <a:spcPct val="150000"/>
              </a:lnSpc>
              <a:buFont typeface="Arial" panose="020B0604020202020204" pitchFamily="34" charset="0"/>
              <a:buChar char="•"/>
            </a:pPr>
            <a:r>
              <a:rPr lang="zh-CN" altLang="en-US" sz="1600"/>
              <a:t>传统冷 </a:t>
            </a:r>
            <a:r>
              <a:rPr lang="en-US" altLang="zh-CN" sz="1600"/>
              <a:t>/ </a:t>
            </a:r>
            <a:r>
              <a:rPr lang="zh-CN" altLang="en-US" sz="1600"/>
              <a:t>暖启动模型需大量标注样本</a:t>
            </a:r>
            <a:endParaRPr lang="en-US" altLang="zh-CN" sz="1600"/>
          </a:p>
          <a:p>
            <a:pPr marL="742950" lvl="1" indent="-285750">
              <a:lnSpc>
                <a:spcPct val="150000"/>
              </a:lnSpc>
              <a:buFont typeface="Arial" panose="020B0604020202020204" pitchFamily="34" charset="0"/>
              <a:buChar char="•"/>
            </a:pPr>
            <a:r>
              <a:rPr lang="zh-CN" altLang="en-US" sz="1600"/>
              <a:t>现有数据集标签区分度低</a:t>
            </a:r>
            <a:endParaRPr lang="en-US" altLang="zh-CN" sz="1600"/>
          </a:p>
          <a:p>
            <a:pPr marL="742950" lvl="1" indent="-285750">
              <a:buFont typeface="Arial" panose="020B0604020202020204" pitchFamily="34" charset="0"/>
              <a:buChar char="•"/>
            </a:pPr>
            <a:endParaRPr lang="en-US" altLang="zh-CN"/>
          </a:p>
          <a:p>
            <a:pPr marL="285750" indent="-285750">
              <a:buFont typeface="Arial" panose="020B0604020202020204" pitchFamily="34" charset="0"/>
              <a:buChar char="•"/>
            </a:pPr>
            <a:endParaRPr lang="en-US" altLang="zh-CN" sz="1600"/>
          </a:p>
        </p:txBody>
      </p:sp>
      <p:sp>
        <p:nvSpPr>
          <p:cNvPr id="8" name="Rectangle 2"/>
          <p:cNvSpPr>
            <a:spLocks noGrp="1" noChangeArrowheads="1"/>
          </p:cNvSpPr>
          <p:nvPr>
            <p:ph type="title"/>
          </p:nvPr>
        </p:nvSpPr>
        <p:spPr bwMode="auto">
          <a:xfrm>
            <a:off x="859850" y="618592"/>
            <a:ext cx="10656212"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just" defTabSz="914400" rtl="0" eaLnBrk="0" fontAlgn="base" latinLnBrk="0" hangingPunct="0">
              <a:lnSpc>
                <a:spcPct val="100000"/>
              </a:lnSpc>
              <a:spcBef>
                <a:spcPct val="0"/>
              </a:spcBef>
              <a:spcAft>
                <a:spcPct val="0"/>
              </a:spcAft>
              <a:buClrTx/>
              <a:buSzTx/>
              <a:buFontTx/>
              <a:buNone/>
            </a:pPr>
            <a:r>
              <a:rPr lang="zh-CN" altLang="zh-CN"/>
              <a:t>Revisiting Concept Drift in Windows Malware Detection: Adaptation with Graph Neural Networks</a:t>
            </a:r>
            <a:endParaRPr lang="zh-CN" altLang="zh-CN"/>
          </a:p>
        </p:txBody>
      </p:sp>
      <p:sp>
        <p:nvSpPr>
          <p:cNvPr id="11" name="文本框 10"/>
          <p:cNvSpPr txBox="1"/>
          <p:nvPr/>
        </p:nvSpPr>
        <p:spPr>
          <a:xfrm>
            <a:off x="6015174" y="1634790"/>
            <a:ext cx="6066467" cy="1802929"/>
          </a:xfrm>
          <a:prstGeom prst="rect">
            <a:avLst/>
          </a:prstGeom>
          <a:noFill/>
        </p:spPr>
        <p:txBody>
          <a:bodyPr wrap="square" rtlCol="0">
            <a:spAutoFit/>
          </a:bodyPr>
          <a:lstStyle/>
          <a:p>
            <a:pPr lvl="1" indent="-285750">
              <a:buFont typeface="Arial" panose="020B0604020202020204" pitchFamily="34" charset="0"/>
              <a:buChar char="•"/>
            </a:pPr>
            <a:r>
              <a:rPr lang="zh-CN" altLang="en-US"/>
              <a:t>方法</a:t>
            </a:r>
            <a:endParaRPr lang="en-US" altLang="zh-CN" sz="1600"/>
          </a:p>
          <a:p>
            <a:pPr lvl="2" indent="-285750">
              <a:lnSpc>
                <a:spcPct val="150000"/>
              </a:lnSpc>
              <a:buFont typeface="Arial" panose="020B0604020202020204" pitchFamily="34" charset="0"/>
              <a:buChar char="•"/>
            </a:pPr>
            <a:r>
              <a:rPr lang="zh-CN" altLang="en-US" sz="1600"/>
              <a:t>特征表示：提取恶意软件 </a:t>
            </a:r>
            <a:r>
              <a:rPr lang="en-US" altLang="zh-CN" sz="1600"/>
              <a:t>CFG</a:t>
            </a:r>
            <a:r>
              <a:rPr lang="zh-CN" altLang="en-US" sz="1600"/>
              <a:t>，保留代码结构与语义</a:t>
            </a:r>
            <a:endParaRPr lang="en-US" altLang="zh-CN" sz="1600"/>
          </a:p>
          <a:p>
            <a:pPr lvl="2" indent="-285750">
              <a:lnSpc>
                <a:spcPct val="150000"/>
              </a:lnSpc>
              <a:buFont typeface="Arial" panose="020B0604020202020204" pitchFamily="34" charset="0"/>
              <a:buChar char="•"/>
            </a:pPr>
            <a:r>
              <a:rPr lang="zh-CN" altLang="en-US" sz="1600"/>
              <a:t>对抗域自适应：通过生成器</a:t>
            </a:r>
            <a:r>
              <a:rPr lang="en-US" altLang="zh-CN" sz="1600"/>
              <a:t>+ </a:t>
            </a:r>
            <a:r>
              <a:rPr lang="zh-CN" altLang="en-US" sz="1600"/>
              <a:t>判别器的训练，对齐漂移前后数据分布</a:t>
            </a:r>
            <a:endParaRPr lang="en-US" altLang="zh-CN" sz="1600"/>
          </a:p>
          <a:p>
            <a:pPr lvl="2" indent="-285750">
              <a:lnSpc>
                <a:spcPct val="150000"/>
              </a:lnSpc>
              <a:buFont typeface="Arial" panose="020B0604020202020204" pitchFamily="34" charset="0"/>
              <a:buChar char="•"/>
            </a:pPr>
            <a:r>
              <a:rPr lang="zh-CN" altLang="en-US" sz="1600"/>
              <a:t>图基聚类：优化数据集标签，解决样本区分度不足问题</a:t>
            </a:r>
            <a:endParaRPr lang="en-US" altLang="zh-CN" sz="1600"/>
          </a:p>
        </p:txBody>
      </p:sp>
      <p:pic>
        <p:nvPicPr>
          <p:cNvPr id="13" name="图片 12" descr="图示&#10;&#10;AI 生成的内容可能不正确。"/>
          <p:cNvPicPr>
            <a:picLocks noChangeAspect="1"/>
          </p:cNvPicPr>
          <p:nvPr/>
        </p:nvPicPr>
        <p:blipFill>
          <a:blip r:embed="rId1"/>
          <a:stretch>
            <a:fillRect/>
          </a:stretch>
        </p:blipFill>
        <p:spPr>
          <a:xfrm>
            <a:off x="1781503" y="3709495"/>
            <a:ext cx="8229600" cy="2030985"/>
          </a:xfrm>
          <a:prstGeom prst="rect">
            <a:avLst/>
          </a:prstGeom>
        </p:spPr>
      </p:pic>
      <p:sp>
        <p:nvSpPr>
          <p:cNvPr id="14" name="文本框 13"/>
          <p:cNvSpPr txBox="1"/>
          <p:nvPr/>
        </p:nvSpPr>
        <p:spPr>
          <a:xfrm>
            <a:off x="5273471" y="5827590"/>
            <a:ext cx="1198880" cy="337185"/>
          </a:xfrm>
          <a:prstGeom prst="rect">
            <a:avLst/>
          </a:prstGeom>
          <a:noFill/>
        </p:spPr>
        <p:txBody>
          <a:bodyPr wrap="none" rtlCol="0">
            <a:spAutoFit/>
          </a:bodyPr>
          <a:lstStyle/>
          <a:p>
            <a:r>
              <a:rPr lang="zh-CN" altLang="en-US" sz="1600"/>
              <a:t>系统框架图</a:t>
            </a:r>
            <a:endParaRPr lang="zh-CN" altLang="en-US" sz="16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GB" altLang="zh-CN" dirty="0"/>
              <a:t>TESSERACT: Eliminating Experimental Bias in Malware Classification across Space and Time (Security'19)</a:t>
            </a:r>
            <a:endParaRPr lang="zh-CN" altLang="en-US" dirty="0"/>
          </a:p>
        </p:txBody>
      </p:sp>
      <p:sp>
        <p:nvSpPr>
          <p:cNvPr id="7" name="文本框 6"/>
          <p:cNvSpPr txBox="1"/>
          <p:nvPr/>
        </p:nvSpPr>
        <p:spPr>
          <a:xfrm>
            <a:off x="672105" y="1690151"/>
            <a:ext cx="7421571" cy="3969385"/>
          </a:xfrm>
          <a:prstGeom prst="rect">
            <a:avLst/>
          </a:prstGeom>
          <a:noFill/>
        </p:spPr>
        <p:txBody>
          <a:bodyPr wrap="square" rtlCol="0">
            <a:spAutoFit/>
          </a:bodyPr>
          <a:lstStyle/>
          <a:p>
            <a:pPr marL="285750" indent="-285750">
              <a:buFont typeface="Arial" panose="020B0604020202020204" pitchFamily="34" charset="0"/>
              <a:buChar char="•"/>
            </a:pPr>
            <a:r>
              <a:rPr lang="en-US" altLang="zh-CN"/>
              <a:t>Motivation</a:t>
            </a:r>
            <a:endParaRPr lang="en-US" altLang="zh-CN"/>
          </a:p>
          <a:p>
            <a:pPr marL="742950" lvl="1" indent="-285750">
              <a:buFont typeface="Arial" panose="020B0604020202020204" pitchFamily="34" charset="0"/>
              <a:buChar char="•"/>
            </a:pPr>
            <a:r>
              <a:rPr lang="zh-CN" altLang="en-US"/>
              <a:t>虚高分数</a:t>
            </a:r>
            <a:r>
              <a:rPr lang="en-US" altLang="zh-CN"/>
              <a:t>: </a:t>
            </a:r>
            <a:r>
              <a:rPr lang="zh-CN" altLang="en-US"/>
              <a:t>实验室 </a:t>
            </a:r>
            <a:r>
              <a:rPr lang="en-US" altLang="zh-CN"/>
              <a:t>F1~0.99 vs </a:t>
            </a:r>
            <a:r>
              <a:rPr lang="zh-CN" altLang="en-US"/>
              <a:t>现实低效</a:t>
            </a:r>
            <a:endParaRPr lang="en-US" altLang="zh-CN"/>
          </a:p>
          <a:p>
            <a:pPr marL="742950" lvl="1" indent="-285750">
              <a:buFont typeface="Arial" panose="020B0604020202020204" pitchFamily="34" charset="0"/>
              <a:buChar char="•"/>
            </a:pPr>
            <a:r>
              <a:rPr lang="zh-CN" altLang="en-US"/>
              <a:t>空间偏差</a:t>
            </a:r>
            <a:r>
              <a:rPr lang="en-US" altLang="zh-CN"/>
              <a:t>:</a:t>
            </a:r>
            <a:r>
              <a:rPr lang="zh-CN" altLang="en-US"/>
              <a:t> 忽略真实世界类别不平衡 </a:t>
            </a:r>
            <a:r>
              <a:rPr lang="en-US" altLang="zh-CN"/>
              <a:t>(</a:t>
            </a:r>
            <a:r>
              <a:rPr lang="en-US" altLang="zh-CN" err="1"/>
              <a:t>Goodware</a:t>
            </a:r>
            <a:r>
              <a:rPr lang="en-US" altLang="zh-CN"/>
              <a:t> &gt;&gt; Malware)</a:t>
            </a:r>
            <a:endParaRPr lang="en-US" altLang="zh-CN"/>
          </a:p>
          <a:p>
            <a:pPr marL="742950" lvl="1" indent="-285750">
              <a:buFont typeface="Arial" panose="020B0604020202020204" pitchFamily="34" charset="0"/>
              <a:buChar char="•"/>
            </a:pPr>
            <a:r>
              <a:rPr lang="zh-CN" altLang="en-US"/>
              <a:t>时间偏差</a:t>
            </a:r>
            <a:r>
              <a:rPr lang="en-US" altLang="zh-CN"/>
              <a:t>:</a:t>
            </a:r>
            <a:r>
              <a:rPr lang="zh-CN" altLang="en-US"/>
              <a:t> 忽略概念漂移，训练</a:t>
            </a:r>
            <a:r>
              <a:rPr lang="en-US" altLang="zh-CN"/>
              <a:t>/</a:t>
            </a:r>
            <a:r>
              <a:rPr lang="zh-CN" altLang="en-US"/>
              <a:t>测试时间分割错误 </a:t>
            </a:r>
            <a:r>
              <a:rPr lang="en-US" altLang="zh-CN"/>
              <a:t>(</a:t>
            </a:r>
            <a:r>
              <a:rPr lang="zh-CN" altLang="en-US"/>
              <a:t>违反因果律</a:t>
            </a:r>
            <a:r>
              <a:rPr lang="en-US" altLang="zh-CN"/>
              <a:t>)</a:t>
            </a:r>
            <a:endParaRPr lang="en-US" altLang="zh-CN"/>
          </a:p>
          <a:p>
            <a:pPr marL="285750" indent="-285750">
              <a:buFont typeface="Arial" panose="020B0604020202020204" pitchFamily="34" charset="0"/>
              <a:buChar char="•"/>
            </a:pPr>
            <a:r>
              <a:rPr lang="en-US" altLang="zh-CN"/>
              <a:t>Method</a:t>
            </a:r>
            <a:endParaRPr lang="en-US" altLang="zh-CN"/>
          </a:p>
          <a:p>
            <a:pPr marL="742950" lvl="1" indent="-285750">
              <a:buFont typeface="Arial" panose="020B0604020202020204" pitchFamily="34" charset="0"/>
              <a:buChar char="•"/>
            </a:pPr>
            <a:r>
              <a:rPr lang="zh-CN" altLang="en-US"/>
              <a:t>三大约束 </a:t>
            </a:r>
            <a:r>
              <a:rPr lang="en-US" altLang="zh-CN"/>
              <a:t>(Constraints): </a:t>
            </a:r>
            <a:endParaRPr lang="en-US" altLang="zh-CN"/>
          </a:p>
          <a:p>
            <a:pPr marL="1200150" lvl="2" indent="-285750">
              <a:buFont typeface="Arial" panose="020B0604020202020204" pitchFamily="34" charset="0"/>
              <a:buChar char="•"/>
            </a:pPr>
            <a:r>
              <a:rPr lang="en-US" altLang="zh-CN"/>
              <a:t>C1: </a:t>
            </a:r>
            <a:r>
              <a:rPr lang="zh-CN" altLang="en-US"/>
              <a:t>严格的时间切分 </a:t>
            </a:r>
            <a:r>
              <a:rPr lang="en-US" altLang="zh-CN"/>
              <a:t>(</a:t>
            </a:r>
            <a:r>
              <a:rPr lang="zh-CN" altLang="en-US"/>
              <a:t>训练早于测试</a:t>
            </a:r>
            <a:r>
              <a:rPr lang="en-US" altLang="zh-CN"/>
              <a:t>)</a:t>
            </a:r>
            <a:endParaRPr lang="en-US" altLang="zh-CN"/>
          </a:p>
          <a:p>
            <a:pPr marL="1200150" lvl="2" indent="-285750">
              <a:buFont typeface="Arial" panose="020B0604020202020204" pitchFamily="34" charset="0"/>
              <a:buChar char="•"/>
            </a:pPr>
            <a:r>
              <a:rPr lang="en-US" altLang="zh-CN"/>
              <a:t>C2: </a:t>
            </a:r>
            <a:r>
              <a:rPr lang="zh-CN" altLang="en-US"/>
              <a:t>样本时间窗口一致性</a:t>
            </a:r>
            <a:endParaRPr lang="en-US" altLang="zh-CN"/>
          </a:p>
          <a:p>
            <a:pPr marL="1200150" lvl="2" indent="-285750">
              <a:buFont typeface="Arial" panose="020B0604020202020204" pitchFamily="34" charset="0"/>
              <a:buChar char="•"/>
            </a:pPr>
            <a:r>
              <a:rPr lang="en-US" altLang="zh-CN"/>
              <a:t>C3: </a:t>
            </a:r>
            <a:r>
              <a:rPr lang="zh-CN" altLang="en-US"/>
              <a:t>还原真实测试集比例 </a:t>
            </a:r>
            <a:r>
              <a:rPr lang="en-US" altLang="zh-CN"/>
              <a:t>(Testing Ratio ≈ 10%)</a:t>
            </a:r>
            <a:endParaRPr lang="en-US" altLang="zh-CN"/>
          </a:p>
          <a:p>
            <a:pPr marL="742950" lvl="1" indent="-285750">
              <a:buFont typeface="Arial" panose="020B0604020202020204" pitchFamily="34" charset="0"/>
              <a:buChar char="•"/>
            </a:pPr>
            <a:r>
              <a:rPr lang="zh-CN" altLang="en-US"/>
              <a:t>新指标 </a:t>
            </a:r>
            <a:r>
              <a:rPr lang="en-US" altLang="zh-CN"/>
              <a:t>AUT (Area Under Time): </a:t>
            </a:r>
            <a:r>
              <a:rPr lang="zh-CN" altLang="en-US"/>
              <a:t>量化模型随时间推移的鲁棒性</a:t>
            </a:r>
            <a:endParaRPr lang="en-US" altLang="zh-CN"/>
          </a:p>
          <a:p>
            <a:pPr marL="1200150" lvl="2" indent="-285750">
              <a:buFont typeface="Arial" panose="020B0604020202020204" pitchFamily="34" charset="0"/>
              <a:buChar char="•"/>
            </a:pPr>
            <a:r>
              <a:rPr lang="zh-CN" altLang="en-US"/>
              <a:t>调优算法</a:t>
            </a:r>
            <a:r>
              <a:rPr lang="en-US" altLang="zh-CN"/>
              <a:t>: </a:t>
            </a:r>
            <a:r>
              <a:rPr lang="zh-CN" altLang="en-US"/>
              <a:t>动态调整训练集分布 以最大化长期收益</a:t>
            </a:r>
            <a:endParaRPr lang="en-US" altLang="zh-CN"/>
          </a:p>
          <a:p>
            <a:pPr marL="285750" indent="-285750">
              <a:buFont typeface="Arial" panose="020B0604020202020204" pitchFamily="34" charset="0"/>
              <a:buChar char="•"/>
            </a:pPr>
            <a:r>
              <a:rPr lang="en-US" altLang="zh-CN"/>
              <a:t>Result</a:t>
            </a:r>
            <a:endParaRPr lang="en-US" altLang="zh-CN"/>
          </a:p>
          <a:p>
            <a:pPr marL="742950" lvl="1" indent="-285750">
              <a:buFont typeface="Arial" panose="020B0604020202020204" pitchFamily="34" charset="0"/>
              <a:buChar char="•"/>
            </a:pPr>
            <a:r>
              <a:rPr lang="zh-CN" altLang="en-US"/>
              <a:t>性能崩塌</a:t>
            </a:r>
            <a:r>
              <a:rPr lang="en-US" altLang="zh-CN"/>
              <a:t>: </a:t>
            </a:r>
            <a:r>
              <a:rPr lang="zh-CN" altLang="en-US"/>
              <a:t>消除偏差后，算法性能平均下降 </a:t>
            </a:r>
            <a:r>
              <a:rPr lang="en-US" altLang="zh-CN"/>
              <a:t>50%</a:t>
            </a:r>
            <a:endParaRPr lang="en-US" altLang="zh-CN"/>
          </a:p>
          <a:p>
            <a:pPr marL="742950" lvl="1" indent="-285750">
              <a:buFont typeface="Arial" panose="020B0604020202020204" pitchFamily="34" charset="0"/>
              <a:buChar char="•"/>
            </a:pPr>
            <a:r>
              <a:rPr lang="zh-CN" altLang="en-US"/>
              <a:t>深度学习鲁棒性</a:t>
            </a:r>
            <a:r>
              <a:rPr lang="en-US" altLang="zh-CN"/>
              <a:t>: </a:t>
            </a:r>
            <a:r>
              <a:rPr lang="zh-CN" altLang="en-US"/>
              <a:t>证明 </a:t>
            </a:r>
            <a:r>
              <a:rPr lang="en-US" altLang="zh-CN"/>
              <a:t>DL </a:t>
            </a:r>
            <a:r>
              <a:rPr lang="zh-CN" altLang="en-US"/>
              <a:t>模型比传统特征工程方法更抗老化</a:t>
            </a:r>
            <a:endParaRPr lang="en-US" altLang="zh-CN"/>
          </a:p>
        </p:txBody>
      </p:sp>
      <p:pic>
        <p:nvPicPr>
          <p:cNvPr id="4" name="图片 3"/>
          <p:cNvPicPr>
            <a:picLocks noChangeAspect="1"/>
          </p:cNvPicPr>
          <p:nvPr/>
        </p:nvPicPr>
        <p:blipFill>
          <a:blip r:embed="rId1"/>
          <a:stretch>
            <a:fillRect/>
          </a:stretch>
        </p:blipFill>
        <p:spPr>
          <a:xfrm>
            <a:off x="7839160" y="1740616"/>
            <a:ext cx="4051300" cy="37211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GB" altLang="zh-CN" dirty="0"/>
              <a:t>Functionality-preserving black-box optimization of adversarial windows malware</a:t>
            </a:r>
            <a:r>
              <a:rPr lang="zh-CN" altLang="en-US" dirty="0"/>
              <a:t> （</a:t>
            </a:r>
            <a:r>
              <a:rPr lang="en-GB" altLang="zh-CN" dirty="0"/>
              <a:t>TIFS</a:t>
            </a:r>
            <a:r>
              <a:rPr lang="en-US" altLang="zh-CN" dirty="0"/>
              <a:t>`</a:t>
            </a:r>
            <a:r>
              <a:rPr lang="en-GB" altLang="zh-CN" dirty="0"/>
              <a:t>21</a:t>
            </a:r>
            <a:r>
              <a:rPr lang="en-US" altLang="zh-CN" dirty="0"/>
              <a:t>)</a:t>
            </a:r>
            <a:endParaRPr lang="en-GB" altLang="zh-CN" dirty="0">
              <a:effectLst/>
            </a:endParaRPr>
          </a:p>
        </p:txBody>
      </p:sp>
      <p:sp>
        <p:nvSpPr>
          <p:cNvPr id="7" name="文本框 6"/>
          <p:cNvSpPr txBox="1"/>
          <p:nvPr/>
        </p:nvSpPr>
        <p:spPr>
          <a:xfrm>
            <a:off x="672106" y="1578938"/>
            <a:ext cx="9324510" cy="3139321"/>
          </a:xfrm>
          <a:prstGeom prst="rect">
            <a:avLst/>
          </a:prstGeom>
          <a:noFill/>
        </p:spPr>
        <p:txBody>
          <a:bodyPr wrap="square" rtlCol="0">
            <a:spAutoFit/>
          </a:bodyPr>
          <a:lstStyle/>
          <a:p>
            <a:pPr marL="285750" indent="-285750">
              <a:buFont typeface="Arial" panose="020B0604020202020204" pitchFamily="34" charset="0"/>
              <a:buChar char="•"/>
            </a:pPr>
            <a:r>
              <a:rPr lang="en-US" altLang="zh-CN"/>
              <a:t>Motivation</a:t>
            </a:r>
            <a:endParaRPr lang="en-US" altLang="zh-CN"/>
          </a:p>
          <a:p>
            <a:pPr marL="742950" lvl="1" indent="-285750">
              <a:buFont typeface="Arial" panose="020B0604020202020204" pitchFamily="34" charset="0"/>
              <a:buChar char="•"/>
            </a:pPr>
            <a:r>
              <a:rPr lang="zh-CN" altLang="en-US"/>
              <a:t>黑盒限制</a:t>
            </a:r>
            <a:r>
              <a:rPr lang="en-US" altLang="zh-CN"/>
              <a:t>: </a:t>
            </a:r>
            <a:r>
              <a:rPr lang="zh-CN" altLang="en-US"/>
              <a:t>攻击者无模型参数，仅有查询权限。</a:t>
            </a:r>
            <a:endParaRPr lang="en-US" altLang="zh-CN"/>
          </a:p>
          <a:p>
            <a:pPr marL="742950" lvl="1" indent="-285750">
              <a:buFont typeface="Arial" panose="020B0604020202020204" pitchFamily="34" charset="0"/>
              <a:buChar char="•"/>
            </a:pPr>
            <a:r>
              <a:rPr lang="zh-CN" altLang="en-US"/>
              <a:t>效率瓶颈</a:t>
            </a:r>
            <a:r>
              <a:rPr lang="en-US" altLang="zh-CN"/>
              <a:t>: </a:t>
            </a:r>
            <a:r>
              <a:rPr lang="zh-CN" altLang="en-US"/>
              <a:t>传统方法依赖沙箱验证功能完整性，耗时且查询效率低。</a:t>
            </a:r>
            <a:endParaRPr lang="en-US" altLang="zh-CN"/>
          </a:p>
          <a:p>
            <a:pPr marL="742950" lvl="1" indent="-285750">
              <a:buFont typeface="Arial" panose="020B0604020202020204" pitchFamily="34" charset="0"/>
              <a:buChar char="•"/>
            </a:pPr>
            <a:r>
              <a:rPr lang="zh-CN" altLang="en-US"/>
              <a:t>隐蔽性需求</a:t>
            </a:r>
            <a:r>
              <a:rPr lang="en-US" altLang="zh-CN"/>
              <a:t>: </a:t>
            </a:r>
            <a:r>
              <a:rPr lang="zh-CN" altLang="en-US"/>
              <a:t>需同时欺骗分类器并控制文件体积。</a:t>
            </a:r>
            <a:endParaRPr lang="en-US" altLang="zh-CN"/>
          </a:p>
          <a:p>
            <a:pPr marL="285750" indent="-285750">
              <a:buFont typeface="Arial" panose="020B0604020202020204" pitchFamily="34" charset="0"/>
              <a:buChar char="•"/>
            </a:pPr>
            <a:r>
              <a:rPr lang="en-US" altLang="zh-CN"/>
              <a:t>Method</a:t>
            </a:r>
            <a:endParaRPr lang="en-US" altLang="zh-CN"/>
          </a:p>
          <a:p>
            <a:pPr marL="742950" lvl="1" indent="-285750">
              <a:buFont typeface="Arial" panose="020B0604020202020204" pitchFamily="34" charset="0"/>
              <a:buChar char="•"/>
            </a:pPr>
            <a:r>
              <a:rPr lang="zh-CN" altLang="en-US"/>
              <a:t>遗传算法进化策略搜索最优扰动。</a:t>
            </a:r>
            <a:endParaRPr lang="en-US" altLang="zh-CN"/>
          </a:p>
          <a:p>
            <a:pPr marL="742950" lvl="1" indent="-285750">
              <a:buFont typeface="Arial" panose="020B0604020202020204" pitchFamily="34" charset="0"/>
              <a:buChar char="•"/>
            </a:pPr>
            <a:r>
              <a:rPr lang="zh-CN" altLang="en-US"/>
              <a:t>结构化注入 </a:t>
            </a:r>
            <a:r>
              <a:rPr lang="en-US" altLang="zh-CN"/>
              <a:t>(</a:t>
            </a:r>
            <a:r>
              <a:rPr lang="en-GB" altLang="zh-CN"/>
              <a:t>Structural Injection): </a:t>
            </a:r>
            <a:endParaRPr lang="en-GB" altLang="zh-CN"/>
          </a:p>
          <a:p>
            <a:pPr marL="1200150" lvl="2" indent="-285750">
              <a:buFont typeface="Arial" panose="020B0604020202020204" pitchFamily="34" charset="0"/>
              <a:buChar char="•"/>
            </a:pPr>
            <a:r>
              <a:rPr lang="zh-CN" altLang="en-US"/>
              <a:t>引入良性内容 </a:t>
            </a:r>
            <a:r>
              <a:rPr lang="en-US" altLang="zh-CN"/>
              <a:t>(</a:t>
            </a:r>
            <a:r>
              <a:rPr lang="en-GB" altLang="zh-CN"/>
              <a:t>Benign Content) </a:t>
            </a:r>
            <a:r>
              <a:rPr lang="zh-CN" altLang="en-US"/>
              <a:t>而非随机噪声。</a:t>
            </a:r>
            <a:endParaRPr lang="en-US" altLang="zh-CN"/>
          </a:p>
          <a:p>
            <a:pPr marL="1200150" lvl="2" indent="-285750">
              <a:buFont typeface="Arial" panose="020B0604020202020204" pitchFamily="34" charset="0"/>
              <a:buChar char="•"/>
            </a:pPr>
            <a:r>
              <a:rPr lang="zh-CN" altLang="en-US"/>
              <a:t>利用 </a:t>
            </a:r>
            <a:r>
              <a:rPr lang="en-GB" altLang="zh-CN"/>
              <a:t>Section Injection / Padding</a:t>
            </a:r>
            <a:r>
              <a:rPr lang="zh-CN" altLang="en-GB"/>
              <a:t>，</a:t>
            </a:r>
            <a:r>
              <a:rPr lang="zh-CN" altLang="en-US"/>
              <a:t>天然保持程序功能 </a:t>
            </a:r>
            <a:r>
              <a:rPr lang="en-US" altLang="zh-CN"/>
              <a:t>(</a:t>
            </a:r>
            <a:r>
              <a:rPr lang="zh-CN" altLang="en-US"/>
              <a:t>无需沙箱</a:t>
            </a:r>
            <a:r>
              <a:rPr lang="en-US" altLang="zh-CN"/>
              <a:t>)</a:t>
            </a:r>
            <a:r>
              <a:rPr lang="zh-CN" altLang="en-US"/>
              <a:t>。</a:t>
            </a:r>
            <a:endParaRPr lang="en-US" altLang="zh-CN"/>
          </a:p>
          <a:p>
            <a:pPr marL="742950" lvl="1" indent="-285750">
              <a:buFont typeface="Arial" panose="020B0604020202020204" pitchFamily="34" charset="0"/>
              <a:buChar char="•"/>
            </a:pPr>
            <a:r>
              <a:rPr lang="zh-CN" altLang="en-US"/>
              <a:t>双重优化目标</a:t>
            </a:r>
            <a:r>
              <a:rPr lang="en-US" altLang="zh-CN"/>
              <a:t>: </a:t>
            </a:r>
            <a:r>
              <a:rPr lang="zh-CN" altLang="en-US"/>
              <a:t>最小化 </a:t>
            </a:r>
            <a:r>
              <a:rPr lang="en-US" altLang="zh-CN"/>
              <a:t>[</a:t>
            </a:r>
            <a:r>
              <a:rPr lang="zh-CN" altLang="en-US"/>
              <a:t>检测概率</a:t>
            </a:r>
            <a:r>
              <a:rPr lang="en-US" altLang="zh-CN"/>
              <a:t>] + [</a:t>
            </a:r>
            <a:r>
              <a:rPr lang="en-GB" altLang="zh-CN"/>
              <a:t>Payload</a:t>
            </a:r>
            <a:r>
              <a:rPr lang="zh-CN" altLang="en-US"/>
              <a:t>体积</a:t>
            </a:r>
            <a:r>
              <a:rPr lang="en-US" altLang="zh-CN"/>
              <a:t>]</a:t>
            </a:r>
            <a:r>
              <a:rPr lang="zh-CN" altLang="en-US"/>
              <a:t>。</a:t>
            </a:r>
            <a:endParaRPr lang="en-US" altLang="zh-CN"/>
          </a:p>
          <a:p>
            <a:pPr marL="285750" indent="-285750">
              <a:buFont typeface="Arial" panose="020B0604020202020204" pitchFamily="34" charset="0"/>
              <a:buChar char="•"/>
            </a:pPr>
            <a:endParaRPr lang="en-US" altLang="zh-CN"/>
          </a:p>
        </p:txBody>
      </p:sp>
      <p:pic>
        <p:nvPicPr>
          <p:cNvPr id="3" name="图片 2"/>
          <p:cNvPicPr>
            <a:picLocks noChangeAspect="1"/>
          </p:cNvPicPr>
          <p:nvPr/>
        </p:nvPicPr>
        <p:blipFill>
          <a:blip r:embed="rId1"/>
          <a:stretch>
            <a:fillRect/>
          </a:stretch>
        </p:blipFill>
        <p:spPr>
          <a:xfrm>
            <a:off x="4151870" y="4428723"/>
            <a:ext cx="7905719" cy="2318616"/>
          </a:xfrm>
          <a:prstGeom prst="rect">
            <a:avLst/>
          </a:prstGeom>
        </p:spPr>
      </p:pic>
      <p:sp>
        <p:nvSpPr>
          <p:cNvPr id="12" name="文本框 11"/>
          <p:cNvSpPr txBox="1"/>
          <p:nvPr/>
        </p:nvSpPr>
        <p:spPr>
          <a:xfrm>
            <a:off x="672106" y="4399037"/>
            <a:ext cx="3590975" cy="2585323"/>
          </a:xfrm>
          <a:prstGeom prst="rect">
            <a:avLst/>
          </a:prstGeom>
          <a:noFill/>
        </p:spPr>
        <p:txBody>
          <a:bodyPr wrap="square">
            <a:spAutoFit/>
          </a:bodyPr>
          <a:lstStyle/>
          <a:p>
            <a:pPr marL="285750" indent="-285750">
              <a:buFont typeface="Arial" panose="020B0604020202020204" pitchFamily="34" charset="0"/>
              <a:buChar char="•"/>
            </a:pPr>
            <a:r>
              <a:rPr lang="en-US" altLang="zh-CN"/>
              <a:t>Results</a:t>
            </a:r>
            <a:endParaRPr lang="en-US" altLang="zh-CN"/>
          </a:p>
          <a:p>
            <a:pPr marL="742950" lvl="1" indent="-285750">
              <a:buFont typeface="Arial" panose="020B0604020202020204" pitchFamily="34" charset="0"/>
              <a:buChar char="•"/>
            </a:pPr>
            <a:r>
              <a:rPr lang="zh-CN" altLang="en-US"/>
              <a:t>攻击效果</a:t>
            </a:r>
            <a:r>
              <a:rPr lang="en-US" altLang="zh-CN"/>
              <a:t>: </a:t>
            </a:r>
            <a:r>
              <a:rPr lang="zh-CN" altLang="en-US"/>
              <a:t>极低查询成本下攻破 </a:t>
            </a:r>
            <a:r>
              <a:rPr lang="en-US" altLang="zh-CN" err="1"/>
              <a:t>MalConv</a:t>
            </a:r>
            <a:r>
              <a:rPr lang="en-US" altLang="zh-CN"/>
              <a:t> &amp; GBDT</a:t>
            </a:r>
            <a:r>
              <a:rPr lang="zh-CN" altLang="en-US"/>
              <a:t>。</a:t>
            </a:r>
            <a:endParaRPr lang="en-US" altLang="zh-CN"/>
          </a:p>
          <a:p>
            <a:pPr marL="742950" lvl="1" indent="-285750">
              <a:buFont typeface="Arial" panose="020B0604020202020204" pitchFamily="34" charset="0"/>
              <a:buChar char="•"/>
            </a:pPr>
            <a:r>
              <a:rPr lang="zh-CN" altLang="en-US"/>
              <a:t>硬标签支持</a:t>
            </a:r>
            <a:r>
              <a:rPr lang="en-US" altLang="zh-CN"/>
              <a:t>: </a:t>
            </a:r>
            <a:r>
              <a:rPr lang="zh-CN" altLang="en-US"/>
              <a:t>仅需 </a:t>
            </a:r>
            <a:r>
              <a:rPr lang="en-US" altLang="zh-CN"/>
              <a:t>Label (0/1) </a:t>
            </a:r>
            <a:r>
              <a:rPr lang="zh-CN" altLang="en-US"/>
              <a:t>即可完成攻击优化。</a:t>
            </a:r>
            <a:endParaRPr lang="en-US" altLang="zh-CN"/>
          </a:p>
          <a:p>
            <a:pPr marL="742950" lvl="1" indent="-285750">
              <a:buFont typeface="Arial" panose="020B0604020202020204" pitchFamily="34" charset="0"/>
              <a:buChar char="•"/>
            </a:pPr>
            <a:r>
              <a:rPr lang="en-US" altLang="zh-CN"/>
              <a:t> </a:t>
            </a:r>
            <a:r>
              <a:rPr lang="zh-CN" altLang="en-US"/>
              <a:t>迁移攻击</a:t>
            </a:r>
            <a:r>
              <a:rPr lang="en-US" altLang="zh-CN"/>
              <a:t>: </a:t>
            </a:r>
            <a:r>
              <a:rPr lang="zh-CN" altLang="en-US"/>
              <a:t>在 </a:t>
            </a:r>
            <a:r>
              <a:rPr lang="en-US" altLang="zh-CN" err="1"/>
              <a:t>VirusTotal</a:t>
            </a:r>
            <a:r>
              <a:rPr lang="en-US" altLang="zh-CN"/>
              <a:t> </a:t>
            </a:r>
            <a:r>
              <a:rPr lang="zh-CN" altLang="en-US"/>
              <a:t>实测中平均绕过 </a:t>
            </a:r>
            <a:r>
              <a:rPr lang="en-US" altLang="zh-CN"/>
              <a:t>12+ </a:t>
            </a:r>
            <a:r>
              <a:rPr lang="zh-CN" altLang="en-US"/>
              <a:t>款商业杀软。</a:t>
            </a:r>
            <a:endParaRPr lang="en-US" altLang="zh-CN"/>
          </a:p>
          <a:p>
            <a:pPr marL="285750" indent="-285750">
              <a:buFont typeface="Arial" panose="020B0604020202020204" pitchFamily="34" charset="0"/>
              <a:buChar char="•"/>
            </a:pPr>
            <a:endParaRPr lang="en-US" altLang="zh-C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Make your IoT environments robust against adversarial machine learning malware threats: a code-cave approach </a:t>
            </a:r>
            <a:r>
              <a:rPr lang="zh-CN" altLang="en-GB" dirty="0"/>
              <a:t>（</a:t>
            </a:r>
            <a:r>
              <a:rPr lang="en-GB" altLang="zh-CN" dirty="0"/>
              <a:t>NDSS Workshop</a:t>
            </a:r>
            <a:r>
              <a:rPr lang="en-US" altLang="zh-CN" dirty="0"/>
              <a:t>`</a:t>
            </a:r>
            <a:r>
              <a:rPr lang="en-GB" altLang="zh-CN" dirty="0"/>
              <a:t>24</a:t>
            </a:r>
            <a:r>
              <a:rPr lang="zh-CN" altLang="en-GB" dirty="0"/>
              <a:t>）</a:t>
            </a:r>
            <a:endParaRPr lang="zh-CN" altLang="en-GB" dirty="0"/>
          </a:p>
        </p:txBody>
      </p:sp>
      <p:sp>
        <p:nvSpPr>
          <p:cNvPr id="7" name="文本框 6"/>
          <p:cNvSpPr txBox="1"/>
          <p:nvPr/>
        </p:nvSpPr>
        <p:spPr>
          <a:xfrm>
            <a:off x="835306" y="4167995"/>
            <a:ext cx="5654554" cy="2031325"/>
          </a:xfrm>
          <a:prstGeom prst="rect">
            <a:avLst/>
          </a:prstGeom>
          <a:noFill/>
        </p:spPr>
        <p:txBody>
          <a:bodyPr wrap="square" rtlCol="0">
            <a:spAutoFit/>
          </a:bodyPr>
          <a:lstStyle/>
          <a:p>
            <a:pPr marL="285750" indent="-285750">
              <a:buFont typeface="Arial" panose="020B0604020202020204" pitchFamily="34" charset="0"/>
              <a:buChar char="•"/>
            </a:pPr>
            <a:r>
              <a:rPr lang="en-US" altLang="zh-CN"/>
              <a:t>Result</a:t>
            </a:r>
            <a:endParaRPr lang="en-US" altLang="zh-CN"/>
          </a:p>
          <a:p>
            <a:pPr marL="742950" lvl="1" indent="-285750">
              <a:buFont typeface="Arial" panose="020B0604020202020204" pitchFamily="34" charset="0"/>
              <a:buChar char="•"/>
            </a:pPr>
            <a:r>
              <a:rPr lang="zh-CN" altLang="en-US"/>
              <a:t>模型失效</a:t>
            </a:r>
            <a:r>
              <a:rPr lang="en-US" altLang="zh-CN"/>
              <a:t>: </a:t>
            </a:r>
            <a:r>
              <a:rPr lang="en-US" altLang="zh-CN" err="1"/>
              <a:t>MalConv</a:t>
            </a:r>
            <a:r>
              <a:rPr lang="en-US" altLang="zh-CN"/>
              <a:t> </a:t>
            </a:r>
            <a:r>
              <a:rPr lang="zh-CN" altLang="en-US"/>
              <a:t>检测准确率从 </a:t>
            </a:r>
            <a:r>
              <a:rPr lang="en-US" altLang="zh-CN"/>
              <a:t>99% </a:t>
            </a:r>
            <a:r>
              <a:rPr lang="zh-CN" altLang="en-US"/>
              <a:t>骤降至 </a:t>
            </a:r>
            <a:r>
              <a:rPr lang="en-US" altLang="zh-CN"/>
              <a:t>82%</a:t>
            </a:r>
            <a:r>
              <a:rPr lang="zh-CN" altLang="en-US"/>
              <a:t>。</a:t>
            </a:r>
            <a:endParaRPr lang="en-US" altLang="zh-CN"/>
          </a:p>
          <a:p>
            <a:pPr marL="742950" lvl="1" indent="-285750">
              <a:buFont typeface="Arial" panose="020B0604020202020204" pitchFamily="34" charset="0"/>
              <a:buChar char="•"/>
            </a:pPr>
            <a:r>
              <a:rPr lang="zh-CN" altLang="en-US"/>
              <a:t>对比优势</a:t>
            </a:r>
            <a:r>
              <a:rPr lang="en-US" altLang="zh-CN"/>
              <a:t>: </a:t>
            </a:r>
            <a:r>
              <a:rPr lang="zh-CN" altLang="en-US"/>
              <a:t>相比“随机字节追加”，在更小扰动下实现更高逃逸率。</a:t>
            </a:r>
            <a:endParaRPr lang="en-US" altLang="zh-CN"/>
          </a:p>
          <a:p>
            <a:pPr marL="742950" lvl="1" indent="-285750">
              <a:buFont typeface="Arial" panose="020B0604020202020204" pitchFamily="34" charset="0"/>
              <a:buChar char="•"/>
            </a:pPr>
            <a:r>
              <a:rPr lang="zh-CN" altLang="en-US"/>
              <a:t>新攻击面</a:t>
            </a:r>
            <a:r>
              <a:rPr lang="en-US" altLang="zh-CN"/>
              <a:t>: </a:t>
            </a:r>
            <a:r>
              <a:rPr lang="zh-CN" altLang="en-US"/>
              <a:t>证明二进制内部的未使用空间是极度危险的攻击向量。</a:t>
            </a:r>
            <a:endParaRPr lang="en-US" altLang="zh-CN"/>
          </a:p>
        </p:txBody>
      </p:sp>
      <p:pic>
        <p:nvPicPr>
          <p:cNvPr id="9" name="图片 8"/>
          <p:cNvPicPr>
            <a:picLocks noChangeAspect="1"/>
          </p:cNvPicPr>
          <p:nvPr/>
        </p:nvPicPr>
        <p:blipFill>
          <a:blip r:embed="rId1"/>
          <a:srcRect l="16402" t="29" r="12692" b="10182"/>
          <a:stretch>
            <a:fillRect/>
          </a:stretch>
        </p:blipFill>
        <p:spPr>
          <a:xfrm>
            <a:off x="6584089" y="3890996"/>
            <a:ext cx="5511115" cy="2780270"/>
          </a:xfrm>
          <a:prstGeom prst="rect">
            <a:avLst/>
          </a:prstGeom>
        </p:spPr>
      </p:pic>
      <p:sp>
        <p:nvSpPr>
          <p:cNvPr id="15" name="文本框 14"/>
          <p:cNvSpPr txBox="1"/>
          <p:nvPr/>
        </p:nvSpPr>
        <p:spPr>
          <a:xfrm>
            <a:off x="835307" y="1859671"/>
            <a:ext cx="7876208" cy="2306955"/>
          </a:xfrm>
          <a:prstGeom prst="rect">
            <a:avLst/>
          </a:prstGeom>
          <a:noFill/>
        </p:spPr>
        <p:txBody>
          <a:bodyPr wrap="square">
            <a:spAutoFit/>
          </a:bodyPr>
          <a:lstStyle/>
          <a:p>
            <a:pPr marL="285750" indent="-285750">
              <a:buFont typeface="Arial" panose="020B0604020202020204" pitchFamily="34" charset="0"/>
              <a:buChar char="•"/>
            </a:pPr>
            <a:r>
              <a:rPr lang="en-US" altLang="zh-CN"/>
              <a:t>Motivation</a:t>
            </a:r>
            <a:endParaRPr lang="en-US" altLang="zh-CN"/>
          </a:p>
          <a:p>
            <a:pPr marL="742950" lvl="1" indent="-285750">
              <a:buFont typeface="Arial" panose="020B0604020202020204" pitchFamily="34" charset="0"/>
              <a:buChar char="•"/>
            </a:pPr>
            <a:r>
              <a:rPr lang="en-US" altLang="zh-CN"/>
              <a:t>IoT </a:t>
            </a:r>
            <a:r>
              <a:rPr lang="zh-CN" altLang="en-US"/>
              <a:t>模型脆弱</a:t>
            </a:r>
            <a:r>
              <a:rPr lang="en-US" altLang="zh-CN"/>
              <a:t>: </a:t>
            </a:r>
            <a:r>
              <a:rPr lang="zh-CN" altLang="en-US"/>
              <a:t>边缘侧 </a:t>
            </a:r>
            <a:r>
              <a:rPr lang="en-US" altLang="zh-CN"/>
              <a:t>DL </a:t>
            </a:r>
            <a:r>
              <a:rPr lang="zh-CN" altLang="en-US"/>
              <a:t>模型 </a:t>
            </a:r>
            <a:r>
              <a:rPr lang="en-US" altLang="zh-CN"/>
              <a:t>(</a:t>
            </a:r>
            <a:r>
              <a:rPr lang="zh-CN" altLang="en-US"/>
              <a:t>如 </a:t>
            </a:r>
            <a:r>
              <a:rPr lang="en-US" altLang="zh-CN" err="1"/>
              <a:t>MalConv</a:t>
            </a:r>
            <a:r>
              <a:rPr lang="en-US" altLang="zh-CN"/>
              <a:t>) </a:t>
            </a:r>
            <a:r>
              <a:rPr lang="zh-CN" altLang="en-US"/>
              <a:t>易受微小扰动误导。</a:t>
            </a:r>
            <a:endParaRPr lang="en-US" altLang="zh-CN"/>
          </a:p>
          <a:p>
            <a:pPr marL="742950" lvl="1" indent="-285750">
              <a:buFont typeface="Arial" panose="020B0604020202020204" pitchFamily="34" charset="0"/>
              <a:buChar char="•"/>
            </a:pPr>
            <a:r>
              <a:rPr lang="zh-CN" altLang="en-US"/>
              <a:t>功能保持难题</a:t>
            </a:r>
            <a:r>
              <a:rPr lang="en-US" altLang="zh-CN"/>
              <a:t>: </a:t>
            </a:r>
            <a:r>
              <a:rPr lang="zh-CN" altLang="en-US"/>
              <a:t>传统“文件末尾追加”攻击易破坏结构或改变大小，隐蔽性差。</a:t>
            </a:r>
            <a:endParaRPr lang="en-US" altLang="zh-CN"/>
          </a:p>
          <a:p>
            <a:pPr marL="285750" indent="-285750">
              <a:buFont typeface="Arial" panose="020B0604020202020204" pitchFamily="34" charset="0"/>
              <a:buChar char="•"/>
            </a:pPr>
            <a:r>
              <a:rPr lang="en-US" altLang="zh-CN"/>
              <a:t>Method</a:t>
            </a:r>
            <a:endParaRPr lang="en-US" altLang="zh-CN"/>
          </a:p>
          <a:p>
            <a:pPr marL="742950" lvl="1" indent="-285750">
              <a:buFont typeface="Arial" panose="020B0604020202020204" pitchFamily="34" charset="0"/>
              <a:buChar char="•"/>
            </a:pPr>
            <a:r>
              <a:rPr lang="zh-CN" altLang="en-US"/>
              <a:t>攻击面定位</a:t>
            </a:r>
            <a:r>
              <a:rPr lang="en-US" altLang="zh-CN"/>
              <a:t>: </a:t>
            </a:r>
            <a:r>
              <a:rPr lang="zh-CN" altLang="en-US"/>
              <a:t>锁定 </a:t>
            </a:r>
            <a:r>
              <a:rPr lang="en-US" altLang="zh-CN"/>
              <a:t>ELF </a:t>
            </a:r>
            <a:r>
              <a:rPr lang="zh-CN" altLang="en-US"/>
              <a:t>文件 </a:t>
            </a:r>
            <a:r>
              <a:rPr lang="en-US" altLang="zh-CN"/>
              <a:t>.data </a:t>
            </a:r>
            <a:r>
              <a:rPr lang="zh-CN" altLang="en-US"/>
              <a:t>段中的 </a:t>
            </a:r>
            <a:r>
              <a:rPr lang="en-US" altLang="zh-CN"/>
              <a:t>Code-Cave (</a:t>
            </a:r>
            <a:r>
              <a:rPr lang="zh-CN" altLang="en-US"/>
              <a:t>代码空洞</a:t>
            </a:r>
            <a:r>
              <a:rPr lang="en-US" altLang="zh-CN"/>
              <a:t>/</a:t>
            </a:r>
            <a:r>
              <a:rPr lang="zh-CN" altLang="en-US"/>
              <a:t>死区</a:t>
            </a:r>
            <a:r>
              <a:rPr lang="en-US" altLang="zh-CN"/>
              <a:t>)</a:t>
            </a:r>
            <a:r>
              <a:rPr lang="zh-CN" altLang="en-US"/>
              <a:t>。</a:t>
            </a:r>
            <a:endParaRPr lang="en-US" altLang="zh-CN"/>
          </a:p>
          <a:p>
            <a:pPr marL="742950" lvl="1" indent="-285750">
              <a:buFont typeface="Arial" panose="020B0604020202020204" pitchFamily="34" charset="0"/>
              <a:buChar char="•"/>
            </a:pPr>
            <a:r>
              <a:rPr lang="zh-CN" altLang="en-US"/>
              <a:t>梯度生成</a:t>
            </a:r>
            <a:r>
              <a:rPr lang="en-US" altLang="zh-CN"/>
              <a:t>: </a:t>
            </a:r>
            <a:r>
              <a:rPr lang="zh-CN" altLang="en-US"/>
              <a:t>基于 </a:t>
            </a:r>
            <a:r>
              <a:rPr lang="en-US" altLang="zh-CN"/>
              <a:t>FGSM </a:t>
            </a:r>
            <a:r>
              <a:rPr lang="zh-CN" altLang="en-US"/>
              <a:t>算法计算最优对抗扰动。</a:t>
            </a:r>
            <a:endParaRPr lang="en-US" altLang="zh-CN"/>
          </a:p>
          <a:p>
            <a:pPr marL="742950" lvl="1" indent="-285750">
              <a:buFont typeface="Arial" panose="020B0604020202020204" pitchFamily="34" charset="0"/>
              <a:buChar char="•"/>
            </a:pPr>
            <a:r>
              <a:rPr lang="zh-CN" altLang="en-US"/>
              <a:t>内部注入</a:t>
            </a:r>
            <a:r>
              <a:rPr lang="en-US" altLang="zh-CN"/>
              <a:t>: </a:t>
            </a:r>
            <a:r>
              <a:rPr lang="zh-CN" altLang="en-US"/>
              <a:t>在空洞处填入恶意载荷，不增加文件体积，维持功能完整。</a:t>
            </a:r>
            <a:endParaRPr lang="en-US" altLang="zh-CN"/>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GB" altLang="zh-CN" dirty="0"/>
              <a:t>PBP: Post-training Backdoor Purification for Malware Classifiers</a:t>
            </a:r>
            <a:r>
              <a:rPr lang="zh-CN" altLang="en-GB" dirty="0"/>
              <a:t>（</a:t>
            </a:r>
            <a:r>
              <a:rPr lang="en-GB" altLang="zh-CN" dirty="0"/>
              <a:t>NDSS</a:t>
            </a:r>
            <a:r>
              <a:rPr lang="en-US" altLang="zh-CN" dirty="0"/>
              <a:t>`</a:t>
            </a:r>
            <a:r>
              <a:rPr lang="en-GB" altLang="zh-CN" dirty="0"/>
              <a:t>25</a:t>
            </a:r>
            <a:r>
              <a:rPr lang="zh-CN" altLang="en-GB" dirty="0"/>
              <a:t>）</a:t>
            </a:r>
            <a:endParaRPr lang="zh-CN" altLang="en-GB" dirty="0"/>
          </a:p>
        </p:txBody>
      </p:sp>
      <p:sp>
        <p:nvSpPr>
          <p:cNvPr id="15" name="文本框 14"/>
          <p:cNvSpPr txBox="1"/>
          <p:nvPr/>
        </p:nvSpPr>
        <p:spPr>
          <a:xfrm>
            <a:off x="835306" y="1608624"/>
            <a:ext cx="10261061" cy="2308324"/>
          </a:xfrm>
          <a:prstGeom prst="rect">
            <a:avLst/>
          </a:prstGeom>
          <a:noFill/>
        </p:spPr>
        <p:txBody>
          <a:bodyPr wrap="square">
            <a:spAutoFit/>
          </a:bodyPr>
          <a:lstStyle/>
          <a:p>
            <a:pPr marL="285750" indent="-285750">
              <a:buFont typeface="Arial" panose="020B0604020202020204" pitchFamily="34" charset="0"/>
              <a:buChar char="•"/>
            </a:pPr>
            <a:r>
              <a:rPr lang="en-GB" altLang="zh-CN"/>
              <a:t>Motivation </a:t>
            </a:r>
            <a:endParaRPr lang="en-GB" altLang="zh-CN"/>
          </a:p>
          <a:p>
            <a:pPr marL="742950" lvl="1" indent="-285750">
              <a:buFont typeface="Arial" panose="020B0604020202020204" pitchFamily="34" charset="0"/>
              <a:buChar char="•"/>
            </a:pPr>
            <a:r>
              <a:rPr lang="zh-CN" altLang="en-US"/>
              <a:t>场景痛点</a:t>
            </a:r>
            <a:r>
              <a:rPr lang="en-US" altLang="zh-CN"/>
              <a:t>: </a:t>
            </a:r>
            <a:r>
              <a:rPr lang="zh-CN" altLang="en-US"/>
              <a:t>用户仅获已训练模型 </a:t>
            </a:r>
            <a:r>
              <a:rPr lang="en-US" altLang="zh-CN"/>
              <a:t>(</a:t>
            </a:r>
            <a:r>
              <a:rPr lang="en-GB" altLang="zh-CN" err="1"/>
              <a:t>MLaaS</a:t>
            </a:r>
            <a:r>
              <a:rPr lang="en-GB" altLang="zh-CN"/>
              <a:t>)</a:t>
            </a:r>
            <a:r>
              <a:rPr lang="zh-CN" altLang="en-GB"/>
              <a:t>，</a:t>
            </a:r>
            <a:r>
              <a:rPr lang="zh-CN" altLang="en-US"/>
              <a:t>无法访问训练数据，现有防御失效。</a:t>
            </a:r>
            <a:endParaRPr lang="en-US" altLang="zh-CN"/>
          </a:p>
          <a:p>
            <a:pPr marL="742950" lvl="1" indent="-285750">
              <a:buFont typeface="Arial" panose="020B0604020202020204" pitchFamily="34" charset="0"/>
              <a:buChar char="•"/>
            </a:pPr>
            <a:r>
              <a:rPr lang="zh-CN" altLang="en-US"/>
              <a:t>核心洞察</a:t>
            </a:r>
            <a:r>
              <a:rPr lang="en-US" altLang="zh-CN"/>
              <a:t>: </a:t>
            </a:r>
            <a:r>
              <a:rPr lang="zh-CN" altLang="en-US"/>
              <a:t>后门触发会导致神经元激活分布发生漂移 </a:t>
            </a:r>
            <a:r>
              <a:rPr lang="en-US" altLang="zh-CN"/>
              <a:t>(</a:t>
            </a:r>
            <a:r>
              <a:rPr lang="en-GB" altLang="zh-CN"/>
              <a:t>Distribution Shift)</a:t>
            </a:r>
            <a:r>
              <a:rPr lang="zh-CN" altLang="en-US"/>
              <a:t>。</a:t>
            </a:r>
            <a:endParaRPr lang="en-US" altLang="zh-CN"/>
          </a:p>
          <a:p>
            <a:pPr marL="285750" indent="-285750">
              <a:buFont typeface="Arial" panose="020B0604020202020204" pitchFamily="34" charset="0"/>
              <a:buChar char="•"/>
            </a:pPr>
            <a:r>
              <a:rPr lang="en-GB" altLang="zh-CN"/>
              <a:t>Method (PBP</a:t>
            </a:r>
            <a:r>
              <a:rPr lang="zh-CN" altLang="en-US"/>
              <a:t>框架</a:t>
            </a:r>
            <a:r>
              <a:rPr lang="en-US" altLang="zh-CN"/>
              <a:t>) </a:t>
            </a:r>
            <a:endParaRPr lang="en-US" altLang="zh-CN"/>
          </a:p>
          <a:p>
            <a:pPr marL="742950" lvl="1" indent="-285750">
              <a:buFont typeface="Arial" panose="020B0604020202020204" pitchFamily="34" charset="0"/>
              <a:buChar char="•"/>
            </a:pPr>
            <a:r>
              <a:rPr lang="zh-CN" altLang="en-US"/>
              <a:t>极低依赖</a:t>
            </a:r>
            <a:r>
              <a:rPr lang="en-US" altLang="zh-CN"/>
              <a:t>: </a:t>
            </a:r>
            <a:r>
              <a:rPr lang="zh-CN" altLang="en-US"/>
              <a:t>仅需 </a:t>
            </a:r>
            <a:r>
              <a:rPr lang="en-US" altLang="zh-CN"/>
              <a:t>1% </a:t>
            </a:r>
            <a:r>
              <a:rPr lang="zh-CN" altLang="en-US"/>
              <a:t>清洁数据，无需知晓攻击类型。 </a:t>
            </a:r>
            <a:endParaRPr lang="en-US" altLang="zh-CN"/>
          </a:p>
          <a:p>
            <a:pPr marL="742950" lvl="1" indent="-285750">
              <a:buFont typeface="Arial" panose="020B0604020202020204" pitchFamily="34" charset="0"/>
              <a:buChar char="•"/>
            </a:pPr>
            <a:r>
              <a:rPr lang="zh-CN" altLang="en-US"/>
              <a:t>两阶段净化</a:t>
            </a:r>
            <a:r>
              <a:rPr lang="en-US" altLang="zh-CN"/>
              <a:t>: </a:t>
            </a:r>
            <a:endParaRPr lang="en-US" altLang="zh-CN"/>
          </a:p>
          <a:p>
            <a:pPr marL="1200150" lvl="2" indent="-285750">
              <a:buFont typeface="Arial" panose="020B0604020202020204" pitchFamily="34" charset="0"/>
              <a:buChar char="•"/>
            </a:pPr>
            <a:r>
              <a:rPr lang="zh-CN" altLang="en-US"/>
              <a:t>掩码生成</a:t>
            </a:r>
            <a:r>
              <a:rPr lang="en-US" altLang="zh-CN"/>
              <a:t>: </a:t>
            </a:r>
            <a:r>
              <a:rPr lang="zh-CN" altLang="en-US"/>
              <a:t>基于梯度追踪 </a:t>
            </a:r>
            <a:r>
              <a:rPr lang="en-US" altLang="zh-CN"/>
              <a:t>(</a:t>
            </a:r>
            <a:r>
              <a:rPr lang="en-GB" altLang="zh-CN"/>
              <a:t>Gradient Trace) </a:t>
            </a:r>
            <a:r>
              <a:rPr lang="zh-CN" altLang="en-US"/>
              <a:t>定位异常神经元。</a:t>
            </a:r>
            <a:endParaRPr lang="en-US" altLang="zh-CN"/>
          </a:p>
          <a:p>
            <a:pPr marL="1200150" lvl="2" indent="-285750">
              <a:buFont typeface="Arial" panose="020B0604020202020204" pitchFamily="34" charset="0"/>
              <a:buChar char="•"/>
            </a:pPr>
            <a:r>
              <a:rPr lang="zh-CN" altLang="en-US"/>
              <a:t>激活偏移</a:t>
            </a:r>
            <a:r>
              <a:rPr lang="en-US" altLang="zh-CN"/>
              <a:t>: </a:t>
            </a:r>
            <a:r>
              <a:rPr lang="zh-CN" altLang="en-US"/>
              <a:t>调整 </a:t>
            </a:r>
            <a:r>
              <a:rPr lang="en-GB" altLang="zh-CN"/>
              <a:t>BN </a:t>
            </a:r>
            <a:r>
              <a:rPr lang="zh-CN" altLang="en-US"/>
              <a:t>统计量 </a:t>
            </a:r>
            <a:r>
              <a:rPr lang="en-US" altLang="zh-CN"/>
              <a:t>+ </a:t>
            </a:r>
            <a:r>
              <a:rPr lang="zh-CN" altLang="en-US"/>
              <a:t>反转梯度符号 </a:t>
            </a:r>
            <a:r>
              <a:rPr lang="en-US" altLang="zh-CN"/>
              <a:t>(</a:t>
            </a:r>
            <a:r>
              <a:rPr lang="en-GB" altLang="zh-CN"/>
              <a:t>Gradient Reversal) </a:t>
            </a:r>
            <a:r>
              <a:rPr lang="zh-CN" altLang="en-US"/>
              <a:t>消除后门。 </a:t>
            </a:r>
            <a:endParaRPr lang="en-US" altLang="zh-CN"/>
          </a:p>
        </p:txBody>
      </p:sp>
      <p:pic>
        <p:nvPicPr>
          <p:cNvPr id="5" name="图片 4"/>
          <p:cNvPicPr>
            <a:picLocks noChangeAspect="1"/>
          </p:cNvPicPr>
          <p:nvPr/>
        </p:nvPicPr>
        <p:blipFill>
          <a:blip r:embed="rId1"/>
          <a:stretch>
            <a:fillRect/>
          </a:stretch>
        </p:blipFill>
        <p:spPr>
          <a:xfrm>
            <a:off x="3921281" y="3863583"/>
            <a:ext cx="7978277" cy="2994417"/>
          </a:xfrm>
          <a:prstGeom prst="rect">
            <a:avLst/>
          </a:prstGeom>
        </p:spPr>
      </p:pic>
      <p:sp>
        <p:nvSpPr>
          <p:cNvPr id="8" name="文本框 7"/>
          <p:cNvSpPr txBox="1"/>
          <p:nvPr/>
        </p:nvSpPr>
        <p:spPr>
          <a:xfrm>
            <a:off x="835306" y="4042628"/>
            <a:ext cx="3143571" cy="1754326"/>
          </a:xfrm>
          <a:prstGeom prst="rect">
            <a:avLst/>
          </a:prstGeom>
          <a:noFill/>
        </p:spPr>
        <p:txBody>
          <a:bodyPr wrap="square">
            <a:spAutoFit/>
          </a:bodyPr>
          <a:lstStyle/>
          <a:p>
            <a:pPr marL="285750" indent="-285750">
              <a:buFont typeface="Arial" panose="020B0604020202020204" pitchFamily="34" charset="0"/>
              <a:buChar char="•"/>
            </a:pPr>
            <a:r>
              <a:rPr lang="zh-CN" altLang="en-US"/>
              <a:t>效果显著</a:t>
            </a:r>
            <a:r>
              <a:rPr lang="en-US" altLang="zh-CN"/>
              <a:t>: </a:t>
            </a:r>
            <a:r>
              <a:rPr lang="zh-CN" altLang="en-US"/>
              <a:t>攻击成功率 </a:t>
            </a:r>
            <a:r>
              <a:rPr lang="en-US" altLang="zh-CN"/>
              <a:t>(</a:t>
            </a:r>
            <a:r>
              <a:rPr lang="en-GB" altLang="zh-CN"/>
              <a:t>ASR) </a:t>
            </a:r>
            <a:r>
              <a:rPr lang="zh-CN" altLang="en-US"/>
              <a:t>从 </a:t>
            </a:r>
            <a:r>
              <a:rPr lang="en-US" altLang="zh-CN"/>
              <a:t>100% </a:t>
            </a:r>
            <a:r>
              <a:rPr lang="zh-CN" altLang="en-US"/>
              <a:t>降至 </a:t>
            </a:r>
            <a:r>
              <a:rPr lang="en-US" altLang="zh-CN"/>
              <a:t>~0% (</a:t>
            </a:r>
            <a:r>
              <a:rPr lang="zh-CN" altLang="en-US"/>
              <a:t>百倍提升</a:t>
            </a:r>
            <a:r>
              <a:rPr lang="en-US" altLang="zh-CN"/>
              <a:t>)</a:t>
            </a:r>
            <a:r>
              <a:rPr lang="zh-CN" altLang="en-US"/>
              <a:t>。</a:t>
            </a:r>
            <a:endParaRPr lang="en-US" altLang="zh-CN"/>
          </a:p>
          <a:p>
            <a:pPr marL="285750" indent="-285750">
              <a:buFont typeface="Arial" panose="020B0604020202020204" pitchFamily="34" charset="0"/>
              <a:buChar char="•"/>
            </a:pPr>
            <a:r>
              <a:rPr lang="zh-CN" altLang="en-US"/>
              <a:t>对抗 </a:t>
            </a:r>
            <a:r>
              <a:rPr lang="en-GB" altLang="zh-CN"/>
              <a:t>SOTA: </a:t>
            </a:r>
            <a:r>
              <a:rPr lang="zh-CN" altLang="en-US"/>
              <a:t>成功防御 </a:t>
            </a:r>
            <a:r>
              <a:rPr lang="en-GB" altLang="zh-CN"/>
              <a:t>Jigsaw Puzzle </a:t>
            </a:r>
            <a:r>
              <a:rPr lang="zh-CN" altLang="en-US"/>
              <a:t>等高隐蔽性攻击 </a:t>
            </a:r>
            <a:r>
              <a:rPr lang="en-US" altLang="zh-CN"/>
              <a:t>(</a:t>
            </a:r>
            <a:r>
              <a:rPr lang="zh-CN" altLang="en-US"/>
              <a:t>传统微调对此失效</a:t>
            </a:r>
            <a:r>
              <a:rPr lang="en-US" altLang="zh-CN"/>
              <a:t>)</a:t>
            </a:r>
            <a:r>
              <a:rPr lang="zh-CN" altLang="en-US"/>
              <a:t>。 </a:t>
            </a:r>
            <a:endParaRPr lang="en-US" altLang="zh-C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685930" y="600842"/>
            <a:ext cx="6820137" cy="461665"/>
          </a:xfrm>
          <a:prstGeom prst="rect">
            <a:avLst/>
          </a:prstGeom>
          <a:noFill/>
        </p:spPr>
        <p:txBody>
          <a:bodyPr wrap="none" rtlCol="0">
            <a:spAutoFit/>
          </a:bodyPr>
          <a:lstStyle/>
          <a:p>
            <a:r>
              <a:rPr lang="zh-CN" altLang="en-US" sz="2400" b="1">
                <a:solidFill>
                  <a:srgbClr val="5C307D"/>
                </a:solidFill>
              </a:rPr>
              <a:t>判别式 </a:t>
            </a:r>
            <a:r>
              <a:rPr lang="en-US" altLang="zh-CN" sz="2400" b="1">
                <a:solidFill>
                  <a:srgbClr val="5C307D"/>
                </a:solidFill>
              </a:rPr>
              <a:t>AI </a:t>
            </a:r>
            <a:r>
              <a:rPr lang="zh-CN" altLang="en-US" sz="2400" b="1">
                <a:solidFill>
                  <a:srgbClr val="5C307D"/>
                </a:solidFill>
              </a:rPr>
              <a:t>与表征学习：恶意软件检测研究对比表</a:t>
            </a:r>
            <a:endParaRPr lang="zh-CN" altLang="en-US" sz="2400" b="1">
              <a:solidFill>
                <a:srgbClr val="5C307D"/>
              </a:solidFill>
            </a:endParaRPr>
          </a:p>
        </p:txBody>
      </p:sp>
      <p:graphicFrame>
        <p:nvGraphicFramePr>
          <p:cNvPr id="7" name="表格 6"/>
          <p:cNvGraphicFramePr>
            <a:graphicFrameLocks noGrp="1"/>
          </p:cNvGraphicFramePr>
          <p:nvPr/>
        </p:nvGraphicFramePr>
        <p:xfrm>
          <a:off x="651641" y="1234967"/>
          <a:ext cx="11025352" cy="4561647"/>
        </p:xfrm>
        <a:graphic>
          <a:graphicData uri="http://schemas.openxmlformats.org/drawingml/2006/table">
            <a:tbl>
              <a:tblPr firstRow="1"/>
              <a:tblGrid>
                <a:gridCol w="2220760"/>
                <a:gridCol w="2096770"/>
                <a:gridCol w="2096770"/>
                <a:gridCol w="2377604"/>
                <a:gridCol w="2233448"/>
              </a:tblGrid>
              <a:tr h="203280">
                <a:tc>
                  <a:txBody>
                    <a:bodyPr/>
                    <a:lstStyle>
                      <a:defPPr>
                        <a:defRPr lang="en-US" b="1" i="0" u="none">
                          <a:solidFill>
                            <a:srgbClr val="5B3478"/>
                          </a:solidFill>
                        </a:defRPr>
                      </a:defPPr>
                      <a:lvl1pPr marL="0" algn="l" defTabSz="456565" rtl="0" eaLnBrk="1" latinLnBrk="0" hangingPunct="1">
                        <a:defRPr sz="1800" b="1" i="0" u="none" kern="1200">
                          <a:solidFill>
                            <a:srgbClr val="5B3478"/>
                          </a:solidFill>
                          <a:latin typeface="+mn-lt"/>
                          <a:ea typeface="+mn-ea"/>
                          <a:cs typeface="+mn-cs"/>
                        </a:defRPr>
                      </a:lvl1pPr>
                      <a:lvl2pPr marL="457200" algn="l" defTabSz="456565" rtl="0" eaLnBrk="1" latinLnBrk="0" hangingPunct="1">
                        <a:defRPr sz="1800" b="1" i="0" u="none" kern="1200">
                          <a:solidFill>
                            <a:srgbClr val="5B3478"/>
                          </a:solidFill>
                          <a:latin typeface="+mn-lt"/>
                          <a:ea typeface="+mn-ea"/>
                          <a:cs typeface="+mn-cs"/>
                        </a:defRPr>
                      </a:lvl2pPr>
                      <a:lvl3pPr marL="914400" algn="l" defTabSz="456565" rtl="0" eaLnBrk="1" latinLnBrk="0" hangingPunct="1">
                        <a:defRPr sz="1800" b="1" i="0" u="none" kern="1200">
                          <a:solidFill>
                            <a:srgbClr val="5B3478"/>
                          </a:solidFill>
                          <a:latin typeface="+mn-lt"/>
                          <a:ea typeface="+mn-ea"/>
                          <a:cs typeface="+mn-cs"/>
                        </a:defRPr>
                      </a:lvl3pPr>
                      <a:lvl4pPr marL="1371600" algn="l" defTabSz="456565" rtl="0" eaLnBrk="1" latinLnBrk="0" hangingPunct="1">
                        <a:defRPr sz="1800" b="1" i="0" u="none" kern="1200">
                          <a:solidFill>
                            <a:srgbClr val="5B3478"/>
                          </a:solidFill>
                          <a:latin typeface="+mn-lt"/>
                          <a:ea typeface="+mn-ea"/>
                          <a:cs typeface="+mn-cs"/>
                        </a:defRPr>
                      </a:lvl4pPr>
                      <a:lvl5pPr marL="1828800" algn="l" defTabSz="456565" rtl="0" eaLnBrk="1" latinLnBrk="0" hangingPunct="1">
                        <a:defRPr sz="1800" b="1" i="0" u="none" kern="1200">
                          <a:solidFill>
                            <a:srgbClr val="5B3478"/>
                          </a:solidFill>
                          <a:latin typeface="+mn-lt"/>
                          <a:ea typeface="+mn-ea"/>
                          <a:cs typeface="+mn-cs"/>
                        </a:defRPr>
                      </a:lvl5pPr>
                      <a:lvl6pPr marL="2286000" algn="l" defTabSz="456565" rtl="0" eaLnBrk="1" latinLnBrk="0" hangingPunct="1">
                        <a:defRPr sz="1800" b="1" i="0" u="none" kern="1200">
                          <a:solidFill>
                            <a:srgbClr val="5B3478"/>
                          </a:solidFill>
                          <a:latin typeface="+mn-lt"/>
                          <a:ea typeface="+mn-ea"/>
                          <a:cs typeface="+mn-cs"/>
                        </a:defRPr>
                      </a:lvl6pPr>
                      <a:lvl7pPr marL="2743200" algn="l" defTabSz="456565" rtl="0" eaLnBrk="1" latinLnBrk="0" hangingPunct="1">
                        <a:defRPr sz="1800" b="1" i="0" u="none" kern="1200">
                          <a:solidFill>
                            <a:srgbClr val="5B3478"/>
                          </a:solidFill>
                          <a:latin typeface="+mn-lt"/>
                          <a:ea typeface="+mn-ea"/>
                          <a:cs typeface="+mn-cs"/>
                        </a:defRPr>
                      </a:lvl7pPr>
                      <a:lvl8pPr marL="3200400" algn="l" defTabSz="456565" rtl="0" eaLnBrk="1" latinLnBrk="0" hangingPunct="1">
                        <a:defRPr sz="1800" b="1" i="0" u="none" kern="1200">
                          <a:solidFill>
                            <a:srgbClr val="5B3478"/>
                          </a:solidFill>
                          <a:latin typeface="+mn-lt"/>
                          <a:ea typeface="+mn-ea"/>
                          <a:cs typeface="+mn-cs"/>
                        </a:defRPr>
                      </a:lvl8pPr>
                      <a:lvl9pPr marL="3657600" algn="l" defTabSz="456565" rtl="0" eaLnBrk="1" latinLnBrk="0" hangingPunct="1">
                        <a:defRPr sz="1800" b="1" i="0" u="none" kern="1200">
                          <a:solidFill>
                            <a:srgbClr val="5B3478"/>
                          </a:solidFill>
                          <a:latin typeface="+mn-lt"/>
                          <a:ea typeface="+mn-ea"/>
                          <a:cs typeface="+mn-cs"/>
                        </a:defRPr>
                      </a:lvl9pPr>
                    </a:lstStyle>
                    <a:p>
                      <a:pPr marL="0" indent="0" algn="ctr">
                        <a:lnSpc>
                          <a:spcPct val="120000"/>
                        </a:lnSpc>
                        <a:spcBef>
                          <a:spcPct val="0"/>
                        </a:spcBef>
                        <a:spcAft>
                          <a:spcPct val="0"/>
                        </a:spcAft>
                      </a:pPr>
                      <a:r>
                        <a:rPr lang="zh-CN" altLang="en-US" sz="1400"/>
                        <a:t>论文标题</a:t>
                      </a:r>
                      <a:endParaRPr lang="zh-CN" altLang="en-US" sz="1400"/>
                    </a:p>
                  </a:txBody>
                  <a:tcPr marL="86042" marR="86042" marT="57467" marB="5746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defPPr>
                        <a:defRPr lang="en-US" b="1" i="0" u="none">
                          <a:solidFill>
                            <a:srgbClr val="5B3478"/>
                          </a:solidFill>
                        </a:defRPr>
                      </a:defPPr>
                      <a:lvl1pPr marL="0" algn="l" defTabSz="456565" rtl="0" eaLnBrk="1" latinLnBrk="0" hangingPunct="1">
                        <a:defRPr sz="1800" b="1" i="0" u="none" kern="1200">
                          <a:solidFill>
                            <a:srgbClr val="5B3478"/>
                          </a:solidFill>
                          <a:latin typeface="+mn-lt"/>
                          <a:ea typeface="+mn-ea"/>
                          <a:cs typeface="+mn-cs"/>
                        </a:defRPr>
                      </a:lvl1pPr>
                      <a:lvl2pPr marL="457200" algn="l" defTabSz="456565" rtl="0" eaLnBrk="1" latinLnBrk="0" hangingPunct="1">
                        <a:defRPr sz="1800" b="1" i="0" u="none" kern="1200">
                          <a:solidFill>
                            <a:srgbClr val="5B3478"/>
                          </a:solidFill>
                          <a:latin typeface="+mn-lt"/>
                          <a:ea typeface="+mn-ea"/>
                          <a:cs typeface="+mn-cs"/>
                        </a:defRPr>
                      </a:lvl2pPr>
                      <a:lvl3pPr marL="914400" algn="l" defTabSz="456565" rtl="0" eaLnBrk="1" latinLnBrk="0" hangingPunct="1">
                        <a:defRPr sz="1800" b="1" i="0" u="none" kern="1200">
                          <a:solidFill>
                            <a:srgbClr val="5B3478"/>
                          </a:solidFill>
                          <a:latin typeface="+mn-lt"/>
                          <a:ea typeface="+mn-ea"/>
                          <a:cs typeface="+mn-cs"/>
                        </a:defRPr>
                      </a:lvl3pPr>
                      <a:lvl4pPr marL="1371600" algn="l" defTabSz="456565" rtl="0" eaLnBrk="1" latinLnBrk="0" hangingPunct="1">
                        <a:defRPr sz="1800" b="1" i="0" u="none" kern="1200">
                          <a:solidFill>
                            <a:srgbClr val="5B3478"/>
                          </a:solidFill>
                          <a:latin typeface="+mn-lt"/>
                          <a:ea typeface="+mn-ea"/>
                          <a:cs typeface="+mn-cs"/>
                        </a:defRPr>
                      </a:lvl4pPr>
                      <a:lvl5pPr marL="1828800" algn="l" defTabSz="456565" rtl="0" eaLnBrk="1" latinLnBrk="0" hangingPunct="1">
                        <a:defRPr sz="1800" b="1" i="0" u="none" kern="1200">
                          <a:solidFill>
                            <a:srgbClr val="5B3478"/>
                          </a:solidFill>
                          <a:latin typeface="+mn-lt"/>
                          <a:ea typeface="+mn-ea"/>
                          <a:cs typeface="+mn-cs"/>
                        </a:defRPr>
                      </a:lvl5pPr>
                      <a:lvl6pPr marL="2286000" algn="l" defTabSz="456565" rtl="0" eaLnBrk="1" latinLnBrk="0" hangingPunct="1">
                        <a:defRPr sz="1800" b="1" i="0" u="none" kern="1200">
                          <a:solidFill>
                            <a:srgbClr val="5B3478"/>
                          </a:solidFill>
                          <a:latin typeface="+mn-lt"/>
                          <a:ea typeface="+mn-ea"/>
                          <a:cs typeface="+mn-cs"/>
                        </a:defRPr>
                      </a:lvl6pPr>
                      <a:lvl7pPr marL="2743200" algn="l" defTabSz="456565" rtl="0" eaLnBrk="1" latinLnBrk="0" hangingPunct="1">
                        <a:defRPr sz="1800" b="1" i="0" u="none" kern="1200">
                          <a:solidFill>
                            <a:srgbClr val="5B3478"/>
                          </a:solidFill>
                          <a:latin typeface="+mn-lt"/>
                          <a:ea typeface="+mn-ea"/>
                          <a:cs typeface="+mn-cs"/>
                        </a:defRPr>
                      </a:lvl7pPr>
                      <a:lvl8pPr marL="3200400" algn="l" defTabSz="456565" rtl="0" eaLnBrk="1" latinLnBrk="0" hangingPunct="1">
                        <a:defRPr sz="1800" b="1" i="0" u="none" kern="1200">
                          <a:solidFill>
                            <a:srgbClr val="5B3478"/>
                          </a:solidFill>
                          <a:latin typeface="+mn-lt"/>
                          <a:ea typeface="+mn-ea"/>
                          <a:cs typeface="+mn-cs"/>
                        </a:defRPr>
                      </a:lvl8pPr>
                      <a:lvl9pPr marL="3657600" algn="l" defTabSz="456565" rtl="0" eaLnBrk="1" latinLnBrk="0" hangingPunct="1">
                        <a:defRPr sz="1800" b="1" i="0" u="none" kern="1200">
                          <a:solidFill>
                            <a:srgbClr val="5B3478"/>
                          </a:solidFill>
                          <a:latin typeface="+mn-lt"/>
                          <a:ea typeface="+mn-ea"/>
                          <a:cs typeface="+mn-cs"/>
                        </a:defRPr>
                      </a:lvl9pPr>
                    </a:lstStyle>
                    <a:p>
                      <a:pPr marL="0" indent="0" algn="ctr">
                        <a:lnSpc>
                          <a:spcPct val="120000"/>
                        </a:lnSpc>
                        <a:spcBef>
                          <a:spcPct val="0"/>
                        </a:spcBef>
                        <a:spcAft>
                          <a:spcPct val="0"/>
                        </a:spcAft>
                      </a:pPr>
                      <a:r>
                        <a:rPr lang="zh-CN" altLang="en-US" sz="1400"/>
                        <a:t>核心问题</a:t>
                      </a:r>
                      <a:endParaRPr lang="zh-CN" altLang="en-US" sz="1400"/>
                    </a:p>
                  </a:txBody>
                  <a:tcPr marL="86042" marR="86042" marT="57467" marB="5746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defPPr>
                        <a:defRPr lang="en-US" b="1" i="0" u="none">
                          <a:solidFill>
                            <a:srgbClr val="5B3478"/>
                          </a:solidFill>
                        </a:defRPr>
                      </a:defPPr>
                      <a:lvl1pPr marL="0" algn="l" defTabSz="456565" rtl="0" eaLnBrk="1" latinLnBrk="0" hangingPunct="1">
                        <a:defRPr sz="1800" b="1" i="0" u="none" kern="1200">
                          <a:solidFill>
                            <a:srgbClr val="5B3478"/>
                          </a:solidFill>
                          <a:latin typeface="+mn-lt"/>
                          <a:ea typeface="+mn-ea"/>
                          <a:cs typeface="+mn-cs"/>
                        </a:defRPr>
                      </a:lvl1pPr>
                      <a:lvl2pPr marL="457200" algn="l" defTabSz="456565" rtl="0" eaLnBrk="1" latinLnBrk="0" hangingPunct="1">
                        <a:defRPr sz="1800" b="1" i="0" u="none" kern="1200">
                          <a:solidFill>
                            <a:srgbClr val="5B3478"/>
                          </a:solidFill>
                          <a:latin typeface="+mn-lt"/>
                          <a:ea typeface="+mn-ea"/>
                          <a:cs typeface="+mn-cs"/>
                        </a:defRPr>
                      </a:lvl2pPr>
                      <a:lvl3pPr marL="914400" algn="l" defTabSz="456565" rtl="0" eaLnBrk="1" latinLnBrk="0" hangingPunct="1">
                        <a:defRPr sz="1800" b="1" i="0" u="none" kern="1200">
                          <a:solidFill>
                            <a:srgbClr val="5B3478"/>
                          </a:solidFill>
                          <a:latin typeface="+mn-lt"/>
                          <a:ea typeface="+mn-ea"/>
                          <a:cs typeface="+mn-cs"/>
                        </a:defRPr>
                      </a:lvl3pPr>
                      <a:lvl4pPr marL="1371600" algn="l" defTabSz="456565" rtl="0" eaLnBrk="1" latinLnBrk="0" hangingPunct="1">
                        <a:defRPr sz="1800" b="1" i="0" u="none" kern="1200">
                          <a:solidFill>
                            <a:srgbClr val="5B3478"/>
                          </a:solidFill>
                          <a:latin typeface="+mn-lt"/>
                          <a:ea typeface="+mn-ea"/>
                          <a:cs typeface="+mn-cs"/>
                        </a:defRPr>
                      </a:lvl4pPr>
                      <a:lvl5pPr marL="1828800" algn="l" defTabSz="456565" rtl="0" eaLnBrk="1" latinLnBrk="0" hangingPunct="1">
                        <a:defRPr sz="1800" b="1" i="0" u="none" kern="1200">
                          <a:solidFill>
                            <a:srgbClr val="5B3478"/>
                          </a:solidFill>
                          <a:latin typeface="+mn-lt"/>
                          <a:ea typeface="+mn-ea"/>
                          <a:cs typeface="+mn-cs"/>
                        </a:defRPr>
                      </a:lvl5pPr>
                      <a:lvl6pPr marL="2286000" algn="l" defTabSz="456565" rtl="0" eaLnBrk="1" latinLnBrk="0" hangingPunct="1">
                        <a:defRPr sz="1800" b="1" i="0" u="none" kern="1200">
                          <a:solidFill>
                            <a:srgbClr val="5B3478"/>
                          </a:solidFill>
                          <a:latin typeface="+mn-lt"/>
                          <a:ea typeface="+mn-ea"/>
                          <a:cs typeface="+mn-cs"/>
                        </a:defRPr>
                      </a:lvl6pPr>
                      <a:lvl7pPr marL="2743200" algn="l" defTabSz="456565" rtl="0" eaLnBrk="1" latinLnBrk="0" hangingPunct="1">
                        <a:defRPr sz="1800" b="1" i="0" u="none" kern="1200">
                          <a:solidFill>
                            <a:srgbClr val="5B3478"/>
                          </a:solidFill>
                          <a:latin typeface="+mn-lt"/>
                          <a:ea typeface="+mn-ea"/>
                          <a:cs typeface="+mn-cs"/>
                        </a:defRPr>
                      </a:lvl7pPr>
                      <a:lvl8pPr marL="3200400" algn="l" defTabSz="456565" rtl="0" eaLnBrk="1" latinLnBrk="0" hangingPunct="1">
                        <a:defRPr sz="1800" b="1" i="0" u="none" kern="1200">
                          <a:solidFill>
                            <a:srgbClr val="5B3478"/>
                          </a:solidFill>
                          <a:latin typeface="+mn-lt"/>
                          <a:ea typeface="+mn-ea"/>
                          <a:cs typeface="+mn-cs"/>
                        </a:defRPr>
                      </a:lvl8pPr>
                      <a:lvl9pPr marL="3657600" algn="l" defTabSz="456565" rtl="0" eaLnBrk="1" latinLnBrk="0" hangingPunct="1">
                        <a:defRPr sz="1800" b="1" i="0" u="none" kern="1200">
                          <a:solidFill>
                            <a:srgbClr val="5B3478"/>
                          </a:solidFill>
                          <a:latin typeface="+mn-lt"/>
                          <a:ea typeface="+mn-ea"/>
                          <a:cs typeface="+mn-cs"/>
                        </a:defRPr>
                      </a:lvl9pPr>
                    </a:lstStyle>
                    <a:p>
                      <a:pPr marL="0" indent="0" algn="ctr">
                        <a:lnSpc>
                          <a:spcPct val="120000"/>
                        </a:lnSpc>
                        <a:spcBef>
                          <a:spcPct val="0"/>
                        </a:spcBef>
                        <a:spcAft>
                          <a:spcPct val="0"/>
                        </a:spcAft>
                      </a:pPr>
                      <a:r>
                        <a:rPr lang="zh-CN" altLang="en-US" sz="1400"/>
                        <a:t>核心方法</a:t>
                      </a:r>
                      <a:endParaRPr lang="zh-CN" altLang="en-US" sz="1400"/>
                    </a:p>
                  </a:txBody>
                  <a:tcPr marL="86042" marR="86042" marT="57467" marB="5746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defPPr>
                        <a:defRPr lang="en-US" b="1" i="0" u="none">
                          <a:solidFill>
                            <a:srgbClr val="5B3478"/>
                          </a:solidFill>
                        </a:defRPr>
                      </a:defPPr>
                      <a:lvl1pPr marL="0" algn="l" defTabSz="456565" rtl="0" eaLnBrk="1" latinLnBrk="0" hangingPunct="1">
                        <a:defRPr sz="1800" b="1" i="0" u="none" kern="1200">
                          <a:solidFill>
                            <a:srgbClr val="5B3478"/>
                          </a:solidFill>
                          <a:latin typeface="+mn-lt"/>
                          <a:ea typeface="+mn-ea"/>
                          <a:cs typeface="+mn-cs"/>
                        </a:defRPr>
                      </a:lvl1pPr>
                      <a:lvl2pPr marL="457200" algn="l" defTabSz="456565" rtl="0" eaLnBrk="1" latinLnBrk="0" hangingPunct="1">
                        <a:defRPr sz="1800" b="1" i="0" u="none" kern="1200">
                          <a:solidFill>
                            <a:srgbClr val="5B3478"/>
                          </a:solidFill>
                          <a:latin typeface="+mn-lt"/>
                          <a:ea typeface="+mn-ea"/>
                          <a:cs typeface="+mn-cs"/>
                        </a:defRPr>
                      </a:lvl2pPr>
                      <a:lvl3pPr marL="914400" algn="l" defTabSz="456565" rtl="0" eaLnBrk="1" latinLnBrk="0" hangingPunct="1">
                        <a:defRPr sz="1800" b="1" i="0" u="none" kern="1200">
                          <a:solidFill>
                            <a:srgbClr val="5B3478"/>
                          </a:solidFill>
                          <a:latin typeface="+mn-lt"/>
                          <a:ea typeface="+mn-ea"/>
                          <a:cs typeface="+mn-cs"/>
                        </a:defRPr>
                      </a:lvl3pPr>
                      <a:lvl4pPr marL="1371600" algn="l" defTabSz="456565" rtl="0" eaLnBrk="1" latinLnBrk="0" hangingPunct="1">
                        <a:defRPr sz="1800" b="1" i="0" u="none" kern="1200">
                          <a:solidFill>
                            <a:srgbClr val="5B3478"/>
                          </a:solidFill>
                          <a:latin typeface="+mn-lt"/>
                          <a:ea typeface="+mn-ea"/>
                          <a:cs typeface="+mn-cs"/>
                        </a:defRPr>
                      </a:lvl4pPr>
                      <a:lvl5pPr marL="1828800" algn="l" defTabSz="456565" rtl="0" eaLnBrk="1" latinLnBrk="0" hangingPunct="1">
                        <a:defRPr sz="1800" b="1" i="0" u="none" kern="1200">
                          <a:solidFill>
                            <a:srgbClr val="5B3478"/>
                          </a:solidFill>
                          <a:latin typeface="+mn-lt"/>
                          <a:ea typeface="+mn-ea"/>
                          <a:cs typeface="+mn-cs"/>
                        </a:defRPr>
                      </a:lvl5pPr>
                      <a:lvl6pPr marL="2286000" algn="l" defTabSz="456565" rtl="0" eaLnBrk="1" latinLnBrk="0" hangingPunct="1">
                        <a:defRPr sz="1800" b="1" i="0" u="none" kern="1200">
                          <a:solidFill>
                            <a:srgbClr val="5B3478"/>
                          </a:solidFill>
                          <a:latin typeface="+mn-lt"/>
                          <a:ea typeface="+mn-ea"/>
                          <a:cs typeface="+mn-cs"/>
                        </a:defRPr>
                      </a:lvl6pPr>
                      <a:lvl7pPr marL="2743200" algn="l" defTabSz="456565" rtl="0" eaLnBrk="1" latinLnBrk="0" hangingPunct="1">
                        <a:defRPr sz="1800" b="1" i="0" u="none" kern="1200">
                          <a:solidFill>
                            <a:srgbClr val="5B3478"/>
                          </a:solidFill>
                          <a:latin typeface="+mn-lt"/>
                          <a:ea typeface="+mn-ea"/>
                          <a:cs typeface="+mn-cs"/>
                        </a:defRPr>
                      </a:lvl7pPr>
                      <a:lvl8pPr marL="3200400" algn="l" defTabSz="456565" rtl="0" eaLnBrk="1" latinLnBrk="0" hangingPunct="1">
                        <a:defRPr sz="1800" b="1" i="0" u="none" kern="1200">
                          <a:solidFill>
                            <a:srgbClr val="5B3478"/>
                          </a:solidFill>
                          <a:latin typeface="+mn-lt"/>
                          <a:ea typeface="+mn-ea"/>
                          <a:cs typeface="+mn-cs"/>
                        </a:defRPr>
                      </a:lvl8pPr>
                      <a:lvl9pPr marL="3657600" algn="l" defTabSz="456565" rtl="0" eaLnBrk="1" latinLnBrk="0" hangingPunct="1">
                        <a:defRPr sz="1800" b="1" i="0" u="none" kern="1200">
                          <a:solidFill>
                            <a:srgbClr val="5B3478"/>
                          </a:solidFill>
                          <a:latin typeface="+mn-lt"/>
                          <a:ea typeface="+mn-ea"/>
                          <a:cs typeface="+mn-cs"/>
                        </a:defRPr>
                      </a:lvl9pPr>
                    </a:lstStyle>
                    <a:p>
                      <a:pPr marL="0" indent="0" algn="ctr">
                        <a:lnSpc>
                          <a:spcPct val="120000"/>
                        </a:lnSpc>
                        <a:spcBef>
                          <a:spcPct val="0"/>
                        </a:spcBef>
                        <a:spcAft>
                          <a:spcPct val="0"/>
                        </a:spcAft>
                      </a:pPr>
                      <a:r>
                        <a:rPr lang="zh-CN" altLang="en-US" sz="1400"/>
                        <a:t>优势</a:t>
                      </a:r>
                      <a:endParaRPr lang="zh-CN" altLang="en-US" sz="1400"/>
                    </a:p>
                  </a:txBody>
                  <a:tcPr marL="86042" marR="86042" marT="57467" marB="5746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defPPr>
                        <a:defRPr lang="en-US" b="1" i="0" u="none">
                          <a:solidFill>
                            <a:srgbClr val="5B3478"/>
                          </a:solidFill>
                        </a:defRPr>
                      </a:defPPr>
                      <a:lvl1pPr marL="0" algn="l" defTabSz="456565" rtl="0" eaLnBrk="1" latinLnBrk="0" hangingPunct="1">
                        <a:defRPr sz="1800" b="1" i="0" u="none" kern="1200">
                          <a:solidFill>
                            <a:srgbClr val="5B3478"/>
                          </a:solidFill>
                          <a:latin typeface="+mn-lt"/>
                          <a:ea typeface="+mn-ea"/>
                          <a:cs typeface="+mn-cs"/>
                        </a:defRPr>
                      </a:lvl1pPr>
                      <a:lvl2pPr marL="457200" algn="l" defTabSz="456565" rtl="0" eaLnBrk="1" latinLnBrk="0" hangingPunct="1">
                        <a:defRPr sz="1800" b="1" i="0" u="none" kern="1200">
                          <a:solidFill>
                            <a:srgbClr val="5B3478"/>
                          </a:solidFill>
                          <a:latin typeface="+mn-lt"/>
                          <a:ea typeface="+mn-ea"/>
                          <a:cs typeface="+mn-cs"/>
                        </a:defRPr>
                      </a:lvl2pPr>
                      <a:lvl3pPr marL="914400" algn="l" defTabSz="456565" rtl="0" eaLnBrk="1" latinLnBrk="0" hangingPunct="1">
                        <a:defRPr sz="1800" b="1" i="0" u="none" kern="1200">
                          <a:solidFill>
                            <a:srgbClr val="5B3478"/>
                          </a:solidFill>
                          <a:latin typeface="+mn-lt"/>
                          <a:ea typeface="+mn-ea"/>
                          <a:cs typeface="+mn-cs"/>
                        </a:defRPr>
                      </a:lvl3pPr>
                      <a:lvl4pPr marL="1371600" algn="l" defTabSz="456565" rtl="0" eaLnBrk="1" latinLnBrk="0" hangingPunct="1">
                        <a:defRPr sz="1800" b="1" i="0" u="none" kern="1200">
                          <a:solidFill>
                            <a:srgbClr val="5B3478"/>
                          </a:solidFill>
                          <a:latin typeface="+mn-lt"/>
                          <a:ea typeface="+mn-ea"/>
                          <a:cs typeface="+mn-cs"/>
                        </a:defRPr>
                      </a:lvl4pPr>
                      <a:lvl5pPr marL="1828800" algn="l" defTabSz="456565" rtl="0" eaLnBrk="1" latinLnBrk="0" hangingPunct="1">
                        <a:defRPr sz="1800" b="1" i="0" u="none" kern="1200">
                          <a:solidFill>
                            <a:srgbClr val="5B3478"/>
                          </a:solidFill>
                          <a:latin typeface="+mn-lt"/>
                          <a:ea typeface="+mn-ea"/>
                          <a:cs typeface="+mn-cs"/>
                        </a:defRPr>
                      </a:lvl5pPr>
                      <a:lvl6pPr marL="2286000" algn="l" defTabSz="456565" rtl="0" eaLnBrk="1" latinLnBrk="0" hangingPunct="1">
                        <a:defRPr sz="1800" b="1" i="0" u="none" kern="1200">
                          <a:solidFill>
                            <a:srgbClr val="5B3478"/>
                          </a:solidFill>
                          <a:latin typeface="+mn-lt"/>
                          <a:ea typeface="+mn-ea"/>
                          <a:cs typeface="+mn-cs"/>
                        </a:defRPr>
                      </a:lvl6pPr>
                      <a:lvl7pPr marL="2743200" algn="l" defTabSz="456565" rtl="0" eaLnBrk="1" latinLnBrk="0" hangingPunct="1">
                        <a:defRPr sz="1800" b="1" i="0" u="none" kern="1200">
                          <a:solidFill>
                            <a:srgbClr val="5B3478"/>
                          </a:solidFill>
                          <a:latin typeface="+mn-lt"/>
                          <a:ea typeface="+mn-ea"/>
                          <a:cs typeface="+mn-cs"/>
                        </a:defRPr>
                      </a:lvl7pPr>
                      <a:lvl8pPr marL="3200400" algn="l" defTabSz="456565" rtl="0" eaLnBrk="1" latinLnBrk="0" hangingPunct="1">
                        <a:defRPr sz="1800" b="1" i="0" u="none" kern="1200">
                          <a:solidFill>
                            <a:srgbClr val="5B3478"/>
                          </a:solidFill>
                          <a:latin typeface="+mn-lt"/>
                          <a:ea typeface="+mn-ea"/>
                          <a:cs typeface="+mn-cs"/>
                        </a:defRPr>
                      </a:lvl8pPr>
                      <a:lvl9pPr marL="3657600" algn="l" defTabSz="456565" rtl="0" eaLnBrk="1" latinLnBrk="0" hangingPunct="1">
                        <a:defRPr sz="1800" b="1" i="0" u="none" kern="1200">
                          <a:solidFill>
                            <a:srgbClr val="5B3478"/>
                          </a:solidFill>
                          <a:latin typeface="+mn-lt"/>
                          <a:ea typeface="+mn-ea"/>
                          <a:cs typeface="+mn-cs"/>
                        </a:defRPr>
                      </a:lvl9pPr>
                    </a:lstStyle>
                    <a:p>
                      <a:pPr marL="0" indent="0" algn="ctr">
                        <a:lnSpc>
                          <a:spcPct val="120000"/>
                        </a:lnSpc>
                        <a:spcBef>
                          <a:spcPct val="0"/>
                        </a:spcBef>
                        <a:spcAft>
                          <a:spcPct val="0"/>
                        </a:spcAft>
                      </a:pPr>
                      <a:r>
                        <a:rPr lang="zh-CN" altLang="en-US" sz="1400"/>
                        <a:t>局限性</a:t>
                      </a:r>
                      <a:endParaRPr lang="zh-CN" altLang="en-US" sz="1400"/>
                    </a:p>
                  </a:txBody>
                  <a:tcPr marL="86042" marR="86042" marT="57467" marB="5746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650594">
                <a:tc>
                  <a:txBody>
                    <a:bodyPr/>
                    <a:lstStyle>
                      <a:defPPr>
                        <a:defRPr lang="en-US" b="0" i="0" u="none">
                          <a:solidFill>
                            <a:srgbClr val="08090C"/>
                          </a:solidFill>
                        </a:defRPr>
                      </a:defPPr>
                      <a:lvl1pPr marL="0" algn="l" defTabSz="456565" rtl="0" eaLnBrk="1" latinLnBrk="0" hangingPunct="1">
                        <a:defRPr sz="1800" b="0" i="0" u="none" kern="1200">
                          <a:solidFill>
                            <a:srgbClr val="08090C"/>
                          </a:solidFill>
                          <a:latin typeface="+mn-lt"/>
                          <a:ea typeface="+mn-ea"/>
                          <a:cs typeface="+mn-cs"/>
                        </a:defRPr>
                      </a:lvl1pPr>
                      <a:lvl2pPr marL="457200" algn="l" defTabSz="456565" rtl="0" eaLnBrk="1" latinLnBrk="0" hangingPunct="1">
                        <a:defRPr sz="1800" b="0" i="0" u="none" kern="1200">
                          <a:solidFill>
                            <a:srgbClr val="08090C"/>
                          </a:solidFill>
                          <a:latin typeface="+mn-lt"/>
                          <a:ea typeface="+mn-ea"/>
                          <a:cs typeface="+mn-cs"/>
                        </a:defRPr>
                      </a:lvl2pPr>
                      <a:lvl3pPr marL="914400" algn="l" defTabSz="456565" rtl="0" eaLnBrk="1" latinLnBrk="0" hangingPunct="1">
                        <a:defRPr sz="1800" b="0" i="0" u="none" kern="1200">
                          <a:solidFill>
                            <a:srgbClr val="08090C"/>
                          </a:solidFill>
                          <a:latin typeface="+mn-lt"/>
                          <a:ea typeface="+mn-ea"/>
                          <a:cs typeface="+mn-cs"/>
                        </a:defRPr>
                      </a:lvl3pPr>
                      <a:lvl4pPr marL="1371600" algn="l" defTabSz="456565" rtl="0" eaLnBrk="1" latinLnBrk="0" hangingPunct="1">
                        <a:defRPr sz="1800" b="0" i="0" u="none" kern="1200">
                          <a:solidFill>
                            <a:srgbClr val="08090C"/>
                          </a:solidFill>
                          <a:latin typeface="+mn-lt"/>
                          <a:ea typeface="+mn-ea"/>
                          <a:cs typeface="+mn-cs"/>
                        </a:defRPr>
                      </a:lvl4pPr>
                      <a:lvl5pPr marL="1828800" algn="l" defTabSz="456565" rtl="0" eaLnBrk="1" latinLnBrk="0" hangingPunct="1">
                        <a:defRPr sz="1800" b="0" i="0" u="none" kern="1200">
                          <a:solidFill>
                            <a:srgbClr val="08090C"/>
                          </a:solidFill>
                          <a:latin typeface="+mn-lt"/>
                          <a:ea typeface="+mn-ea"/>
                          <a:cs typeface="+mn-cs"/>
                        </a:defRPr>
                      </a:lvl5pPr>
                      <a:lvl6pPr marL="2286000" algn="l" defTabSz="456565" rtl="0" eaLnBrk="1" latinLnBrk="0" hangingPunct="1">
                        <a:defRPr sz="1800" b="0" i="0" u="none" kern="1200">
                          <a:solidFill>
                            <a:srgbClr val="08090C"/>
                          </a:solidFill>
                          <a:latin typeface="+mn-lt"/>
                          <a:ea typeface="+mn-ea"/>
                          <a:cs typeface="+mn-cs"/>
                        </a:defRPr>
                      </a:lvl6pPr>
                      <a:lvl7pPr marL="2743200" algn="l" defTabSz="456565" rtl="0" eaLnBrk="1" latinLnBrk="0" hangingPunct="1">
                        <a:defRPr sz="1800" b="0" i="0" u="none" kern="1200">
                          <a:solidFill>
                            <a:srgbClr val="08090C"/>
                          </a:solidFill>
                          <a:latin typeface="+mn-lt"/>
                          <a:ea typeface="+mn-ea"/>
                          <a:cs typeface="+mn-cs"/>
                        </a:defRPr>
                      </a:lvl7pPr>
                      <a:lvl8pPr marL="3200400" algn="l" defTabSz="456565" rtl="0" eaLnBrk="1" latinLnBrk="0" hangingPunct="1">
                        <a:defRPr sz="1800" b="0" i="0" u="none" kern="1200">
                          <a:solidFill>
                            <a:srgbClr val="08090C"/>
                          </a:solidFill>
                          <a:latin typeface="+mn-lt"/>
                          <a:ea typeface="+mn-ea"/>
                          <a:cs typeface="+mn-cs"/>
                        </a:defRPr>
                      </a:lvl8pPr>
                      <a:lvl9pPr marL="3657600" algn="l" defTabSz="456565" rtl="0" eaLnBrk="1" latinLnBrk="0" hangingPunct="1">
                        <a:defRPr sz="1800" b="0" i="0" u="none" kern="1200">
                          <a:solidFill>
                            <a:srgbClr val="08090C"/>
                          </a:solidFill>
                          <a:latin typeface="+mn-lt"/>
                          <a:ea typeface="+mn-ea"/>
                          <a:cs typeface="+mn-cs"/>
                        </a:defRPr>
                      </a:lvl9pPr>
                    </a:lstStyle>
                    <a:p>
                      <a:pPr marL="0" indent="0" algn="ctr">
                        <a:lnSpc>
                          <a:spcPct val="120000"/>
                        </a:lnSpc>
                        <a:spcBef>
                          <a:spcPct val="0"/>
                        </a:spcBef>
                        <a:spcAft>
                          <a:spcPct val="0"/>
                        </a:spcAft>
                      </a:pPr>
                      <a:r>
                        <a:rPr lang="en-US" altLang="zh-CN" sz="1400"/>
                        <a:t>Decoding the Secrets</a:t>
                      </a:r>
                      <a:endParaRPr lang="en-US" altLang="zh-CN" sz="1400"/>
                    </a:p>
                    <a:p>
                      <a:pPr marL="0" indent="0" algn="ctr">
                        <a:lnSpc>
                          <a:spcPct val="120000"/>
                        </a:lnSpc>
                        <a:spcBef>
                          <a:spcPct val="0"/>
                        </a:spcBef>
                        <a:spcAft>
                          <a:spcPct val="0"/>
                        </a:spcAft>
                      </a:pPr>
                      <a:r>
                        <a:rPr lang="zh-CN" altLang="en-US" sz="1400"/>
                        <a:t>（</a:t>
                      </a:r>
                      <a:r>
                        <a:rPr lang="en-US" altLang="zh-CN" sz="1400"/>
                        <a:t>CCS 2023</a:t>
                      </a:r>
                      <a:r>
                        <a:rPr lang="zh-CN" altLang="en-US" sz="1400"/>
                        <a:t>）</a:t>
                      </a:r>
                      <a:endParaRPr lang="zh-CN" altLang="en-US" sz="1400"/>
                    </a:p>
                  </a:txBody>
                  <a:tcPr marL="86042" marR="86042" marT="57467" marB="5746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defPPr>
                        <a:defRPr lang="en-US" b="0" i="0" u="none">
                          <a:solidFill>
                            <a:srgbClr val="08090C"/>
                          </a:solidFill>
                        </a:defRPr>
                      </a:defPPr>
                      <a:lvl1pPr marL="0" algn="l" defTabSz="456565" rtl="0" eaLnBrk="1" latinLnBrk="0" hangingPunct="1">
                        <a:defRPr sz="1800" b="0" i="0" u="none" kern="1200">
                          <a:solidFill>
                            <a:srgbClr val="08090C"/>
                          </a:solidFill>
                          <a:latin typeface="+mn-lt"/>
                          <a:ea typeface="+mn-ea"/>
                          <a:cs typeface="+mn-cs"/>
                        </a:defRPr>
                      </a:lvl1pPr>
                      <a:lvl2pPr marL="457200" algn="l" defTabSz="456565" rtl="0" eaLnBrk="1" latinLnBrk="0" hangingPunct="1">
                        <a:defRPr sz="1800" b="0" i="0" u="none" kern="1200">
                          <a:solidFill>
                            <a:srgbClr val="08090C"/>
                          </a:solidFill>
                          <a:latin typeface="+mn-lt"/>
                          <a:ea typeface="+mn-ea"/>
                          <a:cs typeface="+mn-cs"/>
                        </a:defRPr>
                      </a:lvl2pPr>
                      <a:lvl3pPr marL="914400" algn="l" defTabSz="456565" rtl="0" eaLnBrk="1" latinLnBrk="0" hangingPunct="1">
                        <a:defRPr sz="1800" b="0" i="0" u="none" kern="1200">
                          <a:solidFill>
                            <a:srgbClr val="08090C"/>
                          </a:solidFill>
                          <a:latin typeface="+mn-lt"/>
                          <a:ea typeface="+mn-ea"/>
                          <a:cs typeface="+mn-cs"/>
                        </a:defRPr>
                      </a:lvl3pPr>
                      <a:lvl4pPr marL="1371600" algn="l" defTabSz="456565" rtl="0" eaLnBrk="1" latinLnBrk="0" hangingPunct="1">
                        <a:defRPr sz="1800" b="0" i="0" u="none" kern="1200">
                          <a:solidFill>
                            <a:srgbClr val="08090C"/>
                          </a:solidFill>
                          <a:latin typeface="+mn-lt"/>
                          <a:ea typeface="+mn-ea"/>
                          <a:cs typeface="+mn-cs"/>
                        </a:defRPr>
                      </a:lvl4pPr>
                      <a:lvl5pPr marL="1828800" algn="l" defTabSz="456565" rtl="0" eaLnBrk="1" latinLnBrk="0" hangingPunct="1">
                        <a:defRPr sz="1800" b="0" i="0" u="none" kern="1200">
                          <a:solidFill>
                            <a:srgbClr val="08090C"/>
                          </a:solidFill>
                          <a:latin typeface="+mn-lt"/>
                          <a:ea typeface="+mn-ea"/>
                          <a:cs typeface="+mn-cs"/>
                        </a:defRPr>
                      </a:lvl5pPr>
                      <a:lvl6pPr marL="2286000" algn="l" defTabSz="456565" rtl="0" eaLnBrk="1" latinLnBrk="0" hangingPunct="1">
                        <a:defRPr sz="1800" b="0" i="0" u="none" kern="1200">
                          <a:solidFill>
                            <a:srgbClr val="08090C"/>
                          </a:solidFill>
                          <a:latin typeface="+mn-lt"/>
                          <a:ea typeface="+mn-ea"/>
                          <a:cs typeface="+mn-cs"/>
                        </a:defRPr>
                      </a:lvl6pPr>
                      <a:lvl7pPr marL="2743200" algn="l" defTabSz="456565" rtl="0" eaLnBrk="1" latinLnBrk="0" hangingPunct="1">
                        <a:defRPr sz="1800" b="0" i="0" u="none" kern="1200">
                          <a:solidFill>
                            <a:srgbClr val="08090C"/>
                          </a:solidFill>
                          <a:latin typeface="+mn-lt"/>
                          <a:ea typeface="+mn-ea"/>
                          <a:cs typeface="+mn-cs"/>
                        </a:defRPr>
                      </a:lvl7pPr>
                      <a:lvl8pPr marL="3200400" algn="l" defTabSz="456565" rtl="0" eaLnBrk="1" latinLnBrk="0" hangingPunct="1">
                        <a:defRPr sz="1800" b="0" i="0" u="none" kern="1200">
                          <a:solidFill>
                            <a:srgbClr val="08090C"/>
                          </a:solidFill>
                          <a:latin typeface="+mn-lt"/>
                          <a:ea typeface="+mn-ea"/>
                          <a:cs typeface="+mn-cs"/>
                        </a:defRPr>
                      </a:lvl8pPr>
                      <a:lvl9pPr marL="3657600" algn="l" defTabSz="456565" rtl="0" eaLnBrk="1" latinLnBrk="0" hangingPunct="1">
                        <a:defRPr sz="1800" b="0" i="0" u="none" kern="1200">
                          <a:solidFill>
                            <a:srgbClr val="08090C"/>
                          </a:solidFill>
                          <a:latin typeface="+mn-lt"/>
                          <a:ea typeface="+mn-ea"/>
                          <a:cs typeface="+mn-cs"/>
                        </a:defRPr>
                      </a:lvl9pPr>
                    </a:lstStyle>
                    <a:p>
                      <a:pPr marL="0" indent="0" algn="ctr">
                        <a:lnSpc>
                          <a:spcPct val="120000"/>
                        </a:lnSpc>
                        <a:spcBef>
                          <a:spcPct val="0"/>
                        </a:spcBef>
                        <a:spcAft>
                          <a:spcPct val="0"/>
                        </a:spcAft>
                      </a:pPr>
                      <a:r>
                        <a:rPr lang="zh-CN" altLang="en-US" sz="1400"/>
                        <a:t>检测性能的影响因素</a:t>
                      </a:r>
                      <a:endParaRPr lang="zh-CN" altLang="en-US" sz="1400"/>
                    </a:p>
                  </a:txBody>
                  <a:tcPr marL="86042" marR="86042" marT="57467" marB="5746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defPPr>
                        <a:defRPr lang="en-US" b="0" i="0" u="none">
                          <a:solidFill>
                            <a:srgbClr val="08090C"/>
                          </a:solidFill>
                        </a:defRPr>
                      </a:defPPr>
                      <a:lvl1pPr marL="0" algn="l" defTabSz="456565" rtl="0" eaLnBrk="1" latinLnBrk="0" hangingPunct="1">
                        <a:defRPr sz="1800" b="0" i="0" u="none" kern="1200">
                          <a:solidFill>
                            <a:srgbClr val="08090C"/>
                          </a:solidFill>
                          <a:latin typeface="+mn-lt"/>
                          <a:ea typeface="+mn-ea"/>
                          <a:cs typeface="+mn-cs"/>
                        </a:defRPr>
                      </a:lvl1pPr>
                      <a:lvl2pPr marL="457200" algn="l" defTabSz="456565" rtl="0" eaLnBrk="1" latinLnBrk="0" hangingPunct="1">
                        <a:defRPr sz="1800" b="0" i="0" u="none" kern="1200">
                          <a:solidFill>
                            <a:srgbClr val="08090C"/>
                          </a:solidFill>
                          <a:latin typeface="+mn-lt"/>
                          <a:ea typeface="+mn-ea"/>
                          <a:cs typeface="+mn-cs"/>
                        </a:defRPr>
                      </a:lvl2pPr>
                      <a:lvl3pPr marL="914400" algn="l" defTabSz="456565" rtl="0" eaLnBrk="1" latinLnBrk="0" hangingPunct="1">
                        <a:defRPr sz="1800" b="0" i="0" u="none" kern="1200">
                          <a:solidFill>
                            <a:srgbClr val="08090C"/>
                          </a:solidFill>
                          <a:latin typeface="+mn-lt"/>
                          <a:ea typeface="+mn-ea"/>
                          <a:cs typeface="+mn-cs"/>
                        </a:defRPr>
                      </a:lvl3pPr>
                      <a:lvl4pPr marL="1371600" algn="l" defTabSz="456565" rtl="0" eaLnBrk="1" latinLnBrk="0" hangingPunct="1">
                        <a:defRPr sz="1800" b="0" i="0" u="none" kern="1200">
                          <a:solidFill>
                            <a:srgbClr val="08090C"/>
                          </a:solidFill>
                          <a:latin typeface="+mn-lt"/>
                          <a:ea typeface="+mn-ea"/>
                          <a:cs typeface="+mn-cs"/>
                        </a:defRPr>
                      </a:lvl4pPr>
                      <a:lvl5pPr marL="1828800" algn="l" defTabSz="456565" rtl="0" eaLnBrk="1" latinLnBrk="0" hangingPunct="1">
                        <a:defRPr sz="1800" b="0" i="0" u="none" kern="1200">
                          <a:solidFill>
                            <a:srgbClr val="08090C"/>
                          </a:solidFill>
                          <a:latin typeface="+mn-lt"/>
                          <a:ea typeface="+mn-ea"/>
                          <a:cs typeface="+mn-cs"/>
                        </a:defRPr>
                      </a:lvl5pPr>
                      <a:lvl6pPr marL="2286000" algn="l" defTabSz="456565" rtl="0" eaLnBrk="1" latinLnBrk="0" hangingPunct="1">
                        <a:defRPr sz="1800" b="0" i="0" u="none" kern="1200">
                          <a:solidFill>
                            <a:srgbClr val="08090C"/>
                          </a:solidFill>
                          <a:latin typeface="+mn-lt"/>
                          <a:ea typeface="+mn-ea"/>
                          <a:cs typeface="+mn-cs"/>
                        </a:defRPr>
                      </a:lvl6pPr>
                      <a:lvl7pPr marL="2743200" algn="l" defTabSz="456565" rtl="0" eaLnBrk="1" latinLnBrk="0" hangingPunct="1">
                        <a:defRPr sz="1800" b="0" i="0" u="none" kern="1200">
                          <a:solidFill>
                            <a:srgbClr val="08090C"/>
                          </a:solidFill>
                          <a:latin typeface="+mn-lt"/>
                          <a:ea typeface="+mn-ea"/>
                          <a:cs typeface="+mn-cs"/>
                        </a:defRPr>
                      </a:lvl7pPr>
                      <a:lvl8pPr marL="3200400" algn="l" defTabSz="456565" rtl="0" eaLnBrk="1" latinLnBrk="0" hangingPunct="1">
                        <a:defRPr sz="1800" b="0" i="0" u="none" kern="1200">
                          <a:solidFill>
                            <a:srgbClr val="08090C"/>
                          </a:solidFill>
                          <a:latin typeface="+mn-lt"/>
                          <a:ea typeface="+mn-ea"/>
                          <a:cs typeface="+mn-cs"/>
                        </a:defRPr>
                      </a:lvl8pPr>
                      <a:lvl9pPr marL="3657600" algn="l" defTabSz="456565" rtl="0" eaLnBrk="1" latinLnBrk="0" hangingPunct="1">
                        <a:defRPr sz="1800" b="0" i="0" u="none" kern="1200">
                          <a:solidFill>
                            <a:srgbClr val="08090C"/>
                          </a:solidFill>
                          <a:latin typeface="+mn-lt"/>
                          <a:ea typeface="+mn-ea"/>
                          <a:cs typeface="+mn-cs"/>
                        </a:defRPr>
                      </a:lvl9pPr>
                    </a:lstStyle>
                    <a:p>
                      <a:pPr marL="0" indent="0" algn="ctr">
                        <a:lnSpc>
                          <a:spcPct val="120000"/>
                        </a:lnSpc>
                        <a:spcBef>
                          <a:spcPct val="0"/>
                        </a:spcBef>
                        <a:spcAft>
                          <a:spcPct val="0"/>
                        </a:spcAft>
                      </a:pPr>
                      <a:r>
                        <a:rPr lang="zh-CN" altLang="en-US" sz="1400"/>
                        <a:t>构建大规模平衡数据集</a:t>
                      </a:r>
                      <a:endParaRPr lang="en-US" altLang="zh-CN" sz="1400"/>
                    </a:p>
                    <a:p>
                      <a:pPr marL="0" indent="0" algn="ctr">
                        <a:lnSpc>
                          <a:spcPct val="120000"/>
                        </a:lnSpc>
                        <a:spcBef>
                          <a:spcPct val="0"/>
                        </a:spcBef>
                        <a:spcAft>
                          <a:spcPct val="0"/>
                        </a:spcAft>
                      </a:pPr>
                      <a:r>
                        <a:rPr lang="zh-CN" altLang="en-US" sz="1400"/>
                        <a:t>对比静态特征、动态特征、分类器性能</a:t>
                      </a:r>
                      <a:endParaRPr lang="zh-CN" altLang="en-US" sz="1400"/>
                    </a:p>
                  </a:txBody>
                  <a:tcPr marL="86042" marR="86042" marT="57467" marB="5746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defPPr>
                        <a:defRPr lang="en-US" b="0" i="0" u="none">
                          <a:solidFill>
                            <a:srgbClr val="08090C"/>
                          </a:solidFill>
                        </a:defRPr>
                      </a:defPPr>
                      <a:lvl1pPr marL="0" algn="l" defTabSz="456565" rtl="0" eaLnBrk="1" latinLnBrk="0" hangingPunct="1">
                        <a:defRPr sz="1800" b="0" i="0" u="none" kern="1200">
                          <a:solidFill>
                            <a:srgbClr val="08090C"/>
                          </a:solidFill>
                          <a:latin typeface="+mn-lt"/>
                          <a:ea typeface="+mn-ea"/>
                          <a:cs typeface="+mn-cs"/>
                        </a:defRPr>
                      </a:lvl1pPr>
                      <a:lvl2pPr marL="457200" algn="l" defTabSz="456565" rtl="0" eaLnBrk="1" latinLnBrk="0" hangingPunct="1">
                        <a:defRPr sz="1800" b="0" i="0" u="none" kern="1200">
                          <a:solidFill>
                            <a:srgbClr val="08090C"/>
                          </a:solidFill>
                          <a:latin typeface="+mn-lt"/>
                          <a:ea typeface="+mn-ea"/>
                          <a:cs typeface="+mn-cs"/>
                        </a:defRPr>
                      </a:lvl2pPr>
                      <a:lvl3pPr marL="914400" algn="l" defTabSz="456565" rtl="0" eaLnBrk="1" latinLnBrk="0" hangingPunct="1">
                        <a:defRPr sz="1800" b="0" i="0" u="none" kern="1200">
                          <a:solidFill>
                            <a:srgbClr val="08090C"/>
                          </a:solidFill>
                          <a:latin typeface="+mn-lt"/>
                          <a:ea typeface="+mn-ea"/>
                          <a:cs typeface="+mn-cs"/>
                        </a:defRPr>
                      </a:lvl3pPr>
                      <a:lvl4pPr marL="1371600" algn="l" defTabSz="456565" rtl="0" eaLnBrk="1" latinLnBrk="0" hangingPunct="1">
                        <a:defRPr sz="1800" b="0" i="0" u="none" kern="1200">
                          <a:solidFill>
                            <a:srgbClr val="08090C"/>
                          </a:solidFill>
                          <a:latin typeface="+mn-lt"/>
                          <a:ea typeface="+mn-ea"/>
                          <a:cs typeface="+mn-cs"/>
                        </a:defRPr>
                      </a:lvl4pPr>
                      <a:lvl5pPr marL="1828800" algn="l" defTabSz="456565" rtl="0" eaLnBrk="1" latinLnBrk="0" hangingPunct="1">
                        <a:defRPr sz="1800" b="0" i="0" u="none" kern="1200">
                          <a:solidFill>
                            <a:srgbClr val="08090C"/>
                          </a:solidFill>
                          <a:latin typeface="+mn-lt"/>
                          <a:ea typeface="+mn-ea"/>
                          <a:cs typeface="+mn-cs"/>
                        </a:defRPr>
                      </a:lvl5pPr>
                      <a:lvl6pPr marL="2286000" algn="l" defTabSz="456565" rtl="0" eaLnBrk="1" latinLnBrk="0" hangingPunct="1">
                        <a:defRPr sz="1800" b="0" i="0" u="none" kern="1200">
                          <a:solidFill>
                            <a:srgbClr val="08090C"/>
                          </a:solidFill>
                          <a:latin typeface="+mn-lt"/>
                          <a:ea typeface="+mn-ea"/>
                          <a:cs typeface="+mn-cs"/>
                        </a:defRPr>
                      </a:lvl6pPr>
                      <a:lvl7pPr marL="2743200" algn="l" defTabSz="456565" rtl="0" eaLnBrk="1" latinLnBrk="0" hangingPunct="1">
                        <a:defRPr sz="1800" b="0" i="0" u="none" kern="1200">
                          <a:solidFill>
                            <a:srgbClr val="08090C"/>
                          </a:solidFill>
                          <a:latin typeface="+mn-lt"/>
                          <a:ea typeface="+mn-ea"/>
                          <a:cs typeface="+mn-cs"/>
                        </a:defRPr>
                      </a:lvl7pPr>
                      <a:lvl8pPr marL="3200400" algn="l" defTabSz="456565" rtl="0" eaLnBrk="1" latinLnBrk="0" hangingPunct="1">
                        <a:defRPr sz="1800" b="0" i="0" u="none" kern="1200">
                          <a:solidFill>
                            <a:srgbClr val="08090C"/>
                          </a:solidFill>
                          <a:latin typeface="+mn-lt"/>
                          <a:ea typeface="+mn-ea"/>
                          <a:cs typeface="+mn-cs"/>
                        </a:defRPr>
                      </a:lvl8pPr>
                      <a:lvl9pPr marL="3657600" algn="l" defTabSz="456565" rtl="0" eaLnBrk="1" latinLnBrk="0" hangingPunct="1">
                        <a:defRPr sz="1800" b="0" i="0" u="none" kern="1200">
                          <a:solidFill>
                            <a:srgbClr val="08090C"/>
                          </a:solidFill>
                          <a:latin typeface="+mn-lt"/>
                          <a:ea typeface="+mn-ea"/>
                          <a:cs typeface="+mn-cs"/>
                        </a:defRPr>
                      </a:lvl9pPr>
                    </a:lstStyle>
                    <a:p>
                      <a:pPr marL="228600" indent="-228600" algn="ctr">
                        <a:lnSpc>
                          <a:spcPct val="120000"/>
                        </a:lnSpc>
                        <a:spcBef>
                          <a:spcPct val="0"/>
                        </a:spcBef>
                        <a:spcAft>
                          <a:spcPct val="0"/>
                        </a:spcAft>
                        <a:buAutoNum type="arabicPeriod"/>
                      </a:pPr>
                      <a:r>
                        <a:rPr lang="zh-CN" altLang="en-US" sz="1400"/>
                        <a:t>静态特征优于动态特征，结合仅边际提升</a:t>
                      </a:r>
                      <a:endParaRPr lang="en-US" altLang="zh-CN" sz="1400"/>
                    </a:p>
                    <a:p>
                      <a:pPr marL="228600" indent="-228600" algn="ctr">
                        <a:lnSpc>
                          <a:spcPct val="120000"/>
                        </a:lnSpc>
                        <a:spcBef>
                          <a:spcPct val="0"/>
                        </a:spcBef>
                        <a:spcAft>
                          <a:spcPct val="0"/>
                        </a:spcAft>
                        <a:buAutoNum type="arabicPeriod"/>
                      </a:pPr>
                      <a:r>
                        <a:rPr lang="zh-CN" altLang="en-US" sz="1400"/>
                        <a:t>家族数量越多分类越难，样本均衡提升泛化性</a:t>
                      </a:r>
                      <a:endParaRPr lang="zh-CN" altLang="en-US" sz="1400"/>
                    </a:p>
                  </a:txBody>
                  <a:tcPr marL="86042" marR="86042" marT="57467" marB="5746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defPPr>
                        <a:defRPr lang="en-US" b="0" i="0" u="none">
                          <a:solidFill>
                            <a:srgbClr val="08090C"/>
                          </a:solidFill>
                        </a:defRPr>
                      </a:defPPr>
                      <a:lvl1pPr marL="0" algn="l" defTabSz="456565" rtl="0" eaLnBrk="1" latinLnBrk="0" hangingPunct="1">
                        <a:defRPr sz="1800" b="0" i="0" u="none" kern="1200">
                          <a:solidFill>
                            <a:srgbClr val="08090C"/>
                          </a:solidFill>
                          <a:latin typeface="+mn-lt"/>
                          <a:ea typeface="+mn-ea"/>
                          <a:cs typeface="+mn-cs"/>
                        </a:defRPr>
                      </a:lvl1pPr>
                      <a:lvl2pPr marL="457200" algn="l" defTabSz="456565" rtl="0" eaLnBrk="1" latinLnBrk="0" hangingPunct="1">
                        <a:defRPr sz="1800" b="0" i="0" u="none" kern="1200">
                          <a:solidFill>
                            <a:srgbClr val="08090C"/>
                          </a:solidFill>
                          <a:latin typeface="+mn-lt"/>
                          <a:ea typeface="+mn-ea"/>
                          <a:cs typeface="+mn-cs"/>
                        </a:defRPr>
                      </a:lvl2pPr>
                      <a:lvl3pPr marL="914400" algn="l" defTabSz="456565" rtl="0" eaLnBrk="1" latinLnBrk="0" hangingPunct="1">
                        <a:defRPr sz="1800" b="0" i="0" u="none" kern="1200">
                          <a:solidFill>
                            <a:srgbClr val="08090C"/>
                          </a:solidFill>
                          <a:latin typeface="+mn-lt"/>
                          <a:ea typeface="+mn-ea"/>
                          <a:cs typeface="+mn-cs"/>
                        </a:defRPr>
                      </a:lvl3pPr>
                      <a:lvl4pPr marL="1371600" algn="l" defTabSz="456565" rtl="0" eaLnBrk="1" latinLnBrk="0" hangingPunct="1">
                        <a:defRPr sz="1800" b="0" i="0" u="none" kern="1200">
                          <a:solidFill>
                            <a:srgbClr val="08090C"/>
                          </a:solidFill>
                          <a:latin typeface="+mn-lt"/>
                          <a:ea typeface="+mn-ea"/>
                          <a:cs typeface="+mn-cs"/>
                        </a:defRPr>
                      </a:lvl4pPr>
                      <a:lvl5pPr marL="1828800" algn="l" defTabSz="456565" rtl="0" eaLnBrk="1" latinLnBrk="0" hangingPunct="1">
                        <a:defRPr sz="1800" b="0" i="0" u="none" kern="1200">
                          <a:solidFill>
                            <a:srgbClr val="08090C"/>
                          </a:solidFill>
                          <a:latin typeface="+mn-lt"/>
                          <a:ea typeface="+mn-ea"/>
                          <a:cs typeface="+mn-cs"/>
                        </a:defRPr>
                      </a:lvl5pPr>
                      <a:lvl6pPr marL="2286000" algn="l" defTabSz="456565" rtl="0" eaLnBrk="1" latinLnBrk="0" hangingPunct="1">
                        <a:defRPr sz="1800" b="0" i="0" u="none" kern="1200">
                          <a:solidFill>
                            <a:srgbClr val="08090C"/>
                          </a:solidFill>
                          <a:latin typeface="+mn-lt"/>
                          <a:ea typeface="+mn-ea"/>
                          <a:cs typeface="+mn-cs"/>
                        </a:defRPr>
                      </a:lvl6pPr>
                      <a:lvl7pPr marL="2743200" algn="l" defTabSz="456565" rtl="0" eaLnBrk="1" latinLnBrk="0" hangingPunct="1">
                        <a:defRPr sz="1800" b="0" i="0" u="none" kern="1200">
                          <a:solidFill>
                            <a:srgbClr val="08090C"/>
                          </a:solidFill>
                          <a:latin typeface="+mn-lt"/>
                          <a:ea typeface="+mn-ea"/>
                          <a:cs typeface="+mn-cs"/>
                        </a:defRPr>
                      </a:lvl7pPr>
                      <a:lvl8pPr marL="3200400" algn="l" defTabSz="456565" rtl="0" eaLnBrk="1" latinLnBrk="0" hangingPunct="1">
                        <a:defRPr sz="1800" b="0" i="0" u="none" kern="1200">
                          <a:solidFill>
                            <a:srgbClr val="08090C"/>
                          </a:solidFill>
                          <a:latin typeface="+mn-lt"/>
                          <a:ea typeface="+mn-ea"/>
                          <a:cs typeface="+mn-cs"/>
                        </a:defRPr>
                      </a:lvl8pPr>
                      <a:lvl9pPr marL="3657600" algn="l" defTabSz="456565" rtl="0" eaLnBrk="1" latinLnBrk="0" hangingPunct="1">
                        <a:defRPr sz="1800" b="0" i="0" u="none" kern="1200">
                          <a:solidFill>
                            <a:srgbClr val="08090C"/>
                          </a:solidFill>
                          <a:latin typeface="+mn-lt"/>
                          <a:ea typeface="+mn-ea"/>
                          <a:cs typeface="+mn-cs"/>
                        </a:defRPr>
                      </a:lvl9pPr>
                    </a:lstStyle>
                    <a:p>
                      <a:pPr marL="228600" indent="-228600" algn="ctr">
                        <a:lnSpc>
                          <a:spcPct val="120000"/>
                        </a:lnSpc>
                        <a:spcBef>
                          <a:spcPct val="0"/>
                        </a:spcBef>
                        <a:spcAft>
                          <a:spcPct val="0"/>
                        </a:spcAft>
                        <a:buAutoNum type="arabicPeriod"/>
                      </a:pPr>
                      <a:r>
                        <a:rPr lang="zh-CN" altLang="en-US" sz="1400"/>
                        <a:t>未直接解决概念漂移 </a:t>
                      </a:r>
                      <a:r>
                        <a:rPr lang="en-US" altLang="zh-CN" sz="1400"/>
                        <a:t>/ </a:t>
                      </a:r>
                      <a:r>
                        <a:rPr lang="zh-CN" altLang="en-US" sz="1400"/>
                        <a:t>标签噪声</a:t>
                      </a:r>
                      <a:endParaRPr lang="en-US" altLang="zh-CN" sz="1400"/>
                    </a:p>
                    <a:p>
                      <a:pPr marL="228600" indent="-228600" algn="ctr">
                        <a:lnSpc>
                          <a:spcPct val="120000"/>
                        </a:lnSpc>
                        <a:spcBef>
                          <a:spcPct val="0"/>
                        </a:spcBef>
                        <a:spcAft>
                          <a:spcPct val="0"/>
                        </a:spcAft>
                        <a:buAutoNum type="arabicPeriod"/>
                      </a:pPr>
                      <a:r>
                        <a:rPr lang="zh-CN" altLang="en-US" sz="1400"/>
                        <a:t>动态特征易受行为缺失影响</a:t>
                      </a:r>
                      <a:endParaRPr lang="zh-CN" altLang="en-US" sz="1400"/>
                    </a:p>
                  </a:txBody>
                  <a:tcPr marL="86042" marR="86042" marT="57467" marB="5746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r>
              <a:tr h="650594">
                <a:tc>
                  <a:txBody>
                    <a:bodyPr/>
                    <a:lstStyle>
                      <a:defPPr>
                        <a:defRPr lang="en-US" b="0" i="0" u="none">
                          <a:solidFill>
                            <a:srgbClr val="08090C"/>
                          </a:solidFill>
                        </a:defRPr>
                      </a:defPPr>
                      <a:lvl1pPr marL="0" algn="l" defTabSz="456565" rtl="0" eaLnBrk="1" latinLnBrk="0" hangingPunct="1">
                        <a:defRPr sz="1800" b="0" i="0" u="none" kern="1200">
                          <a:solidFill>
                            <a:srgbClr val="08090C"/>
                          </a:solidFill>
                          <a:latin typeface="+mn-lt"/>
                          <a:ea typeface="+mn-ea"/>
                          <a:cs typeface="+mn-cs"/>
                        </a:defRPr>
                      </a:lvl1pPr>
                      <a:lvl2pPr marL="457200" algn="l" defTabSz="456565" rtl="0" eaLnBrk="1" latinLnBrk="0" hangingPunct="1">
                        <a:defRPr sz="1800" b="0" i="0" u="none" kern="1200">
                          <a:solidFill>
                            <a:srgbClr val="08090C"/>
                          </a:solidFill>
                          <a:latin typeface="+mn-lt"/>
                          <a:ea typeface="+mn-ea"/>
                          <a:cs typeface="+mn-cs"/>
                        </a:defRPr>
                      </a:lvl2pPr>
                      <a:lvl3pPr marL="914400" algn="l" defTabSz="456565" rtl="0" eaLnBrk="1" latinLnBrk="0" hangingPunct="1">
                        <a:defRPr sz="1800" b="0" i="0" u="none" kern="1200">
                          <a:solidFill>
                            <a:srgbClr val="08090C"/>
                          </a:solidFill>
                          <a:latin typeface="+mn-lt"/>
                          <a:ea typeface="+mn-ea"/>
                          <a:cs typeface="+mn-cs"/>
                        </a:defRPr>
                      </a:lvl3pPr>
                      <a:lvl4pPr marL="1371600" algn="l" defTabSz="456565" rtl="0" eaLnBrk="1" latinLnBrk="0" hangingPunct="1">
                        <a:defRPr sz="1800" b="0" i="0" u="none" kern="1200">
                          <a:solidFill>
                            <a:srgbClr val="08090C"/>
                          </a:solidFill>
                          <a:latin typeface="+mn-lt"/>
                          <a:ea typeface="+mn-ea"/>
                          <a:cs typeface="+mn-cs"/>
                        </a:defRPr>
                      </a:lvl4pPr>
                      <a:lvl5pPr marL="1828800" algn="l" defTabSz="456565" rtl="0" eaLnBrk="1" latinLnBrk="0" hangingPunct="1">
                        <a:defRPr sz="1800" b="0" i="0" u="none" kern="1200">
                          <a:solidFill>
                            <a:srgbClr val="08090C"/>
                          </a:solidFill>
                          <a:latin typeface="+mn-lt"/>
                          <a:ea typeface="+mn-ea"/>
                          <a:cs typeface="+mn-cs"/>
                        </a:defRPr>
                      </a:lvl5pPr>
                      <a:lvl6pPr marL="2286000" algn="l" defTabSz="456565" rtl="0" eaLnBrk="1" latinLnBrk="0" hangingPunct="1">
                        <a:defRPr sz="1800" b="0" i="0" u="none" kern="1200">
                          <a:solidFill>
                            <a:srgbClr val="08090C"/>
                          </a:solidFill>
                          <a:latin typeface="+mn-lt"/>
                          <a:ea typeface="+mn-ea"/>
                          <a:cs typeface="+mn-cs"/>
                        </a:defRPr>
                      </a:lvl6pPr>
                      <a:lvl7pPr marL="2743200" algn="l" defTabSz="456565" rtl="0" eaLnBrk="1" latinLnBrk="0" hangingPunct="1">
                        <a:defRPr sz="1800" b="0" i="0" u="none" kern="1200">
                          <a:solidFill>
                            <a:srgbClr val="08090C"/>
                          </a:solidFill>
                          <a:latin typeface="+mn-lt"/>
                          <a:ea typeface="+mn-ea"/>
                          <a:cs typeface="+mn-cs"/>
                        </a:defRPr>
                      </a:lvl7pPr>
                      <a:lvl8pPr marL="3200400" algn="l" defTabSz="456565" rtl="0" eaLnBrk="1" latinLnBrk="0" hangingPunct="1">
                        <a:defRPr sz="1800" b="0" i="0" u="none" kern="1200">
                          <a:solidFill>
                            <a:srgbClr val="08090C"/>
                          </a:solidFill>
                          <a:latin typeface="+mn-lt"/>
                          <a:ea typeface="+mn-ea"/>
                          <a:cs typeface="+mn-cs"/>
                        </a:defRPr>
                      </a:lvl8pPr>
                      <a:lvl9pPr marL="3657600" algn="l" defTabSz="456565" rtl="0" eaLnBrk="1" latinLnBrk="0" hangingPunct="1">
                        <a:defRPr sz="1800" b="0" i="0" u="none" kern="1200">
                          <a:solidFill>
                            <a:srgbClr val="08090C"/>
                          </a:solidFill>
                          <a:latin typeface="+mn-lt"/>
                          <a:ea typeface="+mn-ea"/>
                          <a:cs typeface="+mn-cs"/>
                        </a:defRPr>
                      </a:lvl9pPr>
                    </a:lstStyle>
                    <a:p>
                      <a:pPr marL="0" indent="0" algn="ctr">
                        <a:lnSpc>
                          <a:spcPct val="120000"/>
                        </a:lnSpc>
                        <a:spcBef>
                          <a:spcPct val="0"/>
                        </a:spcBef>
                        <a:spcAft>
                          <a:spcPct val="0"/>
                        </a:spcAft>
                      </a:pPr>
                      <a:r>
                        <a:rPr lang="en-US" altLang="zh-CN" sz="1400"/>
                        <a:t>Differential Training</a:t>
                      </a:r>
                      <a:endParaRPr lang="en-US" altLang="zh-CN" sz="1400"/>
                    </a:p>
                    <a:p>
                      <a:pPr marL="0" indent="0" algn="ctr">
                        <a:lnSpc>
                          <a:spcPct val="120000"/>
                        </a:lnSpc>
                        <a:spcBef>
                          <a:spcPct val="0"/>
                        </a:spcBef>
                        <a:spcAft>
                          <a:spcPct val="0"/>
                        </a:spcAft>
                      </a:pPr>
                      <a:r>
                        <a:rPr lang="zh-CN" altLang="en-US" sz="1400"/>
                        <a:t>（</a:t>
                      </a:r>
                      <a:r>
                        <a:rPr lang="en-US" altLang="zh-CN" sz="1400"/>
                        <a:t>NDSS 2021</a:t>
                      </a:r>
                      <a:r>
                        <a:rPr lang="zh-CN" altLang="en-US" sz="1400"/>
                        <a:t>）</a:t>
                      </a:r>
                      <a:endParaRPr lang="zh-CN" altLang="en-US" sz="1400"/>
                    </a:p>
                  </a:txBody>
                  <a:tcPr marL="86042" marR="86042" marT="57467" marB="5746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defPPr>
                        <a:defRPr lang="en-US" b="0" i="0" u="none">
                          <a:solidFill>
                            <a:srgbClr val="08090C"/>
                          </a:solidFill>
                        </a:defRPr>
                      </a:defPPr>
                      <a:lvl1pPr marL="0" algn="l" defTabSz="456565" rtl="0" eaLnBrk="1" latinLnBrk="0" hangingPunct="1">
                        <a:defRPr sz="1800" b="0" i="0" u="none" kern="1200">
                          <a:solidFill>
                            <a:srgbClr val="08090C"/>
                          </a:solidFill>
                          <a:latin typeface="+mn-lt"/>
                          <a:ea typeface="+mn-ea"/>
                          <a:cs typeface="+mn-cs"/>
                        </a:defRPr>
                      </a:lvl1pPr>
                      <a:lvl2pPr marL="457200" algn="l" defTabSz="456565" rtl="0" eaLnBrk="1" latinLnBrk="0" hangingPunct="1">
                        <a:defRPr sz="1800" b="0" i="0" u="none" kern="1200">
                          <a:solidFill>
                            <a:srgbClr val="08090C"/>
                          </a:solidFill>
                          <a:latin typeface="+mn-lt"/>
                          <a:ea typeface="+mn-ea"/>
                          <a:cs typeface="+mn-cs"/>
                        </a:defRPr>
                      </a:lvl2pPr>
                      <a:lvl3pPr marL="914400" algn="l" defTabSz="456565" rtl="0" eaLnBrk="1" latinLnBrk="0" hangingPunct="1">
                        <a:defRPr sz="1800" b="0" i="0" u="none" kern="1200">
                          <a:solidFill>
                            <a:srgbClr val="08090C"/>
                          </a:solidFill>
                          <a:latin typeface="+mn-lt"/>
                          <a:ea typeface="+mn-ea"/>
                          <a:cs typeface="+mn-cs"/>
                        </a:defRPr>
                      </a:lvl3pPr>
                      <a:lvl4pPr marL="1371600" algn="l" defTabSz="456565" rtl="0" eaLnBrk="1" latinLnBrk="0" hangingPunct="1">
                        <a:defRPr sz="1800" b="0" i="0" u="none" kern="1200">
                          <a:solidFill>
                            <a:srgbClr val="08090C"/>
                          </a:solidFill>
                          <a:latin typeface="+mn-lt"/>
                          <a:ea typeface="+mn-ea"/>
                          <a:cs typeface="+mn-cs"/>
                        </a:defRPr>
                      </a:lvl4pPr>
                      <a:lvl5pPr marL="1828800" algn="l" defTabSz="456565" rtl="0" eaLnBrk="1" latinLnBrk="0" hangingPunct="1">
                        <a:defRPr sz="1800" b="0" i="0" u="none" kern="1200">
                          <a:solidFill>
                            <a:srgbClr val="08090C"/>
                          </a:solidFill>
                          <a:latin typeface="+mn-lt"/>
                          <a:ea typeface="+mn-ea"/>
                          <a:cs typeface="+mn-cs"/>
                        </a:defRPr>
                      </a:lvl5pPr>
                      <a:lvl6pPr marL="2286000" algn="l" defTabSz="456565" rtl="0" eaLnBrk="1" latinLnBrk="0" hangingPunct="1">
                        <a:defRPr sz="1800" b="0" i="0" u="none" kern="1200">
                          <a:solidFill>
                            <a:srgbClr val="08090C"/>
                          </a:solidFill>
                          <a:latin typeface="+mn-lt"/>
                          <a:ea typeface="+mn-ea"/>
                          <a:cs typeface="+mn-cs"/>
                        </a:defRPr>
                      </a:lvl6pPr>
                      <a:lvl7pPr marL="2743200" algn="l" defTabSz="456565" rtl="0" eaLnBrk="1" latinLnBrk="0" hangingPunct="1">
                        <a:defRPr sz="1800" b="0" i="0" u="none" kern="1200">
                          <a:solidFill>
                            <a:srgbClr val="08090C"/>
                          </a:solidFill>
                          <a:latin typeface="+mn-lt"/>
                          <a:ea typeface="+mn-ea"/>
                          <a:cs typeface="+mn-cs"/>
                        </a:defRPr>
                      </a:lvl7pPr>
                      <a:lvl8pPr marL="3200400" algn="l" defTabSz="456565" rtl="0" eaLnBrk="1" latinLnBrk="0" hangingPunct="1">
                        <a:defRPr sz="1800" b="0" i="0" u="none" kern="1200">
                          <a:solidFill>
                            <a:srgbClr val="08090C"/>
                          </a:solidFill>
                          <a:latin typeface="+mn-lt"/>
                          <a:ea typeface="+mn-ea"/>
                          <a:cs typeface="+mn-cs"/>
                        </a:defRPr>
                      </a:lvl8pPr>
                      <a:lvl9pPr marL="3657600" algn="l" defTabSz="456565" rtl="0" eaLnBrk="1" latinLnBrk="0" hangingPunct="1">
                        <a:defRPr sz="1800" b="0" i="0" u="none" kern="1200">
                          <a:solidFill>
                            <a:srgbClr val="08090C"/>
                          </a:solidFill>
                          <a:latin typeface="+mn-lt"/>
                          <a:ea typeface="+mn-ea"/>
                          <a:cs typeface="+mn-cs"/>
                        </a:defRPr>
                      </a:lvl9pPr>
                    </a:lstStyle>
                    <a:p>
                      <a:pPr marL="0" indent="0" algn="ctr">
                        <a:lnSpc>
                          <a:spcPct val="120000"/>
                        </a:lnSpc>
                        <a:spcBef>
                          <a:spcPct val="0"/>
                        </a:spcBef>
                        <a:spcAft>
                          <a:spcPct val="0"/>
                        </a:spcAft>
                      </a:pPr>
                      <a:r>
                        <a:rPr lang="zh-CN" altLang="en-US" sz="1400"/>
                        <a:t>标签噪声</a:t>
                      </a:r>
                      <a:endParaRPr lang="zh-CN" altLang="en-US" sz="1400"/>
                    </a:p>
                  </a:txBody>
                  <a:tcPr marL="86042" marR="86042" marT="57467" marB="5746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defPPr>
                        <a:defRPr lang="en-US" b="0" i="0" u="none">
                          <a:solidFill>
                            <a:srgbClr val="08090C"/>
                          </a:solidFill>
                        </a:defRPr>
                      </a:defPPr>
                      <a:lvl1pPr marL="0" algn="l" defTabSz="456565" rtl="0" eaLnBrk="1" latinLnBrk="0" hangingPunct="1">
                        <a:defRPr sz="1800" b="0" i="0" u="none" kern="1200">
                          <a:solidFill>
                            <a:srgbClr val="08090C"/>
                          </a:solidFill>
                          <a:latin typeface="+mn-lt"/>
                          <a:ea typeface="+mn-ea"/>
                          <a:cs typeface="+mn-cs"/>
                        </a:defRPr>
                      </a:lvl1pPr>
                      <a:lvl2pPr marL="457200" algn="l" defTabSz="456565" rtl="0" eaLnBrk="1" latinLnBrk="0" hangingPunct="1">
                        <a:defRPr sz="1800" b="0" i="0" u="none" kern="1200">
                          <a:solidFill>
                            <a:srgbClr val="08090C"/>
                          </a:solidFill>
                          <a:latin typeface="+mn-lt"/>
                          <a:ea typeface="+mn-ea"/>
                          <a:cs typeface="+mn-cs"/>
                        </a:defRPr>
                      </a:lvl2pPr>
                      <a:lvl3pPr marL="914400" algn="l" defTabSz="456565" rtl="0" eaLnBrk="1" latinLnBrk="0" hangingPunct="1">
                        <a:defRPr sz="1800" b="0" i="0" u="none" kern="1200">
                          <a:solidFill>
                            <a:srgbClr val="08090C"/>
                          </a:solidFill>
                          <a:latin typeface="+mn-lt"/>
                          <a:ea typeface="+mn-ea"/>
                          <a:cs typeface="+mn-cs"/>
                        </a:defRPr>
                      </a:lvl3pPr>
                      <a:lvl4pPr marL="1371600" algn="l" defTabSz="456565" rtl="0" eaLnBrk="1" latinLnBrk="0" hangingPunct="1">
                        <a:defRPr sz="1800" b="0" i="0" u="none" kern="1200">
                          <a:solidFill>
                            <a:srgbClr val="08090C"/>
                          </a:solidFill>
                          <a:latin typeface="+mn-lt"/>
                          <a:ea typeface="+mn-ea"/>
                          <a:cs typeface="+mn-cs"/>
                        </a:defRPr>
                      </a:lvl4pPr>
                      <a:lvl5pPr marL="1828800" algn="l" defTabSz="456565" rtl="0" eaLnBrk="1" latinLnBrk="0" hangingPunct="1">
                        <a:defRPr sz="1800" b="0" i="0" u="none" kern="1200">
                          <a:solidFill>
                            <a:srgbClr val="08090C"/>
                          </a:solidFill>
                          <a:latin typeface="+mn-lt"/>
                          <a:ea typeface="+mn-ea"/>
                          <a:cs typeface="+mn-cs"/>
                        </a:defRPr>
                      </a:lvl5pPr>
                      <a:lvl6pPr marL="2286000" algn="l" defTabSz="456565" rtl="0" eaLnBrk="1" latinLnBrk="0" hangingPunct="1">
                        <a:defRPr sz="1800" b="0" i="0" u="none" kern="1200">
                          <a:solidFill>
                            <a:srgbClr val="08090C"/>
                          </a:solidFill>
                          <a:latin typeface="+mn-lt"/>
                          <a:ea typeface="+mn-ea"/>
                          <a:cs typeface="+mn-cs"/>
                        </a:defRPr>
                      </a:lvl6pPr>
                      <a:lvl7pPr marL="2743200" algn="l" defTabSz="456565" rtl="0" eaLnBrk="1" latinLnBrk="0" hangingPunct="1">
                        <a:defRPr sz="1800" b="0" i="0" u="none" kern="1200">
                          <a:solidFill>
                            <a:srgbClr val="08090C"/>
                          </a:solidFill>
                          <a:latin typeface="+mn-lt"/>
                          <a:ea typeface="+mn-ea"/>
                          <a:cs typeface="+mn-cs"/>
                        </a:defRPr>
                      </a:lvl7pPr>
                      <a:lvl8pPr marL="3200400" algn="l" defTabSz="456565" rtl="0" eaLnBrk="1" latinLnBrk="0" hangingPunct="1">
                        <a:defRPr sz="1800" b="0" i="0" u="none" kern="1200">
                          <a:solidFill>
                            <a:srgbClr val="08090C"/>
                          </a:solidFill>
                          <a:latin typeface="+mn-lt"/>
                          <a:ea typeface="+mn-ea"/>
                          <a:cs typeface="+mn-cs"/>
                        </a:defRPr>
                      </a:lvl8pPr>
                      <a:lvl9pPr marL="3657600" algn="l" defTabSz="456565" rtl="0" eaLnBrk="1" latinLnBrk="0" hangingPunct="1">
                        <a:defRPr sz="1800" b="0" i="0" u="none" kern="1200">
                          <a:solidFill>
                            <a:srgbClr val="08090C"/>
                          </a:solidFill>
                          <a:latin typeface="+mn-lt"/>
                          <a:ea typeface="+mn-ea"/>
                          <a:cs typeface="+mn-cs"/>
                        </a:defRPr>
                      </a:lvl9pPr>
                    </a:lstStyle>
                    <a:p>
                      <a:pPr marL="0" indent="0" algn="ctr">
                        <a:lnSpc>
                          <a:spcPct val="120000"/>
                        </a:lnSpc>
                        <a:spcBef>
                          <a:spcPct val="0"/>
                        </a:spcBef>
                        <a:spcAft>
                          <a:spcPct val="0"/>
                        </a:spcAft>
                      </a:pPr>
                      <a:r>
                        <a:rPr lang="zh-CN" altLang="en-US" sz="1400"/>
                        <a:t>双模型训练 </a:t>
                      </a:r>
                      <a:r>
                        <a:rPr lang="en-US" altLang="zh-CN" sz="1400"/>
                        <a:t>+ </a:t>
                      </a:r>
                      <a:r>
                        <a:rPr lang="zh-CN" altLang="en-US" sz="1400"/>
                        <a:t>损失向量离群点检测，识别并修正噪声标签</a:t>
                      </a:r>
                      <a:endParaRPr lang="zh-CN" altLang="en-US" sz="1400"/>
                    </a:p>
                  </a:txBody>
                  <a:tcPr marL="86042" marR="86042" marT="57467" marB="5746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defPPr>
                        <a:defRPr lang="en-US" b="0" i="0" u="none">
                          <a:solidFill>
                            <a:srgbClr val="08090C"/>
                          </a:solidFill>
                        </a:defRPr>
                      </a:defPPr>
                      <a:lvl1pPr marL="0" algn="l" defTabSz="456565" rtl="0" eaLnBrk="1" latinLnBrk="0" hangingPunct="1">
                        <a:defRPr sz="1800" b="0" i="0" u="none" kern="1200">
                          <a:solidFill>
                            <a:srgbClr val="08090C"/>
                          </a:solidFill>
                          <a:latin typeface="+mn-lt"/>
                          <a:ea typeface="+mn-ea"/>
                          <a:cs typeface="+mn-cs"/>
                        </a:defRPr>
                      </a:lvl1pPr>
                      <a:lvl2pPr marL="457200" algn="l" defTabSz="456565" rtl="0" eaLnBrk="1" latinLnBrk="0" hangingPunct="1">
                        <a:defRPr sz="1800" b="0" i="0" u="none" kern="1200">
                          <a:solidFill>
                            <a:srgbClr val="08090C"/>
                          </a:solidFill>
                          <a:latin typeface="+mn-lt"/>
                          <a:ea typeface="+mn-ea"/>
                          <a:cs typeface="+mn-cs"/>
                        </a:defRPr>
                      </a:lvl2pPr>
                      <a:lvl3pPr marL="914400" algn="l" defTabSz="456565" rtl="0" eaLnBrk="1" latinLnBrk="0" hangingPunct="1">
                        <a:defRPr sz="1800" b="0" i="0" u="none" kern="1200">
                          <a:solidFill>
                            <a:srgbClr val="08090C"/>
                          </a:solidFill>
                          <a:latin typeface="+mn-lt"/>
                          <a:ea typeface="+mn-ea"/>
                          <a:cs typeface="+mn-cs"/>
                        </a:defRPr>
                      </a:lvl3pPr>
                      <a:lvl4pPr marL="1371600" algn="l" defTabSz="456565" rtl="0" eaLnBrk="1" latinLnBrk="0" hangingPunct="1">
                        <a:defRPr sz="1800" b="0" i="0" u="none" kern="1200">
                          <a:solidFill>
                            <a:srgbClr val="08090C"/>
                          </a:solidFill>
                          <a:latin typeface="+mn-lt"/>
                          <a:ea typeface="+mn-ea"/>
                          <a:cs typeface="+mn-cs"/>
                        </a:defRPr>
                      </a:lvl4pPr>
                      <a:lvl5pPr marL="1828800" algn="l" defTabSz="456565" rtl="0" eaLnBrk="1" latinLnBrk="0" hangingPunct="1">
                        <a:defRPr sz="1800" b="0" i="0" u="none" kern="1200">
                          <a:solidFill>
                            <a:srgbClr val="08090C"/>
                          </a:solidFill>
                          <a:latin typeface="+mn-lt"/>
                          <a:ea typeface="+mn-ea"/>
                          <a:cs typeface="+mn-cs"/>
                        </a:defRPr>
                      </a:lvl5pPr>
                      <a:lvl6pPr marL="2286000" algn="l" defTabSz="456565" rtl="0" eaLnBrk="1" latinLnBrk="0" hangingPunct="1">
                        <a:defRPr sz="1800" b="0" i="0" u="none" kern="1200">
                          <a:solidFill>
                            <a:srgbClr val="08090C"/>
                          </a:solidFill>
                          <a:latin typeface="+mn-lt"/>
                          <a:ea typeface="+mn-ea"/>
                          <a:cs typeface="+mn-cs"/>
                        </a:defRPr>
                      </a:lvl6pPr>
                      <a:lvl7pPr marL="2743200" algn="l" defTabSz="456565" rtl="0" eaLnBrk="1" latinLnBrk="0" hangingPunct="1">
                        <a:defRPr sz="1800" b="0" i="0" u="none" kern="1200">
                          <a:solidFill>
                            <a:srgbClr val="08090C"/>
                          </a:solidFill>
                          <a:latin typeface="+mn-lt"/>
                          <a:ea typeface="+mn-ea"/>
                          <a:cs typeface="+mn-cs"/>
                        </a:defRPr>
                      </a:lvl7pPr>
                      <a:lvl8pPr marL="3200400" algn="l" defTabSz="456565" rtl="0" eaLnBrk="1" latinLnBrk="0" hangingPunct="1">
                        <a:defRPr sz="1800" b="0" i="0" u="none" kern="1200">
                          <a:solidFill>
                            <a:srgbClr val="08090C"/>
                          </a:solidFill>
                          <a:latin typeface="+mn-lt"/>
                          <a:ea typeface="+mn-ea"/>
                          <a:cs typeface="+mn-cs"/>
                        </a:defRPr>
                      </a:lvl8pPr>
                      <a:lvl9pPr marL="3657600" algn="l" defTabSz="456565" rtl="0" eaLnBrk="1" latinLnBrk="0" hangingPunct="1">
                        <a:defRPr sz="1800" b="0" i="0" u="none" kern="1200">
                          <a:solidFill>
                            <a:srgbClr val="08090C"/>
                          </a:solidFill>
                          <a:latin typeface="+mn-lt"/>
                          <a:ea typeface="+mn-ea"/>
                          <a:cs typeface="+mn-cs"/>
                        </a:defRPr>
                      </a:lvl9pPr>
                    </a:lstStyle>
                    <a:p>
                      <a:pPr marL="228600" indent="-228600" algn="ctr">
                        <a:lnSpc>
                          <a:spcPct val="120000"/>
                        </a:lnSpc>
                        <a:spcBef>
                          <a:spcPct val="0"/>
                        </a:spcBef>
                        <a:spcAft>
                          <a:spcPct val="0"/>
                        </a:spcAft>
                        <a:buAutoNum type="arabicPeriod"/>
                      </a:pPr>
                      <a:r>
                        <a:rPr lang="zh-CN" altLang="en-US" sz="1400"/>
                        <a:t>通用适配各类检测模型</a:t>
                      </a:r>
                      <a:endParaRPr lang="en-US" altLang="zh-CN" sz="1400"/>
                    </a:p>
                    <a:p>
                      <a:pPr marL="228600" indent="-228600" algn="ctr">
                        <a:lnSpc>
                          <a:spcPct val="120000"/>
                        </a:lnSpc>
                        <a:spcBef>
                          <a:spcPct val="0"/>
                        </a:spcBef>
                        <a:spcAft>
                          <a:spcPct val="0"/>
                        </a:spcAft>
                        <a:buAutoNum type="arabicPeriod"/>
                      </a:pPr>
                      <a:r>
                        <a:rPr lang="zh-CN" altLang="en-US" sz="1400"/>
                        <a:t>接近全正确标签</a:t>
                      </a:r>
                      <a:endParaRPr lang="zh-CN" altLang="en-US" sz="1400"/>
                    </a:p>
                  </a:txBody>
                  <a:tcPr marL="86042" marR="86042" marT="57467" marB="5746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defPPr>
                        <a:defRPr lang="en-US" b="0" i="0" u="none">
                          <a:solidFill>
                            <a:srgbClr val="08090C"/>
                          </a:solidFill>
                        </a:defRPr>
                      </a:defPPr>
                      <a:lvl1pPr marL="0" algn="l" defTabSz="456565" rtl="0" eaLnBrk="1" latinLnBrk="0" hangingPunct="1">
                        <a:defRPr sz="1800" b="0" i="0" u="none" kern="1200">
                          <a:solidFill>
                            <a:srgbClr val="08090C"/>
                          </a:solidFill>
                          <a:latin typeface="+mn-lt"/>
                          <a:ea typeface="+mn-ea"/>
                          <a:cs typeface="+mn-cs"/>
                        </a:defRPr>
                      </a:lvl1pPr>
                      <a:lvl2pPr marL="457200" algn="l" defTabSz="456565" rtl="0" eaLnBrk="1" latinLnBrk="0" hangingPunct="1">
                        <a:defRPr sz="1800" b="0" i="0" u="none" kern="1200">
                          <a:solidFill>
                            <a:srgbClr val="08090C"/>
                          </a:solidFill>
                          <a:latin typeface="+mn-lt"/>
                          <a:ea typeface="+mn-ea"/>
                          <a:cs typeface="+mn-cs"/>
                        </a:defRPr>
                      </a:lvl2pPr>
                      <a:lvl3pPr marL="914400" algn="l" defTabSz="456565" rtl="0" eaLnBrk="1" latinLnBrk="0" hangingPunct="1">
                        <a:defRPr sz="1800" b="0" i="0" u="none" kern="1200">
                          <a:solidFill>
                            <a:srgbClr val="08090C"/>
                          </a:solidFill>
                          <a:latin typeface="+mn-lt"/>
                          <a:ea typeface="+mn-ea"/>
                          <a:cs typeface="+mn-cs"/>
                        </a:defRPr>
                      </a:lvl3pPr>
                      <a:lvl4pPr marL="1371600" algn="l" defTabSz="456565" rtl="0" eaLnBrk="1" latinLnBrk="0" hangingPunct="1">
                        <a:defRPr sz="1800" b="0" i="0" u="none" kern="1200">
                          <a:solidFill>
                            <a:srgbClr val="08090C"/>
                          </a:solidFill>
                          <a:latin typeface="+mn-lt"/>
                          <a:ea typeface="+mn-ea"/>
                          <a:cs typeface="+mn-cs"/>
                        </a:defRPr>
                      </a:lvl4pPr>
                      <a:lvl5pPr marL="1828800" algn="l" defTabSz="456565" rtl="0" eaLnBrk="1" latinLnBrk="0" hangingPunct="1">
                        <a:defRPr sz="1800" b="0" i="0" u="none" kern="1200">
                          <a:solidFill>
                            <a:srgbClr val="08090C"/>
                          </a:solidFill>
                          <a:latin typeface="+mn-lt"/>
                          <a:ea typeface="+mn-ea"/>
                          <a:cs typeface="+mn-cs"/>
                        </a:defRPr>
                      </a:lvl5pPr>
                      <a:lvl6pPr marL="2286000" algn="l" defTabSz="456565" rtl="0" eaLnBrk="1" latinLnBrk="0" hangingPunct="1">
                        <a:defRPr sz="1800" b="0" i="0" u="none" kern="1200">
                          <a:solidFill>
                            <a:srgbClr val="08090C"/>
                          </a:solidFill>
                          <a:latin typeface="+mn-lt"/>
                          <a:ea typeface="+mn-ea"/>
                          <a:cs typeface="+mn-cs"/>
                        </a:defRPr>
                      </a:lvl6pPr>
                      <a:lvl7pPr marL="2743200" algn="l" defTabSz="456565" rtl="0" eaLnBrk="1" latinLnBrk="0" hangingPunct="1">
                        <a:defRPr sz="1800" b="0" i="0" u="none" kern="1200">
                          <a:solidFill>
                            <a:srgbClr val="08090C"/>
                          </a:solidFill>
                          <a:latin typeface="+mn-lt"/>
                          <a:ea typeface="+mn-ea"/>
                          <a:cs typeface="+mn-cs"/>
                        </a:defRPr>
                      </a:lvl7pPr>
                      <a:lvl8pPr marL="3200400" algn="l" defTabSz="456565" rtl="0" eaLnBrk="1" latinLnBrk="0" hangingPunct="1">
                        <a:defRPr sz="1800" b="0" i="0" u="none" kern="1200">
                          <a:solidFill>
                            <a:srgbClr val="08090C"/>
                          </a:solidFill>
                          <a:latin typeface="+mn-lt"/>
                          <a:ea typeface="+mn-ea"/>
                          <a:cs typeface="+mn-cs"/>
                        </a:defRPr>
                      </a:lvl8pPr>
                      <a:lvl9pPr marL="3657600" algn="l" defTabSz="456565" rtl="0" eaLnBrk="1" latinLnBrk="0" hangingPunct="1">
                        <a:defRPr sz="1800" b="0" i="0" u="none" kern="1200">
                          <a:solidFill>
                            <a:srgbClr val="08090C"/>
                          </a:solidFill>
                          <a:latin typeface="+mn-lt"/>
                          <a:ea typeface="+mn-ea"/>
                          <a:cs typeface="+mn-cs"/>
                        </a:defRPr>
                      </a:lvl9pPr>
                    </a:lstStyle>
                    <a:p>
                      <a:pPr marL="228600" indent="-228600" algn="ctr">
                        <a:lnSpc>
                          <a:spcPct val="120000"/>
                        </a:lnSpc>
                        <a:spcBef>
                          <a:spcPct val="0"/>
                        </a:spcBef>
                        <a:spcAft>
                          <a:spcPct val="0"/>
                        </a:spcAft>
                        <a:buAutoNum type="arabicPeriod"/>
                      </a:pPr>
                      <a:r>
                        <a:rPr lang="zh-CN" altLang="en-US" sz="1400"/>
                        <a:t>依赖模型训练的中间状态</a:t>
                      </a:r>
                      <a:endParaRPr lang="en-US" altLang="zh-CN" sz="1400"/>
                    </a:p>
                    <a:p>
                      <a:pPr marL="228600" indent="-228600" algn="ctr">
                        <a:lnSpc>
                          <a:spcPct val="120000"/>
                        </a:lnSpc>
                        <a:spcBef>
                          <a:spcPct val="0"/>
                        </a:spcBef>
                        <a:spcAft>
                          <a:spcPct val="0"/>
                        </a:spcAft>
                        <a:buAutoNum type="arabicPeriod"/>
                      </a:pPr>
                      <a:r>
                        <a:rPr lang="zh-CN" altLang="en-US" sz="1400"/>
                        <a:t>极端噪声场景效果未验证</a:t>
                      </a:r>
                      <a:endParaRPr lang="zh-CN" altLang="en-US" sz="1400"/>
                    </a:p>
                  </a:txBody>
                  <a:tcPr marL="86042" marR="86042" marT="57467" marB="5746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r>
              <a:tr h="501489">
                <a:tc>
                  <a:txBody>
                    <a:bodyPr/>
                    <a:lstStyle>
                      <a:defPPr>
                        <a:defRPr lang="en-US" b="0" i="0" u="none">
                          <a:solidFill>
                            <a:srgbClr val="08090C"/>
                          </a:solidFill>
                        </a:defRPr>
                      </a:defPPr>
                      <a:lvl1pPr marL="0" algn="l" defTabSz="456565" rtl="0" eaLnBrk="1" latinLnBrk="0" hangingPunct="1">
                        <a:defRPr sz="1800" b="0" i="0" u="none" kern="1200">
                          <a:solidFill>
                            <a:srgbClr val="08090C"/>
                          </a:solidFill>
                          <a:latin typeface="+mn-lt"/>
                          <a:ea typeface="+mn-ea"/>
                          <a:cs typeface="+mn-cs"/>
                        </a:defRPr>
                      </a:lvl1pPr>
                      <a:lvl2pPr marL="457200" algn="l" defTabSz="456565" rtl="0" eaLnBrk="1" latinLnBrk="0" hangingPunct="1">
                        <a:defRPr sz="1800" b="0" i="0" u="none" kern="1200">
                          <a:solidFill>
                            <a:srgbClr val="08090C"/>
                          </a:solidFill>
                          <a:latin typeface="+mn-lt"/>
                          <a:ea typeface="+mn-ea"/>
                          <a:cs typeface="+mn-cs"/>
                        </a:defRPr>
                      </a:lvl2pPr>
                      <a:lvl3pPr marL="914400" algn="l" defTabSz="456565" rtl="0" eaLnBrk="1" latinLnBrk="0" hangingPunct="1">
                        <a:defRPr sz="1800" b="0" i="0" u="none" kern="1200">
                          <a:solidFill>
                            <a:srgbClr val="08090C"/>
                          </a:solidFill>
                          <a:latin typeface="+mn-lt"/>
                          <a:ea typeface="+mn-ea"/>
                          <a:cs typeface="+mn-cs"/>
                        </a:defRPr>
                      </a:lvl3pPr>
                      <a:lvl4pPr marL="1371600" algn="l" defTabSz="456565" rtl="0" eaLnBrk="1" latinLnBrk="0" hangingPunct="1">
                        <a:defRPr sz="1800" b="0" i="0" u="none" kern="1200">
                          <a:solidFill>
                            <a:srgbClr val="08090C"/>
                          </a:solidFill>
                          <a:latin typeface="+mn-lt"/>
                          <a:ea typeface="+mn-ea"/>
                          <a:cs typeface="+mn-cs"/>
                        </a:defRPr>
                      </a:lvl4pPr>
                      <a:lvl5pPr marL="1828800" algn="l" defTabSz="456565" rtl="0" eaLnBrk="1" latinLnBrk="0" hangingPunct="1">
                        <a:defRPr sz="1800" b="0" i="0" u="none" kern="1200">
                          <a:solidFill>
                            <a:srgbClr val="08090C"/>
                          </a:solidFill>
                          <a:latin typeface="+mn-lt"/>
                          <a:ea typeface="+mn-ea"/>
                          <a:cs typeface="+mn-cs"/>
                        </a:defRPr>
                      </a:lvl5pPr>
                      <a:lvl6pPr marL="2286000" algn="l" defTabSz="456565" rtl="0" eaLnBrk="1" latinLnBrk="0" hangingPunct="1">
                        <a:defRPr sz="1800" b="0" i="0" u="none" kern="1200">
                          <a:solidFill>
                            <a:srgbClr val="08090C"/>
                          </a:solidFill>
                          <a:latin typeface="+mn-lt"/>
                          <a:ea typeface="+mn-ea"/>
                          <a:cs typeface="+mn-cs"/>
                        </a:defRPr>
                      </a:lvl6pPr>
                      <a:lvl7pPr marL="2743200" algn="l" defTabSz="456565" rtl="0" eaLnBrk="1" latinLnBrk="0" hangingPunct="1">
                        <a:defRPr sz="1800" b="0" i="0" u="none" kern="1200">
                          <a:solidFill>
                            <a:srgbClr val="08090C"/>
                          </a:solidFill>
                          <a:latin typeface="+mn-lt"/>
                          <a:ea typeface="+mn-ea"/>
                          <a:cs typeface="+mn-cs"/>
                        </a:defRPr>
                      </a:lvl7pPr>
                      <a:lvl8pPr marL="3200400" algn="l" defTabSz="456565" rtl="0" eaLnBrk="1" latinLnBrk="0" hangingPunct="1">
                        <a:defRPr sz="1800" b="0" i="0" u="none" kern="1200">
                          <a:solidFill>
                            <a:srgbClr val="08090C"/>
                          </a:solidFill>
                          <a:latin typeface="+mn-lt"/>
                          <a:ea typeface="+mn-ea"/>
                          <a:cs typeface="+mn-cs"/>
                        </a:defRPr>
                      </a:lvl8pPr>
                      <a:lvl9pPr marL="3657600" algn="l" defTabSz="456565" rtl="0" eaLnBrk="1" latinLnBrk="0" hangingPunct="1">
                        <a:defRPr sz="1800" b="0" i="0" u="none" kern="1200">
                          <a:solidFill>
                            <a:srgbClr val="08090C"/>
                          </a:solidFill>
                          <a:latin typeface="+mn-lt"/>
                          <a:ea typeface="+mn-ea"/>
                          <a:cs typeface="+mn-cs"/>
                        </a:defRPr>
                      </a:lvl9pPr>
                    </a:lstStyle>
                    <a:p>
                      <a:pPr marL="0" indent="0" algn="ctr">
                        <a:lnSpc>
                          <a:spcPct val="120000"/>
                        </a:lnSpc>
                        <a:spcBef>
                          <a:spcPct val="0"/>
                        </a:spcBef>
                        <a:spcAft>
                          <a:spcPct val="0"/>
                        </a:spcAft>
                      </a:pPr>
                      <a:r>
                        <a:rPr lang="en-US" altLang="zh-CN" sz="1400"/>
                        <a:t>Continuous Learning</a:t>
                      </a:r>
                      <a:endParaRPr lang="en-US" altLang="zh-CN" sz="1400"/>
                    </a:p>
                    <a:p>
                      <a:pPr marL="0" indent="0" algn="ctr">
                        <a:lnSpc>
                          <a:spcPct val="120000"/>
                        </a:lnSpc>
                        <a:spcBef>
                          <a:spcPct val="0"/>
                        </a:spcBef>
                        <a:spcAft>
                          <a:spcPct val="0"/>
                        </a:spcAft>
                      </a:pPr>
                      <a:r>
                        <a:rPr lang="zh-CN" altLang="en-US" sz="1400"/>
                        <a:t>（</a:t>
                      </a:r>
                      <a:r>
                        <a:rPr lang="en-US" altLang="zh-CN" sz="1400"/>
                        <a:t>USENIX Security 2023</a:t>
                      </a:r>
                      <a:r>
                        <a:rPr lang="zh-CN" altLang="en-US" sz="1400"/>
                        <a:t>）</a:t>
                      </a:r>
                      <a:endParaRPr lang="zh-CN" altLang="en-US" sz="1400"/>
                    </a:p>
                  </a:txBody>
                  <a:tcPr marL="86042" marR="86042" marT="57467" marB="5746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defPPr>
                        <a:defRPr lang="en-US" b="0" i="0" u="none">
                          <a:solidFill>
                            <a:srgbClr val="08090C"/>
                          </a:solidFill>
                        </a:defRPr>
                      </a:defPPr>
                      <a:lvl1pPr marL="0" algn="l" defTabSz="456565" rtl="0" eaLnBrk="1" latinLnBrk="0" hangingPunct="1">
                        <a:defRPr sz="1800" b="0" i="0" u="none" kern="1200">
                          <a:solidFill>
                            <a:srgbClr val="08090C"/>
                          </a:solidFill>
                          <a:latin typeface="+mn-lt"/>
                          <a:ea typeface="+mn-ea"/>
                          <a:cs typeface="+mn-cs"/>
                        </a:defRPr>
                      </a:lvl1pPr>
                      <a:lvl2pPr marL="457200" algn="l" defTabSz="456565" rtl="0" eaLnBrk="1" latinLnBrk="0" hangingPunct="1">
                        <a:defRPr sz="1800" b="0" i="0" u="none" kern="1200">
                          <a:solidFill>
                            <a:srgbClr val="08090C"/>
                          </a:solidFill>
                          <a:latin typeface="+mn-lt"/>
                          <a:ea typeface="+mn-ea"/>
                          <a:cs typeface="+mn-cs"/>
                        </a:defRPr>
                      </a:lvl2pPr>
                      <a:lvl3pPr marL="914400" algn="l" defTabSz="456565" rtl="0" eaLnBrk="1" latinLnBrk="0" hangingPunct="1">
                        <a:defRPr sz="1800" b="0" i="0" u="none" kern="1200">
                          <a:solidFill>
                            <a:srgbClr val="08090C"/>
                          </a:solidFill>
                          <a:latin typeface="+mn-lt"/>
                          <a:ea typeface="+mn-ea"/>
                          <a:cs typeface="+mn-cs"/>
                        </a:defRPr>
                      </a:lvl3pPr>
                      <a:lvl4pPr marL="1371600" algn="l" defTabSz="456565" rtl="0" eaLnBrk="1" latinLnBrk="0" hangingPunct="1">
                        <a:defRPr sz="1800" b="0" i="0" u="none" kern="1200">
                          <a:solidFill>
                            <a:srgbClr val="08090C"/>
                          </a:solidFill>
                          <a:latin typeface="+mn-lt"/>
                          <a:ea typeface="+mn-ea"/>
                          <a:cs typeface="+mn-cs"/>
                        </a:defRPr>
                      </a:lvl4pPr>
                      <a:lvl5pPr marL="1828800" algn="l" defTabSz="456565" rtl="0" eaLnBrk="1" latinLnBrk="0" hangingPunct="1">
                        <a:defRPr sz="1800" b="0" i="0" u="none" kern="1200">
                          <a:solidFill>
                            <a:srgbClr val="08090C"/>
                          </a:solidFill>
                          <a:latin typeface="+mn-lt"/>
                          <a:ea typeface="+mn-ea"/>
                          <a:cs typeface="+mn-cs"/>
                        </a:defRPr>
                      </a:lvl5pPr>
                      <a:lvl6pPr marL="2286000" algn="l" defTabSz="456565" rtl="0" eaLnBrk="1" latinLnBrk="0" hangingPunct="1">
                        <a:defRPr sz="1800" b="0" i="0" u="none" kern="1200">
                          <a:solidFill>
                            <a:srgbClr val="08090C"/>
                          </a:solidFill>
                          <a:latin typeface="+mn-lt"/>
                          <a:ea typeface="+mn-ea"/>
                          <a:cs typeface="+mn-cs"/>
                        </a:defRPr>
                      </a:lvl6pPr>
                      <a:lvl7pPr marL="2743200" algn="l" defTabSz="456565" rtl="0" eaLnBrk="1" latinLnBrk="0" hangingPunct="1">
                        <a:defRPr sz="1800" b="0" i="0" u="none" kern="1200">
                          <a:solidFill>
                            <a:srgbClr val="08090C"/>
                          </a:solidFill>
                          <a:latin typeface="+mn-lt"/>
                          <a:ea typeface="+mn-ea"/>
                          <a:cs typeface="+mn-cs"/>
                        </a:defRPr>
                      </a:lvl7pPr>
                      <a:lvl8pPr marL="3200400" algn="l" defTabSz="456565" rtl="0" eaLnBrk="1" latinLnBrk="0" hangingPunct="1">
                        <a:defRPr sz="1800" b="0" i="0" u="none" kern="1200">
                          <a:solidFill>
                            <a:srgbClr val="08090C"/>
                          </a:solidFill>
                          <a:latin typeface="+mn-lt"/>
                          <a:ea typeface="+mn-ea"/>
                          <a:cs typeface="+mn-cs"/>
                        </a:defRPr>
                      </a:lvl8pPr>
                      <a:lvl9pPr marL="3657600" algn="l" defTabSz="456565" rtl="0" eaLnBrk="1" latinLnBrk="0" hangingPunct="1">
                        <a:defRPr sz="1800" b="0" i="0" u="none" kern="1200">
                          <a:solidFill>
                            <a:srgbClr val="08090C"/>
                          </a:solidFill>
                          <a:latin typeface="+mn-lt"/>
                          <a:ea typeface="+mn-ea"/>
                          <a:cs typeface="+mn-cs"/>
                        </a:defRPr>
                      </a:lvl9pPr>
                    </a:lstStyle>
                    <a:p>
                      <a:pPr marL="0" indent="0" algn="ctr">
                        <a:lnSpc>
                          <a:spcPct val="120000"/>
                        </a:lnSpc>
                        <a:spcBef>
                          <a:spcPct val="0"/>
                        </a:spcBef>
                        <a:spcAft>
                          <a:spcPct val="0"/>
                        </a:spcAft>
                      </a:pPr>
                      <a:r>
                        <a:rPr lang="en-US" altLang="zh-CN" sz="1400"/>
                        <a:t>Android </a:t>
                      </a:r>
                      <a:r>
                        <a:rPr lang="zh-CN" altLang="en-US" sz="1400"/>
                        <a:t>概念漂移</a:t>
                      </a:r>
                      <a:endParaRPr lang="zh-CN" altLang="en-US" sz="1400"/>
                    </a:p>
                  </a:txBody>
                  <a:tcPr marL="86042" marR="86042" marT="57467" marB="5746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defPPr>
                        <a:defRPr lang="en-US" b="0" i="0" u="none">
                          <a:solidFill>
                            <a:srgbClr val="08090C"/>
                          </a:solidFill>
                        </a:defRPr>
                      </a:defPPr>
                      <a:lvl1pPr marL="0" algn="l" defTabSz="456565" rtl="0" eaLnBrk="1" latinLnBrk="0" hangingPunct="1">
                        <a:defRPr sz="1800" b="0" i="0" u="none" kern="1200">
                          <a:solidFill>
                            <a:srgbClr val="08090C"/>
                          </a:solidFill>
                          <a:latin typeface="+mn-lt"/>
                          <a:ea typeface="+mn-ea"/>
                          <a:cs typeface="+mn-cs"/>
                        </a:defRPr>
                      </a:lvl1pPr>
                      <a:lvl2pPr marL="457200" algn="l" defTabSz="456565" rtl="0" eaLnBrk="1" latinLnBrk="0" hangingPunct="1">
                        <a:defRPr sz="1800" b="0" i="0" u="none" kern="1200">
                          <a:solidFill>
                            <a:srgbClr val="08090C"/>
                          </a:solidFill>
                          <a:latin typeface="+mn-lt"/>
                          <a:ea typeface="+mn-ea"/>
                          <a:cs typeface="+mn-cs"/>
                        </a:defRPr>
                      </a:lvl2pPr>
                      <a:lvl3pPr marL="914400" algn="l" defTabSz="456565" rtl="0" eaLnBrk="1" latinLnBrk="0" hangingPunct="1">
                        <a:defRPr sz="1800" b="0" i="0" u="none" kern="1200">
                          <a:solidFill>
                            <a:srgbClr val="08090C"/>
                          </a:solidFill>
                          <a:latin typeface="+mn-lt"/>
                          <a:ea typeface="+mn-ea"/>
                          <a:cs typeface="+mn-cs"/>
                        </a:defRPr>
                      </a:lvl3pPr>
                      <a:lvl4pPr marL="1371600" algn="l" defTabSz="456565" rtl="0" eaLnBrk="1" latinLnBrk="0" hangingPunct="1">
                        <a:defRPr sz="1800" b="0" i="0" u="none" kern="1200">
                          <a:solidFill>
                            <a:srgbClr val="08090C"/>
                          </a:solidFill>
                          <a:latin typeface="+mn-lt"/>
                          <a:ea typeface="+mn-ea"/>
                          <a:cs typeface="+mn-cs"/>
                        </a:defRPr>
                      </a:lvl4pPr>
                      <a:lvl5pPr marL="1828800" algn="l" defTabSz="456565" rtl="0" eaLnBrk="1" latinLnBrk="0" hangingPunct="1">
                        <a:defRPr sz="1800" b="0" i="0" u="none" kern="1200">
                          <a:solidFill>
                            <a:srgbClr val="08090C"/>
                          </a:solidFill>
                          <a:latin typeface="+mn-lt"/>
                          <a:ea typeface="+mn-ea"/>
                          <a:cs typeface="+mn-cs"/>
                        </a:defRPr>
                      </a:lvl5pPr>
                      <a:lvl6pPr marL="2286000" algn="l" defTabSz="456565" rtl="0" eaLnBrk="1" latinLnBrk="0" hangingPunct="1">
                        <a:defRPr sz="1800" b="0" i="0" u="none" kern="1200">
                          <a:solidFill>
                            <a:srgbClr val="08090C"/>
                          </a:solidFill>
                          <a:latin typeface="+mn-lt"/>
                          <a:ea typeface="+mn-ea"/>
                          <a:cs typeface="+mn-cs"/>
                        </a:defRPr>
                      </a:lvl6pPr>
                      <a:lvl7pPr marL="2743200" algn="l" defTabSz="456565" rtl="0" eaLnBrk="1" latinLnBrk="0" hangingPunct="1">
                        <a:defRPr sz="1800" b="0" i="0" u="none" kern="1200">
                          <a:solidFill>
                            <a:srgbClr val="08090C"/>
                          </a:solidFill>
                          <a:latin typeface="+mn-lt"/>
                          <a:ea typeface="+mn-ea"/>
                          <a:cs typeface="+mn-cs"/>
                        </a:defRPr>
                      </a:lvl7pPr>
                      <a:lvl8pPr marL="3200400" algn="l" defTabSz="456565" rtl="0" eaLnBrk="1" latinLnBrk="0" hangingPunct="1">
                        <a:defRPr sz="1800" b="0" i="0" u="none" kern="1200">
                          <a:solidFill>
                            <a:srgbClr val="08090C"/>
                          </a:solidFill>
                          <a:latin typeface="+mn-lt"/>
                          <a:ea typeface="+mn-ea"/>
                          <a:cs typeface="+mn-cs"/>
                        </a:defRPr>
                      </a:lvl8pPr>
                      <a:lvl9pPr marL="3657600" algn="l" defTabSz="456565" rtl="0" eaLnBrk="1" latinLnBrk="0" hangingPunct="1">
                        <a:defRPr sz="1800" b="0" i="0" u="none" kern="1200">
                          <a:solidFill>
                            <a:srgbClr val="08090C"/>
                          </a:solidFill>
                          <a:latin typeface="+mn-lt"/>
                          <a:ea typeface="+mn-ea"/>
                          <a:cs typeface="+mn-cs"/>
                        </a:defRPr>
                      </a:lvl9pPr>
                    </a:lstStyle>
                    <a:p>
                      <a:pPr marL="0" indent="0" algn="ctr">
                        <a:lnSpc>
                          <a:spcPct val="120000"/>
                        </a:lnSpc>
                        <a:spcBef>
                          <a:spcPct val="0"/>
                        </a:spcBef>
                        <a:spcAft>
                          <a:spcPct val="0"/>
                        </a:spcAft>
                      </a:pPr>
                      <a:r>
                        <a:rPr lang="zh-CN" altLang="en-US" sz="1400"/>
                        <a:t>分层对比学习 </a:t>
                      </a:r>
                      <a:r>
                        <a:rPr lang="en-US" altLang="zh-CN" sz="1400"/>
                        <a:t>+ </a:t>
                      </a:r>
                      <a:r>
                        <a:rPr lang="zh-CN" altLang="en-US" sz="1400"/>
                        <a:t>伪损失不确定性采样 </a:t>
                      </a:r>
                      <a:r>
                        <a:rPr lang="en-US" altLang="zh-CN" sz="1400"/>
                        <a:t>+ </a:t>
                      </a:r>
                      <a:r>
                        <a:rPr lang="zh-CN" altLang="en-US" sz="1400"/>
                        <a:t>主动学习持续更新模型</a:t>
                      </a:r>
                      <a:endParaRPr lang="zh-CN" altLang="en-US" sz="1400"/>
                    </a:p>
                  </a:txBody>
                  <a:tcPr marL="86042" marR="86042" marT="57467" marB="5746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defPPr>
                        <a:defRPr lang="en-US" b="0" i="0" u="none">
                          <a:solidFill>
                            <a:srgbClr val="08090C"/>
                          </a:solidFill>
                        </a:defRPr>
                      </a:defPPr>
                      <a:lvl1pPr marL="0" algn="l" defTabSz="456565" rtl="0" eaLnBrk="1" latinLnBrk="0" hangingPunct="1">
                        <a:defRPr sz="1800" b="0" i="0" u="none" kern="1200">
                          <a:solidFill>
                            <a:srgbClr val="08090C"/>
                          </a:solidFill>
                          <a:latin typeface="+mn-lt"/>
                          <a:ea typeface="+mn-ea"/>
                          <a:cs typeface="+mn-cs"/>
                        </a:defRPr>
                      </a:lvl1pPr>
                      <a:lvl2pPr marL="457200" algn="l" defTabSz="456565" rtl="0" eaLnBrk="1" latinLnBrk="0" hangingPunct="1">
                        <a:defRPr sz="1800" b="0" i="0" u="none" kern="1200">
                          <a:solidFill>
                            <a:srgbClr val="08090C"/>
                          </a:solidFill>
                          <a:latin typeface="+mn-lt"/>
                          <a:ea typeface="+mn-ea"/>
                          <a:cs typeface="+mn-cs"/>
                        </a:defRPr>
                      </a:lvl2pPr>
                      <a:lvl3pPr marL="914400" algn="l" defTabSz="456565" rtl="0" eaLnBrk="1" latinLnBrk="0" hangingPunct="1">
                        <a:defRPr sz="1800" b="0" i="0" u="none" kern="1200">
                          <a:solidFill>
                            <a:srgbClr val="08090C"/>
                          </a:solidFill>
                          <a:latin typeface="+mn-lt"/>
                          <a:ea typeface="+mn-ea"/>
                          <a:cs typeface="+mn-cs"/>
                        </a:defRPr>
                      </a:lvl3pPr>
                      <a:lvl4pPr marL="1371600" algn="l" defTabSz="456565" rtl="0" eaLnBrk="1" latinLnBrk="0" hangingPunct="1">
                        <a:defRPr sz="1800" b="0" i="0" u="none" kern="1200">
                          <a:solidFill>
                            <a:srgbClr val="08090C"/>
                          </a:solidFill>
                          <a:latin typeface="+mn-lt"/>
                          <a:ea typeface="+mn-ea"/>
                          <a:cs typeface="+mn-cs"/>
                        </a:defRPr>
                      </a:lvl4pPr>
                      <a:lvl5pPr marL="1828800" algn="l" defTabSz="456565" rtl="0" eaLnBrk="1" latinLnBrk="0" hangingPunct="1">
                        <a:defRPr sz="1800" b="0" i="0" u="none" kern="1200">
                          <a:solidFill>
                            <a:srgbClr val="08090C"/>
                          </a:solidFill>
                          <a:latin typeface="+mn-lt"/>
                          <a:ea typeface="+mn-ea"/>
                          <a:cs typeface="+mn-cs"/>
                        </a:defRPr>
                      </a:lvl5pPr>
                      <a:lvl6pPr marL="2286000" algn="l" defTabSz="456565" rtl="0" eaLnBrk="1" latinLnBrk="0" hangingPunct="1">
                        <a:defRPr sz="1800" b="0" i="0" u="none" kern="1200">
                          <a:solidFill>
                            <a:srgbClr val="08090C"/>
                          </a:solidFill>
                          <a:latin typeface="+mn-lt"/>
                          <a:ea typeface="+mn-ea"/>
                          <a:cs typeface="+mn-cs"/>
                        </a:defRPr>
                      </a:lvl6pPr>
                      <a:lvl7pPr marL="2743200" algn="l" defTabSz="456565" rtl="0" eaLnBrk="1" latinLnBrk="0" hangingPunct="1">
                        <a:defRPr sz="1800" b="0" i="0" u="none" kern="1200">
                          <a:solidFill>
                            <a:srgbClr val="08090C"/>
                          </a:solidFill>
                          <a:latin typeface="+mn-lt"/>
                          <a:ea typeface="+mn-ea"/>
                          <a:cs typeface="+mn-cs"/>
                        </a:defRPr>
                      </a:lvl7pPr>
                      <a:lvl8pPr marL="3200400" algn="l" defTabSz="456565" rtl="0" eaLnBrk="1" latinLnBrk="0" hangingPunct="1">
                        <a:defRPr sz="1800" b="0" i="0" u="none" kern="1200">
                          <a:solidFill>
                            <a:srgbClr val="08090C"/>
                          </a:solidFill>
                          <a:latin typeface="+mn-lt"/>
                          <a:ea typeface="+mn-ea"/>
                          <a:cs typeface="+mn-cs"/>
                        </a:defRPr>
                      </a:lvl8pPr>
                      <a:lvl9pPr marL="3657600" algn="l" defTabSz="456565" rtl="0" eaLnBrk="1" latinLnBrk="0" hangingPunct="1">
                        <a:defRPr sz="1800" b="0" i="0" u="none" kern="1200">
                          <a:solidFill>
                            <a:srgbClr val="08090C"/>
                          </a:solidFill>
                          <a:latin typeface="+mn-lt"/>
                          <a:ea typeface="+mn-ea"/>
                          <a:cs typeface="+mn-cs"/>
                        </a:defRPr>
                      </a:lvl9pPr>
                    </a:lstStyle>
                    <a:p>
                      <a:pPr marL="228600" indent="-228600" algn="ctr">
                        <a:lnSpc>
                          <a:spcPct val="120000"/>
                        </a:lnSpc>
                        <a:spcBef>
                          <a:spcPct val="0"/>
                        </a:spcBef>
                        <a:spcAft>
                          <a:spcPct val="0"/>
                        </a:spcAft>
                        <a:buAutoNum type="arabicPeriod"/>
                      </a:pPr>
                      <a:r>
                        <a:rPr lang="zh-CN" altLang="en-US" sz="1400"/>
                        <a:t>漏检率从 </a:t>
                      </a:r>
                      <a:r>
                        <a:rPr lang="en-US" altLang="zh-CN" sz="1400"/>
                        <a:t>14% </a:t>
                      </a:r>
                      <a:r>
                        <a:rPr lang="zh-CN" altLang="en-US" sz="1400"/>
                        <a:t>降至 </a:t>
                      </a:r>
                      <a:r>
                        <a:rPr lang="en-US" altLang="zh-CN" sz="1400"/>
                        <a:t>9%</a:t>
                      </a:r>
                      <a:r>
                        <a:rPr lang="zh-CN" altLang="en-US" sz="1400"/>
                        <a:t>，误报从 </a:t>
                      </a:r>
                      <a:r>
                        <a:rPr lang="en-US" altLang="zh-CN" sz="1400"/>
                        <a:t>0.86% </a:t>
                      </a:r>
                      <a:r>
                        <a:rPr lang="zh-CN" altLang="en-US" sz="1400"/>
                        <a:t>降至 </a:t>
                      </a:r>
                      <a:r>
                        <a:rPr lang="en-US" altLang="zh-CN" sz="1400"/>
                        <a:t>0.48%</a:t>
                      </a:r>
                      <a:endParaRPr lang="en-US" altLang="zh-CN" sz="1400"/>
                    </a:p>
                    <a:p>
                      <a:pPr marL="228600" indent="-228600" algn="ctr">
                        <a:lnSpc>
                          <a:spcPct val="120000"/>
                        </a:lnSpc>
                        <a:spcBef>
                          <a:spcPct val="0"/>
                        </a:spcBef>
                        <a:spcAft>
                          <a:spcPct val="0"/>
                        </a:spcAft>
                        <a:buAutoNum type="arabicPeriod"/>
                      </a:pPr>
                      <a:r>
                        <a:rPr lang="en-US" altLang="zh-CN" sz="1400"/>
                        <a:t>7 </a:t>
                      </a:r>
                      <a:r>
                        <a:rPr lang="zh-CN" altLang="en-US" sz="1400"/>
                        <a:t>年数据上性能更稳定</a:t>
                      </a:r>
                      <a:endParaRPr lang="zh-CN" altLang="en-US" sz="1400"/>
                    </a:p>
                  </a:txBody>
                  <a:tcPr marL="86042" marR="86042" marT="57467" marB="5746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defPPr>
                        <a:defRPr lang="en-US" b="0" i="0" u="none">
                          <a:solidFill>
                            <a:srgbClr val="08090C"/>
                          </a:solidFill>
                        </a:defRPr>
                      </a:defPPr>
                      <a:lvl1pPr marL="0" algn="l" defTabSz="456565" rtl="0" eaLnBrk="1" latinLnBrk="0" hangingPunct="1">
                        <a:defRPr sz="1800" b="0" i="0" u="none" kern="1200">
                          <a:solidFill>
                            <a:srgbClr val="08090C"/>
                          </a:solidFill>
                          <a:latin typeface="+mn-lt"/>
                          <a:ea typeface="+mn-ea"/>
                          <a:cs typeface="+mn-cs"/>
                        </a:defRPr>
                      </a:lvl1pPr>
                      <a:lvl2pPr marL="457200" algn="l" defTabSz="456565" rtl="0" eaLnBrk="1" latinLnBrk="0" hangingPunct="1">
                        <a:defRPr sz="1800" b="0" i="0" u="none" kern="1200">
                          <a:solidFill>
                            <a:srgbClr val="08090C"/>
                          </a:solidFill>
                          <a:latin typeface="+mn-lt"/>
                          <a:ea typeface="+mn-ea"/>
                          <a:cs typeface="+mn-cs"/>
                        </a:defRPr>
                      </a:lvl2pPr>
                      <a:lvl3pPr marL="914400" algn="l" defTabSz="456565" rtl="0" eaLnBrk="1" latinLnBrk="0" hangingPunct="1">
                        <a:defRPr sz="1800" b="0" i="0" u="none" kern="1200">
                          <a:solidFill>
                            <a:srgbClr val="08090C"/>
                          </a:solidFill>
                          <a:latin typeface="+mn-lt"/>
                          <a:ea typeface="+mn-ea"/>
                          <a:cs typeface="+mn-cs"/>
                        </a:defRPr>
                      </a:lvl3pPr>
                      <a:lvl4pPr marL="1371600" algn="l" defTabSz="456565" rtl="0" eaLnBrk="1" latinLnBrk="0" hangingPunct="1">
                        <a:defRPr sz="1800" b="0" i="0" u="none" kern="1200">
                          <a:solidFill>
                            <a:srgbClr val="08090C"/>
                          </a:solidFill>
                          <a:latin typeface="+mn-lt"/>
                          <a:ea typeface="+mn-ea"/>
                          <a:cs typeface="+mn-cs"/>
                        </a:defRPr>
                      </a:lvl4pPr>
                      <a:lvl5pPr marL="1828800" algn="l" defTabSz="456565" rtl="0" eaLnBrk="1" latinLnBrk="0" hangingPunct="1">
                        <a:defRPr sz="1800" b="0" i="0" u="none" kern="1200">
                          <a:solidFill>
                            <a:srgbClr val="08090C"/>
                          </a:solidFill>
                          <a:latin typeface="+mn-lt"/>
                          <a:ea typeface="+mn-ea"/>
                          <a:cs typeface="+mn-cs"/>
                        </a:defRPr>
                      </a:lvl5pPr>
                      <a:lvl6pPr marL="2286000" algn="l" defTabSz="456565" rtl="0" eaLnBrk="1" latinLnBrk="0" hangingPunct="1">
                        <a:defRPr sz="1800" b="0" i="0" u="none" kern="1200">
                          <a:solidFill>
                            <a:srgbClr val="08090C"/>
                          </a:solidFill>
                          <a:latin typeface="+mn-lt"/>
                          <a:ea typeface="+mn-ea"/>
                          <a:cs typeface="+mn-cs"/>
                        </a:defRPr>
                      </a:lvl6pPr>
                      <a:lvl7pPr marL="2743200" algn="l" defTabSz="456565" rtl="0" eaLnBrk="1" latinLnBrk="0" hangingPunct="1">
                        <a:defRPr sz="1800" b="0" i="0" u="none" kern="1200">
                          <a:solidFill>
                            <a:srgbClr val="08090C"/>
                          </a:solidFill>
                          <a:latin typeface="+mn-lt"/>
                          <a:ea typeface="+mn-ea"/>
                          <a:cs typeface="+mn-cs"/>
                        </a:defRPr>
                      </a:lvl7pPr>
                      <a:lvl8pPr marL="3200400" algn="l" defTabSz="456565" rtl="0" eaLnBrk="1" latinLnBrk="0" hangingPunct="1">
                        <a:defRPr sz="1800" b="0" i="0" u="none" kern="1200">
                          <a:solidFill>
                            <a:srgbClr val="08090C"/>
                          </a:solidFill>
                          <a:latin typeface="+mn-lt"/>
                          <a:ea typeface="+mn-ea"/>
                          <a:cs typeface="+mn-cs"/>
                        </a:defRPr>
                      </a:lvl8pPr>
                      <a:lvl9pPr marL="3657600" algn="l" defTabSz="456565" rtl="0" eaLnBrk="1" latinLnBrk="0" hangingPunct="1">
                        <a:defRPr sz="1800" b="0" i="0" u="none" kern="1200">
                          <a:solidFill>
                            <a:srgbClr val="08090C"/>
                          </a:solidFill>
                          <a:latin typeface="+mn-lt"/>
                          <a:ea typeface="+mn-ea"/>
                          <a:cs typeface="+mn-cs"/>
                        </a:defRPr>
                      </a:lvl9pPr>
                    </a:lstStyle>
                    <a:p>
                      <a:pPr marL="228600" indent="-228600" algn="ctr">
                        <a:lnSpc>
                          <a:spcPct val="120000"/>
                        </a:lnSpc>
                        <a:spcBef>
                          <a:spcPct val="0"/>
                        </a:spcBef>
                        <a:spcAft>
                          <a:spcPct val="0"/>
                        </a:spcAft>
                        <a:buAutoNum type="arabicPeriod"/>
                      </a:pPr>
                      <a:r>
                        <a:rPr lang="zh-CN" altLang="en-US" sz="1400"/>
                        <a:t>仍依赖人工标注</a:t>
                      </a:r>
                      <a:endParaRPr lang="en-US" altLang="zh-CN" sz="1400"/>
                    </a:p>
                    <a:p>
                      <a:pPr marL="228600" indent="-228600" algn="ctr">
                        <a:lnSpc>
                          <a:spcPct val="120000"/>
                        </a:lnSpc>
                        <a:spcBef>
                          <a:spcPct val="0"/>
                        </a:spcBef>
                        <a:spcAft>
                          <a:spcPct val="0"/>
                        </a:spcAft>
                        <a:buAutoNum type="arabicPeriod"/>
                      </a:pPr>
                      <a:r>
                        <a:rPr lang="zh-CN" altLang="en-US" sz="1400"/>
                        <a:t>未覆盖 </a:t>
                      </a:r>
                      <a:r>
                        <a:rPr lang="en-US" altLang="zh-CN" sz="1400"/>
                        <a:t>Windows </a:t>
                      </a:r>
                      <a:r>
                        <a:rPr lang="zh-CN" altLang="en-US" sz="1400"/>
                        <a:t>场景</a:t>
                      </a:r>
                      <a:endParaRPr lang="zh-CN" altLang="en-US" sz="1400"/>
                    </a:p>
                  </a:txBody>
                  <a:tcPr marL="86042" marR="86042" marT="57467" marB="5746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r>
              <a:tr h="650594">
                <a:tc>
                  <a:txBody>
                    <a:bodyPr/>
                    <a:lstStyle>
                      <a:defPPr>
                        <a:defRPr lang="en-US" b="0" i="0" u="none">
                          <a:solidFill>
                            <a:srgbClr val="08090C"/>
                          </a:solidFill>
                        </a:defRPr>
                      </a:defPPr>
                      <a:lvl1pPr marL="0" algn="l" defTabSz="456565" rtl="0" eaLnBrk="1" latinLnBrk="0" hangingPunct="1">
                        <a:defRPr sz="1800" b="0" i="0" u="none" kern="1200">
                          <a:solidFill>
                            <a:srgbClr val="08090C"/>
                          </a:solidFill>
                          <a:latin typeface="+mn-lt"/>
                          <a:ea typeface="+mn-ea"/>
                          <a:cs typeface="+mn-cs"/>
                        </a:defRPr>
                      </a:lvl1pPr>
                      <a:lvl2pPr marL="457200" algn="l" defTabSz="456565" rtl="0" eaLnBrk="1" latinLnBrk="0" hangingPunct="1">
                        <a:defRPr sz="1800" b="0" i="0" u="none" kern="1200">
                          <a:solidFill>
                            <a:srgbClr val="08090C"/>
                          </a:solidFill>
                          <a:latin typeface="+mn-lt"/>
                          <a:ea typeface="+mn-ea"/>
                          <a:cs typeface="+mn-cs"/>
                        </a:defRPr>
                      </a:lvl2pPr>
                      <a:lvl3pPr marL="914400" algn="l" defTabSz="456565" rtl="0" eaLnBrk="1" latinLnBrk="0" hangingPunct="1">
                        <a:defRPr sz="1800" b="0" i="0" u="none" kern="1200">
                          <a:solidFill>
                            <a:srgbClr val="08090C"/>
                          </a:solidFill>
                          <a:latin typeface="+mn-lt"/>
                          <a:ea typeface="+mn-ea"/>
                          <a:cs typeface="+mn-cs"/>
                        </a:defRPr>
                      </a:lvl3pPr>
                      <a:lvl4pPr marL="1371600" algn="l" defTabSz="456565" rtl="0" eaLnBrk="1" latinLnBrk="0" hangingPunct="1">
                        <a:defRPr sz="1800" b="0" i="0" u="none" kern="1200">
                          <a:solidFill>
                            <a:srgbClr val="08090C"/>
                          </a:solidFill>
                          <a:latin typeface="+mn-lt"/>
                          <a:ea typeface="+mn-ea"/>
                          <a:cs typeface="+mn-cs"/>
                        </a:defRPr>
                      </a:lvl4pPr>
                      <a:lvl5pPr marL="1828800" algn="l" defTabSz="456565" rtl="0" eaLnBrk="1" latinLnBrk="0" hangingPunct="1">
                        <a:defRPr sz="1800" b="0" i="0" u="none" kern="1200">
                          <a:solidFill>
                            <a:srgbClr val="08090C"/>
                          </a:solidFill>
                          <a:latin typeface="+mn-lt"/>
                          <a:ea typeface="+mn-ea"/>
                          <a:cs typeface="+mn-cs"/>
                        </a:defRPr>
                      </a:lvl5pPr>
                      <a:lvl6pPr marL="2286000" algn="l" defTabSz="456565" rtl="0" eaLnBrk="1" latinLnBrk="0" hangingPunct="1">
                        <a:defRPr sz="1800" b="0" i="0" u="none" kern="1200">
                          <a:solidFill>
                            <a:srgbClr val="08090C"/>
                          </a:solidFill>
                          <a:latin typeface="+mn-lt"/>
                          <a:ea typeface="+mn-ea"/>
                          <a:cs typeface="+mn-cs"/>
                        </a:defRPr>
                      </a:lvl6pPr>
                      <a:lvl7pPr marL="2743200" algn="l" defTabSz="456565" rtl="0" eaLnBrk="1" latinLnBrk="0" hangingPunct="1">
                        <a:defRPr sz="1800" b="0" i="0" u="none" kern="1200">
                          <a:solidFill>
                            <a:srgbClr val="08090C"/>
                          </a:solidFill>
                          <a:latin typeface="+mn-lt"/>
                          <a:ea typeface="+mn-ea"/>
                          <a:cs typeface="+mn-cs"/>
                        </a:defRPr>
                      </a:lvl7pPr>
                      <a:lvl8pPr marL="3200400" algn="l" defTabSz="456565" rtl="0" eaLnBrk="1" latinLnBrk="0" hangingPunct="1">
                        <a:defRPr sz="1800" b="0" i="0" u="none" kern="1200">
                          <a:solidFill>
                            <a:srgbClr val="08090C"/>
                          </a:solidFill>
                          <a:latin typeface="+mn-lt"/>
                          <a:ea typeface="+mn-ea"/>
                          <a:cs typeface="+mn-cs"/>
                        </a:defRPr>
                      </a:lvl8pPr>
                      <a:lvl9pPr marL="3657600" algn="l" defTabSz="456565" rtl="0" eaLnBrk="1" latinLnBrk="0" hangingPunct="1">
                        <a:defRPr sz="1800" b="0" i="0" u="none" kern="1200">
                          <a:solidFill>
                            <a:srgbClr val="08090C"/>
                          </a:solidFill>
                          <a:latin typeface="+mn-lt"/>
                          <a:ea typeface="+mn-ea"/>
                          <a:cs typeface="+mn-cs"/>
                        </a:defRPr>
                      </a:lvl9pPr>
                    </a:lstStyle>
                    <a:p>
                      <a:pPr marL="0" indent="0" algn="ctr">
                        <a:lnSpc>
                          <a:spcPct val="120000"/>
                        </a:lnSpc>
                        <a:spcBef>
                          <a:spcPct val="0"/>
                        </a:spcBef>
                        <a:spcAft>
                          <a:spcPct val="0"/>
                        </a:spcAft>
                      </a:pPr>
                      <a:r>
                        <a:rPr lang="en-US" altLang="zh-CN" sz="1400"/>
                        <a:t>Revisiting Concept Drift</a:t>
                      </a:r>
                      <a:r>
                        <a:rPr lang="zh-CN" altLang="en-US" sz="1400"/>
                        <a:t>（</a:t>
                      </a:r>
                      <a:r>
                        <a:rPr lang="en-US" altLang="zh-CN" sz="1400"/>
                        <a:t>NDSS 2025</a:t>
                      </a:r>
                      <a:r>
                        <a:rPr lang="zh-CN" altLang="en-US" sz="1400"/>
                        <a:t>）</a:t>
                      </a:r>
                      <a:endParaRPr lang="zh-CN" altLang="en-US" sz="1400"/>
                    </a:p>
                  </a:txBody>
                  <a:tcPr marL="86042" marR="86042" marT="57467" marB="5746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defPPr>
                        <a:defRPr lang="en-US" b="0" i="0" u="none">
                          <a:solidFill>
                            <a:srgbClr val="08090C"/>
                          </a:solidFill>
                        </a:defRPr>
                      </a:defPPr>
                      <a:lvl1pPr marL="0" algn="l" defTabSz="456565" rtl="0" eaLnBrk="1" latinLnBrk="0" hangingPunct="1">
                        <a:defRPr sz="1800" b="0" i="0" u="none" kern="1200">
                          <a:solidFill>
                            <a:srgbClr val="08090C"/>
                          </a:solidFill>
                          <a:latin typeface="+mn-lt"/>
                          <a:ea typeface="+mn-ea"/>
                          <a:cs typeface="+mn-cs"/>
                        </a:defRPr>
                      </a:lvl1pPr>
                      <a:lvl2pPr marL="457200" algn="l" defTabSz="456565" rtl="0" eaLnBrk="1" latinLnBrk="0" hangingPunct="1">
                        <a:defRPr sz="1800" b="0" i="0" u="none" kern="1200">
                          <a:solidFill>
                            <a:srgbClr val="08090C"/>
                          </a:solidFill>
                          <a:latin typeface="+mn-lt"/>
                          <a:ea typeface="+mn-ea"/>
                          <a:cs typeface="+mn-cs"/>
                        </a:defRPr>
                      </a:lvl2pPr>
                      <a:lvl3pPr marL="914400" algn="l" defTabSz="456565" rtl="0" eaLnBrk="1" latinLnBrk="0" hangingPunct="1">
                        <a:defRPr sz="1800" b="0" i="0" u="none" kern="1200">
                          <a:solidFill>
                            <a:srgbClr val="08090C"/>
                          </a:solidFill>
                          <a:latin typeface="+mn-lt"/>
                          <a:ea typeface="+mn-ea"/>
                          <a:cs typeface="+mn-cs"/>
                        </a:defRPr>
                      </a:lvl3pPr>
                      <a:lvl4pPr marL="1371600" algn="l" defTabSz="456565" rtl="0" eaLnBrk="1" latinLnBrk="0" hangingPunct="1">
                        <a:defRPr sz="1800" b="0" i="0" u="none" kern="1200">
                          <a:solidFill>
                            <a:srgbClr val="08090C"/>
                          </a:solidFill>
                          <a:latin typeface="+mn-lt"/>
                          <a:ea typeface="+mn-ea"/>
                          <a:cs typeface="+mn-cs"/>
                        </a:defRPr>
                      </a:lvl4pPr>
                      <a:lvl5pPr marL="1828800" algn="l" defTabSz="456565" rtl="0" eaLnBrk="1" latinLnBrk="0" hangingPunct="1">
                        <a:defRPr sz="1800" b="0" i="0" u="none" kern="1200">
                          <a:solidFill>
                            <a:srgbClr val="08090C"/>
                          </a:solidFill>
                          <a:latin typeface="+mn-lt"/>
                          <a:ea typeface="+mn-ea"/>
                          <a:cs typeface="+mn-cs"/>
                        </a:defRPr>
                      </a:lvl5pPr>
                      <a:lvl6pPr marL="2286000" algn="l" defTabSz="456565" rtl="0" eaLnBrk="1" latinLnBrk="0" hangingPunct="1">
                        <a:defRPr sz="1800" b="0" i="0" u="none" kern="1200">
                          <a:solidFill>
                            <a:srgbClr val="08090C"/>
                          </a:solidFill>
                          <a:latin typeface="+mn-lt"/>
                          <a:ea typeface="+mn-ea"/>
                          <a:cs typeface="+mn-cs"/>
                        </a:defRPr>
                      </a:lvl6pPr>
                      <a:lvl7pPr marL="2743200" algn="l" defTabSz="456565" rtl="0" eaLnBrk="1" latinLnBrk="0" hangingPunct="1">
                        <a:defRPr sz="1800" b="0" i="0" u="none" kern="1200">
                          <a:solidFill>
                            <a:srgbClr val="08090C"/>
                          </a:solidFill>
                          <a:latin typeface="+mn-lt"/>
                          <a:ea typeface="+mn-ea"/>
                          <a:cs typeface="+mn-cs"/>
                        </a:defRPr>
                      </a:lvl7pPr>
                      <a:lvl8pPr marL="3200400" algn="l" defTabSz="456565" rtl="0" eaLnBrk="1" latinLnBrk="0" hangingPunct="1">
                        <a:defRPr sz="1800" b="0" i="0" u="none" kern="1200">
                          <a:solidFill>
                            <a:srgbClr val="08090C"/>
                          </a:solidFill>
                          <a:latin typeface="+mn-lt"/>
                          <a:ea typeface="+mn-ea"/>
                          <a:cs typeface="+mn-cs"/>
                        </a:defRPr>
                      </a:lvl8pPr>
                      <a:lvl9pPr marL="3657600" algn="l" defTabSz="456565" rtl="0" eaLnBrk="1" latinLnBrk="0" hangingPunct="1">
                        <a:defRPr sz="1800" b="0" i="0" u="none" kern="1200">
                          <a:solidFill>
                            <a:srgbClr val="08090C"/>
                          </a:solidFill>
                          <a:latin typeface="+mn-lt"/>
                          <a:ea typeface="+mn-ea"/>
                          <a:cs typeface="+mn-cs"/>
                        </a:defRPr>
                      </a:lvl9pPr>
                    </a:lstStyle>
                    <a:p>
                      <a:pPr marL="0" indent="0" algn="ctr">
                        <a:lnSpc>
                          <a:spcPct val="120000"/>
                        </a:lnSpc>
                        <a:spcBef>
                          <a:spcPct val="0"/>
                        </a:spcBef>
                        <a:spcAft>
                          <a:spcPct val="0"/>
                        </a:spcAft>
                      </a:pPr>
                      <a:r>
                        <a:rPr lang="en-US" altLang="zh-CN" sz="1400"/>
                        <a:t>Windows </a:t>
                      </a:r>
                      <a:r>
                        <a:rPr lang="zh-CN" altLang="en-US" sz="1400"/>
                        <a:t>概念漂移</a:t>
                      </a:r>
                      <a:endParaRPr lang="zh-CN" altLang="en-US" sz="1400"/>
                    </a:p>
                  </a:txBody>
                  <a:tcPr marL="86042" marR="86042" marT="57467" marB="5746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defPPr>
                        <a:defRPr lang="en-US" b="0" i="0" u="none">
                          <a:solidFill>
                            <a:srgbClr val="08090C"/>
                          </a:solidFill>
                        </a:defRPr>
                      </a:defPPr>
                      <a:lvl1pPr marL="0" algn="l" defTabSz="456565" rtl="0" eaLnBrk="1" latinLnBrk="0" hangingPunct="1">
                        <a:defRPr sz="1800" b="0" i="0" u="none" kern="1200">
                          <a:solidFill>
                            <a:srgbClr val="08090C"/>
                          </a:solidFill>
                          <a:latin typeface="+mn-lt"/>
                          <a:ea typeface="+mn-ea"/>
                          <a:cs typeface="+mn-cs"/>
                        </a:defRPr>
                      </a:lvl1pPr>
                      <a:lvl2pPr marL="457200" algn="l" defTabSz="456565" rtl="0" eaLnBrk="1" latinLnBrk="0" hangingPunct="1">
                        <a:defRPr sz="1800" b="0" i="0" u="none" kern="1200">
                          <a:solidFill>
                            <a:srgbClr val="08090C"/>
                          </a:solidFill>
                          <a:latin typeface="+mn-lt"/>
                          <a:ea typeface="+mn-ea"/>
                          <a:cs typeface="+mn-cs"/>
                        </a:defRPr>
                      </a:lvl2pPr>
                      <a:lvl3pPr marL="914400" algn="l" defTabSz="456565" rtl="0" eaLnBrk="1" latinLnBrk="0" hangingPunct="1">
                        <a:defRPr sz="1800" b="0" i="0" u="none" kern="1200">
                          <a:solidFill>
                            <a:srgbClr val="08090C"/>
                          </a:solidFill>
                          <a:latin typeface="+mn-lt"/>
                          <a:ea typeface="+mn-ea"/>
                          <a:cs typeface="+mn-cs"/>
                        </a:defRPr>
                      </a:lvl3pPr>
                      <a:lvl4pPr marL="1371600" algn="l" defTabSz="456565" rtl="0" eaLnBrk="1" latinLnBrk="0" hangingPunct="1">
                        <a:defRPr sz="1800" b="0" i="0" u="none" kern="1200">
                          <a:solidFill>
                            <a:srgbClr val="08090C"/>
                          </a:solidFill>
                          <a:latin typeface="+mn-lt"/>
                          <a:ea typeface="+mn-ea"/>
                          <a:cs typeface="+mn-cs"/>
                        </a:defRPr>
                      </a:lvl4pPr>
                      <a:lvl5pPr marL="1828800" algn="l" defTabSz="456565" rtl="0" eaLnBrk="1" latinLnBrk="0" hangingPunct="1">
                        <a:defRPr sz="1800" b="0" i="0" u="none" kern="1200">
                          <a:solidFill>
                            <a:srgbClr val="08090C"/>
                          </a:solidFill>
                          <a:latin typeface="+mn-lt"/>
                          <a:ea typeface="+mn-ea"/>
                          <a:cs typeface="+mn-cs"/>
                        </a:defRPr>
                      </a:lvl5pPr>
                      <a:lvl6pPr marL="2286000" algn="l" defTabSz="456565" rtl="0" eaLnBrk="1" latinLnBrk="0" hangingPunct="1">
                        <a:defRPr sz="1800" b="0" i="0" u="none" kern="1200">
                          <a:solidFill>
                            <a:srgbClr val="08090C"/>
                          </a:solidFill>
                          <a:latin typeface="+mn-lt"/>
                          <a:ea typeface="+mn-ea"/>
                          <a:cs typeface="+mn-cs"/>
                        </a:defRPr>
                      </a:lvl6pPr>
                      <a:lvl7pPr marL="2743200" algn="l" defTabSz="456565" rtl="0" eaLnBrk="1" latinLnBrk="0" hangingPunct="1">
                        <a:defRPr sz="1800" b="0" i="0" u="none" kern="1200">
                          <a:solidFill>
                            <a:srgbClr val="08090C"/>
                          </a:solidFill>
                          <a:latin typeface="+mn-lt"/>
                          <a:ea typeface="+mn-ea"/>
                          <a:cs typeface="+mn-cs"/>
                        </a:defRPr>
                      </a:lvl7pPr>
                      <a:lvl8pPr marL="3200400" algn="l" defTabSz="456565" rtl="0" eaLnBrk="1" latinLnBrk="0" hangingPunct="1">
                        <a:defRPr sz="1800" b="0" i="0" u="none" kern="1200">
                          <a:solidFill>
                            <a:srgbClr val="08090C"/>
                          </a:solidFill>
                          <a:latin typeface="+mn-lt"/>
                          <a:ea typeface="+mn-ea"/>
                          <a:cs typeface="+mn-cs"/>
                        </a:defRPr>
                      </a:lvl8pPr>
                      <a:lvl9pPr marL="3657600" algn="l" defTabSz="456565" rtl="0" eaLnBrk="1" latinLnBrk="0" hangingPunct="1">
                        <a:defRPr sz="1800" b="0" i="0" u="none" kern="1200">
                          <a:solidFill>
                            <a:srgbClr val="08090C"/>
                          </a:solidFill>
                          <a:latin typeface="+mn-lt"/>
                          <a:ea typeface="+mn-ea"/>
                          <a:cs typeface="+mn-cs"/>
                        </a:defRPr>
                      </a:lvl9pPr>
                    </a:lstStyle>
                    <a:p>
                      <a:pPr marL="0" indent="0" algn="ctr">
                        <a:lnSpc>
                          <a:spcPct val="120000"/>
                        </a:lnSpc>
                        <a:spcBef>
                          <a:spcPct val="0"/>
                        </a:spcBef>
                        <a:spcAft>
                          <a:spcPct val="0"/>
                        </a:spcAft>
                      </a:pPr>
                      <a:r>
                        <a:rPr lang="zh-CN" altLang="en-US" sz="1400"/>
                        <a:t>控制流图 </a:t>
                      </a:r>
                      <a:r>
                        <a:rPr lang="en-US" altLang="zh-CN" sz="1400"/>
                        <a:t>+ GNN + </a:t>
                      </a:r>
                      <a:r>
                        <a:rPr lang="zh-CN" altLang="en-US" sz="1400"/>
                        <a:t>对抗域自适应，学习漂移不变特征</a:t>
                      </a:r>
                      <a:endParaRPr lang="zh-CN" altLang="en-US" sz="1400"/>
                    </a:p>
                  </a:txBody>
                  <a:tcPr marL="86042" marR="86042" marT="57467" marB="5746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defPPr>
                        <a:defRPr lang="en-US" b="0" i="0" u="none">
                          <a:solidFill>
                            <a:srgbClr val="08090C"/>
                          </a:solidFill>
                        </a:defRPr>
                      </a:defPPr>
                      <a:lvl1pPr marL="0" algn="l" defTabSz="456565" rtl="0" eaLnBrk="1" latinLnBrk="0" hangingPunct="1">
                        <a:defRPr sz="1800" b="0" i="0" u="none" kern="1200">
                          <a:solidFill>
                            <a:srgbClr val="08090C"/>
                          </a:solidFill>
                          <a:latin typeface="+mn-lt"/>
                          <a:ea typeface="+mn-ea"/>
                          <a:cs typeface="+mn-cs"/>
                        </a:defRPr>
                      </a:lvl1pPr>
                      <a:lvl2pPr marL="457200" algn="l" defTabSz="456565" rtl="0" eaLnBrk="1" latinLnBrk="0" hangingPunct="1">
                        <a:defRPr sz="1800" b="0" i="0" u="none" kern="1200">
                          <a:solidFill>
                            <a:srgbClr val="08090C"/>
                          </a:solidFill>
                          <a:latin typeface="+mn-lt"/>
                          <a:ea typeface="+mn-ea"/>
                          <a:cs typeface="+mn-cs"/>
                        </a:defRPr>
                      </a:lvl2pPr>
                      <a:lvl3pPr marL="914400" algn="l" defTabSz="456565" rtl="0" eaLnBrk="1" latinLnBrk="0" hangingPunct="1">
                        <a:defRPr sz="1800" b="0" i="0" u="none" kern="1200">
                          <a:solidFill>
                            <a:srgbClr val="08090C"/>
                          </a:solidFill>
                          <a:latin typeface="+mn-lt"/>
                          <a:ea typeface="+mn-ea"/>
                          <a:cs typeface="+mn-cs"/>
                        </a:defRPr>
                      </a:lvl3pPr>
                      <a:lvl4pPr marL="1371600" algn="l" defTabSz="456565" rtl="0" eaLnBrk="1" latinLnBrk="0" hangingPunct="1">
                        <a:defRPr sz="1800" b="0" i="0" u="none" kern="1200">
                          <a:solidFill>
                            <a:srgbClr val="08090C"/>
                          </a:solidFill>
                          <a:latin typeface="+mn-lt"/>
                          <a:ea typeface="+mn-ea"/>
                          <a:cs typeface="+mn-cs"/>
                        </a:defRPr>
                      </a:lvl4pPr>
                      <a:lvl5pPr marL="1828800" algn="l" defTabSz="456565" rtl="0" eaLnBrk="1" latinLnBrk="0" hangingPunct="1">
                        <a:defRPr sz="1800" b="0" i="0" u="none" kern="1200">
                          <a:solidFill>
                            <a:srgbClr val="08090C"/>
                          </a:solidFill>
                          <a:latin typeface="+mn-lt"/>
                          <a:ea typeface="+mn-ea"/>
                          <a:cs typeface="+mn-cs"/>
                        </a:defRPr>
                      </a:lvl5pPr>
                      <a:lvl6pPr marL="2286000" algn="l" defTabSz="456565" rtl="0" eaLnBrk="1" latinLnBrk="0" hangingPunct="1">
                        <a:defRPr sz="1800" b="0" i="0" u="none" kern="1200">
                          <a:solidFill>
                            <a:srgbClr val="08090C"/>
                          </a:solidFill>
                          <a:latin typeface="+mn-lt"/>
                          <a:ea typeface="+mn-ea"/>
                          <a:cs typeface="+mn-cs"/>
                        </a:defRPr>
                      </a:lvl6pPr>
                      <a:lvl7pPr marL="2743200" algn="l" defTabSz="456565" rtl="0" eaLnBrk="1" latinLnBrk="0" hangingPunct="1">
                        <a:defRPr sz="1800" b="0" i="0" u="none" kern="1200">
                          <a:solidFill>
                            <a:srgbClr val="08090C"/>
                          </a:solidFill>
                          <a:latin typeface="+mn-lt"/>
                          <a:ea typeface="+mn-ea"/>
                          <a:cs typeface="+mn-cs"/>
                        </a:defRPr>
                      </a:lvl7pPr>
                      <a:lvl8pPr marL="3200400" algn="l" defTabSz="456565" rtl="0" eaLnBrk="1" latinLnBrk="0" hangingPunct="1">
                        <a:defRPr sz="1800" b="0" i="0" u="none" kern="1200">
                          <a:solidFill>
                            <a:srgbClr val="08090C"/>
                          </a:solidFill>
                          <a:latin typeface="+mn-lt"/>
                          <a:ea typeface="+mn-ea"/>
                          <a:cs typeface="+mn-cs"/>
                        </a:defRPr>
                      </a:lvl8pPr>
                      <a:lvl9pPr marL="3657600" algn="l" defTabSz="456565" rtl="0" eaLnBrk="1" latinLnBrk="0" hangingPunct="1">
                        <a:defRPr sz="1800" b="0" i="0" u="none" kern="1200">
                          <a:solidFill>
                            <a:srgbClr val="08090C"/>
                          </a:solidFill>
                          <a:latin typeface="+mn-lt"/>
                          <a:ea typeface="+mn-ea"/>
                          <a:cs typeface="+mn-cs"/>
                        </a:defRPr>
                      </a:lvl9pPr>
                    </a:lstStyle>
                    <a:p>
                      <a:pPr marL="228600" indent="-228600" algn="ctr">
                        <a:lnSpc>
                          <a:spcPct val="120000"/>
                        </a:lnSpc>
                        <a:spcBef>
                          <a:spcPct val="0"/>
                        </a:spcBef>
                        <a:spcAft>
                          <a:spcPct val="0"/>
                        </a:spcAft>
                        <a:buAutoNum type="arabicPeriod"/>
                      </a:pPr>
                      <a:r>
                        <a:rPr lang="zh-CN" altLang="en-US" sz="1400"/>
                        <a:t>少量标注样本即可适配漂移</a:t>
                      </a:r>
                      <a:r>
                        <a:rPr lang="en-US" altLang="zh-CN" sz="1400"/>
                        <a:t> </a:t>
                      </a:r>
                      <a:endParaRPr lang="en-US" altLang="zh-CN" sz="1400"/>
                    </a:p>
                    <a:p>
                      <a:pPr marL="228600" indent="-228600" algn="ctr">
                        <a:lnSpc>
                          <a:spcPct val="120000"/>
                        </a:lnSpc>
                        <a:spcBef>
                          <a:spcPct val="0"/>
                        </a:spcBef>
                        <a:spcAft>
                          <a:spcPct val="0"/>
                        </a:spcAft>
                        <a:buAutoNum type="arabicPeriod"/>
                      </a:pPr>
                      <a:r>
                        <a:rPr lang="en-US" altLang="zh-CN" sz="1400"/>
                        <a:t>2024 </a:t>
                      </a:r>
                      <a:r>
                        <a:rPr lang="zh-CN" altLang="en-US" sz="1400"/>
                        <a:t>真实样本流上检测效果显著优于 </a:t>
                      </a:r>
                      <a:r>
                        <a:rPr lang="en-US" altLang="zh-CN" sz="1400"/>
                        <a:t>SOTA</a:t>
                      </a:r>
                      <a:endParaRPr lang="en-US" altLang="zh-CN" sz="1400"/>
                    </a:p>
                  </a:txBody>
                  <a:tcPr marL="86042" marR="86042" marT="57467" marB="5746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defPPr>
                        <a:defRPr lang="en-US" b="0" i="0" u="none">
                          <a:solidFill>
                            <a:srgbClr val="08090C"/>
                          </a:solidFill>
                        </a:defRPr>
                      </a:defPPr>
                      <a:lvl1pPr marL="0" algn="l" defTabSz="456565" rtl="0" eaLnBrk="1" latinLnBrk="0" hangingPunct="1">
                        <a:defRPr sz="1800" b="0" i="0" u="none" kern="1200">
                          <a:solidFill>
                            <a:srgbClr val="08090C"/>
                          </a:solidFill>
                          <a:latin typeface="+mn-lt"/>
                          <a:ea typeface="+mn-ea"/>
                          <a:cs typeface="+mn-cs"/>
                        </a:defRPr>
                      </a:lvl1pPr>
                      <a:lvl2pPr marL="457200" algn="l" defTabSz="456565" rtl="0" eaLnBrk="1" latinLnBrk="0" hangingPunct="1">
                        <a:defRPr sz="1800" b="0" i="0" u="none" kern="1200">
                          <a:solidFill>
                            <a:srgbClr val="08090C"/>
                          </a:solidFill>
                          <a:latin typeface="+mn-lt"/>
                          <a:ea typeface="+mn-ea"/>
                          <a:cs typeface="+mn-cs"/>
                        </a:defRPr>
                      </a:lvl2pPr>
                      <a:lvl3pPr marL="914400" algn="l" defTabSz="456565" rtl="0" eaLnBrk="1" latinLnBrk="0" hangingPunct="1">
                        <a:defRPr sz="1800" b="0" i="0" u="none" kern="1200">
                          <a:solidFill>
                            <a:srgbClr val="08090C"/>
                          </a:solidFill>
                          <a:latin typeface="+mn-lt"/>
                          <a:ea typeface="+mn-ea"/>
                          <a:cs typeface="+mn-cs"/>
                        </a:defRPr>
                      </a:lvl3pPr>
                      <a:lvl4pPr marL="1371600" algn="l" defTabSz="456565" rtl="0" eaLnBrk="1" latinLnBrk="0" hangingPunct="1">
                        <a:defRPr sz="1800" b="0" i="0" u="none" kern="1200">
                          <a:solidFill>
                            <a:srgbClr val="08090C"/>
                          </a:solidFill>
                          <a:latin typeface="+mn-lt"/>
                          <a:ea typeface="+mn-ea"/>
                          <a:cs typeface="+mn-cs"/>
                        </a:defRPr>
                      </a:lvl4pPr>
                      <a:lvl5pPr marL="1828800" algn="l" defTabSz="456565" rtl="0" eaLnBrk="1" latinLnBrk="0" hangingPunct="1">
                        <a:defRPr sz="1800" b="0" i="0" u="none" kern="1200">
                          <a:solidFill>
                            <a:srgbClr val="08090C"/>
                          </a:solidFill>
                          <a:latin typeface="+mn-lt"/>
                          <a:ea typeface="+mn-ea"/>
                          <a:cs typeface="+mn-cs"/>
                        </a:defRPr>
                      </a:lvl5pPr>
                      <a:lvl6pPr marL="2286000" algn="l" defTabSz="456565" rtl="0" eaLnBrk="1" latinLnBrk="0" hangingPunct="1">
                        <a:defRPr sz="1800" b="0" i="0" u="none" kern="1200">
                          <a:solidFill>
                            <a:srgbClr val="08090C"/>
                          </a:solidFill>
                          <a:latin typeface="+mn-lt"/>
                          <a:ea typeface="+mn-ea"/>
                          <a:cs typeface="+mn-cs"/>
                        </a:defRPr>
                      </a:lvl6pPr>
                      <a:lvl7pPr marL="2743200" algn="l" defTabSz="456565" rtl="0" eaLnBrk="1" latinLnBrk="0" hangingPunct="1">
                        <a:defRPr sz="1800" b="0" i="0" u="none" kern="1200">
                          <a:solidFill>
                            <a:srgbClr val="08090C"/>
                          </a:solidFill>
                          <a:latin typeface="+mn-lt"/>
                          <a:ea typeface="+mn-ea"/>
                          <a:cs typeface="+mn-cs"/>
                        </a:defRPr>
                      </a:lvl7pPr>
                      <a:lvl8pPr marL="3200400" algn="l" defTabSz="456565" rtl="0" eaLnBrk="1" latinLnBrk="0" hangingPunct="1">
                        <a:defRPr sz="1800" b="0" i="0" u="none" kern="1200">
                          <a:solidFill>
                            <a:srgbClr val="08090C"/>
                          </a:solidFill>
                          <a:latin typeface="+mn-lt"/>
                          <a:ea typeface="+mn-ea"/>
                          <a:cs typeface="+mn-cs"/>
                        </a:defRPr>
                      </a:lvl8pPr>
                      <a:lvl9pPr marL="3657600" algn="l" defTabSz="456565" rtl="0" eaLnBrk="1" latinLnBrk="0" hangingPunct="1">
                        <a:defRPr sz="1800" b="0" i="0" u="none" kern="1200">
                          <a:solidFill>
                            <a:srgbClr val="08090C"/>
                          </a:solidFill>
                          <a:latin typeface="+mn-lt"/>
                          <a:ea typeface="+mn-ea"/>
                          <a:cs typeface="+mn-cs"/>
                        </a:defRPr>
                      </a:lvl9pPr>
                    </a:lstStyle>
                    <a:p>
                      <a:pPr marL="228600" indent="-228600" algn="ctr">
                        <a:lnSpc>
                          <a:spcPct val="120000"/>
                        </a:lnSpc>
                        <a:spcBef>
                          <a:spcPct val="0"/>
                        </a:spcBef>
                        <a:spcAft>
                          <a:spcPct val="0"/>
                        </a:spcAft>
                        <a:buAutoNum type="arabicPeriod"/>
                      </a:pPr>
                      <a:r>
                        <a:rPr lang="zh-CN" altLang="en-US" sz="1400"/>
                        <a:t>依赖静态分析工具构建 </a:t>
                      </a:r>
                      <a:r>
                        <a:rPr lang="en-US" altLang="zh-CN" sz="1400"/>
                        <a:t>CFG</a:t>
                      </a:r>
                      <a:endParaRPr lang="en-US" altLang="zh-CN" sz="1400"/>
                    </a:p>
                    <a:p>
                      <a:pPr marL="228600" indent="-228600" algn="ctr">
                        <a:lnSpc>
                          <a:spcPct val="120000"/>
                        </a:lnSpc>
                        <a:spcBef>
                          <a:spcPct val="0"/>
                        </a:spcBef>
                        <a:spcAft>
                          <a:spcPct val="0"/>
                        </a:spcAft>
                        <a:buAutoNum type="arabicPeriod"/>
                      </a:pPr>
                      <a:r>
                        <a:rPr lang="zh-CN" altLang="en-US" sz="1400"/>
                        <a:t>多平台适配性待验证</a:t>
                      </a:r>
                      <a:endParaRPr lang="zh-CN" altLang="en-US" sz="1400"/>
                    </a:p>
                  </a:txBody>
                  <a:tcPr marL="86042" marR="86042" marT="57467" marB="5746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685930" y="600842"/>
            <a:ext cx="8051243" cy="461665"/>
          </a:xfrm>
          <a:prstGeom prst="rect">
            <a:avLst/>
          </a:prstGeom>
          <a:noFill/>
        </p:spPr>
        <p:txBody>
          <a:bodyPr wrap="none" rtlCol="0">
            <a:spAutoFit/>
          </a:bodyPr>
          <a:lstStyle/>
          <a:p>
            <a:r>
              <a:rPr lang="zh-CN" altLang="en-US" sz="2400" b="1">
                <a:solidFill>
                  <a:srgbClr val="5C307D"/>
                </a:solidFill>
              </a:rPr>
              <a:t>判别式 </a:t>
            </a:r>
            <a:r>
              <a:rPr lang="en-US" altLang="zh-CN" sz="2400" b="1">
                <a:solidFill>
                  <a:srgbClr val="5C307D"/>
                </a:solidFill>
              </a:rPr>
              <a:t>AI </a:t>
            </a:r>
            <a:r>
              <a:rPr lang="zh-CN" altLang="en-US" sz="2400" b="1">
                <a:solidFill>
                  <a:srgbClr val="5C307D"/>
                </a:solidFill>
              </a:rPr>
              <a:t>与表征学习：恶意软件检测研究对比表（续表）</a:t>
            </a:r>
            <a:endParaRPr lang="zh-CN" altLang="en-US" sz="2400" b="1">
              <a:solidFill>
                <a:srgbClr val="5C307D"/>
              </a:solidFill>
            </a:endParaRPr>
          </a:p>
        </p:txBody>
      </p:sp>
      <p:graphicFrame>
        <p:nvGraphicFramePr>
          <p:cNvPr id="7" name="表格 6"/>
          <p:cNvGraphicFramePr>
            <a:graphicFrameLocks noGrp="1"/>
          </p:cNvGraphicFramePr>
          <p:nvPr>
            <p:custDataLst>
              <p:tags r:id="rId1"/>
            </p:custDataLst>
          </p:nvPr>
        </p:nvGraphicFramePr>
        <p:xfrm>
          <a:off x="651510" y="1235075"/>
          <a:ext cx="11025505" cy="4912360"/>
        </p:xfrm>
        <a:graphic>
          <a:graphicData uri="http://schemas.openxmlformats.org/drawingml/2006/table">
            <a:tbl>
              <a:tblPr firstRow="1"/>
              <a:tblGrid>
                <a:gridCol w="2220595"/>
                <a:gridCol w="2096770"/>
                <a:gridCol w="2096770"/>
                <a:gridCol w="2378075"/>
                <a:gridCol w="2233295"/>
              </a:tblGrid>
              <a:tr h="430530">
                <a:tc>
                  <a:txBody>
                    <a:bodyPr/>
                    <a:lstStyle>
                      <a:defPPr>
                        <a:defRPr lang="en-US" b="1" i="0" u="none">
                          <a:solidFill>
                            <a:srgbClr val="5B3478"/>
                          </a:solidFill>
                        </a:defRPr>
                      </a:defPPr>
                      <a:lvl1pPr marL="0" algn="l" defTabSz="456565" rtl="0" eaLnBrk="1" latinLnBrk="0" hangingPunct="1">
                        <a:defRPr sz="1800" b="1" i="0" u="none" kern="1200">
                          <a:solidFill>
                            <a:srgbClr val="5B3478"/>
                          </a:solidFill>
                          <a:latin typeface="+mn-lt"/>
                          <a:ea typeface="+mn-ea"/>
                          <a:cs typeface="+mn-cs"/>
                        </a:defRPr>
                      </a:lvl1pPr>
                      <a:lvl2pPr marL="457200" algn="l" defTabSz="456565" rtl="0" eaLnBrk="1" latinLnBrk="0" hangingPunct="1">
                        <a:defRPr sz="1800" b="1" i="0" u="none" kern="1200">
                          <a:solidFill>
                            <a:srgbClr val="5B3478"/>
                          </a:solidFill>
                          <a:latin typeface="+mn-lt"/>
                          <a:ea typeface="+mn-ea"/>
                          <a:cs typeface="+mn-cs"/>
                        </a:defRPr>
                      </a:lvl2pPr>
                      <a:lvl3pPr marL="914400" algn="l" defTabSz="456565" rtl="0" eaLnBrk="1" latinLnBrk="0" hangingPunct="1">
                        <a:defRPr sz="1800" b="1" i="0" u="none" kern="1200">
                          <a:solidFill>
                            <a:srgbClr val="5B3478"/>
                          </a:solidFill>
                          <a:latin typeface="+mn-lt"/>
                          <a:ea typeface="+mn-ea"/>
                          <a:cs typeface="+mn-cs"/>
                        </a:defRPr>
                      </a:lvl3pPr>
                      <a:lvl4pPr marL="1371600" algn="l" defTabSz="456565" rtl="0" eaLnBrk="1" latinLnBrk="0" hangingPunct="1">
                        <a:defRPr sz="1800" b="1" i="0" u="none" kern="1200">
                          <a:solidFill>
                            <a:srgbClr val="5B3478"/>
                          </a:solidFill>
                          <a:latin typeface="+mn-lt"/>
                          <a:ea typeface="+mn-ea"/>
                          <a:cs typeface="+mn-cs"/>
                        </a:defRPr>
                      </a:lvl4pPr>
                      <a:lvl5pPr marL="1828800" algn="l" defTabSz="456565" rtl="0" eaLnBrk="1" latinLnBrk="0" hangingPunct="1">
                        <a:defRPr sz="1800" b="1" i="0" u="none" kern="1200">
                          <a:solidFill>
                            <a:srgbClr val="5B3478"/>
                          </a:solidFill>
                          <a:latin typeface="+mn-lt"/>
                          <a:ea typeface="+mn-ea"/>
                          <a:cs typeface="+mn-cs"/>
                        </a:defRPr>
                      </a:lvl5pPr>
                      <a:lvl6pPr marL="2286000" algn="l" defTabSz="456565" rtl="0" eaLnBrk="1" latinLnBrk="0" hangingPunct="1">
                        <a:defRPr sz="1800" b="1" i="0" u="none" kern="1200">
                          <a:solidFill>
                            <a:srgbClr val="5B3478"/>
                          </a:solidFill>
                          <a:latin typeface="+mn-lt"/>
                          <a:ea typeface="+mn-ea"/>
                          <a:cs typeface="+mn-cs"/>
                        </a:defRPr>
                      </a:lvl6pPr>
                      <a:lvl7pPr marL="2743200" algn="l" defTabSz="456565" rtl="0" eaLnBrk="1" latinLnBrk="0" hangingPunct="1">
                        <a:defRPr sz="1800" b="1" i="0" u="none" kern="1200">
                          <a:solidFill>
                            <a:srgbClr val="5B3478"/>
                          </a:solidFill>
                          <a:latin typeface="+mn-lt"/>
                          <a:ea typeface="+mn-ea"/>
                          <a:cs typeface="+mn-cs"/>
                        </a:defRPr>
                      </a:lvl7pPr>
                      <a:lvl8pPr marL="3200400" algn="l" defTabSz="456565" rtl="0" eaLnBrk="1" latinLnBrk="0" hangingPunct="1">
                        <a:defRPr sz="1800" b="1" i="0" u="none" kern="1200">
                          <a:solidFill>
                            <a:srgbClr val="5B3478"/>
                          </a:solidFill>
                          <a:latin typeface="+mn-lt"/>
                          <a:ea typeface="+mn-ea"/>
                          <a:cs typeface="+mn-cs"/>
                        </a:defRPr>
                      </a:lvl8pPr>
                      <a:lvl9pPr marL="3657600" algn="l" defTabSz="456565" rtl="0" eaLnBrk="1" latinLnBrk="0" hangingPunct="1">
                        <a:defRPr sz="1800" b="1" i="0" u="none" kern="1200">
                          <a:solidFill>
                            <a:srgbClr val="5B3478"/>
                          </a:solidFill>
                          <a:latin typeface="+mn-lt"/>
                          <a:ea typeface="+mn-ea"/>
                          <a:cs typeface="+mn-cs"/>
                        </a:defRPr>
                      </a:lvl9pPr>
                    </a:lstStyle>
                    <a:p>
                      <a:pPr marL="0" indent="0" algn="ctr">
                        <a:lnSpc>
                          <a:spcPct val="120000"/>
                        </a:lnSpc>
                        <a:spcBef>
                          <a:spcPct val="0"/>
                        </a:spcBef>
                        <a:spcAft>
                          <a:spcPct val="0"/>
                        </a:spcAft>
                      </a:pPr>
                      <a:r>
                        <a:rPr lang="zh-CN" altLang="en-US" sz="1400"/>
                        <a:t>论文标题</a:t>
                      </a:r>
                      <a:endParaRPr lang="zh-CN" altLang="en-US" sz="1400"/>
                    </a:p>
                  </a:txBody>
                  <a:tcPr marL="86042" marR="86042" marT="57467" marB="5746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defPPr>
                        <a:defRPr lang="en-US" b="1" i="0" u="none">
                          <a:solidFill>
                            <a:srgbClr val="5B3478"/>
                          </a:solidFill>
                        </a:defRPr>
                      </a:defPPr>
                      <a:lvl1pPr marL="0" algn="l" defTabSz="456565" rtl="0" eaLnBrk="1" latinLnBrk="0" hangingPunct="1">
                        <a:defRPr sz="1800" b="1" i="0" u="none" kern="1200">
                          <a:solidFill>
                            <a:srgbClr val="5B3478"/>
                          </a:solidFill>
                          <a:latin typeface="+mn-lt"/>
                          <a:ea typeface="+mn-ea"/>
                          <a:cs typeface="+mn-cs"/>
                        </a:defRPr>
                      </a:lvl1pPr>
                      <a:lvl2pPr marL="457200" algn="l" defTabSz="456565" rtl="0" eaLnBrk="1" latinLnBrk="0" hangingPunct="1">
                        <a:defRPr sz="1800" b="1" i="0" u="none" kern="1200">
                          <a:solidFill>
                            <a:srgbClr val="5B3478"/>
                          </a:solidFill>
                          <a:latin typeface="+mn-lt"/>
                          <a:ea typeface="+mn-ea"/>
                          <a:cs typeface="+mn-cs"/>
                        </a:defRPr>
                      </a:lvl2pPr>
                      <a:lvl3pPr marL="914400" algn="l" defTabSz="456565" rtl="0" eaLnBrk="1" latinLnBrk="0" hangingPunct="1">
                        <a:defRPr sz="1800" b="1" i="0" u="none" kern="1200">
                          <a:solidFill>
                            <a:srgbClr val="5B3478"/>
                          </a:solidFill>
                          <a:latin typeface="+mn-lt"/>
                          <a:ea typeface="+mn-ea"/>
                          <a:cs typeface="+mn-cs"/>
                        </a:defRPr>
                      </a:lvl3pPr>
                      <a:lvl4pPr marL="1371600" algn="l" defTabSz="456565" rtl="0" eaLnBrk="1" latinLnBrk="0" hangingPunct="1">
                        <a:defRPr sz="1800" b="1" i="0" u="none" kern="1200">
                          <a:solidFill>
                            <a:srgbClr val="5B3478"/>
                          </a:solidFill>
                          <a:latin typeface="+mn-lt"/>
                          <a:ea typeface="+mn-ea"/>
                          <a:cs typeface="+mn-cs"/>
                        </a:defRPr>
                      </a:lvl4pPr>
                      <a:lvl5pPr marL="1828800" algn="l" defTabSz="456565" rtl="0" eaLnBrk="1" latinLnBrk="0" hangingPunct="1">
                        <a:defRPr sz="1800" b="1" i="0" u="none" kern="1200">
                          <a:solidFill>
                            <a:srgbClr val="5B3478"/>
                          </a:solidFill>
                          <a:latin typeface="+mn-lt"/>
                          <a:ea typeface="+mn-ea"/>
                          <a:cs typeface="+mn-cs"/>
                        </a:defRPr>
                      </a:lvl5pPr>
                      <a:lvl6pPr marL="2286000" algn="l" defTabSz="456565" rtl="0" eaLnBrk="1" latinLnBrk="0" hangingPunct="1">
                        <a:defRPr sz="1800" b="1" i="0" u="none" kern="1200">
                          <a:solidFill>
                            <a:srgbClr val="5B3478"/>
                          </a:solidFill>
                          <a:latin typeface="+mn-lt"/>
                          <a:ea typeface="+mn-ea"/>
                          <a:cs typeface="+mn-cs"/>
                        </a:defRPr>
                      </a:lvl6pPr>
                      <a:lvl7pPr marL="2743200" algn="l" defTabSz="456565" rtl="0" eaLnBrk="1" latinLnBrk="0" hangingPunct="1">
                        <a:defRPr sz="1800" b="1" i="0" u="none" kern="1200">
                          <a:solidFill>
                            <a:srgbClr val="5B3478"/>
                          </a:solidFill>
                          <a:latin typeface="+mn-lt"/>
                          <a:ea typeface="+mn-ea"/>
                          <a:cs typeface="+mn-cs"/>
                        </a:defRPr>
                      </a:lvl7pPr>
                      <a:lvl8pPr marL="3200400" algn="l" defTabSz="456565" rtl="0" eaLnBrk="1" latinLnBrk="0" hangingPunct="1">
                        <a:defRPr sz="1800" b="1" i="0" u="none" kern="1200">
                          <a:solidFill>
                            <a:srgbClr val="5B3478"/>
                          </a:solidFill>
                          <a:latin typeface="+mn-lt"/>
                          <a:ea typeface="+mn-ea"/>
                          <a:cs typeface="+mn-cs"/>
                        </a:defRPr>
                      </a:lvl8pPr>
                      <a:lvl9pPr marL="3657600" algn="l" defTabSz="456565" rtl="0" eaLnBrk="1" latinLnBrk="0" hangingPunct="1">
                        <a:defRPr sz="1800" b="1" i="0" u="none" kern="1200">
                          <a:solidFill>
                            <a:srgbClr val="5B3478"/>
                          </a:solidFill>
                          <a:latin typeface="+mn-lt"/>
                          <a:ea typeface="+mn-ea"/>
                          <a:cs typeface="+mn-cs"/>
                        </a:defRPr>
                      </a:lvl9pPr>
                    </a:lstStyle>
                    <a:p>
                      <a:pPr marL="0" indent="0" algn="ctr">
                        <a:lnSpc>
                          <a:spcPct val="120000"/>
                        </a:lnSpc>
                        <a:spcBef>
                          <a:spcPct val="0"/>
                        </a:spcBef>
                        <a:spcAft>
                          <a:spcPct val="0"/>
                        </a:spcAft>
                      </a:pPr>
                      <a:r>
                        <a:rPr lang="zh-CN" altLang="en-US" sz="1400"/>
                        <a:t>核心问题</a:t>
                      </a:r>
                      <a:endParaRPr lang="zh-CN" altLang="en-US" sz="1400"/>
                    </a:p>
                  </a:txBody>
                  <a:tcPr marL="86042" marR="86042" marT="57467" marB="5746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defPPr>
                        <a:defRPr lang="en-US" b="1" i="0" u="none">
                          <a:solidFill>
                            <a:srgbClr val="5B3478"/>
                          </a:solidFill>
                        </a:defRPr>
                      </a:defPPr>
                      <a:lvl1pPr marL="0" algn="l" defTabSz="456565" rtl="0" eaLnBrk="1" latinLnBrk="0" hangingPunct="1">
                        <a:defRPr sz="1800" b="1" i="0" u="none" kern="1200">
                          <a:solidFill>
                            <a:srgbClr val="5B3478"/>
                          </a:solidFill>
                          <a:latin typeface="+mn-lt"/>
                          <a:ea typeface="+mn-ea"/>
                          <a:cs typeface="+mn-cs"/>
                        </a:defRPr>
                      </a:lvl1pPr>
                      <a:lvl2pPr marL="457200" algn="l" defTabSz="456565" rtl="0" eaLnBrk="1" latinLnBrk="0" hangingPunct="1">
                        <a:defRPr sz="1800" b="1" i="0" u="none" kern="1200">
                          <a:solidFill>
                            <a:srgbClr val="5B3478"/>
                          </a:solidFill>
                          <a:latin typeface="+mn-lt"/>
                          <a:ea typeface="+mn-ea"/>
                          <a:cs typeface="+mn-cs"/>
                        </a:defRPr>
                      </a:lvl2pPr>
                      <a:lvl3pPr marL="914400" algn="l" defTabSz="456565" rtl="0" eaLnBrk="1" latinLnBrk="0" hangingPunct="1">
                        <a:defRPr sz="1800" b="1" i="0" u="none" kern="1200">
                          <a:solidFill>
                            <a:srgbClr val="5B3478"/>
                          </a:solidFill>
                          <a:latin typeface="+mn-lt"/>
                          <a:ea typeface="+mn-ea"/>
                          <a:cs typeface="+mn-cs"/>
                        </a:defRPr>
                      </a:lvl3pPr>
                      <a:lvl4pPr marL="1371600" algn="l" defTabSz="456565" rtl="0" eaLnBrk="1" latinLnBrk="0" hangingPunct="1">
                        <a:defRPr sz="1800" b="1" i="0" u="none" kern="1200">
                          <a:solidFill>
                            <a:srgbClr val="5B3478"/>
                          </a:solidFill>
                          <a:latin typeface="+mn-lt"/>
                          <a:ea typeface="+mn-ea"/>
                          <a:cs typeface="+mn-cs"/>
                        </a:defRPr>
                      </a:lvl4pPr>
                      <a:lvl5pPr marL="1828800" algn="l" defTabSz="456565" rtl="0" eaLnBrk="1" latinLnBrk="0" hangingPunct="1">
                        <a:defRPr sz="1800" b="1" i="0" u="none" kern="1200">
                          <a:solidFill>
                            <a:srgbClr val="5B3478"/>
                          </a:solidFill>
                          <a:latin typeface="+mn-lt"/>
                          <a:ea typeface="+mn-ea"/>
                          <a:cs typeface="+mn-cs"/>
                        </a:defRPr>
                      </a:lvl5pPr>
                      <a:lvl6pPr marL="2286000" algn="l" defTabSz="456565" rtl="0" eaLnBrk="1" latinLnBrk="0" hangingPunct="1">
                        <a:defRPr sz="1800" b="1" i="0" u="none" kern="1200">
                          <a:solidFill>
                            <a:srgbClr val="5B3478"/>
                          </a:solidFill>
                          <a:latin typeface="+mn-lt"/>
                          <a:ea typeface="+mn-ea"/>
                          <a:cs typeface="+mn-cs"/>
                        </a:defRPr>
                      </a:lvl6pPr>
                      <a:lvl7pPr marL="2743200" algn="l" defTabSz="456565" rtl="0" eaLnBrk="1" latinLnBrk="0" hangingPunct="1">
                        <a:defRPr sz="1800" b="1" i="0" u="none" kern="1200">
                          <a:solidFill>
                            <a:srgbClr val="5B3478"/>
                          </a:solidFill>
                          <a:latin typeface="+mn-lt"/>
                          <a:ea typeface="+mn-ea"/>
                          <a:cs typeface="+mn-cs"/>
                        </a:defRPr>
                      </a:lvl7pPr>
                      <a:lvl8pPr marL="3200400" algn="l" defTabSz="456565" rtl="0" eaLnBrk="1" latinLnBrk="0" hangingPunct="1">
                        <a:defRPr sz="1800" b="1" i="0" u="none" kern="1200">
                          <a:solidFill>
                            <a:srgbClr val="5B3478"/>
                          </a:solidFill>
                          <a:latin typeface="+mn-lt"/>
                          <a:ea typeface="+mn-ea"/>
                          <a:cs typeface="+mn-cs"/>
                        </a:defRPr>
                      </a:lvl8pPr>
                      <a:lvl9pPr marL="3657600" algn="l" defTabSz="456565" rtl="0" eaLnBrk="1" latinLnBrk="0" hangingPunct="1">
                        <a:defRPr sz="1800" b="1" i="0" u="none" kern="1200">
                          <a:solidFill>
                            <a:srgbClr val="5B3478"/>
                          </a:solidFill>
                          <a:latin typeface="+mn-lt"/>
                          <a:ea typeface="+mn-ea"/>
                          <a:cs typeface="+mn-cs"/>
                        </a:defRPr>
                      </a:lvl9pPr>
                    </a:lstStyle>
                    <a:p>
                      <a:pPr marL="0" indent="0" algn="ctr">
                        <a:lnSpc>
                          <a:spcPct val="120000"/>
                        </a:lnSpc>
                        <a:spcBef>
                          <a:spcPct val="0"/>
                        </a:spcBef>
                        <a:spcAft>
                          <a:spcPct val="0"/>
                        </a:spcAft>
                      </a:pPr>
                      <a:r>
                        <a:rPr lang="zh-CN" altLang="en-US" sz="1400"/>
                        <a:t>核心方法</a:t>
                      </a:r>
                      <a:endParaRPr lang="zh-CN" altLang="en-US" sz="1400"/>
                    </a:p>
                  </a:txBody>
                  <a:tcPr marL="86042" marR="86042" marT="57467" marB="5746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defPPr>
                        <a:defRPr lang="en-US" b="1" i="0" u="none">
                          <a:solidFill>
                            <a:srgbClr val="5B3478"/>
                          </a:solidFill>
                        </a:defRPr>
                      </a:defPPr>
                      <a:lvl1pPr marL="0" algn="l" defTabSz="456565" rtl="0" eaLnBrk="1" latinLnBrk="0" hangingPunct="1">
                        <a:defRPr sz="1800" b="1" i="0" u="none" kern="1200">
                          <a:solidFill>
                            <a:srgbClr val="5B3478"/>
                          </a:solidFill>
                          <a:latin typeface="+mn-lt"/>
                          <a:ea typeface="+mn-ea"/>
                          <a:cs typeface="+mn-cs"/>
                        </a:defRPr>
                      </a:lvl1pPr>
                      <a:lvl2pPr marL="457200" algn="l" defTabSz="456565" rtl="0" eaLnBrk="1" latinLnBrk="0" hangingPunct="1">
                        <a:defRPr sz="1800" b="1" i="0" u="none" kern="1200">
                          <a:solidFill>
                            <a:srgbClr val="5B3478"/>
                          </a:solidFill>
                          <a:latin typeface="+mn-lt"/>
                          <a:ea typeface="+mn-ea"/>
                          <a:cs typeface="+mn-cs"/>
                        </a:defRPr>
                      </a:lvl2pPr>
                      <a:lvl3pPr marL="914400" algn="l" defTabSz="456565" rtl="0" eaLnBrk="1" latinLnBrk="0" hangingPunct="1">
                        <a:defRPr sz="1800" b="1" i="0" u="none" kern="1200">
                          <a:solidFill>
                            <a:srgbClr val="5B3478"/>
                          </a:solidFill>
                          <a:latin typeface="+mn-lt"/>
                          <a:ea typeface="+mn-ea"/>
                          <a:cs typeface="+mn-cs"/>
                        </a:defRPr>
                      </a:lvl3pPr>
                      <a:lvl4pPr marL="1371600" algn="l" defTabSz="456565" rtl="0" eaLnBrk="1" latinLnBrk="0" hangingPunct="1">
                        <a:defRPr sz="1800" b="1" i="0" u="none" kern="1200">
                          <a:solidFill>
                            <a:srgbClr val="5B3478"/>
                          </a:solidFill>
                          <a:latin typeface="+mn-lt"/>
                          <a:ea typeface="+mn-ea"/>
                          <a:cs typeface="+mn-cs"/>
                        </a:defRPr>
                      </a:lvl4pPr>
                      <a:lvl5pPr marL="1828800" algn="l" defTabSz="456565" rtl="0" eaLnBrk="1" latinLnBrk="0" hangingPunct="1">
                        <a:defRPr sz="1800" b="1" i="0" u="none" kern="1200">
                          <a:solidFill>
                            <a:srgbClr val="5B3478"/>
                          </a:solidFill>
                          <a:latin typeface="+mn-lt"/>
                          <a:ea typeface="+mn-ea"/>
                          <a:cs typeface="+mn-cs"/>
                        </a:defRPr>
                      </a:lvl5pPr>
                      <a:lvl6pPr marL="2286000" algn="l" defTabSz="456565" rtl="0" eaLnBrk="1" latinLnBrk="0" hangingPunct="1">
                        <a:defRPr sz="1800" b="1" i="0" u="none" kern="1200">
                          <a:solidFill>
                            <a:srgbClr val="5B3478"/>
                          </a:solidFill>
                          <a:latin typeface="+mn-lt"/>
                          <a:ea typeface="+mn-ea"/>
                          <a:cs typeface="+mn-cs"/>
                        </a:defRPr>
                      </a:lvl6pPr>
                      <a:lvl7pPr marL="2743200" algn="l" defTabSz="456565" rtl="0" eaLnBrk="1" latinLnBrk="0" hangingPunct="1">
                        <a:defRPr sz="1800" b="1" i="0" u="none" kern="1200">
                          <a:solidFill>
                            <a:srgbClr val="5B3478"/>
                          </a:solidFill>
                          <a:latin typeface="+mn-lt"/>
                          <a:ea typeface="+mn-ea"/>
                          <a:cs typeface="+mn-cs"/>
                        </a:defRPr>
                      </a:lvl7pPr>
                      <a:lvl8pPr marL="3200400" algn="l" defTabSz="456565" rtl="0" eaLnBrk="1" latinLnBrk="0" hangingPunct="1">
                        <a:defRPr sz="1800" b="1" i="0" u="none" kern="1200">
                          <a:solidFill>
                            <a:srgbClr val="5B3478"/>
                          </a:solidFill>
                          <a:latin typeface="+mn-lt"/>
                          <a:ea typeface="+mn-ea"/>
                          <a:cs typeface="+mn-cs"/>
                        </a:defRPr>
                      </a:lvl8pPr>
                      <a:lvl9pPr marL="3657600" algn="l" defTabSz="456565" rtl="0" eaLnBrk="1" latinLnBrk="0" hangingPunct="1">
                        <a:defRPr sz="1800" b="1" i="0" u="none" kern="1200">
                          <a:solidFill>
                            <a:srgbClr val="5B3478"/>
                          </a:solidFill>
                          <a:latin typeface="+mn-lt"/>
                          <a:ea typeface="+mn-ea"/>
                          <a:cs typeface="+mn-cs"/>
                        </a:defRPr>
                      </a:lvl9pPr>
                    </a:lstStyle>
                    <a:p>
                      <a:pPr marL="0" indent="0" algn="ctr">
                        <a:lnSpc>
                          <a:spcPct val="120000"/>
                        </a:lnSpc>
                        <a:spcBef>
                          <a:spcPct val="0"/>
                        </a:spcBef>
                        <a:spcAft>
                          <a:spcPct val="0"/>
                        </a:spcAft>
                      </a:pPr>
                      <a:r>
                        <a:rPr lang="zh-CN" altLang="en-US" sz="1400"/>
                        <a:t>优势</a:t>
                      </a:r>
                      <a:endParaRPr lang="zh-CN" altLang="en-US" sz="1400"/>
                    </a:p>
                  </a:txBody>
                  <a:tcPr marL="86042" marR="86042" marT="57467" marB="5746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defPPr>
                        <a:defRPr lang="en-US" b="1" i="0" u="none">
                          <a:solidFill>
                            <a:srgbClr val="5B3478"/>
                          </a:solidFill>
                        </a:defRPr>
                      </a:defPPr>
                      <a:lvl1pPr marL="0" algn="l" defTabSz="456565" rtl="0" eaLnBrk="1" latinLnBrk="0" hangingPunct="1">
                        <a:defRPr sz="1800" b="1" i="0" u="none" kern="1200">
                          <a:solidFill>
                            <a:srgbClr val="5B3478"/>
                          </a:solidFill>
                          <a:latin typeface="+mn-lt"/>
                          <a:ea typeface="+mn-ea"/>
                          <a:cs typeface="+mn-cs"/>
                        </a:defRPr>
                      </a:lvl1pPr>
                      <a:lvl2pPr marL="457200" algn="l" defTabSz="456565" rtl="0" eaLnBrk="1" latinLnBrk="0" hangingPunct="1">
                        <a:defRPr sz="1800" b="1" i="0" u="none" kern="1200">
                          <a:solidFill>
                            <a:srgbClr val="5B3478"/>
                          </a:solidFill>
                          <a:latin typeface="+mn-lt"/>
                          <a:ea typeface="+mn-ea"/>
                          <a:cs typeface="+mn-cs"/>
                        </a:defRPr>
                      </a:lvl2pPr>
                      <a:lvl3pPr marL="914400" algn="l" defTabSz="456565" rtl="0" eaLnBrk="1" latinLnBrk="0" hangingPunct="1">
                        <a:defRPr sz="1800" b="1" i="0" u="none" kern="1200">
                          <a:solidFill>
                            <a:srgbClr val="5B3478"/>
                          </a:solidFill>
                          <a:latin typeface="+mn-lt"/>
                          <a:ea typeface="+mn-ea"/>
                          <a:cs typeface="+mn-cs"/>
                        </a:defRPr>
                      </a:lvl3pPr>
                      <a:lvl4pPr marL="1371600" algn="l" defTabSz="456565" rtl="0" eaLnBrk="1" latinLnBrk="0" hangingPunct="1">
                        <a:defRPr sz="1800" b="1" i="0" u="none" kern="1200">
                          <a:solidFill>
                            <a:srgbClr val="5B3478"/>
                          </a:solidFill>
                          <a:latin typeface="+mn-lt"/>
                          <a:ea typeface="+mn-ea"/>
                          <a:cs typeface="+mn-cs"/>
                        </a:defRPr>
                      </a:lvl4pPr>
                      <a:lvl5pPr marL="1828800" algn="l" defTabSz="456565" rtl="0" eaLnBrk="1" latinLnBrk="0" hangingPunct="1">
                        <a:defRPr sz="1800" b="1" i="0" u="none" kern="1200">
                          <a:solidFill>
                            <a:srgbClr val="5B3478"/>
                          </a:solidFill>
                          <a:latin typeface="+mn-lt"/>
                          <a:ea typeface="+mn-ea"/>
                          <a:cs typeface="+mn-cs"/>
                        </a:defRPr>
                      </a:lvl5pPr>
                      <a:lvl6pPr marL="2286000" algn="l" defTabSz="456565" rtl="0" eaLnBrk="1" latinLnBrk="0" hangingPunct="1">
                        <a:defRPr sz="1800" b="1" i="0" u="none" kern="1200">
                          <a:solidFill>
                            <a:srgbClr val="5B3478"/>
                          </a:solidFill>
                          <a:latin typeface="+mn-lt"/>
                          <a:ea typeface="+mn-ea"/>
                          <a:cs typeface="+mn-cs"/>
                        </a:defRPr>
                      </a:lvl6pPr>
                      <a:lvl7pPr marL="2743200" algn="l" defTabSz="456565" rtl="0" eaLnBrk="1" latinLnBrk="0" hangingPunct="1">
                        <a:defRPr sz="1800" b="1" i="0" u="none" kern="1200">
                          <a:solidFill>
                            <a:srgbClr val="5B3478"/>
                          </a:solidFill>
                          <a:latin typeface="+mn-lt"/>
                          <a:ea typeface="+mn-ea"/>
                          <a:cs typeface="+mn-cs"/>
                        </a:defRPr>
                      </a:lvl7pPr>
                      <a:lvl8pPr marL="3200400" algn="l" defTabSz="456565" rtl="0" eaLnBrk="1" latinLnBrk="0" hangingPunct="1">
                        <a:defRPr sz="1800" b="1" i="0" u="none" kern="1200">
                          <a:solidFill>
                            <a:srgbClr val="5B3478"/>
                          </a:solidFill>
                          <a:latin typeface="+mn-lt"/>
                          <a:ea typeface="+mn-ea"/>
                          <a:cs typeface="+mn-cs"/>
                        </a:defRPr>
                      </a:lvl8pPr>
                      <a:lvl9pPr marL="3657600" algn="l" defTabSz="456565" rtl="0" eaLnBrk="1" latinLnBrk="0" hangingPunct="1">
                        <a:defRPr sz="1800" b="1" i="0" u="none" kern="1200">
                          <a:solidFill>
                            <a:srgbClr val="5B3478"/>
                          </a:solidFill>
                          <a:latin typeface="+mn-lt"/>
                          <a:ea typeface="+mn-ea"/>
                          <a:cs typeface="+mn-cs"/>
                        </a:defRPr>
                      </a:lvl9pPr>
                    </a:lstStyle>
                    <a:p>
                      <a:pPr marL="0" indent="0" algn="ctr">
                        <a:lnSpc>
                          <a:spcPct val="120000"/>
                        </a:lnSpc>
                        <a:spcBef>
                          <a:spcPct val="0"/>
                        </a:spcBef>
                        <a:spcAft>
                          <a:spcPct val="0"/>
                        </a:spcAft>
                      </a:pPr>
                      <a:r>
                        <a:rPr lang="zh-CN" altLang="en-US" sz="1400"/>
                        <a:t>局限性</a:t>
                      </a:r>
                      <a:endParaRPr lang="zh-CN" altLang="en-US" sz="1400"/>
                    </a:p>
                  </a:txBody>
                  <a:tcPr marL="86042" marR="86042" marT="57467" marB="5746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136650">
                <a:tc>
                  <a:txBody>
                    <a:bodyPr/>
                    <a:lstStyle/>
                    <a:p>
                      <a:pPr marL="0" indent="0" algn="ctr" defTabSz="456565" rtl="0" eaLnBrk="1" fontAlgn="base" latinLnBrk="0" hangingPunct="1">
                        <a:lnSpc>
                          <a:spcPct val="120000"/>
                        </a:lnSpc>
                        <a:spcBef>
                          <a:spcPct val="0"/>
                        </a:spcBef>
                        <a:spcAft>
                          <a:spcPct val="0"/>
                        </a:spcAft>
                        <a:buNone/>
                      </a:pPr>
                      <a:r>
                        <a:rPr lang="en-GB" sz="1400" b="0" i="0" u="none" kern="1200">
                          <a:solidFill>
                            <a:srgbClr val="08090C"/>
                          </a:solidFill>
                          <a:latin typeface="+mn-lt"/>
                          <a:ea typeface="+mn-ea"/>
                          <a:cs typeface="+mn-cs"/>
                        </a:rPr>
                        <a:t>TESSERACT</a:t>
                      </a:r>
                      <a:br>
                        <a:rPr lang="en-GB" sz="1400" b="0" i="0" u="none" kern="1200">
                          <a:solidFill>
                            <a:srgbClr val="08090C"/>
                          </a:solidFill>
                          <a:latin typeface="+mn-lt"/>
                          <a:ea typeface="+mn-ea"/>
                          <a:cs typeface="+mn-cs"/>
                        </a:rPr>
                      </a:br>
                      <a:r>
                        <a:rPr lang="en-GB" sz="1400" b="0" i="0" u="none" kern="1200">
                          <a:solidFill>
                            <a:srgbClr val="08090C"/>
                          </a:solidFill>
                          <a:latin typeface="+mn-lt"/>
                          <a:ea typeface="+mn-ea"/>
                          <a:cs typeface="+mn-cs"/>
                        </a:rPr>
                        <a:t>(USENIX Sec '19)</a:t>
                      </a:r>
                      <a:endParaRPr lang="en-GB" sz="1400" b="0" i="0" u="none" kern="1200">
                        <a:solidFill>
                          <a:srgbClr val="08090C"/>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indent="0" algn="ctr" defTabSz="456565" rtl="0" eaLnBrk="1" fontAlgn="base" latinLnBrk="0" hangingPunct="1">
                        <a:lnSpc>
                          <a:spcPct val="120000"/>
                        </a:lnSpc>
                        <a:spcBef>
                          <a:spcPct val="0"/>
                        </a:spcBef>
                        <a:spcAft>
                          <a:spcPct val="0"/>
                        </a:spcAft>
                        <a:buNone/>
                      </a:pPr>
                      <a:r>
                        <a:rPr lang="zh-CN" altLang="en-US" sz="1400" b="0" i="0" u="none" kern="1200">
                          <a:solidFill>
                            <a:srgbClr val="08090C"/>
                          </a:solidFill>
                          <a:latin typeface="+mn-lt"/>
                          <a:ea typeface="+mn-ea"/>
                          <a:cs typeface="+mn-cs"/>
                        </a:rPr>
                        <a:t>实验偏差</a:t>
                      </a:r>
                      <a:br>
                        <a:rPr lang="zh-CN" altLang="en-US" sz="1400" b="0" i="0" u="none" kern="1200">
                          <a:solidFill>
                            <a:srgbClr val="08090C"/>
                          </a:solidFill>
                          <a:latin typeface="+mn-lt"/>
                          <a:ea typeface="+mn-ea"/>
                          <a:cs typeface="+mn-cs"/>
                        </a:rPr>
                      </a:br>
                      <a:r>
                        <a:rPr lang="en-US" altLang="zh-CN" sz="1400" b="0" i="0" u="none" kern="1200">
                          <a:solidFill>
                            <a:srgbClr val="08090C"/>
                          </a:solidFill>
                          <a:latin typeface="+mn-lt"/>
                          <a:ea typeface="+mn-ea"/>
                          <a:cs typeface="+mn-cs"/>
                        </a:rPr>
                        <a:t>(</a:t>
                      </a:r>
                      <a:r>
                        <a:rPr lang="zh-CN" altLang="en-US" sz="1400" b="0" i="0" u="none" kern="1200">
                          <a:solidFill>
                            <a:srgbClr val="08090C"/>
                          </a:solidFill>
                          <a:latin typeface="+mn-lt"/>
                          <a:ea typeface="+mn-ea"/>
                          <a:cs typeface="+mn-cs"/>
                        </a:rPr>
                        <a:t>时间</a:t>
                      </a:r>
                      <a:r>
                        <a:rPr lang="en-US" altLang="zh-CN" sz="1400" b="0" i="0" u="none" kern="1200">
                          <a:solidFill>
                            <a:srgbClr val="08090C"/>
                          </a:solidFill>
                          <a:latin typeface="+mn-lt"/>
                          <a:ea typeface="+mn-ea"/>
                          <a:cs typeface="+mn-cs"/>
                        </a:rPr>
                        <a:t>/</a:t>
                      </a:r>
                      <a:r>
                        <a:rPr lang="zh-CN" altLang="en-US" sz="1400" b="0" i="0" u="none" kern="1200">
                          <a:solidFill>
                            <a:srgbClr val="08090C"/>
                          </a:solidFill>
                          <a:latin typeface="+mn-lt"/>
                          <a:ea typeface="+mn-ea"/>
                          <a:cs typeface="+mn-cs"/>
                        </a:rPr>
                        <a:t>空间偏差</a:t>
                      </a:r>
                      <a:r>
                        <a:rPr lang="en-US" altLang="zh-CN" sz="1400" b="0" i="0" u="none" kern="1200">
                          <a:solidFill>
                            <a:srgbClr val="08090C"/>
                          </a:solidFill>
                          <a:latin typeface="+mn-lt"/>
                          <a:ea typeface="+mn-ea"/>
                          <a:cs typeface="+mn-cs"/>
                        </a:rPr>
                        <a:t>)</a:t>
                      </a:r>
                      <a:endParaRPr lang="en-US" altLang="zh-CN" sz="1400" b="0" i="0" u="none" kern="1200">
                        <a:solidFill>
                          <a:srgbClr val="08090C"/>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indent="0" algn="ctr" defTabSz="456565" rtl="0" eaLnBrk="1" fontAlgn="base" latinLnBrk="0" hangingPunct="1">
                        <a:lnSpc>
                          <a:spcPct val="120000"/>
                        </a:lnSpc>
                        <a:spcBef>
                          <a:spcPct val="0"/>
                        </a:spcBef>
                        <a:spcAft>
                          <a:spcPct val="0"/>
                        </a:spcAft>
                        <a:buNone/>
                      </a:pPr>
                      <a:r>
                        <a:rPr lang="zh-CN" altLang="en-US" sz="1400" b="0" i="0" u="none" kern="1200">
                          <a:solidFill>
                            <a:srgbClr val="08090C"/>
                          </a:solidFill>
                          <a:latin typeface="+mn-lt"/>
                          <a:ea typeface="+mn-ea"/>
                          <a:cs typeface="+mn-cs"/>
                        </a:rPr>
                        <a:t>时间约束切分 </a:t>
                      </a:r>
                      <a:r>
                        <a:rPr lang="en-US" altLang="zh-CN" sz="1400" b="0" i="0" u="none" kern="1200">
                          <a:solidFill>
                            <a:srgbClr val="08090C"/>
                          </a:solidFill>
                          <a:latin typeface="+mn-lt"/>
                          <a:ea typeface="+mn-ea"/>
                          <a:cs typeface="+mn-cs"/>
                        </a:rPr>
                        <a:t>+</a:t>
                      </a:r>
                      <a:br>
                        <a:rPr lang="en-US" altLang="zh-CN" sz="1400" b="0" i="0" u="none" kern="1200">
                          <a:solidFill>
                            <a:srgbClr val="08090C"/>
                          </a:solidFill>
                          <a:latin typeface="+mn-lt"/>
                          <a:ea typeface="+mn-ea"/>
                          <a:cs typeface="+mn-cs"/>
                        </a:rPr>
                      </a:br>
                      <a:r>
                        <a:rPr lang="en-GB" sz="1400" b="0" i="0" u="none" kern="1200">
                          <a:solidFill>
                            <a:srgbClr val="08090C"/>
                          </a:solidFill>
                          <a:latin typeface="+mn-lt"/>
                          <a:ea typeface="+mn-ea"/>
                          <a:cs typeface="+mn-cs"/>
                        </a:rPr>
                        <a:t>AUT (</a:t>
                      </a:r>
                      <a:r>
                        <a:rPr lang="zh-CN" altLang="en-US" sz="1400" b="0" i="0" u="none" kern="1200">
                          <a:solidFill>
                            <a:srgbClr val="08090C"/>
                          </a:solidFill>
                          <a:latin typeface="+mn-lt"/>
                          <a:ea typeface="+mn-ea"/>
                          <a:cs typeface="+mn-cs"/>
                        </a:rPr>
                        <a:t>时间下涵盖率</a:t>
                      </a:r>
                      <a:r>
                        <a:rPr lang="en-US" altLang="zh-CN" sz="1400" b="0" i="0" u="none" kern="1200">
                          <a:solidFill>
                            <a:srgbClr val="08090C"/>
                          </a:solidFill>
                          <a:latin typeface="+mn-lt"/>
                          <a:ea typeface="+mn-ea"/>
                          <a:cs typeface="+mn-cs"/>
                        </a:rPr>
                        <a:t>) </a:t>
                      </a:r>
                      <a:r>
                        <a:rPr lang="zh-CN" altLang="en-US" sz="1400" b="0" i="0" u="none" kern="1200">
                          <a:solidFill>
                            <a:srgbClr val="08090C"/>
                          </a:solidFill>
                          <a:latin typeface="+mn-lt"/>
                          <a:ea typeface="+mn-ea"/>
                          <a:cs typeface="+mn-cs"/>
                        </a:rPr>
                        <a:t>指标</a:t>
                      </a:r>
                      <a:endParaRPr lang="zh-CN" altLang="en-US" sz="1400" b="0" i="0" u="none" kern="1200">
                        <a:solidFill>
                          <a:srgbClr val="08090C"/>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indent="0" algn="ctr" defTabSz="456565" rtl="0" eaLnBrk="1" fontAlgn="base" latinLnBrk="0" hangingPunct="1">
                        <a:lnSpc>
                          <a:spcPct val="120000"/>
                        </a:lnSpc>
                        <a:spcBef>
                          <a:spcPct val="0"/>
                        </a:spcBef>
                        <a:spcAft>
                          <a:spcPct val="0"/>
                        </a:spcAft>
                        <a:buNone/>
                      </a:pPr>
                      <a:r>
                        <a:rPr lang="en-US" altLang="zh-CN" sz="1400" b="0" i="0" u="none" kern="1200">
                          <a:solidFill>
                            <a:srgbClr val="08090C"/>
                          </a:solidFill>
                          <a:latin typeface="+mn-lt"/>
                          <a:ea typeface="+mn-ea"/>
                          <a:cs typeface="+mn-cs"/>
                        </a:rPr>
                        <a:t>1. </a:t>
                      </a:r>
                      <a:r>
                        <a:rPr lang="zh-CN" altLang="en-US" sz="1400" b="0" i="0" u="none" kern="1200">
                          <a:solidFill>
                            <a:srgbClr val="08090C"/>
                          </a:solidFill>
                          <a:latin typeface="+mn-lt"/>
                          <a:ea typeface="+mn-ea"/>
                          <a:cs typeface="+mn-cs"/>
                        </a:rPr>
                        <a:t>消除</a:t>
                      </a:r>
                      <a:r>
                        <a:rPr lang="en-GB" sz="1400" b="0" i="0" u="none" kern="1200">
                          <a:solidFill>
                            <a:srgbClr val="08090C"/>
                          </a:solidFill>
                          <a:latin typeface="+mn-lt"/>
                          <a:ea typeface="+mn-ea"/>
                          <a:cs typeface="+mn-cs"/>
                        </a:rPr>
                        <a:t>F1</a:t>
                      </a:r>
                      <a:r>
                        <a:rPr lang="zh-CN" altLang="en-US" sz="1400" b="0" i="0" u="none" kern="1200">
                          <a:solidFill>
                            <a:srgbClr val="08090C"/>
                          </a:solidFill>
                          <a:latin typeface="+mn-lt"/>
                          <a:ea typeface="+mn-ea"/>
                          <a:cs typeface="+mn-cs"/>
                        </a:rPr>
                        <a:t>虚高，揭示真实性能</a:t>
                      </a:r>
                      <a:br>
                        <a:rPr lang="zh-CN" altLang="en-US" sz="1400" b="0" i="0" u="none" kern="1200">
                          <a:solidFill>
                            <a:srgbClr val="08090C"/>
                          </a:solidFill>
                          <a:latin typeface="+mn-lt"/>
                          <a:ea typeface="+mn-ea"/>
                          <a:cs typeface="+mn-cs"/>
                        </a:rPr>
                      </a:br>
                      <a:r>
                        <a:rPr lang="en-US" altLang="zh-CN" sz="1400" b="0" i="0" u="none" kern="1200">
                          <a:solidFill>
                            <a:srgbClr val="08090C"/>
                          </a:solidFill>
                          <a:latin typeface="+mn-lt"/>
                          <a:ea typeface="+mn-ea"/>
                          <a:cs typeface="+mn-cs"/>
                        </a:rPr>
                        <a:t>2. </a:t>
                      </a:r>
                      <a:r>
                        <a:rPr lang="zh-CN" altLang="en-US" sz="1400" b="0" i="0" u="none" kern="1200">
                          <a:solidFill>
                            <a:srgbClr val="08090C"/>
                          </a:solidFill>
                          <a:latin typeface="+mn-lt"/>
                          <a:ea typeface="+mn-ea"/>
                          <a:cs typeface="+mn-cs"/>
                        </a:rPr>
                        <a:t>证明深度学习比传统</a:t>
                      </a:r>
                      <a:r>
                        <a:rPr lang="en-GB" sz="1400" b="0" i="0" u="none" kern="1200">
                          <a:solidFill>
                            <a:srgbClr val="08090C"/>
                          </a:solidFill>
                          <a:latin typeface="+mn-lt"/>
                          <a:ea typeface="+mn-ea"/>
                          <a:cs typeface="+mn-cs"/>
                        </a:rPr>
                        <a:t>ML</a:t>
                      </a:r>
                      <a:r>
                        <a:rPr lang="zh-CN" altLang="en-US" sz="1400" b="0" i="0" u="none" kern="1200">
                          <a:solidFill>
                            <a:srgbClr val="08090C"/>
                          </a:solidFill>
                          <a:latin typeface="+mn-lt"/>
                          <a:ea typeface="+mn-ea"/>
                          <a:cs typeface="+mn-cs"/>
                        </a:rPr>
                        <a:t>更抗老化</a:t>
                      </a:r>
                      <a:endParaRPr lang="zh-CN" altLang="en-US" sz="1400" b="0" i="0" u="none" kern="1200">
                        <a:solidFill>
                          <a:srgbClr val="08090C"/>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indent="0" algn="ctr" defTabSz="456565" rtl="0" eaLnBrk="1" fontAlgn="base" latinLnBrk="0" hangingPunct="1">
                        <a:lnSpc>
                          <a:spcPct val="120000"/>
                        </a:lnSpc>
                        <a:spcBef>
                          <a:spcPct val="0"/>
                        </a:spcBef>
                        <a:spcAft>
                          <a:spcPct val="0"/>
                        </a:spcAft>
                        <a:buNone/>
                      </a:pPr>
                      <a:r>
                        <a:rPr lang="en-US" altLang="zh-CN" sz="1400" b="0" i="0" u="none" kern="1200">
                          <a:solidFill>
                            <a:srgbClr val="08090C"/>
                          </a:solidFill>
                          <a:latin typeface="+mn-lt"/>
                          <a:ea typeface="+mn-ea"/>
                          <a:cs typeface="+mn-cs"/>
                        </a:rPr>
                        <a:t>1. </a:t>
                      </a:r>
                      <a:r>
                        <a:rPr lang="zh-CN" altLang="en-US" sz="1400" b="0" i="0" u="none" kern="1200">
                          <a:solidFill>
                            <a:srgbClr val="08090C"/>
                          </a:solidFill>
                          <a:latin typeface="+mn-lt"/>
                          <a:ea typeface="+mn-ea"/>
                          <a:cs typeface="+mn-cs"/>
                        </a:rPr>
                        <a:t>是一种评估框架而非检测算法</a:t>
                      </a:r>
                      <a:br>
                        <a:rPr lang="zh-CN" altLang="en-US" sz="1400" b="0" i="0" u="none" kern="1200">
                          <a:solidFill>
                            <a:srgbClr val="08090C"/>
                          </a:solidFill>
                          <a:latin typeface="+mn-lt"/>
                          <a:ea typeface="+mn-ea"/>
                          <a:cs typeface="+mn-cs"/>
                        </a:rPr>
                      </a:br>
                      <a:r>
                        <a:rPr lang="en-US" altLang="zh-CN" sz="1400" b="0" i="0" u="none" kern="1200">
                          <a:solidFill>
                            <a:srgbClr val="08090C"/>
                          </a:solidFill>
                          <a:latin typeface="+mn-lt"/>
                          <a:ea typeface="+mn-ea"/>
                          <a:cs typeface="+mn-cs"/>
                        </a:rPr>
                        <a:t>2. </a:t>
                      </a:r>
                      <a:r>
                        <a:rPr lang="zh-CN" altLang="en-US" sz="1400" b="0" i="0" u="none" kern="1200">
                          <a:solidFill>
                            <a:srgbClr val="08090C"/>
                          </a:solidFill>
                          <a:latin typeface="+mn-lt"/>
                          <a:ea typeface="+mn-ea"/>
                          <a:cs typeface="+mn-cs"/>
                        </a:rPr>
                        <a:t>揭示了现有模型性能随时间衰减的残酷事实</a:t>
                      </a:r>
                      <a:endParaRPr lang="zh-CN" altLang="en-US" sz="1400" b="0" i="0" u="none" kern="1200">
                        <a:solidFill>
                          <a:srgbClr val="08090C"/>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r>
              <a:tr h="1115060">
                <a:tc>
                  <a:txBody>
                    <a:bodyPr/>
                    <a:lstStyle/>
                    <a:p>
                      <a:pPr marL="0" indent="0" algn="ctr" defTabSz="456565" rtl="0" eaLnBrk="1" fontAlgn="base" latinLnBrk="0" hangingPunct="1">
                        <a:lnSpc>
                          <a:spcPct val="120000"/>
                        </a:lnSpc>
                        <a:spcBef>
                          <a:spcPct val="0"/>
                        </a:spcBef>
                        <a:spcAft>
                          <a:spcPct val="0"/>
                        </a:spcAft>
                        <a:buNone/>
                      </a:pPr>
                      <a:r>
                        <a:rPr lang="en-GB" sz="1400" b="0" i="0" u="none" kern="1200">
                          <a:solidFill>
                            <a:srgbClr val="08090C"/>
                          </a:solidFill>
                          <a:latin typeface="+mn-lt"/>
                          <a:ea typeface="+mn-ea"/>
                          <a:cs typeface="+mn-cs"/>
                        </a:rPr>
                        <a:t>Functionality-preserving</a:t>
                      </a:r>
                      <a:br>
                        <a:rPr lang="en-GB" sz="1400" b="0" i="0" u="none" kern="1200">
                          <a:solidFill>
                            <a:srgbClr val="08090C"/>
                          </a:solidFill>
                          <a:latin typeface="+mn-lt"/>
                          <a:ea typeface="+mn-ea"/>
                          <a:cs typeface="+mn-cs"/>
                        </a:rPr>
                      </a:br>
                      <a:r>
                        <a:rPr lang="en-GB" sz="1400" b="0" i="0" u="none" kern="1200">
                          <a:solidFill>
                            <a:srgbClr val="08090C"/>
                          </a:solidFill>
                          <a:latin typeface="+mn-lt"/>
                          <a:ea typeface="+mn-ea"/>
                          <a:cs typeface="+mn-cs"/>
                        </a:rPr>
                        <a:t>(TIFS '21)</a:t>
                      </a:r>
                      <a:endParaRPr lang="en-GB" sz="1400" b="0" i="0" u="none" kern="1200">
                        <a:solidFill>
                          <a:srgbClr val="08090C"/>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indent="0" algn="ctr" defTabSz="456565" rtl="0" eaLnBrk="1" fontAlgn="base" latinLnBrk="0" hangingPunct="1">
                        <a:lnSpc>
                          <a:spcPct val="120000"/>
                        </a:lnSpc>
                        <a:spcBef>
                          <a:spcPct val="0"/>
                        </a:spcBef>
                        <a:spcAft>
                          <a:spcPct val="0"/>
                        </a:spcAft>
                        <a:buNone/>
                      </a:pPr>
                      <a:r>
                        <a:rPr lang="zh-CN" altLang="en-US" sz="1400" b="0" i="0" u="none" kern="1200">
                          <a:solidFill>
                            <a:srgbClr val="08090C"/>
                          </a:solidFill>
                          <a:latin typeface="+mn-lt"/>
                          <a:ea typeface="+mn-ea"/>
                          <a:cs typeface="+mn-cs"/>
                        </a:rPr>
                        <a:t>黑盒对抗攻击</a:t>
                      </a:r>
                      <a:br>
                        <a:rPr lang="zh-CN" altLang="en-US" sz="1400" b="0" i="0" u="none" kern="1200">
                          <a:solidFill>
                            <a:srgbClr val="08090C"/>
                          </a:solidFill>
                          <a:latin typeface="+mn-lt"/>
                          <a:ea typeface="+mn-ea"/>
                          <a:cs typeface="+mn-cs"/>
                        </a:rPr>
                      </a:br>
                      <a:r>
                        <a:rPr lang="en-US" altLang="zh-CN" sz="1400" b="0" i="0" u="none" kern="1200">
                          <a:solidFill>
                            <a:srgbClr val="08090C"/>
                          </a:solidFill>
                          <a:latin typeface="+mn-lt"/>
                          <a:ea typeface="+mn-ea"/>
                          <a:cs typeface="+mn-cs"/>
                        </a:rPr>
                        <a:t>(</a:t>
                      </a:r>
                      <a:r>
                        <a:rPr lang="zh-CN" altLang="en-US" sz="1400" b="0" i="0" u="none" kern="1200">
                          <a:solidFill>
                            <a:srgbClr val="08090C"/>
                          </a:solidFill>
                          <a:latin typeface="+mn-lt"/>
                          <a:ea typeface="+mn-ea"/>
                          <a:cs typeface="+mn-cs"/>
                        </a:rPr>
                        <a:t>功能保持</a:t>
                      </a:r>
                      <a:r>
                        <a:rPr lang="en-US" altLang="zh-CN" sz="1400" b="0" i="0" u="none" kern="1200">
                          <a:solidFill>
                            <a:srgbClr val="08090C"/>
                          </a:solidFill>
                          <a:latin typeface="+mn-lt"/>
                          <a:ea typeface="+mn-ea"/>
                          <a:cs typeface="+mn-cs"/>
                        </a:rPr>
                        <a:t>)</a:t>
                      </a:r>
                      <a:endParaRPr lang="en-US" altLang="zh-CN" sz="1400" b="0" i="0" u="none" kern="1200">
                        <a:solidFill>
                          <a:srgbClr val="08090C"/>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indent="0" algn="ctr" defTabSz="456565" rtl="0" eaLnBrk="1" fontAlgn="base" latinLnBrk="0" hangingPunct="1">
                        <a:lnSpc>
                          <a:spcPct val="120000"/>
                        </a:lnSpc>
                        <a:spcBef>
                          <a:spcPct val="0"/>
                        </a:spcBef>
                        <a:spcAft>
                          <a:spcPct val="0"/>
                        </a:spcAft>
                        <a:buNone/>
                      </a:pPr>
                      <a:r>
                        <a:rPr lang="zh-CN" altLang="en-US" sz="1400" b="0" i="0" u="none" kern="1200">
                          <a:solidFill>
                            <a:srgbClr val="08090C"/>
                          </a:solidFill>
                          <a:latin typeface="+mn-lt"/>
                          <a:ea typeface="+mn-ea"/>
                          <a:cs typeface="+mn-cs"/>
                        </a:rPr>
                        <a:t>遗传算法优化 </a:t>
                      </a:r>
                      <a:r>
                        <a:rPr lang="en-US" altLang="zh-CN" sz="1400" b="0" i="0" u="none" kern="1200">
                          <a:solidFill>
                            <a:srgbClr val="08090C"/>
                          </a:solidFill>
                          <a:latin typeface="+mn-lt"/>
                          <a:ea typeface="+mn-ea"/>
                          <a:cs typeface="+mn-cs"/>
                        </a:rPr>
                        <a:t>+</a:t>
                      </a:r>
                      <a:br>
                        <a:rPr lang="en-US" altLang="zh-CN" sz="1400" b="0" i="0" u="none" kern="1200">
                          <a:solidFill>
                            <a:srgbClr val="08090C"/>
                          </a:solidFill>
                          <a:latin typeface="+mn-lt"/>
                          <a:ea typeface="+mn-ea"/>
                          <a:cs typeface="+mn-cs"/>
                        </a:rPr>
                      </a:br>
                      <a:r>
                        <a:rPr lang="zh-CN" altLang="en-US" sz="1400" b="0" i="0" u="none" kern="1200">
                          <a:solidFill>
                            <a:srgbClr val="08090C"/>
                          </a:solidFill>
                          <a:latin typeface="+mn-lt"/>
                          <a:ea typeface="+mn-ea"/>
                          <a:cs typeface="+mn-cs"/>
                        </a:rPr>
                        <a:t>良性</a:t>
                      </a:r>
                      <a:r>
                        <a:rPr lang="en-GB" sz="1400" b="0" i="0" u="none" kern="1200">
                          <a:solidFill>
                            <a:srgbClr val="08090C"/>
                          </a:solidFill>
                          <a:latin typeface="+mn-lt"/>
                          <a:ea typeface="+mn-ea"/>
                          <a:cs typeface="+mn-cs"/>
                        </a:rPr>
                        <a:t>Payload</a:t>
                      </a:r>
                      <a:r>
                        <a:rPr lang="zh-CN" altLang="en-US" sz="1400" b="0" i="0" u="none" kern="1200">
                          <a:solidFill>
                            <a:srgbClr val="08090C"/>
                          </a:solidFill>
                          <a:latin typeface="+mn-lt"/>
                          <a:ea typeface="+mn-ea"/>
                          <a:cs typeface="+mn-cs"/>
                        </a:rPr>
                        <a:t>外部注入 </a:t>
                      </a:r>
                      <a:r>
                        <a:rPr lang="en-US" altLang="zh-CN" sz="1400" b="0" i="0" u="none" kern="1200">
                          <a:solidFill>
                            <a:srgbClr val="08090C"/>
                          </a:solidFill>
                          <a:latin typeface="+mn-lt"/>
                          <a:ea typeface="+mn-ea"/>
                          <a:cs typeface="+mn-cs"/>
                        </a:rPr>
                        <a:t>(</a:t>
                      </a:r>
                      <a:r>
                        <a:rPr lang="en-GB" sz="1400" b="0" i="0" u="none" kern="1200">
                          <a:solidFill>
                            <a:srgbClr val="08090C"/>
                          </a:solidFill>
                          <a:latin typeface="+mn-lt"/>
                          <a:ea typeface="+mn-ea"/>
                          <a:cs typeface="+mn-cs"/>
                        </a:rPr>
                        <a:t>Padding)</a:t>
                      </a:r>
                      <a:endParaRPr lang="en-GB" sz="1400" b="0" i="0" u="none" kern="1200">
                        <a:solidFill>
                          <a:srgbClr val="08090C"/>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indent="0" algn="ctr" defTabSz="456565" rtl="0" eaLnBrk="1" fontAlgn="base" latinLnBrk="0" hangingPunct="1">
                        <a:lnSpc>
                          <a:spcPct val="120000"/>
                        </a:lnSpc>
                        <a:spcBef>
                          <a:spcPct val="0"/>
                        </a:spcBef>
                        <a:spcAft>
                          <a:spcPct val="0"/>
                        </a:spcAft>
                        <a:buNone/>
                      </a:pPr>
                      <a:r>
                        <a:rPr lang="en-US" altLang="zh-CN" sz="1400" b="0" i="0" u="none" kern="1200">
                          <a:solidFill>
                            <a:srgbClr val="08090C"/>
                          </a:solidFill>
                          <a:latin typeface="+mn-lt"/>
                          <a:ea typeface="+mn-ea"/>
                          <a:cs typeface="+mn-cs"/>
                        </a:rPr>
                        <a:t>1. </a:t>
                      </a:r>
                      <a:r>
                        <a:rPr lang="zh-CN" altLang="en-US" sz="1400" b="0" i="0" u="none" kern="1200">
                          <a:solidFill>
                            <a:srgbClr val="08090C"/>
                          </a:solidFill>
                          <a:latin typeface="+mn-lt"/>
                          <a:ea typeface="+mn-ea"/>
                          <a:cs typeface="+mn-cs"/>
                        </a:rPr>
                        <a:t>查询高效，无需沙箱验证功能</a:t>
                      </a:r>
                      <a:br>
                        <a:rPr lang="zh-CN" altLang="en-US" sz="1400" b="0" i="0" u="none" kern="1200">
                          <a:solidFill>
                            <a:srgbClr val="08090C"/>
                          </a:solidFill>
                          <a:latin typeface="+mn-lt"/>
                          <a:ea typeface="+mn-ea"/>
                          <a:cs typeface="+mn-cs"/>
                        </a:rPr>
                      </a:br>
                      <a:r>
                        <a:rPr lang="en-US" altLang="zh-CN" sz="1400" b="0" i="0" u="none" kern="1200">
                          <a:solidFill>
                            <a:srgbClr val="08090C"/>
                          </a:solidFill>
                          <a:latin typeface="+mn-lt"/>
                          <a:ea typeface="+mn-ea"/>
                          <a:cs typeface="+mn-cs"/>
                        </a:rPr>
                        <a:t>2. </a:t>
                      </a:r>
                      <a:r>
                        <a:rPr lang="zh-CN" altLang="en-US" sz="1400" b="0" i="0" u="none" kern="1200">
                          <a:solidFill>
                            <a:srgbClr val="08090C"/>
                          </a:solidFill>
                          <a:latin typeface="+mn-lt"/>
                          <a:ea typeface="+mn-ea"/>
                          <a:cs typeface="+mn-cs"/>
                        </a:rPr>
                        <a:t>黑盒条件下可绕过主流杀软</a:t>
                      </a:r>
                      <a:endParaRPr lang="zh-CN" altLang="en-US" sz="1400" b="0" i="0" u="none" kern="1200">
                        <a:solidFill>
                          <a:srgbClr val="08090C"/>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indent="0" algn="ctr" defTabSz="456565" rtl="0" eaLnBrk="1" fontAlgn="base" latinLnBrk="0" hangingPunct="1">
                        <a:lnSpc>
                          <a:spcPct val="120000"/>
                        </a:lnSpc>
                        <a:spcBef>
                          <a:spcPct val="0"/>
                        </a:spcBef>
                        <a:spcAft>
                          <a:spcPct val="0"/>
                        </a:spcAft>
                        <a:buNone/>
                      </a:pPr>
                      <a:r>
                        <a:rPr lang="en-US" altLang="zh-CN" sz="1400" b="0" i="0" u="none" kern="1200">
                          <a:solidFill>
                            <a:srgbClr val="08090C"/>
                          </a:solidFill>
                          <a:latin typeface="+mn-lt"/>
                          <a:ea typeface="+mn-ea"/>
                          <a:cs typeface="+mn-cs"/>
                        </a:rPr>
                        <a:t>1. </a:t>
                      </a:r>
                      <a:r>
                        <a:rPr lang="zh-CN" altLang="en-US" sz="1400" b="0" i="0" u="none" kern="1200">
                          <a:solidFill>
                            <a:srgbClr val="08090C"/>
                          </a:solidFill>
                          <a:latin typeface="+mn-lt"/>
                          <a:ea typeface="+mn-ea"/>
                          <a:cs typeface="+mn-cs"/>
                        </a:rPr>
                        <a:t>增加文件体积，易被基于文件大小的规则发现</a:t>
                      </a:r>
                      <a:br>
                        <a:rPr lang="zh-CN" altLang="en-US" sz="1400" b="0" i="0" u="none" kern="1200">
                          <a:solidFill>
                            <a:srgbClr val="08090C"/>
                          </a:solidFill>
                          <a:latin typeface="+mn-lt"/>
                          <a:ea typeface="+mn-ea"/>
                          <a:cs typeface="+mn-cs"/>
                        </a:rPr>
                      </a:br>
                      <a:r>
                        <a:rPr lang="en-US" altLang="zh-CN" sz="1400" b="0" i="0" u="none" kern="1200">
                          <a:solidFill>
                            <a:srgbClr val="08090C"/>
                          </a:solidFill>
                          <a:latin typeface="+mn-lt"/>
                          <a:ea typeface="+mn-ea"/>
                          <a:cs typeface="+mn-cs"/>
                        </a:rPr>
                        <a:t>2. </a:t>
                      </a:r>
                      <a:r>
                        <a:rPr lang="zh-CN" altLang="en-US" sz="1400" b="0" i="0" u="none" kern="1200">
                          <a:solidFill>
                            <a:srgbClr val="08090C"/>
                          </a:solidFill>
                          <a:latin typeface="+mn-lt"/>
                          <a:ea typeface="+mn-ea"/>
                          <a:cs typeface="+mn-cs"/>
                        </a:rPr>
                        <a:t>注入在末尾或新节，结构改动较明显</a:t>
                      </a:r>
                      <a:endParaRPr lang="zh-CN" altLang="en-US" sz="1400" b="0" i="0" u="none" kern="1200">
                        <a:solidFill>
                          <a:srgbClr val="08090C"/>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r>
              <a:tr h="1115060">
                <a:tc>
                  <a:txBody>
                    <a:bodyPr/>
                    <a:lstStyle/>
                    <a:p>
                      <a:pPr marL="0" indent="0" algn="ctr" defTabSz="456565" rtl="0" eaLnBrk="1" fontAlgn="base" latinLnBrk="0" hangingPunct="1">
                        <a:lnSpc>
                          <a:spcPct val="120000"/>
                        </a:lnSpc>
                        <a:spcBef>
                          <a:spcPct val="0"/>
                        </a:spcBef>
                        <a:spcAft>
                          <a:spcPct val="0"/>
                        </a:spcAft>
                        <a:buNone/>
                      </a:pPr>
                      <a:r>
                        <a:rPr lang="en-GB" sz="1400" b="0" i="0" u="none" kern="1200">
                          <a:solidFill>
                            <a:srgbClr val="08090C"/>
                          </a:solidFill>
                          <a:latin typeface="+mn-lt"/>
                          <a:ea typeface="+mn-ea"/>
                          <a:cs typeface="+mn-cs"/>
                        </a:rPr>
                        <a:t>Code-Cave Attack</a:t>
                      </a:r>
                      <a:br>
                        <a:rPr lang="en-GB" sz="1400" b="0" i="0" u="none" kern="1200">
                          <a:solidFill>
                            <a:srgbClr val="08090C"/>
                          </a:solidFill>
                          <a:latin typeface="+mn-lt"/>
                          <a:ea typeface="+mn-ea"/>
                          <a:cs typeface="+mn-cs"/>
                        </a:rPr>
                      </a:br>
                      <a:r>
                        <a:rPr lang="en-GB" sz="1400" b="0" i="0" u="none" kern="1200">
                          <a:solidFill>
                            <a:srgbClr val="08090C"/>
                          </a:solidFill>
                          <a:latin typeface="+mn-lt"/>
                          <a:ea typeface="+mn-ea"/>
                          <a:cs typeface="+mn-cs"/>
                        </a:rPr>
                        <a:t>(NDSS Workshop '24)</a:t>
                      </a:r>
                      <a:endParaRPr lang="en-GB" sz="1400" b="0" i="0" u="none" kern="1200">
                        <a:solidFill>
                          <a:srgbClr val="08090C"/>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indent="0" algn="ctr" defTabSz="456565" rtl="0" eaLnBrk="1" fontAlgn="base" latinLnBrk="0" hangingPunct="1">
                        <a:lnSpc>
                          <a:spcPct val="120000"/>
                        </a:lnSpc>
                        <a:spcBef>
                          <a:spcPct val="0"/>
                        </a:spcBef>
                        <a:spcAft>
                          <a:spcPct val="0"/>
                        </a:spcAft>
                        <a:buNone/>
                      </a:pPr>
                      <a:r>
                        <a:rPr lang="en-GB" sz="1400" b="0" i="0" u="none" kern="1200">
                          <a:solidFill>
                            <a:srgbClr val="08090C"/>
                          </a:solidFill>
                          <a:latin typeface="+mn-lt"/>
                          <a:ea typeface="+mn-ea"/>
                          <a:cs typeface="+mn-cs"/>
                        </a:rPr>
                        <a:t>IoT</a:t>
                      </a:r>
                      <a:r>
                        <a:rPr lang="zh-CN" altLang="en-US" sz="1400" b="0" i="0" u="none" kern="1200">
                          <a:solidFill>
                            <a:srgbClr val="08090C"/>
                          </a:solidFill>
                          <a:latin typeface="+mn-lt"/>
                          <a:ea typeface="+mn-ea"/>
                          <a:cs typeface="+mn-cs"/>
                        </a:rPr>
                        <a:t>对抗攻击</a:t>
                      </a:r>
                      <a:br>
                        <a:rPr lang="zh-CN" altLang="en-US" sz="1400" b="0" i="0" u="none" kern="1200">
                          <a:solidFill>
                            <a:srgbClr val="08090C"/>
                          </a:solidFill>
                          <a:latin typeface="+mn-lt"/>
                          <a:ea typeface="+mn-ea"/>
                          <a:cs typeface="+mn-cs"/>
                        </a:rPr>
                      </a:br>
                      <a:r>
                        <a:rPr lang="en-US" altLang="zh-CN" sz="1400" b="0" i="0" u="none" kern="1200">
                          <a:solidFill>
                            <a:srgbClr val="08090C"/>
                          </a:solidFill>
                          <a:latin typeface="+mn-lt"/>
                          <a:ea typeface="+mn-ea"/>
                          <a:cs typeface="+mn-cs"/>
                        </a:rPr>
                        <a:t>(</a:t>
                      </a:r>
                      <a:r>
                        <a:rPr lang="zh-CN" altLang="en-US" sz="1400" b="0" i="0" u="none" kern="1200">
                          <a:solidFill>
                            <a:srgbClr val="08090C"/>
                          </a:solidFill>
                          <a:latin typeface="+mn-lt"/>
                          <a:ea typeface="+mn-ea"/>
                          <a:cs typeface="+mn-cs"/>
                        </a:rPr>
                        <a:t>体积</a:t>
                      </a:r>
                      <a:r>
                        <a:rPr lang="en-US" altLang="zh-CN" sz="1400" b="0" i="0" u="none" kern="1200">
                          <a:solidFill>
                            <a:srgbClr val="08090C"/>
                          </a:solidFill>
                          <a:latin typeface="+mn-lt"/>
                          <a:ea typeface="+mn-ea"/>
                          <a:cs typeface="+mn-cs"/>
                        </a:rPr>
                        <a:t>/</a:t>
                      </a:r>
                      <a:r>
                        <a:rPr lang="zh-CN" altLang="en-US" sz="1400" b="0" i="0" u="none" kern="1200">
                          <a:solidFill>
                            <a:srgbClr val="08090C"/>
                          </a:solidFill>
                          <a:latin typeface="+mn-lt"/>
                          <a:ea typeface="+mn-ea"/>
                          <a:cs typeface="+mn-cs"/>
                        </a:rPr>
                        <a:t>结构受限</a:t>
                      </a:r>
                      <a:r>
                        <a:rPr lang="en-US" altLang="zh-CN" sz="1400" b="0" i="0" u="none" kern="1200">
                          <a:solidFill>
                            <a:srgbClr val="08090C"/>
                          </a:solidFill>
                          <a:latin typeface="+mn-lt"/>
                          <a:ea typeface="+mn-ea"/>
                          <a:cs typeface="+mn-cs"/>
                        </a:rPr>
                        <a:t>)</a:t>
                      </a:r>
                      <a:endParaRPr lang="en-US" altLang="zh-CN" sz="1400" b="0" i="0" u="none" kern="1200">
                        <a:solidFill>
                          <a:srgbClr val="08090C"/>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indent="0" algn="ctr" defTabSz="456565" rtl="0" eaLnBrk="1" fontAlgn="base" latinLnBrk="0" hangingPunct="1">
                        <a:lnSpc>
                          <a:spcPct val="120000"/>
                        </a:lnSpc>
                        <a:spcBef>
                          <a:spcPct val="0"/>
                        </a:spcBef>
                        <a:spcAft>
                          <a:spcPct val="0"/>
                        </a:spcAft>
                        <a:buNone/>
                      </a:pPr>
                      <a:r>
                        <a:rPr lang="zh-CN" altLang="en-US" sz="1400" b="0" i="0" u="none" kern="1200">
                          <a:solidFill>
                            <a:srgbClr val="08090C"/>
                          </a:solidFill>
                          <a:latin typeface="+mn-lt"/>
                          <a:ea typeface="+mn-ea"/>
                          <a:cs typeface="+mn-cs"/>
                        </a:rPr>
                        <a:t>梯度计算 </a:t>
                      </a:r>
                      <a:r>
                        <a:rPr lang="en-US" altLang="zh-CN" sz="1400" b="0" i="0" u="none" kern="1200">
                          <a:solidFill>
                            <a:srgbClr val="08090C"/>
                          </a:solidFill>
                          <a:latin typeface="+mn-lt"/>
                          <a:ea typeface="+mn-ea"/>
                          <a:cs typeface="+mn-cs"/>
                        </a:rPr>
                        <a:t>(</a:t>
                      </a:r>
                      <a:r>
                        <a:rPr lang="en-GB" sz="1400" b="0" i="0" u="none" kern="1200">
                          <a:solidFill>
                            <a:srgbClr val="08090C"/>
                          </a:solidFill>
                          <a:latin typeface="+mn-lt"/>
                          <a:ea typeface="+mn-ea"/>
                          <a:cs typeface="+mn-cs"/>
                        </a:rPr>
                        <a:t>FGSM) +</a:t>
                      </a:r>
                      <a:br>
                        <a:rPr lang="en-GB" sz="1400" b="0" i="0" u="none" kern="1200">
                          <a:solidFill>
                            <a:srgbClr val="08090C"/>
                          </a:solidFill>
                          <a:latin typeface="+mn-lt"/>
                          <a:ea typeface="+mn-ea"/>
                          <a:cs typeface="+mn-cs"/>
                        </a:rPr>
                      </a:br>
                      <a:r>
                        <a:rPr lang="zh-CN" altLang="en-US" sz="1400" b="0" i="0" u="none" kern="1200">
                          <a:solidFill>
                            <a:srgbClr val="08090C"/>
                          </a:solidFill>
                          <a:latin typeface="+mn-lt"/>
                          <a:ea typeface="+mn-ea"/>
                          <a:cs typeface="+mn-cs"/>
                        </a:rPr>
                        <a:t>代码空洞 </a:t>
                      </a:r>
                      <a:r>
                        <a:rPr lang="en-US" altLang="zh-CN" sz="1400" b="0" i="0" u="none" kern="1200">
                          <a:solidFill>
                            <a:srgbClr val="08090C"/>
                          </a:solidFill>
                          <a:latin typeface="+mn-lt"/>
                          <a:ea typeface="+mn-ea"/>
                          <a:cs typeface="+mn-cs"/>
                        </a:rPr>
                        <a:t>(</a:t>
                      </a:r>
                      <a:r>
                        <a:rPr lang="en-GB" sz="1400" b="0" i="0" u="none" kern="1200">
                          <a:solidFill>
                            <a:srgbClr val="08090C"/>
                          </a:solidFill>
                          <a:latin typeface="+mn-lt"/>
                          <a:ea typeface="+mn-ea"/>
                          <a:cs typeface="+mn-cs"/>
                        </a:rPr>
                        <a:t>Code Cave)</a:t>
                      </a:r>
                      <a:r>
                        <a:rPr lang="zh-CN" altLang="en-US" sz="1400" b="0" i="0" u="none" kern="1200">
                          <a:solidFill>
                            <a:srgbClr val="08090C"/>
                          </a:solidFill>
                          <a:latin typeface="+mn-lt"/>
                          <a:ea typeface="+mn-ea"/>
                          <a:cs typeface="+mn-cs"/>
                        </a:rPr>
                        <a:t>内部填充</a:t>
                      </a:r>
                      <a:endParaRPr lang="zh-CN" altLang="en-US" sz="1400" b="0" i="0" u="none" kern="1200">
                        <a:solidFill>
                          <a:srgbClr val="08090C"/>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indent="0" algn="ctr" defTabSz="456565" rtl="0" eaLnBrk="1" fontAlgn="base" latinLnBrk="0" hangingPunct="1">
                        <a:lnSpc>
                          <a:spcPct val="120000"/>
                        </a:lnSpc>
                        <a:spcBef>
                          <a:spcPct val="0"/>
                        </a:spcBef>
                        <a:spcAft>
                          <a:spcPct val="0"/>
                        </a:spcAft>
                        <a:buNone/>
                      </a:pPr>
                      <a:r>
                        <a:rPr lang="en-US" altLang="zh-CN" sz="1400" b="0" i="0" u="none" kern="1200">
                          <a:solidFill>
                            <a:srgbClr val="08090C"/>
                          </a:solidFill>
                          <a:latin typeface="+mn-lt"/>
                          <a:ea typeface="+mn-ea"/>
                          <a:cs typeface="+mn-cs"/>
                        </a:rPr>
                        <a:t>1. </a:t>
                      </a:r>
                      <a:r>
                        <a:rPr lang="zh-CN" altLang="en-US" sz="1400" b="0" i="0" u="none" kern="1200">
                          <a:solidFill>
                            <a:srgbClr val="08090C"/>
                          </a:solidFill>
                          <a:latin typeface="+mn-lt"/>
                          <a:ea typeface="+mn-ea"/>
                          <a:cs typeface="+mn-cs"/>
                        </a:rPr>
                        <a:t>不增加文件体积，维持原有结构</a:t>
                      </a:r>
                      <a:br>
                        <a:rPr lang="zh-CN" altLang="en-US" sz="1400" b="0" i="0" u="none" kern="1200">
                          <a:solidFill>
                            <a:srgbClr val="08090C"/>
                          </a:solidFill>
                          <a:latin typeface="+mn-lt"/>
                          <a:ea typeface="+mn-ea"/>
                          <a:cs typeface="+mn-cs"/>
                        </a:rPr>
                      </a:br>
                      <a:r>
                        <a:rPr lang="en-US" altLang="zh-CN" sz="1400" b="0" i="0" u="none" kern="1200">
                          <a:solidFill>
                            <a:srgbClr val="08090C"/>
                          </a:solidFill>
                          <a:latin typeface="+mn-lt"/>
                          <a:ea typeface="+mn-ea"/>
                          <a:cs typeface="+mn-cs"/>
                        </a:rPr>
                        <a:t>2. </a:t>
                      </a:r>
                      <a:r>
                        <a:rPr lang="zh-CN" altLang="en-US" sz="1400" b="0" i="0" u="none" kern="1200">
                          <a:solidFill>
                            <a:srgbClr val="08090C"/>
                          </a:solidFill>
                          <a:latin typeface="+mn-lt"/>
                          <a:ea typeface="+mn-ea"/>
                          <a:cs typeface="+mn-cs"/>
                        </a:rPr>
                        <a:t>针对资源受限的</a:t>
                      </a:r>
                      <a:r>
                        <a:rPr lang="en-GB" sz="1400" b="0" i="0" u="none" kern="1200">
                          <a:solidFill>
                            <a:srgbClr val="08090C"/>
                          </a:solidFill>
                          <a:latin typeface="+mn-lt"/>
                          <a:ea typeface="+mn-ea"/>
                          <a:cs typeface="+mn-cs"/>
                        </a:rPr>
                        <a:t>IoT</a:t>
                      </a:r>
                      <a:r>
                        <a:rPr lang="zh-CN" altLang="en-US" sz="1400" b="0" i="0" u="none" kern="1200">
                          <a:solidFill>
                            <a:srgbClr val="08090C"/>
                          </a:solidFill>
                          <a:latin typeface="+mn-lt"/>
                          <a:ea typeface="+mn-ea"/>
                          <a:cs typeface="+mn-cs"/>
                        </a:rPr>
                        <a:t>环境隐蔽性极强</a:t>
                      </a:r>
                      <a:endParaRPr lang="zh-CN" altLang="en-US" sz="1400" b="0" i="0" u="none" kern="1200">
                        <a:solidFill>
                          <a:srgbClr val="08090C"/>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indent="0" algn="ctr" defTabSz="456565" rtl="0" eaLnBrk="1" fontAlgn="base" latinLnBrk="0" hangingPunct="1">
                        <a:lnSpc>
                          <a:spcPct val="120000"/>
                        </a:lnSpc>
                        <a:spcBef>
                          <a:spcPct val="0"/>
                        </a:spcBef>
                        <a:spcAft>
                          <a:spcPct val="0"/>
                        </a:spcAft>
                        <a:buNone/>
                      </a:pPr>
                      <a:r>
                        <a:rPr lang="en-US" altLang="zh-CN" sz="1400" b="0" i="0" u="none" kern="1200">
                          <a:solidFill>
                            <a:srgbClr val="08090C"/>
                          </a:solidFill>
                          <a:latin typeface="+mn-lt"/>
                          <a:ea typeface="+mn-ea"/>
                          <a:cs typeface="+mn-cs"/>
                        </a:rPr>
                        <a:t>1. </a:t>
                      </a:r>
                      <a:r>
                        <a:rPr lang="zh-CN" altLang="en-US" sz="1400" b="0" i="0" u="none" kern="1200">
                          <a:solidFill>
                            <a:srgbClr val="08090C"/>
                          </a:solidFill>
                          <a:latin typeface="+mn-lt"/>
                          <a:ea typeface="+mn-ea"/>
                          <a:cs typeface="+mn-cs"/>
                        </a:rPr>
                        <a:t>攻击成功率严格受限于二进制文件中可用空洞的大小</a:t>
                      </a:r>
                      <a:br>
                        <a:rPr lang="zh-CN" altLang="en-US" sz="1400" b="0" i="0" u="none" kern="1200">
                          <a:solidFill>
                            <a:srgbClr val="08090C"/>
                          </a:solidFill>
                          <a:latin typeface="+mn-lt"/>
                          <a:ea typeface="+mn-ea"/>
                          <a:cs typeface="+mn-cs"/>
                        </a:rPr>
                      </a:br>
                      <a:r>
                        <a:rPr lang="en-US" altLang="zh-CN" sz="1400" b="0" i="0" u="none" kern="1200">
                          <a:solidFill>
                            <a:srgbClr val="08090C"/>
                          </a:solidFill>
                          <a:latin typeface="+mn-lt"/>
                          <a:ea typeface="+mn-ea"/>
                          <a:cs typeface="+mn-cs"/>
                        </a:rPr>
                        <a:t>2. </a:t>
                      </a:r>
                      <a:r>
                        <a:rPr lang="zh-CN" altLang="en-US" sz="1400" b="0" i="0" u="none" kern="1200">
                          <a:solidFill>
                            <a:srgbClr val="08090C"/>
                          </a:solidFill>
                          <a:latin typeface="+mn-lt"/>
                          <a:ea typeface="+mn-ea"/>
                          <a:cs typeface="+mn-cs"/>
                        </a:rPr>
                        <a:t>需精细解析</a:t>
                      </a:r>
                      <a:r>
                        <a:rPr lang="en-GB" sz="1400" b="0" i="0" u="none" kern="1200">
                          <a:solidFill>
                            <a:srgbClr val="08090C"/>
                          </a:solidFill>
                          <a:latin typeface="+mn-lt"/>
                          <a:ea typeface="+mn-ea"/>
                          <a:cs typeface="+mn-cs"/>
                        </a:rPr>
                        <a:t>ELF</a:t>
                      </a:r>
                      <a:r>
                        <a:rPr lang="zh-CN" altLang="en-US" sz="1400" b="0" i="0" u="none" kern="1200">
                          <a:solidFill>
                            <a:srgbClr val="08090C"/>
                          </a:solidFill>
                          <a:latin typeface="+mn-lt"/>
                          <a:ea typeface="+mn-ea"/>
                          <a:cs typeface="+mn-cs"/>
                        </a:rPr>
                        <a:t>格式</a:t>
                      </a:r>
                      <a:endParaRPr lang="zh-CN" altLang="en-US" sz="1400" b="0" i="0" u="none" kern="1200">
                        <a:solidFill>
                          <a:srgbClr val="08090C"/>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r>
              <a:tr h="1115060">
                <a:tc>
                  <a:txBody>
                    <a:bodyPr/>
                    <a:lstStyle/>
                    <a:p>
                      <a:pPr marL="0" indent="0" algn="ctr" defTabSz="456565" rtl="0" eaLnBrk="1" fontAlgn="base" latinLnBrk="0" hangingPunct="1">
                        <a:lnSpc>
                          <a:spcPct val="120000"/>
                        </a:lnSpc>
                        <a:spcBef>
                          <a:spcPct val="0"/>
                        </a:spcBef>
                        <a:spcAft>
                          <a:spcPct val="0"/>
                        </a:spcAft>
                        <a:buNone/>
                      </a:pPr>
                      <a:r>
                        <a:rPr lang="en-GB" sz="1400" b="0" i="0" u="none" kern="1200">
                          <a:solidFill>
                            <a:srgbClr val="08090C"/>
                          </a:solidFill>
                          <a:latin typeface="+mn-lt"/>
                          <a:ea typeface="+mn-ea"/>
                          <a:cs typeface="+mn-cs"/>
                        </a:rPr>
                        <a:t>PBP</a:t>
                      </a:r>
                      <a:br>
                        <a:rPr lang="en-GB" sz="1400" b="0" i="0" u="none" kern="1200">
                          <a:solidFill>
                            <a:srgbClr val="08090C"/>
                          </a:solidFill>
                          <a:latin typeface="+mn-lt"/>
                          <a:ea typeface="+mn-ea"/>
                          <a:cs typeface="+mn-cs"/>
                        </a:rPr>
                      </a:br>
                      <a:r>
                        <a:rPr lang="en-GB" sz="1400" b="0" i="0" u="none" kern="1200">
                          <a:solidFill>
                            <a:srgbClr val="08090C"/>
                          </a:solidFill>
                          <a:latin typeface="+mn-lt"/>
                          <a:ea typeface="+mn-ea"/>
                          <a:cs typeface="+mn-cs"/>
                        </a:rPr>
                        <a:t>(NDSS '25)</a:t>
                      </a:r>
                      <a:endParaRPr lang="en-GB" sz="1400" b="0" i="0" u="none" kern="1200">
                        <a:solidFill>
                          <a:srgbClr val="08090C"/>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marL="0" indent="0" algn="ctr" defTabSz="456565" rtl="0" eaLnBrk="1" fontAlgn="base" latinLnBrk="0" hangingPunct="1">
                        <a:lnSpc>
                          <a:spcPct val="120000"/>
                        </a:lnSpc>
                        <a:spcBef>
                          <a:spcPct val="0"/>
                        </a:spcBef>
                        <a:spcAft>
                          <a:spcPct val="0"/>
                        </a:spcAft>
                        <a:buNone/>
                      </a:pPr>
                      <a:r>
                        <a:rPr lang="zh-CN" altLang="en-US" sz="1400" b="0" i="0" u="none" kern="1200">
                          <a:solidFill>
                            <a:srgbClr val="08090C"/>
                          </a:solidFill>
                          <a:latin typeface="+mn-lt"/>
                          <a:ea typeface="+mn-ea"/>
                          <a:cs typeface="+mn-cs"/>
                        </a:rPr>
                        <a:t>后门防御 </a:t>
                      </a:r>
                      <a:r>
                        <a:rPr lang="en-US" altLang="zh-CN" sz="1400" b="0" i="0" u="none" kern="1200">
                          <a:solidFill>
                            <a:srgbClr val="08090C"/>
                          </a:solidFill>
                          <a:latin typeface="+mn-lt"/>
                          <a:ea typeface="+mn-ea"/>
                          <a:cs typeface="+mn-cs"/>
                        </a:rPr>
                        <a:t>(</a:t>
                      </a:r>
                      <a:r>
                        <a:rPr lang="zh-CN" altLang="en-US" sz="1400" b="0" i="0" u="none" kern="1200">
                          <a:solidFill>
                            <a:srgbClr val="08090C"/>
                          </a:solidFill>
                          <a:latin typeface="+mn-lt"/>
                          <a:ea typeface="+mn-ea"/>
                          <a:cs typeface="+mn-cs"/>
                        </a:rPr>
                        <a:t>净化</a:t>
                      </a:r>
                      <a:r>
                        <a:rPr lang="en-US" altLang="zh-CN" sz="1400" b="0" i="0" u="none" kern="1200">
                          <a:solidFill>
                            <a:srgbClr val="08090C"/>
                          </a:solidFill>
                          <a:latin typeface="+mn-lt"/>
                          <a:ea typeface="+mn-ea"/>
                          <a:cs typeface="+mn-cs"/>
                        </a:rPr>
                        <a:t>)</a:t>
                      </a:r>
                      <a:br>
                        <a:rPr lang="zh-CN" altLang="en-US" sz="1400" b="0" i="0" u="none" kern="1200">
                          <a:solidFill>
                            <a:srgbClr val="08090C"/>
                          </a:solidFill>
                          <a:latin typeface="+mn-lt"/>
                          <a:ea typeface="+mn-ea"/>
                          <a:cs typeface="+mn-cs"/>
                        </a:rPr>
                      </a:br>
                      <a:r>
                        <a:rPr lang="en-US" altLang="zh-CN" sz="1400" b="0" i="0" u="none" kern="1200">
                          <a:solidFill>
                            <a:srgbClr val="08090C"/>
                          </a:solidFill>
                          <a:latin typeface="+mn-lt"/>
                          <a:ea typeface="+mn-ea"/>
                          <a:cs typeface="+mn-cs"/>
                        </a:rPr>
                        <a:t>(</a:t>
                      </a:r>
                      <a:r>
                        <a:rPr lang="zh-CN" altLang="en-US" sz="1400" b="0" i="0" u="none" kern="1200">
                          <a:solidFill>
                            <a:srgbClr val="08090C"/>
                          </a:solidFill>
                          <a:latin typeface="+mn-lt"/>
                          <a:ea typeface="+mn-ea"/>
                          <a:cs typeface="+mn-cs"/>
                        </a:rPr>
                        <a:t>无训练数据场景</a:t>
                      </a:r>
                      <a:r>
                        <a:rPr lang="en-US" altLang="zh-CN" sz="1400" b="0" i="0" u="none" kern="1200">
                          <a:solidFill>
                            <a:srgbClr val="08090C"/>
                          </a:solidFill>
                          <a:latin typeface="+mn-lt"/>
                          <a:ea typeface="+mn-ea"/>
                          <a:cs typeface="+mn-cs"/>
                        </a:rPr>
                        <a:t>)</a:t>
                      </a:r>
                      <a:endParaRPr lang="en-US" altLang="zh-CN" sz="1400" b="0" i="0" u="none" kern="1200">
                        <a:solidFill>
                          <a:srgbClr val="08090C"/>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marL="0" indent="0" algn="ctr" defTabSz="456565" rtl="0" eaLnBrk="1" fontAlgn="base" latinLnBrk="0" hangingPunct="1">
                        <a:lnSpc>
                          <a:spcPct val="120000"/>
                        </a:lnSpc>
                        <a:spcBef>
                          <a:spcPct val="0"/>
                        </a:spcBef>
                        <a:spcAft>
                          <a:spcPct val="0"/>
                        </a:spcAft>
                        <a:buNone/>
                      </a:pPr>
                      <a:r>
                        <a:rPr lang="zh-CN" altLang="en-US" sz="1400" b="0" i="0" u="none" kern="1200">
                          <a:solidFill>
                            <a:srgbClr val="08090C"/>
                          </a:solidFill>
                          <a:latin typeface="+mn-lt"/>
                          <a:ea typeface="+mn-ea"/>
                          <a:cs typeface="+mn-cs"/>
                        </a:rPr>
                        <a:t>梯度追踪定位神经元 </a:t>
                      </a:r>
                      <a:r>
                        <a:rPr lang="en-US" altLang="zh-CN" sz="1400" b="0" i="0" u="none" kern="1200">
                          <a:solidFill>
                            <a:srgbClr val="08090C"/>
                          </a:solidFill>
                          <a:latin typeface="+mn-lt"/>
                          <a:ea typeface="+mn-ea"/>
                          <a:cs typeface="+mn-cs"/>
                        </a:rPr>
                        <a:t>+</a:t>
                      </a:r>
                      <a:br>
                        <a:rPr lang="en-US" altLang="zh-CN" sz="1400" b="0" i="0" u="none" kern="1200">
                          <a:solidFill>
                            <a:srgbClr val="08090C"/>
                          </a:solidFill>
                          <a:latin typeface="+mn-lt"/>
                          <a:ea typeface="+mn-ea"/>
                          <a:cs typeface="+mn-cs"/>
                        </a:rPr>
                      </a:br>
                      <a:r>
                        <a:rPr lang="en-GB" sz="1400" b="0" i="0" u="none" kern="1200">
                          <a:solidFill>
                            <a:srgbClr val="08090C"/>
                          </a:solidFill>
                          <a:latin typeface="+mn-lt"/>
                          <a:ea typeface="+mn-ea"/>
                          <a:cs typeface="+mn-cs"/>
                        </a:rPr>
                        <a:t>BN</a:t>
                      </a:r>
                      <a:r>
                        <a:rPr lang="zh-CN" altLang="en-US" sz="1400" b="0" i="0" u="none" kern="1200">
                          <a:solidFill>
                            <a:srgbClr val="08090C"/>
                          </a:solidFill>
                          <a:latin typeface="+mn-lt"/>
                          <a:ea typeface="+mn-ea"/>
                          <a:cs typeface="+mn-cs"/>
                        </a:rPr>
                        <a:t>层统计量调整 </a:t>
                      </a:r>
                      <a:r>
                        <a:rPr lang="en-US" altLang="zh-CN" sz="1400" b="0" i="0" u="none" kern="1200">
                          <a:solidFill>
                            <a:srgbClr val="08090C"/>
                          </a:solidFill>
                          <a:latin typeface="+mn-lt"/>
                          <a:ea typeface="+mn-ea"/>
                          <a:cs typeface="+mn-cs"/>
                        </a:rPr>
                        <a:t>(</a:t>
                      </a:r>
                      <a:r>
                        <a:rPr lang="zh-CN" altLang="en-US" sz="1400" b="0" i="0" u="none" kern="1200">
                          <a:solidFill>
                            <a:srgbClr val="08090C"/>
                          </a:solidFill>
                          <a:latin typeface="+mn-lt"/>
                          <a:ea typeface="+mn-ea"/>
                          <a:cs typeface="+mn-cs"/>
                        </a:rPr>
                        <a:t>修正激活分布</a:t>
                      </a:r>
                      <a:r>
                        <a:rPr lang="en-US" altLang="zh-CN" sz="1400" b="0" i="0" u="none" kern="1200">
                          <a:solidFill>
                            <a:srgbClr val="08090C"/>
                          </a:solidFill>
                          <a:latin typeface="+mn-lt"/>
                          <a:ea typeface="+mn-ea"/>
                          <a:cs typeface="+mn-cs"/>
                        </a:rPr>
                        <a:t>)</a:t>
                      </a:r>
                      <a:endParaRPr lang="en-US" altLang="zh-CN" sz="1400" b="0" i="0" u="none" kern="1200">
                        <a:solidFill>
                          <a:srgbClr val="08090C"/>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marL="0" indent="0" algn="ctr" defTabSz="456565" rtl="0" eaLnBrk="1" fontAlgn="base" latinLnBrk="0" hangingPunct="1">
                        <a:lnSpc>
                          <a:spcPct val="120000"/>
                        </a:lnSpc>
                        <a:spcBef>
                          <a:spcPct val="0"/>
                        </a:spcBef>
                        <a:spcAft>
                          <a:spcPct val="0"/>
                        </a:spcAft>
                        <a:buNone/>
                      </a:pPr>
                      <a:r>
                        <a:rPr lang="en-US" altLang="zh-CN" sz="1400" b="0" i="0" u="none" kern="1200">
                          <a:solidFill>
                            <a:srgbClr val="08090C"/>
                          </a:solidFill>
                          <a:latin typeface="+mn-lt"/>
                          <a:ea typeface="+mn-ea"/>
                          <a:cs typeface="+mn-cs"/>
                        </a:rPr>
                        <a:t>1. </a:t>
                      </a:r>
                      <a:r>
                        <a:rPr lang="zh-CN" altLang="en-US" sz="1400" b="0" i="0" u="none" kern="1200">
                          <a:solidFill>
                            <a:srgbClr val="08090C"/>
                          </a:solidFill>
                          <a:latin typeface="+mn-lt"/>
                          <a:ea typeface="+mn-ea"/>
                          <a:cs typeface="+mn-cs"/>
                        </a:rPr>
                        <a:t>仅需</a:t>
                      </a:r>
                      <a:r>
                        <a:rPr lang="en-US" altLang="zh-CN" sz="1400" b="0" i="0" u="none" kern="1200">
                          <a:solidFill>
                            <a:srgbClr val="08090C"/>
                          </a:solidFill>
                          <a:latin typeface="+mn-lt"/>
                          <a:ea typeface="+mn-ea"/>
                          <a:cs typeface="+mn-cs"/>
                        </a:rPr>
                        <a:t>1%</a:t>
                      </a:r>
                      <a:r>
                        <a:rPr lang="zh-CN" altLang="en-US" sz="1400" b="0" i="0" u="none" kern="1200">
                          <a:solidFill>
                            <a:srgbClr val="08090C"/>
                          </a:solidFill>
                          <a:latin typeface="+mn-lt"/>
                          <a:ea typeface="+mn-ea"/>
                          <a:cs typeface="+mn-cs"/>
                        </a:rPr>
                        <a:t>良性数据，无需访问原训练集</a:t>
                      </a:r>
                      <a:br>
                        <a:rPr lang="zh-CN" altLang="en-US" sz="1400" b="0" i="0" u="none" kern="1200">
                          <a:solidFill>
                            <a:srgbClr val="08090C"/>
                          </a:solidFill>
                          <a:latin typeface="+mn-lt"/>
                          <a:ea typeface="+mn-ea"/>
                          <a:cs typeface="+mn-cs"/>
                        </a:rPr>
                      </a:br>
                      <a:r>
                        <a:rPr lang="en-US" altLang="zh-CN" sz="1400" b="0" i="0" u="none" kern="1200">
                          <a:solidFill>
                            <a:srgbClr val="08090C"/>
                          </a:solidFill>
                          <a:latin typeface="+mn-lt"/>
                          <a:ea typeface="+mn-ea"/>
                          <a:cs typeface="+mn-cs"/>
                        </a:rPr>
                        <a:t>2. </a:t>
                      </a:r>
                      <a:r>
                        <a:rPr lang="zh-CN" altLang="en-US" sz="1400" b="0" i="0" u="none" kern="1200">
                          <a:solidFill>
                            <a:srgbClr val="08090C"/>
                          </a:solidFill>
                          <a:latin typeface="+mn-lt"/>
                          <a:ea typeface="+mn-ea"/>
                          <a:cs typeface="+mn-cs"/>
                        </a:rPr>
                        <a:t>直接净化黑盒模型 </a:t>
                      </a:r>
                      <a:r>
                        <a:rPr lang="en-US" altLang="zh-CN" sz="1400" b="0" i="0" u="none" kern="1200">
                          <a:solidFill>
                            <a:srgbClr val="08090C"/>
                          </a:solidFill>
                          <a:latin typeface="+mn-lt"/>
                          <a:ea typeface="+mn-ea"/>
                          <a:cs typeface="+mn-cs"/>
                        </a:rPr>
                        <a:t>(</a:t>
                      </a:r>
                      <a:r>
                        <a:rPr lang="en-GB" sz="1400" b="0" i="0" u="none" kern="1200">
                          <a:solidFill>
                            <a:srgbClr val="08090C"/>
                          </a:solidFill>
                          <a:latin typeface="+mn-lt"/>
                          <a:ea typeface="+mn-ea"/>
                          <a:cs typeface="+mn-cs"/>
                        </a:rPr>
                        <a:t>MLaaS</a:t>
                      </a:r>
                      <a:r>
                        <a:rPr lang="zh-CN" altLang="en-US" sz="1400" b="0" i="0" u="none" kern="1200">
                          <a:solidFill>
                            <a:srgbClr val="08090C"/>
                          </a:solidFill>
                          <a:latin typeface="+mn-lt"/>
                          <a:ea typeface="+mn-ea"/>
                          <a:cs typeface="+mn-cs"/>
                        </a:rPr>
                        <a:t>场景</a:t>
                      </a:r>
                      <a:r>
                        <a:rPr lang="en-US" altLang="zh-CN" sz="1400" b="0" i="0" u="none" kern="1200">
                          <a:solidFill>
                            <a:srgbClr val="08090C"/>
                          </a:solidFill>
                          <a:latin typeface="+mn-lt"/>
                          <a:ea typeface="+mn-ea"/>
                          <a:cs typeface="+mn-cs"/>
                        </a:rPr>
                        <a:t>)</a:t>
                      </a:r>
                      <a:endParaRPr lang="en-US" altLang="zh-CN" sz="1400" b="0" i="0" u="none" kern="1200">
                        <a:solidFill>
                          <a:srgbClr val="08090C"/>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marL="0" indent="0" algn="ctr" defTabSz="456565" rtl="0" eaLnBrk="1" fontAlgn="base" latinLnBrk="0" hangingPunct="1">
                        <a:lnSpc>
                          <a:spcPct val="120000"/>
                        </a:lnSpc>
                        <a:spcBef>
                          <a:spcPct val="0"/>
                        </a:spcBef>
                        <a:spcAft>
                          <a:spcPct val="0"/>
                        </a:spcAft>
                        <a:buNone/>
                      </a:pPr>
                      <a:r>
                        <a:rPr lang="en-US" altLang="zh-CN" sz="1400" b="0" i="0" u="none" kern="1200">
                          <a:solidFill>
                            <a:srgbClr val="08090C"/>
                          </a:solidFill>
                          <a:latin typeface="+mn-lt"/>
                          <a:ea typeface="+mn-ea"/>
                          <a:cs typeface="+mn-cs"/>
                        </a:rPr>
                        <a:t>1. </a:t>
                      </a:r>
                      <a:r>
                        <a:rPr lang="zh-CN" altLang="en-US" sz="1400" b="0" i="0" u="none" kern="1200">
                          <a:solidFill>
                            <a:srgbClr val="08090C"/>
                          </a:solidFill>
                          <a:latin typeface="+mn-lt"/>
                          <a:ea typeface="+mn-ea"/>
                          <a:cs typeface="+mn-cs"/>
                        </a:rPr>
                        <a:t>仅适用于后训练 </a:t>
                      </a:r>
                      <a:r>
                        <a:rPr lang="en-US" altLang="zh-CN" sz="1400" b="0" i="0" u="none" kern="1200">
                          <a:solidFill>
                            <a:srgbClr val="08090C"/>
                          </a:solidFill>
                          <a:latin typeface="+mn-lt"/>
                          <a:ea typeface="+mn-ea"/>
                          <a:cs typeface="+mn-cs"/>
                        </a:rPr>
                        <a:t>(</a:t>
                      </a:r>
                      <a:r>
                        <a:rPr lang="en-GB" sz="1400" b="0" i="0" u="none" kern="1200">
                          <a:solidFill>
                            <a:srgbClr val="08090C"/>
                          </a:solidFill>
                          <a:latin typeface="+mn-lt"/>
                          <a:ea typeface="+mn-ea"/>
                          <a:cs typeface="+mn-cs"/>
                        </a:rPr>
                        <a:t>Post-training) </a:t>
                      </a:r>
                      <a:r>
                        <a:rPr lang="zh-CN" altLang="en-US" sz="1400" b="0" i="0" u="none" kern="1200">
                          <a:solidFill>
                            <a:srgbClr val="08090C"/>
                          </a:solidFill>
                          <a:latin typeface="+mn-lt"/>
                          <a:ea typeface="+mn-ea"/>
                          <a:cs typeface="+mn-cs"/>
                        </a:rPr>
                        <a:t>阶段</a:t>
                      </a:r>
                      <a:br>
                        <a:rPr lang="zh-CN" altLang="en-US" sz="1400" b="0" i="0" u="none" kern="1200">
                          <a:solidFill>
                            <a:srgbClr val="08090C"/>
                          </a:solidFill>
                          <a:latin typeface="+mn-lt"/>
                          <a:ea typeface="+mn-ea"/>
                          <a:cs typeface="+mn-cs"/>
                        </a:rPr>
                      </a:br>
                      <a:r>
                        <a:rPr lang="en-US" altLang="zh-CN" sz="1400" b="0" i="0" u="none" kern="1200">
                          <a:solidFill>
                            <a:srgbClr val="08090C"/>
                          </a:solidFill>
                          <a:latin typeface="+mn-lt"/>
                          <a:ea typeface="+mn-ea"/>
                          <a:cs typeface="+mn-cs"/>
                        </a:rPr>
                        <a:t>2. </a:t>
                      </a:r>
                      <a:r>
                        <a:rPr lang="zh-CN" altLang="en-US" sz="1400" b="0" i="0" u="none" kern="1200">
                          <a:solidFill>
                            <a:srgbClr val="08090C"/>
                          </a:solidFill>
                          <a:latin typeface="+mn-lt"/>
                          <a:ea typeface="+mn-ea"/>
                          <a:cs typeface="+mn-cs"/>
                        </a:rPr>
                        <a:t>主要针对神经网络架构</a:t>
                      </a:r>
                      <a:endParaRPr lang="zh-CN" altLang="en-US" sz="1400" b="0" i="0" u="none" kern="1200">
                        <a:solidFill>
                          <a:srgbClr val="08090C"/>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kumimoji="1" lang="en-US" altLang="zh-CN"/>
              <a:t>Level3</a:t>
            </a:r>
            <a:r>
              <a:rPr kumimoji="1" lang="zh-CN" altLang="en-US"/>
              <a:t>：走向“理解”恶意软件</a:t>
            </a:r>
            <a:endParaRPr kumimoji="1" lang="zh-CN" altLang="en-US"/>
          </a:p>
        </p:txBody>
      </p:sp>
      <p:sp>
        <p:nvSpPr>
          <p:cNvPr id="3" name="副标题 2"/>
          <p:cNvSpPr>
            <a:spLocks noGrp="1"/>
          </p:cNvSpPr>
          <p:nvPr>
            <p:ph type="subTitle" idx="1"/>
          </p:nvPr>
        </p:nvSpPr>
        <p:spPr/>
        <p:txBody>
          <a:bodyPr>
            <a:normAutofit/>
          </a:bodyPr>
          <a:lstStyle/>
          <a:p>
            <a:pPr marL="342900" indent="-342900">
              <a:buFont typeface="Wingdings" panose="05000000000000000000" pitchFamily="2" charset="2"/>
              <a:buChar char="n"/>
            </a:pPr>
            <a:r>
              <a:rPr kumimoji="1" lang="zh-CN" altLang="en-US" b="1"/>
              <a:t>背景：</a:t>
            </a:r>
            <a:r>
              <a:rPr kumimoji="1" lang="zh-CN" altLang="en-US"/>
              <a:t>尽管判别式模型在恶意软件“检测”和“分类”任务上取得了显著成功，但其限制了对恶意软件深层语义和行为逻辑的理解</a:t>
            </a:r>
            <a:endParaRPr kumimoji="1" lang="en-US" altLang="zh-CN"/>
          </a:p>
          <a:p>
            <a:pPr marL="342900" indent="-342900">
              <a:buFont typeface="Wingdings" panose="05000000000000000000" pitchFamily="2" charset="2"/>
              <a:buChar char="n"/>
            </a:pPr>
            <a:r>
              <a:rPr kumimoji="1" lang="zh-CN" altLang="en-US" b="1"/>
              <a:t>核心任务：</a:t>
            </a:r>
            <a:r>
              <a:rPr kumimoji="1" lang="zh-CN" altLang="en-US"/>
              <a:t>利用</a:t>
            </a:r>
            <a:r>
              <a:rPr kumimoji="1" lang="en-US" altLang="zh-CN"/>
              <a:t>LLM</a:t>
            </a:r>
            <a:r>
              <a:rPr kumimoji="1" lang="zh-CN" altLang="en-US"/>
              <a:t>强大的代码理解和生成能力实现语义恢复和可解释</a:t>
            </a:r>
            <a:endParaRPr kumimoji="1" lang="en-US" altLang="zh-CN"/>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a:t>ReSym: Harnessing LLMs to Recover Variable and Data Structure Symbols from Stripped Binaries</a:t>
            </a:r>
            <a:endParaRPr lang="zh-CN" altLang="en-US"/>
          </a:p>
        </p:txBody>
      </p:sp>
      <p:pic>
        <p:nvPicPr>
          <p:cNvPr id="4" name="图片 3" descr="图示&#10;&#10;AI 生成的内容可能不正确。"/>
          <p:cNvPicPr>
            <a:picLocks noChangeAspect="1"/>
          </p:cNvPicPr>
          <p:nvPr/>
        </p:nvPicPr>
        <p:blipFill>
          <a:blip r:embed="rId1"/>
          <a:stretch>
            <a:fillRect/>
          </a:stretch>
        </p:blipFill>
        <p:spPr>
          <a:xfrm>
            <a:off x="6096000" y="1959630"/>
            <a:ext cx="5424194" cy="3345180"/>
          </a:xfrm>
          <a:prstGeom prst="rect">
            <a:avLst/>
          </a:prstGeom>
        </p:spPr>
      </p:pic>
      <p:sp>
        <p:nvSpPr>
          <p:cNvPr id="5" name="文本框 4"/>
          <p:cNvSpPr txBox="1"/>
          <p:nvPr/>
        </p:nvSpPr>
        <p:spPr>
          <a:xfrm>
            <a:off x="8000824" y="5304810"/>
            <a:ext cx="1614545" cy="369332"/>
          </a:xfrm>
          <a:prstGeom prst="rect">
            <a:avLst/>
          </a:prstGeom>
          <a:noFill/>
        </p:spPr>
        <p:txBody>
          <a:bodyPr wrap="none" rtlCol="0">
            <a:spAutoFit/>
          </a:bodyPr>
          <a:lstStyle/>
          <a:p>
            <a:r>
              <a:rPr lang="en-US" altLang="zh-CN"/>
              <a:t>ReSym </a:t>
            </a:r>
            <a:r>
              <a:rPr lang="zh-CN" altLang="en-US"/>
              <a:t>工作流</a:t>
            </a:r>
            <a:endParaRPr lang="zh-CN" altLang="en-US"/>
          </a:p>
        </p:txBody>
      </p:sp>
      <p:sp>
        <p:nvSpPr>
          <p:cNvPr id="3" name="文本框 2"/>
          <p:cNvSpPr txBox="1"/>
          <p:nvPr/>
        </p:nvSpPr>
        <p:spPr>
          <a:xfrm>
            <a:off x="835306" y="1903095"/>
            <a:ext cx="4507965" cy="3785652"/>
          </a:xfrm>
          <a:prstGeom prst="rect">
            <a:avLst/>
          </a:prstGeom>
          <a:noFill/>
        </p:spPr>
        <p:txBody>
          <a:bodyPr wrap="none" rtlCol="0">
            <a:spAutoFit/>
          </a:bodyPr>
          <a:lstStyle/>
          <a:p>
            <a:r>
              <a:rPr lang="zh-CN" altLang="en-US" sz="2400" b="1">
                <a:solidFill>
                  <a:srgbClr val="5C307D"/>
                </a:solidFill>
              </a:rPr>
              <a:t>利用</a:t>
            </a:r>
            <a:r>
              <a:rPr lang="en-US" altLang="zh-CN" sz="2400" b="1">
                <a:solidFill>
                  <a:srgbClr val="5C307D"/>
                </a:solidFill>
              </a:rPr>
              <a:t>LLM</a:t>
            </a:r>
            <a:r>
              <a:rPr lang="zh-CN" altLang="en-US" sz="2400" b="1">
                <a:solidFill>
                  <a:srgbClr val="5C307D"/>
                </a:solidFill>
              </a:rPr>
              <a:t>解决符号恢复任务</a:t>
            </a:r>
            <a:endParaRPr lang="zh-CN" altLang="en-US" sz="2400" b="1">
              <a:solidFill>
                <a:srgbClr val="5C307D"/>
              </a:solidFill>
            </a:endParaRPr>
          </a:p>
          <a:p>
            <a:endParaRPr lang="en-US" altLang="zh-CN" sz="2400"/>
          </a:p>
          <a:p>
            <a:r>
              <a:rPr lang="zh-CN" altLang="en-US" sz="2400" b="1">
                <a:solidFill>
                  <a:srgbClr val="5C307D"/>
                </a:solidFill>
              </a:rPr>
              <a:t>核心挑战：</a:t>
            </a:r>
            <a:endParaRPr lang="zh-CN" altLang="en-US" sz="2400" b="1">
              <a:solidFill>
                <a:srgbClr val="5C307D"/>
              </a:solidFill>
            </a:endParaRPr>
          </a:p>
          <a:p>
            <a:pPr marL="285750" indent="-285750">
              <a:buFont typeface="Arial" panose="020B0604020202020204" pitchFamily="34" charset="0"/>
              <a:buChar char="•"/>
            </a:pPr>
            <a:r>
              <a:rPr lang="zh-CN" altLang="en-US" sz="2400"/>
              <a:t>语义恢复的复杂性</a:t>
            </a:r>
            <a:endParaRPr lang="zh-CN" altLang="en-US" sz="2400"/>
          </a:p>
          <a:p>
            <a:pPr marL="285750" indent="-285750">
              <a:buFont typeface="Arial" panose="020B0604020202020204" pitchFamily="34" charset="0"/>
              <a:buChar char="•"/>
            </a:pPr>
            <a:r>
              <a:rPr lang="en-US" altLang="zh-CN" sz="2400"/>
              <a:t>LLM</a:t>
            </a:r>
            <a:r>
              <a:rPr lang="zh-CN" altLang="en-US" sz="2400"/>
              <a:t>在此任务中的应用局限性</a:t>
            </a:r>
            <a:endParaRPr lang="en-US" altLang="zh-CN" sz="2400"/>
          </a:p>
          <a:p>
            <a:endParaRPr lang="en-US" altLang="zh-CN" sz="2400"/>
          </a:p>
          <a:p>
            <a:r>
              <a:rPr lang="zh-CN" altLang="en-US" sz="2400" b="1">
                <a:solidFill>
                  <a:srgbClr val="5C307D"/>
                </a:solidFill>
              </a:rPr>
              <a:t>核心思路：</a:t>
            </a:r>
            <a:endParaRPr lang="zh-CN" altLang="en-US" sz="2400" b="1">
              <a:solidFill>
                <a:srgbClr val="5C307D"/>
              </a:solidFill>
            </a:endParaRPr>
          </a:p>
          <a:p>
            <a:pPr marL="285750" indent="-285750">
              <a:buFont typeface="Arial" panose="020B0604020202020204" pitchFamily="34" charset="0"/>
              <a:buChar char="•"/>
            </a:pPr>
            <a:r>
              <a:rPr lang="zh-CN" altLang="en-US" sz="2400"/>
              <a:t>拆解复杂的符号恢复任务</a:t>
            </a:r>
            <a:endParaRPr lang="en-US" altLang="zh-CN" sz="2400"/>
          </a:p>
          <a:p>
            <a:pPr marL="285750" indent="-285750">
              <a:buFont typeface="Arial" panose="020B0604020202020204" pitchFamily="34" charset="0"/>
              <a:buChar char="•"/>
            </a:pPr>
            <a:r>
              <a:rPr lang="zh-CN" altLang="en-US" sz="2400"/>
              <a:t>基于</a:t>
            </a:r>
            <a:r>
              <a:rPr lang="en-US" altLang="zh-CN" sz="2400"/>
              <a:t>Prolog</a:t>
            </a:r>
            <a:r>
              <a:rPr lang="zh-CN" altLang="en-US" sz="2400"/>
              <a:t>验证</a:t>
            </a:r>
            <a:r>
              <a:rPr lang="en-US" altLang="zh-CN" sz="2400"/>
              <a:t>LLM</a:t>
            </a:r>
            <a:r>
              <a:rPr lang="zh-CN" altLang="en-US" sz="2400"/>
              <a:t>输出结果</a:t>
            </a:r>
            <a:endParaRPr lang="en-US" altLang="zh-CN" sz="2400"/>
          </a:p>
          <a:p>
            <a:pPr marL="285750" indent="-285750">
              <a:buFont typeface="Arial" panose="020B0604020202020204" pitchFamily="34" charset="0"/>
              <a:buChar char="•"/>
            </a:pPr>
            <a:r>
              <a:rPr lang="zh-CN" altLang="en-US" sz="2400"/>
              <a:t>多次</a:t>
            </a:r>
            <a:r>
              <a:rPr lang="en-US" altLang="zh-CN" sz="2400"/>
              <a:t>LLM</a:t>
            </a:r>
            <a:r>
              <a:rPr lang="zh-CN" altLang="en-US" sz="2400"/>
              <a:t>查询和结果聚合</a:t>
            </a:r>
            <a:endParaRPr lang="zh-CN" altLang="en-US" sz="24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MalGuard: Towards Real-Time, Accurate, and Actionable Detection of Malicious Packages in PyPI Ecosystem</a:t>
            </a:r>
            <a:endParaRPr lang="zh-CN" altLang="en-US"/>
          </a:p>
        </p:txBody>
      </p:sp>
      <p:pic>
        <p:nvPicPr>
          <p:cNvPr id="4" name="图片 3" descr="图示&#10;&#10;AI 生成的内容可能不正确。"/>
          <p:cNvPicPr>
            <a:picLocks noChangeAspect="1"/>
          </p:cNvPicPr>
          <p:nvPr/>
        </p:nvPicPr>
        <p:blipFill>
          <a:blip r:embed="rId1"/>
          <a:stretch>
            <a:fillRect/>
          </a:stretch>
        </p:blipFill>
        <p:spPr>
          <a:xfrm>
            <a:off x="4757898" y="2620200"/>
            <a:ext cx="7133148" cy="2515575"/>
          </a:xfrm>
          <a:prstGeom prst="rect">
            <a:avLst/>
          </a:prstGeom>
        </p:spPr>
      </p:pic>
      <p:sp>
        <p:nvSpPr>
          <p:cNvPr id="6" name="文本框 5"/>
          <p:cNvSpPr txBox="1"/>
          <p:nvPr/>
        </p:nvSpPr>
        <p:spPr>
          <a:xfrm>
            <a:off x="7382547" y="5135775"/>
            <a:ext cx="1883849" cy="369332"/>
          </a:xfrm>
          <a:prstGeom prst="rect">
            <a:avLst/>
          </a:prstGeom>
          <a:noFill/>
        </p:spPr>
        <p:txBody>
          <a:bodyPr wrap="none" rtlCol="0">
            <a:spAutoFit/>
          </a:bodyPr>
          <a:lstStyle/>
          <a:p>
            <a:r>
              <a:rPr lang="en-US" altLang="zh-CN" err="1"/>
              <a:t>MalGuard</a:t>
            </a:r>
            <a:r>
              <a:rPr lang="en-US" altLang="zh-CN"/>
              <a:t> </a:t>
            </a:r>
            <a:r>
              <a:rPr lang="zh-CN" altLang="en-US"/>
              <a:t>工作流</a:t>
            </a:r>
            <a:endParaRPr lang="zh-CN" altLang="en-US"/>
          </a:p>
        </p:txBody>
      </p:sp>
      <p:sp>
        <p:nvSpPr>
          <p:cNvPr id="3" name="文本框 2"/>
          <p:cNvSpPr txBox="1"/>
          <p:nvPr/>
        </p:nvSpPr>
        <p:spPr>
          <a:xfrm>
            <a:off x="920179" y="1742708"/>
            <a:ext cx="5175885" cy="4523105"/>
          </a:xfrm>
          <a:prstGeom prst="rect">
            <a:avLst/>
          </a:prstGeom>
          <a:noFill/>
        </p:spPr>
        <p:txBody>
          <a:bodyPr wrap="none" rtlCol="0">
            <a:spAutoFit/>
          </a:bodyPr>
          <a:lstStyle/>
          <a:p>
            <a:r>
              <a:rPr lang="zh-CN" altLang="en-US" sz="2400" b="1">
                <a:solidFill>
                  <a:srgbClr val="5C307D"/>
                </a:solidFill>
              </a:rPr>
              <a:t>利用</a:t>
            </a:r>
            <a:r>
              <a:rPr lang="en-US" altLang="zh-CN" sz="2400" b="1">
                <a:solidFill>
                  <a:srgbClr val="5C307D"/>
                </a:solidFill>
              </a:rPr>
              <a:t>LLM</a:t>
            </a:r>
            <a:r>
              <a:rPr lang="zh-CN" altLang="en-US" sz="2400" b="1">
                <a:solidFill>
                  <a:srgbClr val="5C307D"/>
                </a:solidFill>
              </a:rPr>
              <a:t>提取特征信息</a:t>
            </a:r>
            <a:endParaRPr lang="en-US" altLang="zh-CN" sz="2400" b="1">
              <a:solidFill>
                <a:srgbClr val="5C307D"/>
              </a:solidFill>
            </a:endParaRPr>
          </a:p>
          <a:p>
            <a:endParaRPr lang="en-US" altLang="zh-CN" sz="2400"/>
          </a:p>
          <a:p>
            <a:r>
              <a:rPr lang="zh-CN" altLang="en-US" sz="2400" b="1">
                <a:solidFill>
                  <a:srgbClr val="5C307D"/>
                </a:solidFill>
              </a:rPr>
              <a:t>核心挑战：</a:t>
            </a:r>
            <a:endParaRPr lang="zh-CN" altLang="en-US" sz="2400" b="1">
              <a:solidFill>
                <a:srgbClr val="5C307D"/>
              </a:solidFill>
            </a:endParaRPr>
          </a:p>
          <a:p>
            <a:pPr marL="285750" indent="-285750">
              <a:buFont typeface="Arial" panose="020B0604020202020204" pitchFamily="34" charset="0"/>
              <a:buChar char="•"/>
            </a:pPr>
            <a:r>
              <a:rPr lang="zh-CN" altLang="en-US" sz="2400"/>
              <a:t>手动特征提取</a:t>
            </a:r>
            <a:endParaRPr lang="en-US" altLang="zh-CN" sz="2400"/>
          </a:p>
          <a:p>
            <a:pPr marL="285750" indent="-285750">
              <a:buFont typeface="Arial" panose="020B0604020202020204" pitchFamily="34" charset="0"/>
              <a:buChar char="•"/>
            </a:pPr>
            <a:r>
              <a:rPr lang="zh-CN" altLang="en-US" sz="2400"/>
              <a:t>可解释性问题</a:t>
            </a:r>
            <a:endParaRPr lang="en-US" altLang="zh-CN" sz="2400"/>
          </a:p>
          <a:p>
            <a:pPr marL="285750" indent="-285750">
              <a:buFont typeface="Arial" panose="020B0604020202020204" pitchFamily="34" charset="0"/>
              <a:buChar char="•"/>
            </a:pPr>
            <a:r>
              <a:rPr lang="zh-CN" altLang="en-US" sz="2400"/>
              <a:t>准确性与效率平衡</a:t>
            </a:r>
            <a:endParaRPr lang="en-US" altLang="zh-CN" sz="2400"/>
          </a:p>
          <a:p>
            <a:pPr marL="285750" indent="-285750">
              <a:buFont typeface="Arial" panose="020B0604020202020204" pitchFamily="34" charset="0"/>
              <a:buChar char="•"/>
            </a:pPr>
            <a:endParaRPr lang="en-US" altLang="zh-CN" sz="2400"/>
          </a:p>
          <a:p>
            <a:r>
              <a:rPr lang="zh-CN" altLang="en-US" sz="2400" b="1">
                <a:solidFill>
                  <a:srgbClr val="5C307D"/>
                </a:solidFill>
              </a:rPr>
              <a:t>核心思路：</a:t>
            </a:r>
            <a:endParaRPr lang="zh-CN" altLang="en-US" sz="2400" b="1">
              <a:solidFill>
                <a:srgbClr val="5C307D"/>
              </a:solidFill>
            </a:endParaRPr>
          </a:p>
          <a:p>
            <a:pPr marL="285750" indent="-285750">
              <a:buFont typeface="Arial" panose="020B0604020202020204" pitchFamily="34" charset="0"/>
              <a:buChar char="•"/>
            </a:pPr>
            <a:r>
              <a:rPr lang="zh-CN" altLang="en-US" sz="2400"/>
              <a:t>图中心性分析筛选可疑</a:t>
            </a:r>
            <a:br>
              <a:rPr lang="zh-CN" altLang="en-US" sz="2400"/>
            </a:br>
            <a:r>
              <a:rPr lang="en-US" altLang="zh-CN" sz="2400"/>
              <a:t>API</a:t>
            </a:r>
            <a:endParaRPr lang="en-US" altLang="zh-CN" sz="2400"/>
          </a:p>
          <a:p>
            <a:pPr marL="285750" indent="-285750">
              <a:buFont typeface="Arial" panose="020B0604020202020204" pitchFamily="34" charset="0"/>
              <a:buChar char="•"/>
            </a:pPr>
            <a:r>
              <a:rPr lang="en-US" altLang="zh-CN" sz="2400"/>
              <a:t>LLM</a:t>
            </a:r>
            <a:r>
              <a:rPr lang="zh-CN" altLang="en-US" sz="2400"/>
              <a:t>识别敏感</a:t>
            </a:r>
            <a:r>
              <a:rPr lang="en-US" altLang="zh-CN" sz="2400"/>
              <a:t>API</a:t>
            </a:r>
            <a:endParaRPr lang="en-US" altLang="zh-CN" sz="2400"/>
          </a:p>
          <a:p>
            <a:pPr marL="285750" indent="-285750">
              <a:buFont typeface="Arial" panose="020B0604020202020204" pitchFamily="34" charset="0"/>
              <a:buChar char="•"/>
            </a:pPr>
            <a:r>
              <a:rPr lang="zh-CN" altLang="en-US" sz="2400"/>
              <a:t>利用</a:t>
            </a:r>
            <a:r>
              <a:rPr lang="en-US" altLang="zh-CN" sz="2400"/>
              <a:t>LIME</a:t>
            </a:r>
            <a:r>
              <a:rPr lang="zh-CN" altLang="en-US" sz="2400"/>
              <a:t>识别恶意代码并提供解释</a:t>
            </a:r>
            <a:endParaRPr lang="zh-CN" altLang="en-US" sz="24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Leveraging Large Language Models to Detect </a:t>
            </a:r>
            <a:r>
              <a:rPr lang="en-US" altLang="zh-CN" err="1"/>
              <a:t>npm</a:t>
            </a:r>
            <a:r>
              <a:rPr lang="en-US" altLang="zh-CN"/>
              <a:t> Malicious Packages</a:t>
            </a:r>
            <a:endParaRPr lang="zh-CN" altLang="en-US"/>
          </a:p>
        </p:txBody>
      </p:sp>
      <p:pic>
        <p:nvPicPr>
          <p:cNvPr id="4" name="图片 3" descr="图示&#10;&#10;AI 生成的内容可能不正确。"/>
          <p:cNvPicPr>
            <a:picLocks noChangeAspect="1"/>
          </p:cNvPicPr>
          <p:nvPr/>
        </p:nvPicPr>
        <p:blipFill>
          <a:blip r:embed="rId1"/>
          <a:stretch>
            <a:fillRect/>
          </a:stretch>
        </p:blipFill>
        <p:spPr>
          <a:xfrm>
            <a:off x="4777740" y="2421075"/>
            <a:ext cx="7208520" cy="1811353"/>
          </a:xfrm>
          <a:prstGeom prst="rect">
            <a:avLst/>
          </a:prstGeom>
        </p:spPr>
      </p:pic>
      <p:sp>
        <p:nvSpPr>
          <p:cNvPr id="5" name="文本框 4"/>
          <p:cNvSpPr txBox="1"/>
          <p:nvPr/>
        </p:nvSpPr>
        <p:spPr>
          <a:xfrm>
            <a:off x="7478547" y="4260138"/>
            <a:ext cx="1806905" cy="369332"/>
          </a:xfrm>
          <a:prstGeom prst="rect">
            <a:avLst/>
          </a:prstGeom>
          <a:noFill/>
        </p:spPr>
        <p:txBody>
          <a:bodyPr wrap="none" rtlCol="0">
            <a:spAutoFit/>
          </a:bodyPr>
          <a:lstStyle/>
          <a:p>
            <a:r>
              <a:rPr lang="en-US" altLang="zh-CN"/>
              <a:t>SocketAI </a:t>
            </a:r>
            <a:r>
              <a:rPr lang="zh-CN" altLang="en-US"/>
              <a:t>工作流</a:t>
            </a:r>
            <a:endParaRPr lang="zh-CN" altLang="en-US"/>
          </a:p>
        </p:txBody>
      </p:sp>
      <p:sp>
        <p:nvSpPr>
          <p:cNvPr id="3" name="文本框 2"/>
          <p:cNvSpPr txBox="1"/>
          <p:nvPr/>
        </p:nvSpPr>
        <p:spPr>
          <a:xfrm>
            <a:off x="835306" y="1960513"/>
            <a:ext cx="3347391" cy="4154984"/>
          </a:xfrm>
          <a:prstGeom prst="rect">
            <a:avLst/>
          </a:prstGeom>
          <a:noFill/>
        </p:spPr>
        <p:txBody>
          <a:bodyPr wrap="none" rtlCol="0">
            <a:spAutoFit/>
          </a:bodyPr>
          <a:lstStyle/>
          <a:p>
            <a:r>
              <a:rPr lang="zh-CN" altLang="en-US" sz="2400" b="1">
                <a:solidFill>
                  <a:srgbClr val="5C307D"/>
                </a:solidFill>
              </a:rPr>
              <a:t>利用</a:t>
            </a:r>
            <a:r>
              <a:rPr lang="en-US" altLang="zh-CN" sz="2400" b="1">
                <a:solidFill>
                  <a:srgbClr val="5C307D"/>
                </a:solidFill>
              </a:rPr>
              <a:t>LLM</a:t>
            </a:r>
            <a:r>
              <a:rPr lang="zh-CN" altLang="en-US" sz="2400" b="1">
                <a:solidFill>
                  <a:srgbClr val="5C307D"/>
                </a:solidFill>
              </a:rPr>
              <a:t>检测恶意代码</a:t>
            </a:r>
            <a:endParaRPr lang="en-US" altLang="zh-CN" sz="2400" b="1">
              <a:solidFill>
                <a:srgbClr val="5C307D"/>
              </a:solidFill>
            </a:endParaRPr>
          </a:p>
          <a:p>
            <a:endParaRPr lang="en-US" altLang="zh-CN" sz="2400"/>
          </a:p>
          <a:p>
            <a:r>
              <a:rPr lang="zh-CN" altLang="en-US" sz="2400" b="1">
                <a:solidFill>
                  <a:srgbClr val="5C307D"/>
                </a:solidFill>
              </a:rPr>
              <a:t>核心挑战：</a:t>
            </a:r>
            <a:endParaRPr lang="zh-CN" altLang="en-US" sz="2400" b="1">
              <a:solidFill>
                <a:srgbClr val="5C307D"/>
              </a:solidFill>
            </a:endParaRPr>
          </a:p>
          <a:p>
            <a:pPr marL="285750" indent="-285750">
              <a:buFont typeface="Arial" panose="020B0604020202020204" pitchFamily="34" charset="0"/>
              <a:buChar char="•"/>
            </a:pPr>
            <a:r>
              <a:rPr lang="zh-CN" altLang="en-US" sz="2400"/>
              <a:t>恶意代码的多样性</a:t>
            </a:r>
            <a:endParaRPr lang="en-US" altLang="zh-CN" sz="2400"/>
          </a:p>
          <a:p>
            <a:pPr marL="285750" indent="-285750">
              <a:buFont typeface="Arial" panose="020B0604020202020204" pitchFamily="34" charset="0"/>
              <a:buChar char="•"/>
            </a:pPr>
            <a:r>
              <a:rPr lang="zh-CN" altLang="en-US" sz="2400"/>
              <a:t>高误报率</a:t>
            </a:r>
            <a:endParaRPr lang="en-US" altLang="zh-CN" sz="2400"/>
          </a:p>
          <a:p>
            <a:pPr marL="285750" indent="-285750">
              <a:buFont typeface="Arial" panose="020B0604020202020204" pitchFamily="34" charset="0"/>
              <a:buChar char="•"/>
            </a:pPr>
            <a:r>
              <a:rPr lang="zh-CN" altLang="en-US" sz="2400"/>
              <a:t>验证困难</a:t>
            </a:r>
            <a:endParaRPr lang="en-US" altLang="zh-CN" sz="2400"/>
          </a:p>
          <a:p>
            <a:pPr marL="285750" indent="-285750">
              <a:buFont typeface="Arial" panose="020B0604020202020204" pitchFamily="34" charset="0"/>
              <a:buChar char="•"/>
            </a:pPr>
            <a:endParaRPr lang="en-US" altLang="zh-CN" sz="2400"/>
          </a:p>
          <a:p>
            <a:r>
              <a:rPr lang="zh-CN" altLang="en-US" sz="2400" b="1">
                <a:solidFill>
                  <a:srgbClr val="5C307D"/>
                </a:solidFill>
              </a:rPr>
              <a:t>核心思路：</a:t>
            </a:r>
            <a:endParaRPr lang="zh-CN" altLang="en-US" sz="2400" b="1">
              <a:solidFill>
                <a:srgbClr val="5C307D"/>
              </a:solidFill>
            </a:endParaRPr>
          </a:p>
          <a:p>
            <a:pPr marL="285750" indent="-285750">
              <a:buFont typeface="Arial" panose="020B0604020202020204" pitchFamily="34" charset="0"/>
              <a:buChar char="•"/>
            </a:pPr>
            <a:r>
              <a:rPr lang="zh-CN" altLang="en-US" sz="2400"/>
              <a:t>静态分析预筛选代码</a:t>
            </a:r>
            <a:endParaRPr lang="en-US" altLang="zh-CN" sz="2400"/>
          </a:p>
          <a:p>
            <a:pPr marL="285750" indent="-285750">
              <a:buFont typeface="Arial" panose="020B0604020202020204" pitchFamily="34" charset="0"/>
              <a:buChar char="•"/>
            </a:pPr>
            <a:r>
              <a:rPr lang="zh-CN" altLang="en-US" sz="2400"/>
              <a:t>定制化工作流设计</a:t>
            </a:r>
            <a:endParaRPr lang="en-US" altLang="zh-CN" sz="2400"/>
          </a:p>
          <a:p>
            <a:pPr marL="285750" indent="-285750">
              <a:buFont typeface="Arial" panose="020B0604020202020204" pitchFamily="34" charset="0"/>
              <a:buChar char="•"/>
            </a:pPr>
            <a:r>
              <a:rPr lang="zh-CN" altLang="en-US" sz="2400"/>
              <a:t>角色系统设计</a:t>
            </a:r>
            <a:endParaRPr lang="zh-CN" altLang="en-US" sz="24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a:t>ForeDroid: Scenario-Aware Analysis for Android Malware Detection and Explanation</a:t>
            </a:r>
            <a:endParaRPr lang="zh-CN" altLang="en-US"/>
          </a:p>
        </p:txBody>
      </p:sp>
      <p:sp>
        <p:nvSpPr>
          <p:cNvPr id="5" name="文本框 4"/>
          <p:cNvSpPr txBox="1"/>
          <p:nvPr/>
        </p:nvSpPr>
        <p:spPr>
          <a:xfrm>
            <a:off x="8348123" y="5200650"/>
            <a:ext cx="1896673" cy="369332"/>
          </a:xfrm>
          <a:prstGeom prst="rect">
            <a:avLst/>
          </a:prstGeom>
          <a:noFill/>
        </p:spPr>
        <p:txBody>
          <a:bodyPr wrap="none" rtlCol="0">
            <a:spAutoFit/>
          </a:bodyPr>
          <a:lstStyle/>
          <a:p>
            <a:r>
              <a:rPr lang="en-US" altLang="zh-CN"/>
              <a:t>ForeDroid </a:t>
            </a:r>
            <a:r>
              <a:rPr lang="zh-CN" altLang="en-US"/>
              <a:t>工作流</a:t>
            </a:r>
            <a:endParaRPr lang="zh-CN" altLang="en-US"/>
          </a:p>
        </p:txBody>
      </p:sp>
      <p:pic>
        <p:nvPicPr>
          <p:cNvPr id="6" name="图片 5" descr="图形用户界面, 应用程序&#10;&#10;AI 生成的内容可能不正确。"/>
          <p:cNvPicPr>
            <a:picLocks noChangeAspect="1"/>
          </p:cNvPicPr>
          <p:nvPr/>
        </p:nvPicPr>
        <p:blipFill>
          <a:blip r:embed="rId1"/>
          <a:stretch>
            <a:fillRect/>
          </a:stretch>
        </p:blipFill>
        <p:spPr>
          <a:xfrm>
            <a:off x="5457825" y="2088118"/>
            <a:ext cx="6614661" cy="2834435"/>
          </a:xfrm>
          <a:prstGeom prst="rect">
            <a:avLst/>
          </a:prstGeom>
        </p:spPr>
      </p:pic>
      <p:sp>
        <p:nvSpPr>
          <p:cNvPr id="3" name="文本框 2"/>
          <p:cNvSpPr txBox="1"/>
          <p:nvPr/>
        </p:nvSpPr>
        <p:spPr>
          <a:xfrm>
            <a:off x="835306" y="1731913"/>
            <a:ext cx="4735830" cy="4523105"/>
          </a:xfrm>
          <a:prstGeom prst="rect">
            <a:avLst/>
          </a:prstGeom>
          <a:noFill/>
        </p:spPr>
        <p:txBody>
          <a:bodyPr wrap="none" rtlCol="0">
            <a:spAutoFit/>
          </a:bodyPr>
          <a:lstStyle/>
          <a:p>
            <a:r>
              <a:rPr lang="zh-CN" altLang="en-US" sz="2400" b="1">
                <a:solidFill>
                  <a:srgbClr val="5C307D"/>
                </a:solidFill>
              </a:rPr>
              <a:t>利用</a:t>
            </a:r>
            <a:r>
              <a:rPr lang="en-US" altLang="zh-CN" sz="2400" b="1">
                <a:solidFill>
                  <a:srgbClr val="5C307D"/>
                </a:solidFill>
              </a:rPr>
              <a:t>LLM</a:t>
            </a:r>
            <a:r>
              <a:rPr lang="zh-CN" altLang="en-US" sz="2400" b="1">
                <a:solidFill>
                  <a:srgbClr val="5C307D"/>
                </a:solidFill>
              </a:rPr>
              <a:t>进行恶意行为解释</a:t>
            </a:r>
            <a:endParaRPr lang="en-US" altLang="zh-CN" sz="2400" b="1">
              <a:solidFill>
                <a:srgbClr val="5C307D"/>
              </a:solidFill>
            </a:endParaRPr>
          </a:p>
          <a:p>
            <a:r>
              <a:rPr lang="zh-CN" altLang="en-US" sz="2400" b="1">
                <a:solidFill>
                  <a:srgbClr val="5C307D"/>
                </a:solidFill>
              </a:rPr>
              <a:t>核心挑战：</a:t>
            </a:r>
            <a:endParaRPr lang="zh-CN" altLang="en-US" sz="2400" b="1">
              <a:solidFill>
                <a:srgbClr val="5C307D"/>
              </a:solidFill>
            </a:endParaRPr>
          </a:p>
          <a:p>
            <a:pPr marL="285750" indent="-285750">
              <a:buFont typeface="Arial" panose="020B0604020202020204" pitchFamily="34" charset="0"/>
              <a:buChar char="•"/>
            </a:pPr>
            <a:r>
              <a:rPr lang="zh-CN" altLang="en-US" sz="2400"/>
              <a:t>场景建模</a:t>
            </a:r>
            <a:endParaRPr lang="en-US" altLang="zh-CN" sz="2400"/>
          </a:p>
          <a:p>
            <a:pPr marL="285750" indent="-285750">
              <a:buFont typeface="Arial" panose="020B0604020202020204" pitchFamily="34" charset="0"/>
              <a:buChar char="•"/>
            </a:pPr>
            <a:r>
              <a:rPr lang="zh-CN" altLang="en-US" sz="2400"/>
              <a:t>敏感行为表示</a:t>
            </a:r>
            <a:endParaRPr lang="en-US" altLang="zh-CN" sz="2400"/>
          </a:p>
          <a:p>
            <a:pPr marL="285750" indent="-285750">
              <a:buFont typeface="Arial" panose="020B0604020202020204" pitchFamily="34" charset="0"/>
              <a:buChar char="•"/>
            </a:pPr>
            <a:r>
              <a:rPr lang="zh-CN" altLang="en-US" sz="2400"/>
              <a:t>细粒度检测</a:t>
            </a:r>
            <a:endParaRPr lang="en-US" altLang="zh-CN" sz="2400"/>
          </a:p>
          <a:p>
            <a:pPr marL="285750" indent="-285750">
              <a:buFont typeface="Arial" panose="020B0604020202020204" pitchFamily="34" charset="0"/>
              <a:buChar char="•"/>
            </a:pPr>
            <a:r>
              <a:rPr lang="zh-CN" altLang="en-US" sz="2400"/>
              <a:t>行为解释</a:t>
            </a:r>
            <a:endParaRPr lang="en-US" altLang="zh-CN" sz="2400"/>
          </a:p>
          <a:p>
            <a:pPr marL="285750" indent="-285750">
              <a:buFont typeface="Arial" panose="020B0604020202020204" pitchFamily="34" charset="0"/>
              <a:buChar char="•"/>
            </a:pPr>
            <a:endParaRPr lang="en-US" altLang="zh-CN" sz="2400"/>
          </a:p>
          <a:p>
            <a:r>
              <a:rPr lang="zh-CN" altLang="en-US" sz="2400" b="1">
                <a:solidFill>
                  <a:srgbClr val="5C307D"/>
                </a:solidFill>
              </a:rPr>
              <a:t>核心思路：</a:t>
            </a:r>
            <a:endParaRPr lang="zh-CN" altLang="en-US" sz="2400" b="1">
              <a:solidFill>
                <a:srgbClr val="5C307D"/>
              </a:solidFill>
            </a:endParaRPr>
          </a:p>
          <a:p>
            <a:pPr marL="285750" indent="-285750">
              <a:buFont typeface="Arial" panose="020B0604020202020204" pitchFamily="34" charset="0"/>
              <a:buChar char="•"/>
            </a:pPr>
            <a:r>
              <a:rPr lang="zh-CN" altLang="en-US" sz="2400"/>
              <a:t>功能场景建模</a:t>
            </a:r>
            <a:endParaRPr lang="en-US" altLang="zh-CN" sz="2400"/>
          </a:p>
          <a:p>
            <a:pPr marL="285750" indent="-285750">
              <a:buFont typeface="Arial" panose="020B0604020202020204" pitchFamily="34" charset="0"/>
              <a:buChar char="•"/>
            </a:pPr>
            <a:r>
              <a:rPr lang="zh-CN" altLang="en-US" sz="2400"/>
              <a:t>敏感行为的表示</a:t>
            </a:r>
            <a:endParaRPr lang="en-US" altLang="zh-CN" sz="2400"/>
          </a:p>
          <a:p>
            <a:pPr marL="285750" indent="-285750">
              <a:buFont typeface="Arial" panose="020B0604020202020204" pitchFamily="34" charset="0"/>
              <a:buChar char="•"/>
            </a:pPr>
            <a:r>
              <a:rPr lang="zh-CN" altLang="en-US" sz="2400"/>
              <a:t>无监督的异常检测</a:t>
            </a:r>
            <a:endParaRPr lang="en-US" altLang="zh-CN" sz="2400"/>
          </a:p>
          <a:p>
            <a:pPr marL="285750" indent="-285750">
              <a:buFont typeface="Arial" panose="020B0604020202020204" pitchFamily="34" charset="0"/>
              <a:buChar char="•"/>
            </a:pPr>
            <a:r>
              <a:rPr lang="zh-CN" altLang="en-US" sz="2400"/>
              <a:t>结合场景建模与细粒度行为解释</a:t>
            </a:r>
            <a:endParaRPr lang="zh-CN" altLang="en-US" sz="24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nvGraphicFramePr>
        <p:xfrm>
          <a:off x="119743" y="1423204"/>
          <a:ext cx="11952514" cy="4517180"/>
        </p:xfrm>
        <a:graphic>
          <a:graphicData uri="http://schemas.openxmlformats.org/drawingml/2006/table">
            <a:tbl>
              <a:tblPr firstRow="1" bandRow="1">
                <a:tableStyleId>{2D5ABB26-0587-4C30-8999-92F81FD0307C}</a:tableStyleId>
              </a:tblPr>
              <a:tblGrid>
                <a:gridCol w="1948543"/>
                <a:gridCol w="1545771"/>
                <a:gridCol w="1472068"/>
                <a:gridCol w="1746533"/>
                <a:gridCol w="1614656"/>
                <a:gridCol w="1878410"/>
                <a:gridCol w="1746533"/>
              </a:tblGrid>
              <a:tr h="503471">
                <a:tc>
                  <a:txBody>
                    <a:bodyPr/>
                    <a:lstStyle/>
                    <a:p>
                      <a:pPr algn="ctr"/>
                      <a:r>
                        <a:rPr lang="zh-CN" altLang="en-US" sz="1400" b="1">
                          <a:solidFill>
                            <a:srgbClr val="5C307D"/>
                          </a:solidFill>
                        </a:rPr>
                        <a:t>方法</a:t>
                      </a:r>
                      <a:endParaRPr lang="zh-CN" altLang="en-US" sz="1400" b="1">
                        <a:solidFill>
                          <a:srgbClr val="5C307D"/>
                        </a:solidFill>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400" b="1">
                          <a:solidFill>
                            <a:srgbClr val="5C307D"/>
                          </a:solidFill>
                        </a:rPr>
                        <a:t>应用场景</a:t>
                      </a:r>
                      <a:endParaRPr lang="zh-CN" altLang="en-US" sz="1400" b="1">
                        <a:solidFill>
                          <a:srgbClr val="5C307D"/>
                        </a:solidFill>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400" b="1">
                          <a:solidFill>
                            <a:srgbClr val="5C307D"/>
                          </a:solidFill>
                        </a:rPr>
                        <a:t>应用场景</a:t>
                      </a:r>
                      <a:endParaRPr lang="zh-CN" altLang="en-US" sz="1400" b="1">
                        <a:solidFill>
                          <a:srgbClr val="5C307D"/>
                        </a:solidFill>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400" b="1">
                          <a:solidFill>
                            <a:srgbClr val="5C307D"/>
                          </a:solidFill>
                        </a:rPr>
                        <a:t>应用方式</a:t>
                      </a:r>
                      <a:endParaRPr lang="zh-CN" altLang="en-US" sz="1400" b="1">
                        <a:solidFill>
                          <a:srgbClr val="5C307D"/>
                        </a:solidFill>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400" b="1">
                          <a:solidFill>
                            <a:srgbClr val="5C307D"/>
                          </a:solidFill>
                        </a:rPr>
                        <a:t>解决幻觉问题</a:t>
                      </a:r>
                      <a:endParaRPr lang="zh-CN" altLang="en-US" sz="1400" b="1">
                        <a:solidFill>
                          <a:srgbClr val="5C307D"/>
                        </a:solidFill>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400" b="1">
                          <a:solidFill>
                            <a:srgbClr val="5C307D"/>
                          </a:solidFill>
                        </a:rPr>
                        <a:t>解决上下文长度问题</a:t>
                      </a:r>
                      <a:endParaRPr lang="zh-CN" altLang="en-US" sz="1400" b="1">
                        <a:solidFill>
                          <a:srgbClr val="5C307D"/>
                        </a:solidFill>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400" b="1">
                          <a:solidFill>
                            <a:srgbClr val="5C307D"/>
                          </a:solidFill>
                        </a:rPr>
                        <a:t>效率</a:t>
                      </a:r>
                      <a:endParaRPr lang="zh-CN" altLang="en-US" sz="1400" b="1">
                        <a:solidFill>
                          <a:srgbClr val="5C307D"/>
                        </a:solidFill>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951823">
                <a:tc>
                  <a:txBody>
                    <a:bodyPr/>
                    <a:lstStyle/>
                    <a:p>
                      <a:pPr algn="ctr"/>
                      <a:r>
                        <a:rPr lang="en-US" altLang="zh-CN" sz="1400" b="1"/>
                        <a:t>ReSym</a:t>
                      </a:r>
                      <a:endParaRPr lang="en-US" altLang="zh-CN" sz="1400" b="1"/>
                    </a:p>
                    <a:p>
                      <a:pPr algn="ctr"/>
                      <a:r>
                        <a:rPr lang="en-US" altLang="zh-CN" sz="1400" b="1"/>
                        <a:t>(CCS 2024)</a:t>
                      </a:r>
                      <a:endParaRPr lang="zh-CN" altLang="en-US" sz="1400" b="1"/>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1400"/>
                        <a:t>C/C++</a:t>
                      </a:r>
                      <a:endParaRPr lang="zh-CN" altLang="en-US" sz="1400"/>
                    </a:p>
                  </a:txBody>
                  <a:tcPr anchor="ctr">
                    <a:lnT w="12700" cap="flat" cmpd="sng" algn="ctr">
                      <a:solidFill>
                        <a:schemeClr val="tx1"/>
                      </a:solidFill>
                      <a:prstDash val="solid"/>
                      <a:round/>
                      <a:headEnd type="none" w="med" len="med"/>
                      <a:tailEnd type="none" w="med" len="med"/>
                    </a:lnT>
                  </a:tcPr>
                </a:tc>
                <a:tc>
                  <a:txBody>
                    <a:bodyPr/>
                    <a:lstStyle/>
                    <a:p>
                      <a:pPr algn="ctr"/>
                      <a:r>
                        <a:rPr lang="zh-CN" altLang="en-US" sz="1400"/>
                        <a:t>符号恢复</a:t>
                      </a:r>
                      <a:endParaRPr lang="zh-CN" altLang="en-US" sz="1400"/>
                    </a:p>
                  </a:txBody>
                  <a:tcPr anchor="ctr">
                    <a:lnT w="12700" cap="flat" cmpd="sng" algn="ctr">
                      <a:solidFill>
                        <a:schemeClr val="tx1"/>
                      </a:solidFill>
                      <a:prstDash val="solid"/>
                      <a:round/>
                      <a:headEnd type="none" w="med" len="med"/>
                      <a:tailEnd type="none" w="med" len="med"/>
                    </a:lnT>
                  </a:tcPr>
                </a:tc>
                <a:tc>
                  <a:txBody>
                    <a:bodyPr/>
                    <a:lstStyle/>
                    <a:p>
                      <a:pPr algn="ctr"/>
                      <a:r>
                        <a:rPr lang="zh-CN" altLang="en-US" sz="1400"/>
                        <a:t>特定子任务下微调</a:t>
                      </a:r>
                      <a:r>
                        <a:rPr lang="en-US" altLang="zh-CN" sz="1400"/>
                        <a:t>LLM</a:t>
                      </a:r>
                      <a:endParaRPr lang="zh-CN" altLang="en-US" sz="1400"/>
                    </a:p>
                  </a:txBody>
                  <a:tcPr anchor="ctr">
                    <a:lnT w="12700" cap="flat" cmpd="sng" algn="ctr">
                      <a:solidFill>
                        <a:schemeClr val="tx1"/>
                      </a:solidFill>
                      <a:prstDash val="solid"/>
                      <a:round/>
                      <a:headEnd type="none" w="med" len="med"/>
                      <a:tailEnd type="none" w="med" len="med"/>
                    </a:lnT>
                  </a:tcPr>
                </a:tc>
                <a:tc>
                  <a:txBody>
                    <a:bodyPr/>
                    <a:lstStyle/>
                    <a:p>
                      <a:pPr algn="ctr"/>
                      <a:r>
                        <a:rPr lang="zh-CN" altLang="en-US" sz="1400"/>
                        <a:t>基于</a:t>
                      </a:r>
                      <a:r>
                        <a:rPr lang="en-US" altLang="zh-CN" sz="1400"/>
                        <a:t>Prolog</a:t>
                      </a:r>
                      <a:r>
                        <a:rPr lang="zh-CN" altLang="en-US" sz="1400"/>
                        <a:t>的推理算法确保结果有效</a:t>
                      </a:r>
                      <a:endParaRPr lang="zh-CN" altLang="en-US" sz="1400"/>
                    </a:p>
                  </a:txBody>
                  <a:tcPr anchor="ctr">
                    <a:lnT w="12700" cap="flat" cmpd="sng" algn="ctr">
                      <a:solidFill>
                        <a:schemeClr val="tx1"/>
                      </a:solidFill>
                      <a:prstDash val="solid"/>
                      <a:round/>
                      <a:headEnd type="none" w="med" len="med"/>
                      <a:tailEnd type="none" w="med" len="med"/>
                    </a:lnT>
                  </a:tcPr>
                </a:tc>
                <a:tc>
                  <a:txBody>
                    <a:bodyPr/>
                    <a:lstStyle/>
                    <a:p>
                      <a:pPr algn="ctr"/>
                      <a:r>
                        <a:rPr lang="zh-CN" altLang="en-US" sz="1400"/>
                        <a:t>将代码划分多个代码片段处理，然后将所有结果聚合</a:t>
                      </a:r>
                      <a:endParaRPr lang="zh-CN" altLang="en-US" sz="1400"/>
                    </a:p>
                  </a:txBody>
                  <a:tcPr anchor="ctr">
                    <a:lnT w="12700" cap="flat" cmpd="sng" algn="ctr">
                      <a:solidFill>
                        <a:schemeClr val="tx1"/>
                      </a:solidFill>
                      <a:prstDash val="solid"/>
                      <a:round/>
                      <a:headEnd type="none" w="med" len="med"/>
                      <a:tailEnd type="none" w="med" len="med"/>
                    </a:lnT>
                  </a:tcPr>
                </a:tc>
                <a:tc>
                  <a:txBody>
                    <a:bodyPr/>
                    <a:lstStyle/>
                    <a:p>
                      <a:pPr marL="285750" indent="-285750" algn="l">
                        <a:buFont typeface="Arial" panose="020B0604020202020204" pitchFamily="34" charset="0"/>
                        <a:buChar char="•"/>
                      </a:pPr>
                      <a:r>
                        <a:rPr lang="zh-CN" altLang="en-US" sz="1400"/>
                        <a:t>需要离线训练</a:t>
                      </a:r>
                      <a:r>
                        <a:rPr lang="en-US" altLang="zh-CN" sz="1400"/>
                        <a:t>2</a:t>
                      </a:r>
                      <a:r>
                        <a:rPr lang="zh-CN" altLang="en-US" sz="1400"/>
                        <a:t>个参数量为</a:t>
                      </a:r>
                      <a:r>
                        <a:rPr lang="en-US" altLang="zh-CN" sz="1400"/>
                        <a:t>3B</a:t>
                      </a:r>
                      <a:r>
                        <a:rPr lang="zh-CN" altLang="en-US" sz="1400"/>
                        <a:t>的</a:t>
                      </a:r>
                      <a:r>
                        <a:rPr lang="en-US" altLang="zh-CN" sz="1400"/>
                        <a:t>LLM</a:t>
                      </a:r>
                      <a:endParaRPr lang="zh-CN" altLang="en-US" sz="1400"/>
                    </a:p>
                  </a:txBody>
                  <a:tcPr anchor="ctr">
                    <a:lnT w="12700" cap="flat" cmpd="sng" algn="ctr">
                      <a:solidFill>
                        <a:schemeClr val="tx1"/>
                      </a:solidFill>
                      <a:prstDash val="solid"/>
                      <a:round/>
                      <a:headEnd type="none" w="med" len="med"/>
                      <a:tailEnd type="none" w="med" len="med"/>
                    </a:lnT>
                  </a:tcPr>
                </a:tc>
              </a:tr>
              <a:tr h="951823">
                <a:tc>
                  <a:txBody>
                    <a:bodyPr/>
                    <a:lstStyle/>
                    <a:p>
                      <a:pPr algn="ctr"/>
                      <a:r>
                        <a:rPr lang="en-US" altLang="zh-CN" sz="1400" b="1"/>
                        <a:t>MalGuard</a:t>
                      </a:r>
                      <a:endParaRPr lang="en-US" altLang="zh-CN" sz="1400" b="1"/>
                    </a:p>
                    <a:p>
                      <a:pPr algn="ctr"/>
                      <a:r>
                        <a:rPr lang="en-US" altLang="zh-CN" sz="1400" b="1"/>
                        <a:t>(USENIX Security 2025)</a:t>
                      </a:r>
                      <a:endParaRPr lang="zh-CN" altLang="en-US" sz="1400" b="1"/>
                    </a:p>
                  </a:txBody>
                  <a:tcPr anchor="ctr"/>
                </a:tc>
                <a:tc>
                  <a:txBody>
                    <a:bodyPr/>
                    <a:lstStyle/>
                    <a:p>
                      <a:pPr algn="ctr"/>
                      <a:r>
                        <a:rPr lang="en-US" altLang="zh-CN" sz="1400"/>
                        <a:t>PyPI</a:t>
                      </a:r>
                      <a:endParaRPr lang="zh-CN" altLang="en-US" sz="1400"/>
                    </a:p>
                  </a:txBody>
                  <a:tcPr anchor="ctr"/>
                </a:tc>
                <a:tc>
                  <a:txBody>
                    <a:bodyPr/>
                    <a:lstStyle/>
                    <a:p>
                      <a:pPr algn="ctr"/>
                      <a:r>
                        <a:rPr lang="zh-CN" altLang="en-US" sz="1400"/>
                        <a:t>提取特征信息</a:t>
                      </a:r>
                      <a:endParaRPr lang="zh-CN" altLang="en-US" sz="1400"/>
                    </a:p>
                  </a:txBody>
                  <a:tcPr anchor="ctr"/>
                </a:tc>
                <a:tc>
                  <a:txBody>
                    <a:bodyPr/>
                    <a:lstStyle/>
                    <a:p>
                      <a:pPr algn="ctr"/>
                      <a:r>
                        <a:rPr lang="zh-CN" altLang="en-US" sz="1400"/>
                        <a:t>提示词工程</a:t>
                      </a:r>
                      <a:endParaRPr lang="zh-CN" altLang="en-US" sz="1400"/>
                    </a:p>
                  </a:txBody>
                  <a:tcPr anchor="ctr"/>
                </a:tc>
                <a:tc>
                  <a:txBody>
                    <a:bodyPr/>
                    <a:lstStyle/>
                    <a:p>
                      <a:pPr algn="ctr"/>
                      <a:r>
                        <a:rPr lang="zh-CN" altLang="en-US" sz="1400"/>
                        <a:t>人工审查特征的有效性</a:t>
                      </a:r>
                      <a:endParaRPr lang="zh-CN" altLang="en-US" sz="1400"/>
                    </a:p>
                  </a:txBody>
                  <a:tcPr anchor="ctr"/>
                </a:tc>
                <a:tc>
                  <a:txBody>
                    <a:bodyPr/>
                    <a:lstStyle/>
                    <a:p>
                      <a:pPr algn="ctr"/>
                      <a:r>
                        <a:rPr lang="zh-CN" altLang="en-US" sz="1400"/>
                        <a:t>提炼核心代码片段</a:t>
                      </a:r>
                      <a:endParaRPr lang="zh-CN" altLang="en-US" sz="1400"/>
                    </a:p>
                  </a:txBody>
                  <a:tcPr anchor="ctr"/>
                </a:tc>
                <a:tc>
                  <a:txBody>
                    <a:bodyPr/>
                    <a:lstStyle/>
                    <a:p>
                      <a:pPr marL="285750" indent="-285750" algn="l">
                        <a:buFont typeface="Arial" panose="020B0604020202020204" pitchFamily="34" charset="0"/>
                        <a:buChar char="•"/>
                      </a:pPr>
                      <a:r>
                        <a:rPr lang="zh-CN" altLang="en-US" sz="1400"/>
                        <a:t>只利用</a:t>
                      </a:r>
                      <a:r>
                        <a:rPr lang="en-US" altLang="zh-CN" sz="1400"/>
                        <a:t>LLM</a:t>
                      </a:r>
                      <a:r>
                        <a:rPr lang="zh-CN" altLang="en-US" sz="1400"/>
                        <a:t>进行离线特征构建</a:t>
                      </a:r>
                      <a:endParaRPr lang="en-US" altLang="zh-CN" sz="1400"/>
                    </a:p>
                    <a:p>
                      <a:pPr marL="285750" indent="-285750" algn="l">
                        <a:buFont typeface="Arial" panose="020B0604020202020204" pitchFamily="34" charset="0"/>
                        <a:buChar char="•"/>
                      </a:pPr>
                      <a:r>
                        <a:rPr lang="zh-CN" altLang="en-US" sz="1400"/>
                        <a:t>利用轻量级</a:t>
                      </a:r>
                      <a:r>
                        <a:rPr lang="en-US" altLang="zh-CN" sz="1400"/>
                        <a:t>ML</a:t>
                      </a:r>
                      <a:r>
                        <a:rPr lang="zh-CN" altLang="en-US" sz="1400"/>
                        <a:t>模型检测恶意代码</a:t>
                      </a:r>
                      <a:endParaRPr lang="zh-CN" altLang="en-US" sz="1400"/>
                    </a:p>
                  </a:txBody>
                  <a:tcPr anchor="ctr"/>
                </a:tc>
              </a:tr>
              <a:tr h="951823">
                <a:tc>
                  <a:txBody>
                    <a:bodyPr/>
                    <a:lstStyle/>
                    <a:p>
                      <a:pPr algn="ctr"/>
                      <a:r>
                        <a:rPr lang="en-US" altLang="zh-CN" sz="1400" b="1"/>
                        <a:t>SocketAI</a:t>
                      </a:r>
                      <a:endParaRPr lang="en-US" altLang="zh-CN" sz="1400" b="1"/>
                    </a:p>
                    <a:p>
                      <a:pPr algn="ctr"/>
                      <a:r>
                        <a:rPr lang="en-US" altLang="zh-CN" sz="1400" b="1"/>
                        <a:t>(ICSE 2025)</a:t>
                      </a:r>
                      <a:endParaRPr lang="zh-CN" altLang="en-US" sz="1400" b="1"/>
                    </a:p>
                  </a:txBody>
                  <a:tcPr anchor="ctr"/>
                </a:tc>
                <a:tc>
                  <a:txBody>
                    <a:bodyPr/>
                    <a:lstStyle/>
                    <a:p>
                      <a:pPr algn="ctr"/>
                      <a:r>
                        <a:rPr lang="en-US" altLang="zh-CN" sz="1400"/>
                        <a:t>JavaScript</a:t>
                      </a:r>
                      <a:endParaRPr lang="zh-CN" altLang="en-US" sz="1400"/>
                    </a:p>
                  </a:txBody>
                  <a:tcPr anchor="ctr"/>
                </a:tc>
                <a:tc>
                  <a:txBody>
                    <a:bodyPr/>
                    <a:lstStyle/>
                    <a:p>
                      <a:pPr algn="ctr"/>
                      <a:r>
                        <a:rPr lang="zh-CN" altLang="en-US" sz="1400"/>
                        <a:t>恶意代码检测</a:t>
                      </a:r>
                      <a:endParaRPr lang="zh-CN" altLang="en-US" sz="1400"/>
                    </a:p>
                  </a:txBody>
                  <a:tcPr anchor="ctr"/>
                </a:tc>
                <a:tc>
                  <a:txBody>
                    <a:bodyPr/>
                    <a:lstStyle/>
                    <a:p>
                      <a:pPr marL="0" marR="0" lvl="0" indent="0" algn="ctr" defTabSz="456565" rtl="0" eaLnBrk="1" fontAlgn="auto" latinLnBrk="0" hangingPunct="1">
                        <a:lnSpc>
                          <a:spcPct val="100000"/>
                        </a:lnSpc>
                        <a:spcBef>
                          <a:spcPts val="0"/>
                        </a:spcBef>
                        <a:spcAft>
                          <a:spcPts val="0"/>
                        </a:spcAft>
                        <a:buClrTx/>
                        <a:buSzTx/>
                        <a:buFontTx/>
                        <a:buNone/>
                        <a:defRPr/>
                      </a:pPr>
                      <a:r>
                        <a:rPr lang="zh-CN" altLang="en-US" sz="1400"/>
                        <a:t>提示词工程</a:t>
                      </a:r>
                      <a:endParaRPr lang="zh-CN" altLang="en-US" sz="1400"/>
                    </a:p>
                  </a:txBody>
                  <a:tcPr anchor="ctr"/>
                </a:tc>
                <a:tc>
                  <a:txBody>
                    <a:bodyPr/>
                    <a:lstStyle/>
                    <a:p>
                      <a:pPr algn="ctr"/>
                      <a:r>
                        <a:rPr lang="zh-CN" altLang="en-US" sz="1400"/>
                        <a:t>迭代自改进方法、思维链（</a:t>
                      </a:r>
                      <a:r>
                        <a:rPr lang="en-US" altLang="zh-CN" sz="1400" err="1"/>
                        <a:t>CoT</a:t>
                      </a:r>
                      <a:r>
                        <a:rPr lang="zh-CN" altLang="en-US" sz="1400"/>
                        <a:t>）</a:t>
                      </a:r>
                      <a:endParaRPr lang="zh-CN" altLang="en-US" sz="1400"/>
                    </a:p>
                  </a:txBody>
                  <a:tcPr anchor="ctr"/>
                </a:tc>
                <a:tc>
                  <a:txBody>
                    <a:bodyPr/>
                    <a:lstStyle/>
                    <a:p>
                      <a:pPr algn="ctr"/>
                      <a:r>
                        <a:rPr lang="zh-CN" altLang="en-US" sz="1400"/>
                        <a:t>只能针对单文件分析，无法处理多文件和大文件</a:t>
                      </a:r>
                      <a:endParaRPr lang="zh-CN" altLang="en-US" sz="1400"/>
                    </a:p>
                  </a:txBody>
                  <a:tcPr anchor="ctr"/>
                </a:tc>
                <a:tc>
                  <a:txBody>
                    <a:bodyPr/>
                    <a:lstStyle/>
                    <a:p>
                      <a:pPr marL="285750" indent="-285750" algn="l">
                        <a:buFont typeface="Arial" panose="020B0604020202020204" pitchFamily="34" charset="0"/>
                        <a:buChar char="•"/>
                      </a:pPr>
                      <a:r>
                        <a:rPr lang="zh-CN" altLang="en-US" sz="1400"/>
                        <a:t>利用静态分析预筛选代码</a:t>
                      </a:r>
                      <a:endParaRPr lang="en-US" altLang="zh-CN" sz="1400"/>
                    </a:p>
                    <a:p>
                      <a:pPr marL="285750" indent="-285750" algn="l">
                        <a:buFont typeface="Arial" panose="020B0604020202020204" pitchFamily="34" charset="0"/>
                        <a:buChar char="•"/>
                      </a:pPr>
                      <a:r>
                        <a:rPr lang="zh-CN" altLang="en-US" sz="1400"/>
                        <a:t>分场景使用不同规模</a:t>
                      </a:r>
                      <a:r>
                        <a:rPr lang="en-US" altLang="zh-CN" sz="1400"/>
                        <a:t>LLM</a:t>
                      </a:r>
                      <a:endParaRPr lang="zh-CN" altLang="en-US" sz="1400"/>
                    </a:p>
                  </a:txBody>
                  <a:tcPr anchor="ctr"/>
                </a:tc>
              </a:tr>
              <a:tr h="951823">
                <a:tc>
                  <a:txBody>
                    <a:bodyPr/>
                    <a:lstStyle/>
                    <a:p>
                      <a:pPr marL="0" marR="0" lvl="0" indent="0" algn="ctr" defTabSz="456565" rtl="0" eaLnBrk="1" fontAlgn="auto" latinLnBrk="0" hangingPunct="1">
                        <a:lnSpc>
                          <a:spcPct val="100000"/>
                        </a:lnSpc>
                        <a:spcBef>
                          <a:spcPts val="0"/>
                        </a:spcBef>
                        <a:spcAft>
                          <a:spcPts val="0"/>
                        </a:spcAft>
                        <a:buClrTx/>
                        <a:buSzTx/>
                        <a:buFontTx/>
                        <a:buNone/>
                        <a:defRPr/>
                      </a:pPr>
                      <a:r>
                        <a:rPr lang="en-US" altLang="zh-CN" sz="1400" b="1"/>
                        <a:t>ForeDroid</a:t>
                      </a:r>
                      <a:endParaRPr lang="en-US" altLang="zh-CN" sz="1400" b="1"/>
                    </a:p>
                    <a:p>
                      <a:pPr marL="0" marR="0" lvl="0" indent="0" algn="ctr" defTabSz="456565" rtl="0" eaLnBrk="1" fontAlgn="auto" latinLnBrk="0" hangingPunct="1">
                        <a:lnSpc>
                          <a:spcPct val="100000"/>
                        </a:lnSpc>
                        <a:spcBef>
                          <a:spcPts val="0"/>
                        </a:spcBef>
                        <a:spcAft>
                          <a:spcPts val="0"/>
                        </a:spcAft>
                        <a:buClrTx/>
                        <a:buSzTx/>
                        <a:buFontTx/>
                        <a:buNone/>
                        <a:defRPr/>
                      </a:pPr>
                      <a:r>
                        <a:rPr lang="en-US" altLang="zh-CN" sz="1400" b="1"/>
                        <a:t>(CCS 2025)</a:t>
                      </a:r>
                      <a:endParaRPr lang="zh-CN" altLang="en-US" sz="1400" b="1"/>
                    </a:p>
                  </a:txBody>
                  <a:tcPr anchor="ctr">
                    <a:lnB w="12700" cap="flat" cmpd="sng" algn="ctr">
                      <a:solidFill>
                        <a:schemeClr val="tx1"/>
                      </a:solidFill>
                      <a:prstDash val="solid"/>
                      <a:round/>
                      <a:headEnd type="none" w="med" len="med"/>
                      <a:tailEnd type="none" w="med" len="med"/>
                    </a:lnB>
                  </a:tcPr>
                </a:tc>
                <a:tc>
                  <a:txBody>
                    <a:bodyPr/>
                    <a:lstStyle/>
                    <a:p>
                      <a:pPr marL="0" marR="0" lvl="0" indent="0" algn="ctr" defTabSz="456565" rtl="0" eaLnBrk="1" fontAlgn="auto" latinLnBrk="0" hangingPunct="1">
                        <a:lnSpc>
                          <a:spcPct val="100000"/>
                        </a:lnSpc>
                        <a:spcBef>
                          <a:spcPts val="0"/>
                        </a:spcBef>
                        <a:spcAft>
                          <a:spcPts val="0"/>
                        </a:spcAft>
                        <a:buClrTx/>
                        <a:buSzTx/>
                        <a:buFontTx/>
                        <a:buNone/>
                        <a:defRPr/>
                      </a:pPr>
                      <a:r>
                        <a:rPr lang="en-US" altLang="zh-CN" sz="1400"/>
                        <a:t>Android</a:t>
                      </a:r>
                      <a:endParaRPr lang="zh-CN" altLang="en-US" sz="1400"/>
                    </a:p>
                  </a:txBody>
                  <a:tcPr anchor="ctr">
                    <a:lnB w="12700" cap="flat" cmpd="sng" algn="ctr">
                      <a:solidFill>
                        <a:schemeClr val="tx1"/>
                      </a:solidFill>
                      <a:prstDash val="solid"/>
                      <a:round/>
                      <a:headEnd type="none" w="med" len="med"/>
                      <a:tailEnd type="none" w="med" len="med"/>
                    </a:lnB>
                  </a:tcPr>
                </a:tc>
                <a:tc>
                  <a:txBody>
                    <a:bodyPr/>
                    <a:lstStyle/>
                    <a:p>
                      <a:pPr algn="ctr"/>
                      <a:r>
                        <a:rPr lang="zh-CN" altLang="en-US" sz="1400"/>
                        <a:t>恶意行为解释</a:t>
                      </a:r>
                      <a:endParaRPr lang="zh-CN" altLang="en-US" sz="1400"/>
                    </a:p>
                  </a:txBody>
                  <a:tcPr anchor="ctr">
                    <a:lnB w="12700" cap="flat" cmpd="sng" algn="ctr">
                      <a:solidFill>
                        <a:schemeClr val="tx1"/>
                      </a:solidFill>
                      <a:prstDash val="solid"/>
                      <a:round/>
                      <a:headEnd type="none" w="med" len="med"/>
                      <a:tailEnd type="none" w="med" len="med"/>
                    </a:lnB>
                  </a:tcPr>
                </a:tc>
                <a:tc>
                  <a:txBody>
                    <a:bodyPr/>
                    <a:lstStyle/>
                    <a:p>
                      <a:pPr algn="ctr"/>
                      <a:r>
                        <a:rPr lang="zh-CN" altLang="en-US" sz="1400"/>
                        <a:t>提示词工程</a:t>
                      </a:r>
                      <a:endParaRPr lang="zh-CN" altLang="en-US" sz="1400"/>
                    </a:p>
                  </a:txBody>
                  <a:tcPr anchor="ctr">
                    <a:lnB w="12700" cap="flat" cmpd="sng" algn="ctr">
                      <a:solidFill>
                        <a:schemeClr val="tx1"/>
                      </a:solidFill>
                      <a:prstDash val="solid"/>
                      <a:round/>
                      <a:headEnd type="none" w="med" len="med"/>
                      <a:tailEnd type="none" w="med" len="med"/>
                    </a:lnB>
                  </a:tcPr>
                </a:tc>
                <a:tc>
                  <a:txBody>
                    <a:bodyPr/>
                    <a:lstStyle/>
                    <a:p>
                      <a:pPr algn="ctr"/>
                      <a:r>
                        <a:rPr lang="zh-CN" altLang="en-US" sz="1400"/>
                        <a:t>无额外处理</a:t>
                      </a:r>
                      <a:endParaRPr lang="zh-CN" altLang="en-US" sz="1400"/>
                    </a:p>
                  </a:txBody>
                  <a:tcPr anchor="ctr">
                    <a:lnB w="12700" cap="flat" cmpd="sng" algn="ctr">
                      <a:solidFill>
                        <a:schemeClr val="tx1"/>
                      </a:solidFill>
                      <a:prstDash val="solid"/>
                      <a:round/>
                      <a:headEnd type="none" w="med" len="med"/>
                      <a:tailEnd type="none" w="med" len="med"/>
                    </a:lnB>
                  </a:tcPr>
                </a:tc>
                <a:tc>
                  <a:txBody>
                    <a:bodyPr/>
                    <a:lstStyle/>
                    <a:p>
                      <a:pPr algn="ctr"/>
                      <a:r>
                        <a:rPr lang="zh-CN" altLang="en-US" sz="1400"/>
                        <a:t>输入精炼后的完整调用链和相关场景信息</a:t>
                      </a:r>
                      <a:endParaRPr lang="zh-CN" altLang="en-US" sz="1400"/>
                    </a:p>
                  </a:txBody>
                  <a:tcPr anchor="ctr">
                    <a:lnB w="12700" cap="flat" cmpd="sng" algn="ctr">
                      <a:solidFill>
                        <a:schemeClr val="tx1"/>
                      </a:solidFill>
                      <a:prstDash val="solid"/>
                      <a:round/>
                      <a:headEnd type="none" w="med" len="med"/>
                      <a:tailEnd type="none" w="med" len="med"/>
                    </a:lnB>
                  </a:tcPr>
                </a:tc>
                <a:tc>
                  <a:txBody>
                    <a:bodyPr/>
                    <a:lstStyle/>
                    <a:p>
                      <a:pPr marL="285750" indent="-285750" algn="l">
                        <a:buFont typeface="Arial" panose="020B0604020202020204" pitchFamily="34" charset="0"/>
                        <a:buChar char="•"/>
                      </a:pPr>
                      <a:r>
                        <a:rPr lang="zh-CN" altLang="en-US" sz="1400"/>
                        <a:t>只利用</a:t>
                      </a:r>
                      <a:r>
                        <a:rPr lang="en-US" altLang="zh-CN" sz="1400"/>
                        <a:t>LLM</a:t>
                      </a:r>
                      <a:r>
                        <a:rPr lang="zh-CN" altLang="en-US" sz="1400"/>
                        <a:t>对恶意分数高的行为进行解释</a:t>
                      </a:r>
                      <a:endParaRPr lang="en-US" altLang="zh-CN" sz="1400"/>
                    </a:p>
                  </a:txBody>
                  <a:tcPr anchor="ctr">
                    <a:lnB w="12700" cap="flat" cmpd="sng" algn="ctr">
                      <a:solidFill>
                        <a:schemeClr val="tx1"/>
                      </a:solidFill>
                      <a:prstDash val="solid"/>
                      <a:round/>
                      <a:headEnd type="none" w="med" len="med"/>
                      <a:tailEnd type="none" w="med" len="med"/>
                    </a:lnB>
                  </a:tcPr>
                </a:tc>
              </a:tr>
            </a:tbl>
          </a:graphicData>
        </a:graphic>
      </p:graphicFrame>
      <p:sp>
        <p:nvSpPr>
          <p:cNvPr id="3" name="文本框 2"/>
          <p:cNvSpPr txBox="1"/>
          <p:nvPr/>
        </p:nvSpPr>
        <p:spPr>
          <a:xfrm>
            <a:off x="2267868" y="862350"/>
            <a:ext cx="7656263" cy="461665"/>
          </a:xfrm>
          <a:prstGeom prst="rect">
            <a:avLst/>
          </a:prstGeom>
          <a:noFill/>
        </p:spPr>
        <p:txBody>
          <a:bodyPr wrap="none" rtlCol="0">
            <a:spAutoFit/>
          </a:bodyPr>
          <a:lstStyle/>
          <a:p>
            <a:r>
              <a:rPr lang="zh-CN" altLang="en-US" sz="2400" b="1">
                <a:solidFill>
                  <a:srgbClr val="5C307D"/>
                </a:solidFill>
              </a:rPr>
              <a:t>走向“理解”恶意软件：不同方法综合</a:t>
            </a:r>
            <a:r>
              <a:rPr lang="en-US" altLang="zh-CN" sz="2400" b="1">
                <a:solidFill>
                  <a:srgbClr val="5C307D"/>
                </a:solidFill>
              </a:rPr>
              <a:t>LLM</a:t>
            </a:r>
            <a:r>
              <a:rPr lang="zh-CN" altLang="en-US" sz="2400" b="1">
                <a:solidFill>
                  <a:srgbClr val="5C307D"/>
                </a:solidFill>
              </a:rPr>
              <a:t>能力的方式</a:t>
            </a:r>
            <a:endParaRPr lang="zh-CN" altLang="en-US" sz="2400" b="1">
              <a:solidFill>
                <a:srgbClr val="5C307D"/>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kumimoji="1" lang="en-US" altLang="zh-CN" cap="none"/>
              <a:t>LEVEL4</a:t>
            </a:r>
            <a:r>
              <a:rPr kumimoji="1" lang="zh-CN" altLang="en-US"/>
              <a:t>：构建智能体“分析师”</a:t>
            </a:r>
            <a:endParaRPr kumimoji="1" lang="zh-CN" altLang="en-US"/>
          </a:p>
        </p:txBody>
      </p:sp>
      <p:sp>
        <p:nvSpPr>
          <p:cNvPr id="3" name="副标题 2"/>
          <p:cNvSpPr>
            <a:spLocks noGrp="1"/>
          </p:cNvSpPr>
          <p:nvPr>
            <p:ph type="subTitle" idx="1"/>
          </p:nvPr>
        </p:nvSpPr>
        <p:spPr/>
        <p:txBody>
          <a:bodyPr>
            <a:normAutofit fontScale="85000" lnSpcReduction="10000"/>
          </a:bodyPr>
          <a:lstStyle/>
          <a:p>
            <a:pPr marL="342900" indent="-342900">
              <a:buFont typeface="Wingdings" panose="05000000000000000000" pitchFamily="2" charset="2"/>
              <a:buChar char="n"/>
            </a:pPr>
            <a:r>
              <a:rPr kumimoji="1" lang="zh-CN" altLang="en-US" b="1"/>
              <a:t>背景</a:t>
            </a:r>
            <a:r>
              <a:rPr kumimoji="1" lang="zh-CN" altLang="en-US"/>
              <a:t>：</a:t>
            </a:r>
            <a:r>
              <a:rPr kumimoji="1" lang="en-US" altLang="zh-CN"/>
              <a:t>Level 3</a:t>
            </a:r>
            <a:r>
              <a:rPr kumimoji="1" lang="zh-CN" altLang="en-US"/>
              <a:t>的探索证明了</a:t>
            </a:r>
            <a:r>
              <a:rPr kumimoji="1" lang="en-US" altLang="zh-CN"/>
              <a:t>LLM</a:t>
            </a:r>
            <a:r>
              <a:rPr kumimoji="1" lang="zh-CN" altLang="en-US"/>
              <a:t>在辅助分析任务上的巨大潜力，但这距离完全替代人类专家还有很长的路。</a:t>
            </a:r>
            <a:endParaRPr kumimoji="1" lang="en-US" altLang="zh-CN"/>
          </a:p>
          <a:p>
            <a:pPr marL="342900" indent="-342900">
              <a:buFont typeface="Wingdings" panose="05000000000000000000" pitchFamily="2" charset="2"/>
              <a:buChar char="n"/>
            </a:pPr>
            <a:r>
              <a:rPr kumimoji="1" lang="zh-CN" altLang="en-US" b="1"/>
              <a:t>核心任务</a:t>
            </a:r>
            <a:r>
              <a:rPr kumimoji="1" lang="zh-CN" altLang="en-US"/>
              <a:t>：对构建能够像人类分析师一样独立工作的自主智能体进行尝试和探索。智能体不再是被动完成某个特定子任务（如反编译或代码摘要）的工具，而是能够主动规划、决策和执行整个分析流程。</a:t>
            </a:r>
            <a:endParaRPr kumimoji="1" lang="zh-CN"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kumimoji="1" lang="en-US" altLang="zh-CN" cap="none"/>
              <a:t>Large Language Models for Code Analysis: Do LLMs Really Do Their Job? </a:t>
            </a:r>
            <a:endParaRPr kumimoji="1" lang="zh-CN" altLang="en-US" cap="none"/>
          </a:p>
        </p:txBody>
      </p:sp>
      <p:pic>
        <p:nvPicPr>
          <p:cNvPr id="6" name="图片 5" descr="图示&#10;&#10;AI 生成的内容可能不正确。"/>
          <p:cNvPicPr>
            <a:picLocks noChangeAspect="1"/>
          </p:cNvPicPr>
          <p:nvPr/>
        </p:nvPicPr>
        <p:blipFill>
          <a:blip r:embed="rId1"/>
          <a:stretch>
            <a:fillRect/>
          </a:stretch>
        </p:blipFill>
        <p:spPr>
          <a:xfrm>
            <a:off x="6296635" y="2468414"/>
            <a:ext cx="5558180" cy="3118322"/>
          </a:xfrm>
          <a:prstGeom prst="rect">
            <a:avLst/>
          </a:prstGeom>
        </p:spPr>
      </p:pic>
      <p:sp>
        <p:nvSpPr>
          <p:cNvPr id="8" name="文本框 7"/>
          <p:cNvSpPr txBox="1"/>
          <p:nvPr/>
        </p:nvSpPr>
        <p:spPr>
          <a:xfrm>
            <a:off x="8585613" y="5634590"/>
            <a:ext cx="1338828" cy="369332"/>
          </a:xfrm>
          <a:prstGeom prst="rect">
            <a:avLst/>
          </a:prstGeom>
          <a:noFill/>
        </p:spPr>
        <p:txBody>
          <a:bodyPr wrap="none" rtlCol="0">
            <a:spAutoFit/>
          </a:bodyPr>
          <a:lstStyle/>
          <a:p>
            <a:r>
              <a:rPr lang="zh-CN" altLang="en-US"/>
              <a:t>实验流程图</a:t>
            </a:r>
            <a:endParaRPr lang="zh-CN" altLang="en-US"/>
          </a:p>
        </p:txBody>
      </p:sp>
      <p:sp>
        <p:nvSpPr>
          <p:cNvPr id="5" name="文本框 4"/>
          <p:cNvSpPr txBox="1"/>
          <p:nvPr/>
        </p:nvSpPr>
        <p:spPr>
          <a:xfrm>
            <a:off x="835025" y="1689100"/>
            <a:ext cx="5896610" cy="4677410"/>
          </a:xfrm>
          <a:prstGeom prst="rect">
            <a:avLst/>
          </a:prstGeom>
          <a:noFill/>
        </p:spPr>
        <p:txBody>
          <a:bodyPr wrap="square" rtlCol="0" anchor="t">
            <a:spAutoFit/>
          </a:bodyPr>
          <a:p>
            <a:pPr marL="0" indent="0" defTabSz="457200">
              <a:lnSpc>
                <a:spcPct val="130000"/>
              </a:lnSpc>
              <a:buNone/>
            </a:pPr>
            <a:r>
              <a:rPr lang="zh-CN" altLang="en-US" sz="2000" b="1">
                <a:solidFill>
                  <a:srgbClr val="5C307D"/>
                </a:solidFill>
                <a:sym typeface="+mn-ea"/>
              </a:rPr>
              <a:t>评估</a:t>
            </a:r>
            <a:r>
              <a:rPr lang="en-US" altLang="zh-CN" sz="2000" b="1">
                <a:solidFill>
                  <a:srgbClr val="5C307D"/>
                </a:solidFill>
                <a:sym typeface="+mn-ea"/>
              </a:rPr>
              <a:t>LLM</a:t>
            </a:r>
            <a:r>
              <a:rPr lang="zh-CN" altLang="en-US" sz="2000" b="1">
                <a:solidFill>
                  <a:srgbClr val="5C307D"/>
                </a:solidFill>
                <a:sym typeface="+mn-ea"/>
              </a:rPr>
              <a:t>的代码理解、分析能力</a:t>
            </a:r>
            <a:endParaRPr lang="en-US" altLang="zh-CN" sz="2000" b="1">
              <a:solidFill>
                <a:srgbClr val="5C307D"/>
              </a:solidFill>
            </a:endParaRPr>
          </a:p>
          <a:p>
            <a:pPr marL="0" indent="0" defTabSz="457200">
              <a:lnSpc>
                <a:spcPct val="130000"/>
              </a:lnSpc>
              <a:buNone/>
            </a:pPr>
            <a:r>
              <a:rPr lang="zh-CN" altLang="en-US" sz="2000" b="1">
                <a:solidFill>
                  <a:srgbClr val="5C307D"/>
                </a:solidFill>
                <a:sym typeface="+mn-ea"/>
              </a:rPr>
              <a:t>核心挑战：</a:t>
            </a:r>
            <a:endParaRPr lang="en-US" altLang="zh-CN" sz="2000" b="1">
              <a:solidFill>
                <a:srgbClr val="5C307D"/>
              </a:solidFill>
            </a:endParaRPr>
          </a:p>
          <a:p>
            <a:pPr marL="285750" lvl="0" indent="-285750" defTabSz="457200">
              <a:spcBef>
                <a:spcPts val="0"/>
              </a:spcBef>
              <a:spcAft>
                <a:spcPts val="0"/>
              </a:spcAft>
              <a:buClrTx/>
              <a:buSzTx/>
              <a:buFont typeface="Arial" panose="020B0604020202020204" pitchFamily="34" charset="0"/>
              <a:buChar char="•"/>
              <a:defRPr/>
            </a:pPr>
            <a:r>
              <a:rPr lang="zh-CN" altLang="en-US" sz="2000" dirty="0">
                <a:sym typeface="+mn-ea"/>
              </a:rPr>
              <a:t>缺少对</a:t>
            </a:r>
            <a:r>
              <a:rPr lang="en-US" altLang="zh-CN" sz="2000" dirty="0">
                <a:sym typeface="+mn-ea"/>
              </a:rPr>
              <a:t>LLM</a:t>
            </a:r>
            <a:r>
              <a:rPr lang="zh-CN" altLang="en-US" sz="2000" dirty="0">
                <a:sym typeface="+mn-ea"/>
              </a:rPr>
              <a:t>代码分析能力的系统性评测</a:t>
            </a:r>
            <a:endParaRPr lang="en-US" altLang="zh-CN" sz="2000" dirty="0"/>
          </a:p>
          <a:p>
            <a:pPr marL="285750" indent="-285750" defTabSz="457200">
              <a:spcBef>
                <a:spcPts val="0"/>
              </a:spcBef>
              <a:spcAft>
                <a:spcPts val="0"/>
              </a:spcAft>
              <a:buClrTx/>
              <a:buSzTx/>
              <a:buFont typeface="Arial" panose="020B0604020202020204" pitchFamily="34" charset="0"/>
              <a:buChar char="•"/>
              <a:defRPr/>
            </a:pPr>
            <a:r>
              <a:rPr lang="zh-CN" altLang="en-US" sz="2000" dirty="0">
                <a:solidFill>
                  <a:srgbClr val="000000"/>
                </a:solidFill>
                <a:latin typeface="Times New Roman" panose="02020603050405020304"/>
                <a:ea typeface="华文中宋" panose="02010600040101010101" charset="-122"/>
                <a:sym typeface="+mn-ea"/>
              </a:rPr>
              <a:t>现有自动化分析对预定义类型依赖强，不够通用</a:t>
            </a:r>
            <a:endParaRPr lang="en-US" altLang="zh-CN" sz="2000" dirty="0">
              <a:solidFill>
                <a:srgbClr val="000000"/>
              </a:solidFill>
              <a:latin typeface="Times New Roman" panose="02020603050405020304"/>
              <a:ea typeface="华文中宋" panose="02010600040101010101" charset="-122"/>
            </a:endParaRPr>
          </a:p>
          <a:p>
            <a:pPr marL="285750" indent="-285750" defTabSz="457200">
              <a:spcBef>
                <a:spcPts val="0"/>
              </a:spcBef>
              <a:spcAft>
                <a:spcPts val="0"/>
              </a:spcAft>
              <a:buClrTx/>
              <a:buSzTx/>
              <a:buFont typeface="Arial" panose="020B0604020202020204" pitchFamily="34" charset="0"/>
              <a:buChar char="•"/>
              <a:defRPr/>
            </a:pPr>
            <a:r>
              <a:rPr lang="en-US" altLang="zh-CN" sz="2000" dirty="0">
                <a:solidFill>
                  <a:srgbClr val="000000"/>
                </a:solidFill>
                <a:latin typeface="Times New Roman" panose="02020603050405020304"/>
                <a:ea typeface="华文中宋" panose="02010600040101010101" charset="-122"/>
                <a:sym typeface="+mn-ea"/>
              </a:rPr>
              <a:t>LLM</a:t>
            </a:r>
            <a:r>
              <a:rPr lang="zh-CN" altLang="en-US" sz="2000" dirty="0">
                <a:solidFill>
                  <a:srgbClr val="000000"/>
                </a:solidFill>
                <a:latin typeface="Times New Roman" panose="02020603050405020304"/>
                <a:ea typeface="华文中宋" panose="02010600040101010101" charset="-122"/>
                <a:sym typeface="+mn-ea"/>
              </a:rPr>
              <a:t>理解源代码和低可读</a:t>
            </a:r>
            <a:r>
              <a:rPr lang="en-US" altLang="zh-CN" sz="2000" dirty="0">
                <a:solidFill>
                  <a:srgbClr val="000000"/>
                </a:solidFill>
                <a:latin typeface="Times New Roman" panose="02020603050405020304"/>
                <a:ea typeface="华文中宋" panose="02010600040101010101" charset="-122"/>
                <a:sym typeface="+mn-ea"/>
              </a:rPr>
              <a:t>/</a:t>
            </a:r>
            <a:r>
              <a:rPr lang="zh-CN" altLang="en-US" sz="2000" dirty="0">
                <a:solidFill>
                  <a:srgbClr val="000000"/>
                </a:solidFill>
                <a:latin typeface="Times New Roman" panose="02020603050405020304"/>
                <a:ea typeface="华文中宋" panose="02010600040101010101" charset="-122"/>
                <a:sym typeface="+mn-ea"/>
              </a:rPr>
              <a:t>混淆代码的能力存疑</a:t>
            </a:r>
            <a:endParaRPr lang="en-US" altLang="zh-CN" sz="2000" dirty="0">
              <a:solidFill>
                <a:srgbClr val="000000"/>
              </a:solidFill>
              <a:latin typeface="Times New Roman" panose="02020603050405020304"/>
              <a:ea typeface="华文中宋" panose="02010600040101010101" charset="-122"/>
            </a:endParaRPr>
          </a:p>
          <a:p>
            <a:pPr marL="285750" lvl="0" indent="-285750" defTabSz="457200">
              <a:spcBef>
                <a:spcPts val="0"/>
              </a:spcBef>
              <a:spcAft>
                <a:spcPts val="0"/>
              </a:spcAft>
              <a:buClrTx/>
              <a:buSzTx/>
              <a:buFont typeface="Arial" panose="020B0604020202020204" pitchFamily="34" charset="0"/>
              <a:buChar char="•"/>
              <a:defRPr/>
            </a:pPr>
            <a:r>
              <a:rPr lang="zh-CN" altLang="en-US" sz="2000" noProof="0" dirty="0">
                <a:ln>
                  <a:noFill/>
                </a:ln>
                <a:solidFill>
                  <a:srgbClr val="000000"/>
                </a:solidFill>
                <a:effectLst/>
                <a:uLnTx/>
                <a:uFillTx/>
                <a:latin typeface="Times New Roman" panose="02020603050405020304"/>
                <a:ea typeface="华文中宋" panose="02010600040101010101" charset="-122"/>
                <a:sym typeface="+mn-ea"/>
              </a:rPr>
              <a:t>安全相关实践中</a:t>
            </a:r>
            <a:r>
              <a:rPr lang="en-US" altLang="zh-CN" sz="2000" dirty="0">
                <a:solidFill>
                  <a:srgbClr val="000000"/>
                </a:solidFill>
                <a:latin typeface="Times New Roman" panose="02020603050405020304"/>
                <a:ea typeface="华文中宋" panose="02010600040101010101" charset="-122"/>
                <a:sym typeface="+mn-ea"/>
              </a:rPr>
              <a:t>LLM</a:t>
            </a:r>
            <a:r>
              <a:rPr lang="zh-CN" altLang="en-US" sz="2000" dirty="0">
                <a:solidFill>
                  <a:srgbClr val="000000"/>
                </a:solidFill>
                <a:latin typeface="Times New Roman" panose="02020603050405020304"/>
                <a:ea typeface="华文中宋" panose="02010600040101010101" charset="-122"/>
                <a:sym typeface="+mn-ea"/>
              </a:rPr>
              <a:t>能否用于防御型分析任务</a:t>
            </a:r>
            <a:endParaRPr kumimoji="0" lang="en-US" altLang="zh-CN" sz="2000" b="0" i="0" u="none" strike="noStrike" kern="1200" cap="none" spc="0" normalizeH="0" baseline="0" noProof="0" dirty="0">
              <a:ln>
                <a:noFill/>
              </a:ln>
              <a:solidFill>
                <a:srgbClr val="000000"/>
              </a:solidFill>
              <a:effectLst/>
              <a:uLnTx/>
              <a:uFillTx/>
              <a:latin typeface="Times New Roman" panose="02020603050405020304"/>
              <a:ea typeface="华文中宋" panose="02010600040101010101" charset="-122"/>
              <a:cs typeface="+mn-cs"/>
            </a:endParaRPr>
          </a:p>
          <a:p>
            <a:pPr marL="0" indent="0" defTabSz="457200">
              <a:lnSpc>
                <a:spcPct val="130000"/>
              </a:lnSpc>
              <a:buNone/>
            </a:pPr>
            <a:r>
              <a:rPr lang="zh-CN" altLang="en-US" sz="2000" b="1">
                <a:solidFill>
                  <a:srgbClr val="5C307D"/>
                </a:solidFill>
                <a:sym typeface="+mn-ea"/>
              </a:rPr>
              <a:t>核心思路：</a:t>
            </a:r>
            <a:endParaRPr lang="en-US" altLang="zh-CN" sz="2000" b="1">
              <a:solidFill>
                <a:srgbClr val="5C307D"/>
              </a:solidFill>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defRPr/>
            </a:pPr>
            <a:r>
              <a:rPr lang="zh-CN" altLang="en-US" sz="2000" noProof="0" dirty="0">
                <a:ln>
                  <a:noFill/>
                </a:ln>
                <a:solidFill>
                  <a:srgbClr val="000000"/>
                </a:solidFill>
                <a:effectLst/>
                <a:uLnTx/>
                <a:uFillTx/>
                <a:latin typeface="Times New Roman" panose="02020603050405020304"/>
                <a:ea typeface="华文中宋" panose="02010600040101010101" charset="-122"/>
                <a:sym typeface="+mn-ea"/>
              </a:rPr>
              <a:t>先构建“真实世界代码 </a:t>
            </a:r>
            <a:r>
              <a:rPr lang="en-US" altLang="zh-CN" sz="2000" noProof="0" dirty="0">
                <a:ln>
                  <a:noFill/>
                </a:ln>
                <a:solidFill>
                  <a:srgbClr val="000000"/>
                </a:solidFill>
                <a:effectLst/>
                <a:uLnTx/>
                <a:uFillTx/>
                <a:latin typeface="Times New Roman" panose="02020603050405020304"/>
                <a:ea typeface="华文中宋" panose="02010600040101010101" charset="-122"/>
                <a:sym typeface="+mn-ea"/>
              </a:rPr>
              <a:t>+ </a:t>
            </a:r>
            <a:r>
              <a:rPr lang="zh-CN" altLang="en-US" sz="2000" noProof="0" dirty="0">
                <a:ln>
                  <a:noFill/>
                </a:ln>
                <a:solidFill>
                  <a:srgbClr val="000000"/>
                </a:solidFill>
                <a:effectLst/>
                <a:uLnTx/>
                <a:uFillTx/>
                <a:latin typeface="Times New Roman" panose="02020603050405020304"/>
                <a:ea typeface="华文中宋" panose="02010600040101010101" charset="-122"/>
                <a:sym typeface="+mn-ea"/>
              </a:rPr>
              <a:t>混淆版本”的对照数据集，保证评测覆盖真实难点</a:t>
            </a:r>
            <a:endParaRPr kumimoji="0" lang="en-US" altLang="zh-CN" sz="2000" b="0" i="0" u="none" strike="noStrike" kern="1200" cap="none" spc="0" normalizeH="0" baseline="0" noProof="0" dirty="0">
              <a:ln>
                <a:noFill/>
              </a:ln>
              <a:solidFill>
                <a:srgbClr val="000000"/>
              </a:solidFill>
              <a:effectLst/>
              <a:uLnTx/>
              <a:uFillTx/>
              <a:latin typeface="Times New Roman" panose="02020603050405020304"/>
              <a:ea typeface="华文中宋" panose="02010600040101010101" charset="-122"/>
              <a:cs typeface="+mn-cs"/>
            </a:endParaRPr>
          </a:p>
          <a:p>
            <a:pPr marL="285750" lvl="0" indent="-285750" defTabSz="457200">
              <a:spcBef>
                <a:spcPts val="0"/>
              </a:spcBef>
              <a:spcAft>
                <a:spcPts val="0"/>
              </a:spcAft>
              <a:buClrTx/>
              <a:buSzTx/>
              <a:buFont typeface="Arial" panose="020B0604020202020204" pitchFamily="34" charset="0"/>
              <a:buChar char="•"/>
              <a:defRPr/>
            </a:pPr>
            <a:r>
              <a:rPr lang="zh-CN" altLang="en-US" sz="2000" dirty="0">
                <a:solidFill>
                  <a:srgbClr val="000000"/>
                </a:solidFill>
                <a:sym typeface="+mn-ea"/>
              </a:rPr>
              <a:t>统一提示词让模型做代码解释，保证可比性</a:t>
            </a:r>
            <a:endParaRPr lang="en-US" altLang="zh-CN" sz="2000" dirty="0">
              <a:solidFill>
                <a:srgbClr val="000000"/>
              </a:solidFill>
            </a:endParaRPr>
          </a:p>
          <a:p>
            <a:pPr marL="285750" lvl="0" indent="-285750" defTabSz="457200">
              <a:spcBef>
                <a:spcPts val="0"/>
              </a:spcBef>
              <a:spcAft>
                <a:spcPts val="0"/>
              </a:spcAft>
              <a:buClrTx/>
              <a:buSzTx/>
              <a:buFont typeface="Arial" panose="020B0604020202020204" pitchFamily="34" charset="0"/>
              <a:buChar char="•"/>
              <a:defRPr/>
            </a:pPr>
            <a:r>
              <a:rPr lang="zh-CN" altLang="en-US" sz="2000" dirty="0">
                <a:solidFill>
                  <a:srgbClr val="000000"/>
                </a:solidFill>
                <a:sym typeface="+mn-ea"/>
              </a:rPr>
              <a:t>用“人工核验 </a:t>
            </a:r>
            <a:r>
              <a:rPr lang="en-US" altLang="zh-CN" sz="2000" dirty="0">
                <a:solidFill>
                  <a:srgbClr val="000000"/>
                </a:solidFill>
                <a:sym typeface="+mn-ea"/>
              </a:rPr>
              <a:t>+ </a:t>
            </a:r>
            <a:r>
              <a:rPr lang="zh-CN" altLang="en-US" sz="2000" dirty="0">
                <a:solidFill>
                  <a:srgbClr val="000000"/>
                </a:solidFill>
                <a:sym typeface="+mn-ea"/>
              </a:rPr>
              <a:t>交叉检查”建立可信 </a:t>
            </a:r>
            <a:r>
              <a:rPr lang="en-US" altLang="zh-CN" sz="2000" dirty="0">
                <a:solidFill>
                  <a:srgbClr val="000000"/>
                </a:solidFill>
                <a:sym typeface="+mn-ea"/>
              </a:rPr>
              <a:t>ground truth</a:t>
            </a:r>
            <a:r>
              <a:rPr lang="zh-CN" altLang="en-US" sz="2000" dirty="0">
                <a:solidFill>
                  <a:srgbClr val="000000"/>
                </a:solidFill>
                <a:sym typeface="+mn-ea"/>
              </a:rPr>
              <a:t>，再比较不同模型</a:t>
            </a:r>
            <a:endParaRPr lang="en-US" altLang="zh-CN" sz="2000" dirty="0">
              <a:solidFill>
                <a:srgbClr val="000000"/>
              </a:solidFill>
            </a:endParaRPr>
          </a:p>
          <a:p>
            <a:pPr marL="285750" lvl="0" indent="-285750" defTabSz="457200">
              <a:spcBef>
                <a:spcPts val="0"/>
              </a:spcBef>
              <a:spcAft>
                <a:spcPts val="0"/>
              </a:spcAft>
              <a:buClrTx/>
              <a:buSzTx/>
              <a:buFont typeface="Arial" panose="020B0604020202020204" pitchFamily="34" charset="0"/>
              <a:buChar char="•"/>
              <a:defRPr/>
            </a:pPr>
            <a:r>
              <a:rPr lang="zh-CN" altLang="en-US" sz="2000" dirty="0">
                <a:solidFill>
                  <a:srgbClr val="000000"/>
                </a:solidFill>
                <a:latin typeface="Times New Roman" panose="02020603050405020304"/>
                <a:ea typeface="华文中宋" panose="02010600040101010101" charset="-122"/>
                <a:sym typeface="+mn-ea"/>
              </a:rPr>
              <a:t>用多种相似度</a:t>
            </a:r>
            <a:r>
              <a:rPr lang="en-US" altLang="zh-CN" sz="2000" dirty="0">
                <a:solidFill>
                  <a:srgbClr val="000000"/>
                </a:solidFill>
                <a:latin typeface="Times New Roman" panose="02020603050405020304"/>
                <a:ea typeface="华文中宋" panose="02010600040101010101" charset="-122"/>
                <a:sym typeface="+mn-ea"/>
              </a:rPr>
              <a:t>/</a:t>
            </a:r>
            <a:r>
              <a:rPr lang="zh-CN" altLang="en-US" sz="2000" dirty="0">
                <a:solidFill>
                  <a:srgbClr val="000000"/>
                </a:solidFill>
                <a:latin typeface="Times New Roman" panose="02020603050405020304"/>
                <a:ea typeface="华文中宋" panose="02010600040101010101" charset="-122"/>
                <a:sym typeface="+mn-ea"/>
              </a:rPr>
              <a:t>一致性指标（含 </a:t>
            </a:r>
            <a:r>
              <a:rPr lang="en-US" altLang="zh-CN" sz="2000" dirty="0">
                <a:solidFill>
                  <a:srgbClr val="000000"/>
                </a:solidFill>
                <a:latin typeface="Times New Roman" panose="02020603050405020304"/>
                <a:ea typeface="华文中宋" panose="02010600040101010101" charset="-122"/>
                <a:sym typeface="+mn-ea"/>
              </a:rPr>
              <a:t>LLM-as-judge</a:t>
            </a:r>
            <a:r>
              <a:rPr lang="zh-CN" altLang="en-US" sz="2000" dirty="0">
                <a:solidFill>
                  <a:srgbClr val="000000"/>
                </a:solidFill>
                <a:latin typeface="Times New Roman" panose="02020603050405020304"/>
                <a:ea typeface="华文中宋" panose="02010600040101010101" charset="-122"/>
                <a:sym typeface="+mn-ea"/>
              </a:rPr>
              <a:t>）从不同角度暴露失败模式</a:t>
            </a:r>
            <a:endParaRPr lang="zh-CN" altLang="en-US" sz="2000" dirty="0">
              <a:solidFill>
                <a:srgbClr val="000000"/>
              </a:solidFill>
              <a:latin typeface="Times New Roman" panose="02020603050405020304"/>
              <a:ea typeface="华文中宋" panose="02010600040101010101" charset="-122"/>
              <a:sym typeface="+mn-e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835025" y="1710690"/>
            <a:ext cx="7372985" cy="575945"/>
          </a:xfrm>
        </p:spPr>
        <p:txBody>
          <a:bodyPr>
            <a:noAutofit/>
          </a:bodyPr>
          <a:lstStyle/>
          <a:p>
            <a:pPr marL="0" indent="0" defTabSz="457200">
              <a:lnSpc>
                <a:spcPct val="110000"/>
              </a:lnSpc>
              <a:buNone/>
            </a:pPr>
            <a:r>
              <a:rPr lang="zh-CN" altLang="en-US" sz="2200" b="1">
                <a:solidFill>
                  <a:srgbClr val="5C307D"/>
                </a:solidFill>
                <a:sym typeface="+mn-ea"/>
              </a:rPr>
              <a:t>评估</a:t>
            </a:r>
            <a:r>
              <a:rPr lang="en-US" altLang="zh-CN" sz="2200" b="1">
                <a:solidFill>
                  <a:srgbClr val="5C307D"/>
                </a:solidFill>
                <a:sym typeface="+mn-ea"/>
              </a:rPr>
              <a:t>LLM</a:t>
            </a:r>
            <a:r>
              <a:rPr lang="zh-CN" altLang="en-US" sz="2200" b="1">
                <a:solidFill>
                  <a:srgbClr val="5C307D"/>
                </a:solidFill>
                <a:sym typeface="+mn-ea"/>
              </a:rPr>
              <a:t>在细粒度 </a:t>
            </a:r>
            <a:r>
              <a:rPr lang="en-US" altLang="zh-CN" sz="2200" b="1">
                <a:solidFill>
                  <a:srgbClr val="5C307D"/>
                </a:solidFill>
                <a:sym typeface="+mn-ea"/>
              </a:rPr>
              <a:t>Android </a:t>
            </a:r>
            <a:r>
              <a:rPr lang="zh-CN" altLang="en-US" sz="2200" b="1">
                <a:solidFill>
                  <a:srgbClr val="5C307D"/>
                </a:solidFill>
                <a:sym typeface="+mn-ea"/>
              </a:rPr>
              <a:t>恶意软件行为审计中的能力</a:t>
            </a:r>
            <a:endParaRPr lang="en-US" altLang="zh-CN" sz="2200" b="1">
              <a:solidFill>
                <a:srgbClr val="5C307D"/>
              </a:solidFill>
            </a:endParaRPr>
          </a:p>
          <a:p>
            <a:pPr marL="0" indent="0" defTabSz="457200">
              <a:lnSpc>
                <a:spcPct val="110000"/>
              </a:lnSpc>
              <a:buNone/>
            </a:pPr>
            <a:endParaRPr lang="zh-CN" altLang="en-US" sz="2200">
              <a:solidFill>
                <a:srgbClr val="3D3D3D"/>
              </a:solidFill>
              <a:latin typeface="Times New Roman" panose="02020603050405020304"/>
              <a:ea typeface="华文中宋" panose="02010600040101010101" charset="-122"/>
            </a:endParaRPr>
          </a:p>
        </p:txBody>
      </p:sp>
      <p:sp>
        <p:nvSpPr>
          <p:cNvPr id="3" name="标题 2"/>
          <p:cNvSpPr>
            <a:spLocks noGrp="1"/>
          </p:cNvSpPr>
          <p:nvPr>
            <p:ph type="title"/>
          </p:nvPr>
        </p:nvSpPr>
        <p:spPr/>
        <p:txBody>
          <a:bodyPr/>
          <a:lstStyle/>
          <a:p>
            <a:r>
              <a:rPr kumimoji="1" lang="en-US" altLang="zh-CN" cap="none"/>
              <a:t>Beyond Classification: Evaluating LLMs for Fine-Grained Automatic Malware Behavior Auditing</a:t>
            </a:r>
            <a:endParaRPr kumimoji="1" lang="zh-CN" altLang="en-US" cap="none"/>
          </a:p>
        </p:txBody>
      </p:sp>
      <p:pic>
        <p:nvPicPr>
          <p:cNvPr id="6" name="图片 5" descr="图示&#10;&#10;AI 生成的内容可能不正确。"/>
          <p:cNvPicPr>
            <a:picLocks noChangeAspect="1"/>
          </p:cNvPicPr>
          <p:nvPr/>
        </p:nvPicPr>
        <p:blipFill>
          <a:blip r:embed="rId1"/>
          <a:stretch>
            <a:fillRect/>
          </a:stretch>
        </p:blipFill>
        <p:spPr>
          <a:xfrm>
            <a:off x="5026660" y="2136140"/>
            <a:ext cx="7103745" cy="3484880"/>
          </a:xfrm>
          <a:prstGeom prst="rect">
            <a:avLst/>
          </a:prstGeom>
        </p:spPr>
      </p:pic>
      <p:sp>
        <p:nvSpPr>
          <p:cNvPr id="7" name="文本框 7"/>
          <p:cNvSpPr txBox="1"/>
          <p:nvPr/>
        </p:nvSpPr>
        <p:spPr>
          <a:xfrm>
            <a:off x="7404886" y="5704712"/>
            <a:ext cx="2175964" cy="367187"/>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err="1"/>
              <a:t>MalEval</a:t>
            </a:r>
            <a:r>
              <a:rPr lang="zh-CN" altLang="en-US"/>
              <a:t>的评估流程</a:t>
            </a:r>
            <a:endParaRPr lang="zh-CN" altLang="en-US"/>
          </a:p>
        </p:txBody>
      </p:sp>
      <p:sp>
        <p:nvSpPr>
          <p:cNvPr id="5" name="文本框 4"/>
          <p:cNvSpPr txBox="1"/>
          <p:nvPr/>
        </p:nvSpPr>
        <p:spPr>
          <a:xfrm>
            <a:off x="835025" y="2194560"/>
            <a:ext cx="4191000" cy="2694305"/>
          </a:xfrm>
          <a:prstGeom prst="rect">
            <a:avLst/>
          </a:prstGeom>
          <a:noFill/>
        </p:spPr>
        <p:txBody>
          <a:bodyPr wrap="square" rtlCol="0" anchor="t">
            <a:spAutoFit/>
          </a:bodyPr>
          <a:p>
            <a:pPr marL="0" indent="0" defTabSz="457200">
              <a:lnSpc>
                <a:spcPct val="110000"/>
              </a:lnSpc>
              <a:buNone/>
            </a:pPr>
            <a:r>
              <a:rPr lang="zh-CN" altLang="en-US" sz="2200" b="1">
                <a:solidFill>
                  <a:srgbClr val="5C307D"/>
                </a:solidFill>
                <a:sym typeface="+mn-ea"/>
              </a:rPr>
              <a:t>核心挑战：</a:t>
            </a:r>
            <a:endParaRPr lang="en-US" altLang="zh-CN" sz="2200" b="1">
              <a:solidFill>
                <a:srgbClr val="5C307D"/>
              </a:solidFill>
            </a:endParaRPr>
          </a:p>
          <a:p>
            <a:pPr marL="285750" marR="0" lvl="0" indent="-285750" algn="l" defTabSz="457200" rtl="0" eaLnBrk="1" fontAlgn="auto" latinLnBrk="0" hangingPunct="1">
              <a:lnSpc>
                <a:spcPct val="110000"/>
              </a:lnSpc>
              <a:spcBef>
                <a:spcPts val="0"/>
              </a:spcBef>
              <a:spcAft>
                <a:spcPts val="0"/>
              </a:spcAft>
              <a:buClrTx/>
              <a:buSzTx/>
              <a:buFont typeface="Arial" panose="020B0604020202020204" pitchFamily="34" charset="0"/>
              <a:buChar char="•"/>
              <a:defRPr/>
            </a:pPr>
            <a:r>
              <a:rPr lang="zh-CN" altLang="en-US" sz="2200">
                <a:solidFill>
                  <a:srgbClr val="3D3D3D"/>
                </a:solidFill>
                <a:latin typeface="Times New Roman" panose="02020603050405020304"/>
                <a:ea typeface="华文中宋" panose="02010600040101010101" charset="-122"/>
                <a:sym typeface="+mn-ea"/>
              </a:rPr>
              <a:t>链路端到端报告很难验证</a:t>
            </a:r>
            <a:endParaRPr lang="zh-CN" altLang="en-US" sz="2200">
              <a:solidFill>
                <a:srgbClr val="3D3D3D"/>
              </a:solidFill>
              <a:latin typeface="Times New Roman" panose="02020603050405020304"/>
              <a:ea typeface="华文中宋" panose="02010600040101010101" charset="-122"/>
              <a:sym typeface="+mn-ea"/>
            </a:endParaRPr>
          </a:p>
          <a:p>
            <a:pPr marL="285750" marR="0" lvl="0" indent="-285750" algn="l" defTabSz="457200" rtl="0" eaLnBrk="1" fontAlgn="auto" latinLnBrk="0" hangingPunct="1">
              <a:lnSpc>
                <a:spcPct val="110000"/>
              </a:lnSpc>
              <a:spcBef>
                <a:spcPts val="0"/>
              </a:spcBef>
              <a:spcAft>
                <a:spcPts val="0"/>
              </a:spcAft>
              <a:buClrTx/>
              <a:buSzTx/>
              <a:buFont typeface="Arial" panose="020B0604020202020204" pitchFamily="34" charset="0"/>
              <a:buChar char="•"/>
              <a:defRPr/>
            </a:pPr>
            <a:r>
              <a:rPr lang="zh-CN" altLang="en-US" sz="2200">
                <a:solidFill>
                  <a:srgbClr val="3D3D3D"/>
                </a:solidFill>
                <a:latin typeface="Times New Roman" panose="02020603050405020304"/>
                <a:ea typeface="华文中宋" panose="02010600040101010101" charset="-122"/>
                <a:sym typeface="+mn-ea"/>
              </a:rPr>
              <a:t>评测依赖模型生成真值，缺乏可信</a:t>
            </a:r>
            <a:r>
              <a:rPr lang="en-US" altLang="zh-CN" sz="2200">
                <a:solidFill>
                  <a:srgbClr val="3D3D3D"/>
                </a:solidFill>
                <a:latin typeface="Times New Roman" panose="02020603050405020304"/>
                <a:ea typeface="华文中宋" panose="02010600040101010101" charset="-122"/>
                <a:sym typeface="+mn-ea"/>
              </a:rPr>
              <a:t> ground truth</a:t>
            </a:r>
            <a:endParaRPr lang="en-US" altLang="zh-CN" sz="2200">
              <a:solidFill>
                <a:srgbClr val="3D3D3D"/>
              </a:solidFill>
              <a:latin typeface="Times New Roman" panose="02020603050405020304"/>
              <a:ea typeface="华文中宋" panose="02010600040101010101" charset="-122"/>
            </a:endParaRPr>
          </a:p>
          <a:p>
            <a:pPr marL="285750" marR="0" lvl="0" indent="-285750" algn="l" defTabSz="457200" rtl="0" eaLnBrk="1" fontAlgn="auto" latinLnBrk="0" hangingPunct="1">
              <a:lnSpc>
                <a:spcPct val="110000"/>
              </a:lnSpc>
              <a:spcBef>
                <a:spcPts val="0"/>
              </a:spcBef>
              <a:spcAft>
                <a:spcPts val="0"/>
              </a:spcAft>
              <a:buClrTx/>
              <a:buSzTx/>
              <a:buFont typeface="Arial" panose="020B0604020202020204" pitchFamily="34" charset="0"/>
              <a:buChar char="•"/>
              <a:defRPr/>
            </a:pPr>
            <a:r>
              <a:rPr lang="zh-CN" altLang="en-US" sz="2200">
                <a:solidFill>
                  <a:srgbClr val="3D3D3D"/>
                </a:solidFill>
                <a:latin typeface="Times New Roman" panose="02020603050405020304"/>
                <a:ea typeface="华文中宋" panose="02010600040101010101" charset="-122"/>
                <a:sym typeface="+mn-ea"/>
              </a:rPr>
              <a:t>大型</a:t>
            </a:r>
            <a:r>
              <a:rPr lang="en-US" altLang="zh-CN" sz="2200">
                <a:solidFill>
                  <a:srgbClr val="3D3D3D"/>
                </a:solidFill>
                <a:latin typeface="Times New Roman" panose="02020603050405020304"/>
                <a:ea typeface="华文中宋" panose="02010600040101010101" charset="-122"/>
                <a:sym typeface="+mn-ea"/>
              </a:rPr>
              <a:t> APK </a:t>
            </a:r>
            <a:r>
              <a:rPr lang="zh-CN" altLang="en-US" sz="2200">
                <a:solidFill>
                  <a:srgbClr val="3D3D3D"/>
                </a:solidFill>
                <a:latin typeface="Times New Roman" panose="02020603050405020304"/>
                <a:ea typeface="华文中宋" panose="02010600040101010101" charset="-122"/>
                <a:sym typeface="+mn-ea"/>
              </a:rPr>
              <a:t>噪声高、成本大、信息冗余</a:t>
            </a:r>
            <a:endParaRPr lang="zh-CN" altLang="en-US" sz="2200">
              <a:solidFill>
                <a:srgbClr val="3D3D3D"/>
              </a:solidFill>
              <a:latin typeface="Times New Roman" panose="02020603050405020304"/>
              <a:ea typeface="华文中宋" panose="02010600040101010101" charset="-122"/>
            </a:endParaRPr>
          </a:p>
          <a:p>
            <a:pPr marL="285750" marR="0" lvl="0" indent="-285750" algn="l" defTabSz="457200" rtl="0" eaLnBrk="1" fontAlgn="auto" latinLnBrk="0" hangingPunct="1">
              <a:lnSpc>
                <a:spcPct val="110000"/>
              </a:lnSpc>
              <a:spcBef>
                <a:spcPts val="0"/>
              </a:spcBef>
              <a:spcAft>
                <a:spcPts val="0"/>
              </a:spcAft>
              <a:buClrTx/>
              <a:buSzTx/>
              <a:buFont typeface="Arial" panose="020B0604020202020204" pitchFamily="34" charset="0"/>
              <a:buChar char="•"/>
              <a:defRPr/>
            </a:pPr>
            <a:r>
              <a:rPr lang="zh-CN" altLang="en-US" sz="2200">
                <a:solidFill>
                  <a:srgbClr val="3D3D3D"/>
                </a:solidFill>
                <a:latin typeface="Times New Roman" panose="02020603050405020304"/>
                <a:ea typeface="华文中宋" panose="02010600040101010101" charset="-122"/>
                <a:sym typeface="+mn-ea"/>
              </a:rPr>
              <a:t>证据归因可靠性无法量化</a:t>
            </a:r>
            <a:endParaRPr lang="zh-CN" altLang="en-US" sz="2200">
              <a:solidFill>
                <a:srgbClr val="3D3D3D"/>
              </a:solidFill>
              <a:latin typeface="Times New Roman" panose="02020603050405020304"/>
              <a:ea typeface="华文中宋" panose="02010600040101010101" charset="-122"/>
            </a:endParaRPr>
          </a:p>
        </p:txBody>
      </p:sp>
      <p:sp>
        <p:nvSpPr>
          <p:cNvPr id="8" name="文本框 7"/>
          <p:cNvSpPr txBox="1"/>
          <p:nvPr/>
        </p:nvSpPr>
        <p:spPr>
          <a:xfrm>
            <a:off x="835025" y="4817745"/>
            <a:ext cx="5884545" cy="1950720"/>
          </a:xfrm>
          <a:prstGeom prst="rect">
            <a:avLst/>
          </a:prstGeom>
          <a:noFill/>
        </p:spPr>
        <p:txBody>
          <a:bodyPr wrap="square" rtlCol="0" anchor="t">
            <a:spAutoFit/>
          </a:bodyPr>
          <a:p>
            <a:pPr marL="0" indent="0" defTabSz="457200">
              <a:lnSpc>
                <a:spcPct val="110000"/>
              </a:lnSpc>
              <a:buNone/>
            </a:pPr>
            <a:r>
              <a:rPr lang="zh-CN" altLang="en-US" sz="2200" b="1">
                <a:solidFill>
                  <a:srgbClr val="5C307D"/>
                </a:solidFill>
                <a:sym typeface="+mn-ea"/>
              </a:rPr>
              <a:t>核心思路：</a:t>
            </a:r>
            <a:endParaRPr lang="en-US" altLang="zh-CN" sz="2200" b="1">
              <a:solidFill>
                <a:srgbClr val="5C307D"/>
              </a:solidFill>
            </a:endParaRPr>
          </a:p>
          <a:p>
            <a:pPr marL="285750" marR="0" lvl="0" indent="-285750" algn="l" defTabSz="457200" rtl="0" eaLnBrk="1" fontAlgn="auto" latinLnBrk="0" hangingPunct="1">
              <a:lnSpc>
                <a:spcPct val="110000"/>
              </a:lnSpc>
              <a:spcBef>
                <a:spcPts val="0"/>
              </a:spcBef>
              <a:spcAft>
                <a:spcPts val="0"/>
              </a:spcAft>
              <a:buClrTx/>
              <a:buSzTx/>
              <a:buFont typeface="Arial" panose="020B0604020202020204" pitchFamily="34" charset="0"/>
              <a:buChar char="•"/>
              <a:defRPr/>
            </a:pPr>
            <a:r>
              <a:rPr lang="zh-CN" altLang="en-US" sz="2200">
                <a:sym typeface="+mn-ea"/>
              </a:rPr>
              <a:t>聚焦关键函数，提升审计效率。</a:t>
            </a:r>
            <a:endParaRPr lang="en-US" altLang="zh-CN" sz="2200"/>
          </a:p>
          <a:p>
            <a:pPr marL="285750" marR="0" lvl="0" indent="-285750" algn="l" defTabSz="457200" rtl="0" eaLnBrk="1" fontAlgn="auto" latinLnBrk="0" hangingPunct="1">
              <a:lnSpc>
                <a:spcPct val="110000"/>
              </a:lnSpc>
              <a:spcBef>
                <a:spcPts val="0"/>
              </a:spcBef>
              <a:spcAft>
                <a:spcPts val="0"/>
              </a:spcAft>
              <a:buClrTx/>
              <a:buSzTx/>
              <a:buFont typeface="Arial" panose="020B0604020202020204" pitchFamily="34" charset="0"/>
              <a:buChar char="•"/>
              <a:defRPr/>
            </a:pPr>
            <a:r>
              <a:rPr lang="zh-CN" altLang="en-US" sz="2200">
                <a:sym typeface="+mn-ea"/>
              </a:rPr>
              <a:t>明确每个恶意行为的判定来源。</a:t>
            </a:r>
            <a:endParaRPr lang="en-US" altLang="zh-CN" sz="2200"/>
          </a:p>
          <a:p>
            <a:pPr marL="285750" marR="0" lvl="0" indent="-285750" algn="l" defTabSz="457200" rtl="0" eaLnBrk="1" fontAlgn="auto" latinLnBrk="0" hangingPunct="1">
              <a:lnSpc>
                <a:spcPct val="110000"/>
              </a:lnSpc>
              <a:spcBef>
                <a:spcPts val="0"/>
              </a:spcBef>
              <a:spcAft>
                <a:spcPts val="0"/>
              </a:spcAft>
              <a:buClrTx/>
              <a:buSzTx/>
              <a:buFont typeface="Arial" panose="020B0604020202020204" pitchFamily="34" charset="0"/>
              <a:buChar char="•"/>
              <a:defRPr/>
            </a:pPr>
            <a:r>
              <a:rPr lang="zh-CN" altLang="en-US" sz="2200">
                <a:sym typeface="+mn-ea"/>
              </a:rPr>
              <a:t>全面、结构化呈现恶意行为逻辑。</a:t>
            </a:r>
            <a:endParaRPr lang="en-US" altLang="zh-CN" sz="2200"/>
          </a:p>
          <a:p>
            <a:pPr marL="285750" marR="0" lvl="0" indent="-285750" algn="l" defTabSz="457200" rtl="0" eaLnBrk="1" fontAlgn="auto" latinLnBrk="0" hangingPunct="1">
              <a:lnSpc>
                <a:spcPct val="110000"/>
              </a:lnSpc>
              <a:spcBef>
                <a:spcPts val="0"/>
              </a:spcBef>
              <a:spcAft>
                <a:spcPts val="0"/>
              </a:spcAft>
              <a:buClrTx/>
              <a:buSzTx/>
              <a:buFont typeface="Arial" panose="020B0604020202020204" pitchFamily="34" charset="0"/>
              <a:buChar char="•"/>
              <a:defRPr/>
            </a:pPr>
            <a:r>
              <a:rPr lang="zh-CN" altLang="en-US" sz="2200">
                <a:sym typeface="+mn-ea"/>
              </a:rPr>
              <a:t>引导模型逐步推理，增强分析的可解释性。</a:t>
            </a:r>
            <a:endParaRPr lang="zh-CN" altLang="en-US" sz="2200">
              <a:solidFill>
                <a:srgbClr val="3D3D3D"/>
              </a:solidFill>
              <a:latin typeface="Times New Roman" panose="02020603050405020304"/>
              <a:ea typeface="华文中宋" panose="02010600040101010101"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err="1"/>
              <a:t>DeGPT</a:t>
            </a:r>
            <a:r>
              <a:rPr lang="en-US" altLang="zh-CN"/>
              <a:t>: Optimizing </a:t>
            </a:r>
            <a:r>
              <a:rPr lang="en-US" altLang="zh-CN" err="1"/>
              <a:t>Decompiler</a:t>
            </a:r>
            <a:r>
              <a:rPr lang="en-US" altLang="zh-CN"/>
              <a:t> Output with LLM</a:t>
            </a:r>
            <a:endParaRPr lang="zh-CN" altLang="en-US"/>
          </a:p>
        </p:txBody>
      </p:sp>
      <p:pic>
        <p:nvPicPr>
          <p:cNvPr id="4" name="图片 3" descr="图示&#10;&#10;AI 生成的内容可能不正确。"/>
          <p:cNvPicPr>
            <a:picLocks noChangeAspect="1"/>
          </p:cNvPicPr>
          <p:nvPr/>
        </p:nvPicPr>
        <p:blipFill>
          <a:blip r:embed="rId1"/>
          <a:stretch>
            <a:fillRect/>
          </a:stretch>
        </p:blipFill>
        <p:spPr>
          <a:xfrm>
            <a:off x="5135153" y="2589524"/>
            <a:ext cx="7056847" cy="2147576"/>
          </a:xfrm>
          <a:prstGeom prst="rect">
            <a:avLst/>
          </a:prstGeom>
        </p:spPr>
      </p:pic>
      <p:sp>
        <p:nvSpPr>
          <p:cNvPr id="5" name="文本框 4"/>
          <p:cNvSpPr txBox="1"/>
          <p:nvPr/>
        </p:nvSpPr>
        <p:spPr>
          <a:xfrm>
            <a:off x="7817686" y="4737100"/>
            <a:ext cx="1691780"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err="1">
                <a:ln>
                  <a:noFill/>
                </a:ln>
                <a:solidFill>
                  <a:srgbClr val="000000"/>
                </a:solidFill>
                <a:effectLst/>
                <a:uLnTx/>
                <a:uFillTx/>
                <a:latin typeface="Times New Roman" panose="02020603050405020304"/>
                <a:ea typeface="华文中宋" panose="02010600040101010101" charset="-122"/>
                <a:cs typeface="+mn-cs"/>
              </a:rPr>
              <a:t>DeGPT</a:t>
            </a:r>
            <a:r>
              <a:rPr kumimoji="0" lang="en-US" altLang="zh-CN" sz="1800" b="0" i="0" u="none" strike="noStrike" kern="1200" cap="none" spc="0" normalizeH="0" baseline="0" noProof="0">
                <a:ln>
                  <a:noFill/>
                </a:ln>
                <a:solidFill>
                  <a:srgbClr val="000000"/>
                </a:solidFill>
                <a:effectLst/>
                <a:uLnTx/>
                <a:uFillTx/>
                <a:latin typeface="Times New Roman" panose="02020603050405020304"/>
                <a:ea typeface="华文中宋" panose="02010600040101010101" charset="-122"/>
                <a:cs typeface="+mn-cs"/>
              </a:rPr>
              <a:t> </a:t>
            </a:r>
            <a:r>
              <a:rPr kumimoji="0" lang="zh-CN" altLang="en-US" sz="1800" b="0" i="0" u="none" strike="noStrike" kern="1200" cap="none" spc="0" normalizeH="0" baseline="0" noProof="0">
                <a:ln>
                  <a:noFill/>
                </a:ln>
                <a:solidFill>
                  <a:srgbClr val="000000"/>
                </a:solidFill>
                <a:effectLst/>
                <a:uLnTx/>
                <a:uFillTx/>
                <a:latin typeface="Times New Roman" panose="02020603050405020304"/>
                <a:ea typeface="华文中宋" panose="02010600040101010101" charset="-122"/>
                <a:cs typeface="+mn-cs"/>
              </a:rPr>
              <a:t>工作流</a:t>
            </a:r>
            <a:endParaRPr kumimoji="0" lang="zh-CN" altLang="en-US" sz="1800" b="0" i="0" u="none" strike="noStrike" kern="1200" cap="none" spc="0" normalizeH="0" baseline="0" noProof="0">
              <a:ln>
                <a:noFill/>
              </a:ln>
              <a:solidFill>
                <a:srgbClr val="000000"/>
              </a:solidFill>
              <a:effectLst/>
              <a:uLnTx/>
              <a:uFillTx/>
              <a:latin typeface="Times New Roman" panose="02020603050405020304"/>
              <a:ea typeface="华文中宋" panose="02010600040101010101" charset="-122"/>
              <a:cs typeface="+mn-cs"/>
            </a:endParaRPr>
          </a:p>
        </p:txBody>
      </p:sp>
      <p:sp>
        <p:nvSpPr>
          <p:cNvPr id="7" name="内容占位符 1"/>
          <p:cNvSpPr>
            <a:spLocks noGrp="1"/>
          </p:cNvSpPr>
          <p:nvPr/>
        </p:nvSpPr>
        <p:spPr>
          <a:xfrm>
            <a:off x="835025" y="1608455"/>
            <a:ext cx="6982460" cy="4792345"/>
          </a:xfrm>
          <a:prstGeom prst="rect">
            <a:avLst/>
          </a:prstGeom>
        </p:spPr>
        <p:txBody>
          <a:bodyPr vert="horz" lIns="91440" tIns="45720" rIns="91440" bIns="45720" rtlCol="0" anchor="t"/>
          <a:lstStyle>
            <a:lvl1pPr marL="306070" indent="-306070" algn="l" defTabSz="456565"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29920" indent="-306070" algn="l" defTabSz="456565"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899795" indent="-269875" algn="l" defTabSz="456565"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60" indent="-233680" algn="l" defTabSz="456565"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105" indent="-233680" algn="l" defTabSz="456565"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899920" indent="-228600" algn="l" defTabSz="456565"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199640" indent="-228600" algn="l" defTabSz="456565"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499995" indent="-228600" algn="l" defTabSz="456565"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799715" indent="-228600" algn="l" defTabSz="456565"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defTabSz="457200">
              <a:buNone/>
            </a:pPr>
            <a:r>
              <a:rPr lang="zh-CN" altLang="en-US" sz="2200" b="1">
                <a:solidFill>
                  <a:srgbClr val="5C307D"/>
                </a:solidFill>
              </a:rPr>
              <a:t>弱自治智能体系统框架</a:t>
            </a:r>
            <a:r>
              <a:rPr lang="en-US" altLang="zh-CN" sz="2200" b="1" err="1">
                <a:solidFill>
                  <a:srgbClr val="5C307D"/>
                </a:solidFill>
              </a:rPr>
              <a:t>DeGPT</a:t>
            </a:r>
            <a:endParaRPr lang="en-US" altLang="zh-CN" sz="2200" b="1">
              <a:solidFill>
                <a:srgbClr val="5C307D"/>
              </a:solidFill>
            </a:endParaRPr>
          </a:p>
          <a:p>
            <a:pPr marL="0" indent="0" defTabSz="457200">
              <a:buNone/>
            </a:pPr>
            <a:r>
              <a:rPr lang="zh-CN" altLang="en-US" sz="2200" b="1">
                <a:solidFill>
                  <a:srgbClr val="5C307D"/>
                </a:solidFill>
              </a:rPr>
              <a:t>核心挑战：</a:t>
            </a:r>
            <a:endParaRPr lang="en-US" altLang="zh-CN" sz="2200" b="1">
              <a:solidFill>
                <a:srgbClr val="5C307D"/>
              </a:solidFill>
            </a:endParaRPr>
          </a:p>
          <a:p>
            <a:pPr marL="285750" lvl="0" indent="-285750" defTabSz="457200">
              <a:spcBef>
                <a:spcPts val="0"/>
              </a:spcBef>
              <a:spcAft>
                <a:spcPts val="0"/>
              </a:spcAft>
              <a:buClrTx/>
              <a:buSzTx/>
              <a:buFont typeface="Arial" panose="020B0604020202020204" pitchFamily="34" charset="0"/>
              <a:buChar char="•"/>
              <a:defRPr/>
            </a:pPr>
            <a:r>
              <a:rPr lang="zh-CN" altLang="en-US" sz="2200"/>
              <a:t>反编译代码可读性差</a:t>
            </a:r>
            <a:endParaRPr kumimoji="0" lang="en-US" altLang="zh-CN" sz="2200" b="0" i="0" u="none" strike="noStrike" kern="1200" cap="none" spc="0" normalizeH="0" baseline="0" noProof="0">
              <a:ln>
                <a:noFill/>
              </a:ln>
              <a:solidFill>
                <a:srgbClr val="000000"/>
              </a:solidFill>
              <a:effectLst/>
              <a:uLnTx/>
              <a:uFillTx/>
              <a:latin typeface="Times New Roman" panose="02020603050405020304"/>
              <a:ea typeface="华文中宋" panose="02010600040101010101" charset="-122"/>
              <a:cs typeface="+mn-cs"/>
            </a:endParaRPr>
          </a:p>
          <a:p>
            <a:pPr marL="285750" lvl="0" indent="-285750" defTabSz="457200">
              <a:spcBef>
                <a:spcPts val="0"/>
              </a:spcBef>
              <a:spcAft>
                <a:spcPts val="0"/>
              </a:spcAft>
              <a:buClrTx/>
              <a:buSzTx/>
              <a:buFont typeface="Arial" panose="020B0604020202020204" pitchFamily="34" charset="0"/>
              <a:buChar char="•"/>
              <a:defRPr/>
            </a:pPr>
            <a:r>
              <a:rPr lang="en-US" altLang="zh-CN" sz="2200">
                <a:solidFill>
                  <a:srgbClr val="000000"/>
                </a:solidFill>
                <a:latin typeface="Times New Roman" panose="02020603050405020304"/>
                <a:ea typeface="华文中宋" panose="02010600040101010101" charset="-122"/>
              </a:rPr>
              <a:t>LLM</a:t>
            </a:r>
            <a:r>
              <a:rPr lang="zh-CN" altLang="en-US" sz="2200">
                <a:solidFill>
                  <a:srgbClr val="000000"/>
                </a:solidFill>
                <a:latin typeface="Times New Roman" panose="02020603050405020304"/>
                <a:ea typeface="华文中宋" panose="02010600040101010101" charset="-122"/>
              </a:rPr>
              <a:t>一次性优化难以充分发挥</a:t>
            </a:r>
            <a:br>
              <a:rPr lang="zh-CN" altLang="en-US" sz="2200">
                <a:solidFill>
                  <a:srgbClr val="000000"/>
                </a:solidFill>
                <a:latin typeface="Times New Roman" panose="02020603050405020304"/>
                <a:ea typeface="华文中宋" panose="02010600040101010101" charset="-122"/>
              </a:rPr>
            </a:br>
            <a:r>
              <a:rPr lang="zh-CN" altLang="en-US" sz="2200">
                <a:solidFill>
                  <a:srgbClr val="000000"/>
                </a:solidFill>
                <a:latin typeface="Times New Roman" panose="02020603050405020304"/>
                <a:ea typeface="华文中宋" panose="02010600040101010101" charset="-122"/>
              </a:rPr>
              <a:t>能力</a:t>
            </a:r>
            <a:endParaRPr lang="en-US" altLang="zh-CN" sz="2200">
              <a:solidFill>
                <a:srgbClr val="000000"/>
              </a:solidFill>
              <a:latin typeface="Times New Roman" panose="02020603050405020304"/>
              <a:ea typeface="华文中宋" panose="02010600040101010101" charset="-122"/>
            </a:endParaRPr>
          </a:p>
          <a:p>
            <a:pPr marL="285750" lvl="0" indent="-285750" defTabSz="457200">
              <a:spcBef>
                <a:spcPts val="0"/>
              </a:spcBef>
              <a:spcAft>
                <a:spcPts val="0"/>
              </a:spcAft>
              <a:buClrTx/>
              <a:buSzTx/>
              <a:buFont typeface="Arial" panose="020B0604020202020204" pitchFamily="34" charset="0"/>
              <a:buChar char="•"/>
              <a:defRPr/>
            </a:pPr>
            <a:r>
              <a:rPr kumimoji="0" lang="en-US" altLang="zh-CN" sz="2200" b="0" i="0" u="none" strike="noStrike" kern="1200" cap="none" spc="0" normalizeH="0" baseline="0" noProof="0">
                <a:ln>
                  <a:noFill/>
                </a:ln>
                <a:solidFill>
                  <a:srgbClr val="000000"/>
                </a:solidFill>
                <a:effectLst/>
                <a:uLnTx/>
                <a:uFillTx/>
                <a:latin typeface="Times New Roman" panose="02020603050405020304"/>
                <a:ea typeface="华文中宋" panose="02010600040101010101" charset="-122"/>
                <a:cs typeface="+mn-cs"/>
              </a:rPr>
              <a:t>LLM</a:t>
            </a:r>
            <a:r>
              <a:rPr kumimoji="0" lang="zh-CN" altLang="en-US" sz="2200" b="0" i="0" u="none" strike="noStrike" kern="1200" cap="none" spc="0" normalizeH="0" baseline="0" noProof="0">
                <a:ln>
                  <a:noFill/>
                </a:ln>
                <a:solidFill>
                  <a:srgbClr val="000000"/>
                </a:solidFill>
                <a:effectLst/>
                <a:uLnTx/>
                <a:uFillTx/>
                <a:latin typeface="Times New Roman" panose="02020603050405020304"/>
                <a:ea typeface="华文中宋" panose="02010600040101010101" charset="-122"/>
                <a:cs typeface="+mn-cs"/>
              </a:rPr>
              <a:t>生成结果可能破坏原始程</a:t>
            </a:r>
            <a:br>
              <a:rPr kumimoji="0" lang="zh-CN" altLang="en-US" sz="2200" b="0" i="0" u="none" strike="noStrike" kern="1200" cap="none" spc="0" normalizeH="0" baseline="0" noProof="0">
                <a:ln>
                  <a:noFill/>
                </a:ln>
                <a:solidFill>
                  <a:srgbClr val="000000"/>
                </a:solidFill>
                <a:effectLst/>
                <a:uLnTx/>
                <a:uFillTx/>
                <a:latin typeface="Times New Roman" panose="02020603050405020304"/>
                <a:ea typeface="华文中宋" panose="02010600040101010101" charset="-122"/>
                <a:cs typeface="+mn-cs"/>
              </a:rPr>
            </a:br>
            <a:r>
              <a:rPr kumimoji="0" lang="zh-CN" altLang="en-US" sz="2200" b="0" i="0" u="none" strike="noStrike" kern="1200" cap="none" spc="0" normalizeH="0" baseline="0" noProof="0">
                <a:ln>
                  <a:noFill/>
                </a:ln>
                <a:solidFill>
                  <a:srgbClr val="000000"/>
                </a:solidFill>
                <a:effectLst/>
                <a:uLnTx/>
                <a:uFillTx/>
                <a:latin typeface="Times New Roman" panose="02020603050405020304"/>
                <a:ea typeface="华文中宋" panose="02010600040101010101" charset="-122"/>
                <a:cs typeface="+mn-cs"/>
              </a:rPr>
              <a:t>序语义</a:t>
            </a:r>
            <a:endParaRPr kumimoji="0" lang="en-US" altLang="zh-CN" sz="2200" b="0" i="0" u="none" strike="noStrike" kern="1200" cap="none" spc="0" normalizeH="0" baseline="0" noProof="0">
              <a:ln>
                <a:noFill/>
              </a:ln>
              <a:solidFill>
                <a:srgbClr val="000000"/>
              </a:solidFill>
              <a:effectLst/>
              <a:uLnTx/>
              <a:uFillTx/>
              <a:latin typeface="Times New Roman" panose="02020603050405020304"/>
              <a:ea typeface="华文中宋" panose="02010600040101010101" charset="-122"/>
              <a:cs typeface="+mn-cs"/>
            </a:endParaRPr>
          </a:p>
          <a:p>
            <a:pPr marL="285750" lvl="0" indent="-285750" defTabSz="457200">
              <a:spcBef>
                <a:spcPts val="0"/>
              </a:spcBef>
              <a:spcAft>
                <a:spcPts val="0"/>
              </a:spcAft>
              <a:buClrTx/>
              <a:buSzTx/>
              <a:buFont typeface="Arial" panose="020B0604020202020204" pitchFamily="34" charset="0"/>
              <a:buChar char="•"/>
              <a:defRPr/>
            </a:pPr>
            <a:r>
              <a:rPr lang="zh-CN" altLang="en-US" sz="2200">
                <a:solidFill>
                  <a:srgbClr val="000000"/>
                </a:solidFill>
                <a:latin typeface="Times New Roman" panose="02020603050405020304"/>
                <a:ea typeface="华文中宋" panose="02010600040101010101" charset="-122"/>
              </a:rPr>
              <a:t>已有学习型方法泛化能力有限</a:t>
            </a:r>
            <a:endParaRPr lang="en-US" altLang="zh-CN" sz="2200">
              <a:solidFill>
                <a:srgbClr val="000000"/>
              </a:solidFill>
              <a:latin typeface="Times New Roman" panose="02020603050405020304"/>
              <a:ea typeface="华文中宋" panose="02010600040101010101" charset="-122"/>
            </a:endParaRPr>
          </a:p>
          <a:p>
            <a:pPr marL="0" indent="0" defTabSz="457200">
              <a:buNone/>
            </a:pPr>
            <a:r>
              <a:rPr lang="zh-CN" altLang="en-US" sz="2200" b="1">
                <a:solidFill>
                  <a:srgbClr val="5C307D"/>
                </a:solidFill>
              </a:rPr>
              <a:t>核心思路：</a:t>
            </a:r>
            <a:endParaRPr lang="en-US" altLang="zh-CN" sz="2200" b="1">
              <a:solidFill>
                <a:srgbClr val="5C307D"/>
              </a:solidFill>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200" b="0" i="0" u="none" strike="noStrike" kern="1200" cap="none" spc="0" normalizeH="0" baseline="0" noProof="0">
                <a:ln>
                  <a:noFill/>
                </a:ln>
                <a:solidFill>
                  <a:srgbClr val="000000"/>
                </a:solidFill>
                <a:effectLst/>
                <a:uLnTx/>
                <a:uFillTx/>
                <a:latin typeface="Times New Roman" panose="02020603050405020304"/>
                <a:ea typeface="华文中宋" panose="02010600040101010101" charset="-122"/>
                <a:cs typeface="+mn-cs"/>
              </a:rPr>
              <a:t>对反编译输出进行结构简化</a:t>
            </a:r>
            <a:endParaRPr kumimoji="0" lang="en-US" altLang="zh-CN" sz="2200" b="0" i="0" u="none" strike="noStrike" kern="1200" cap="none" spc="0" normalizeH="0" baseline="0" noProof="0">
              <a:ln>
                <a:noFill/>
              </a:ln>
              <a:solidFill>
                <a:srgbClr val="000000"/>
              </a:solidFill>
              <a:effectLst/>
              <a:uLnTx/>
              <a:uFillTx/>
              <a:latin typeface="Times New Roman" panose="02020603050405020304"/>
              <a:ea typeface="华文中宋" panose="02010600040101010101" charset="-122"/>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defRPr/>
            </a:pPr>
            <a:r>
              <a:rPr lang="en-US" altLang="zh-CN" sz="2200">
                <a:solidFill>
                  <a:srgbClr val="000000"/>
                </a:solidFill>
                <a:latin typeface="Times New Roman" panose="02020603050405020304"/>
                <a:ea typeface="华文中宋" panose="02010600040101010101" charset="-122"/>
              </a:rPr>
              <a:t>Referee–Advisor–Operator </a:t>
            </a:r>
            <a:r>
              <a:rPr lang="zh-CN" altLang="en-US" sz="2200">
                <a:solidFill>
                  <a:srgbClr val="000000"/>
                </a:solidFill>
                <a:latin typeface="Times New Roman" panose="02020603050405020304"/>
                <a:ea typeface="华文中宋" panose="02010600040101010101" charset="-122"/>
              </a:rPr>
              <a:t>三角色机制</a:t>
            </a:r>
            <a:endParaRPr lang="en-US" altLang="zh-CN" sz="2200">
              <a:solidFill>
                <a:srgbClr val="000000"/>
              </a:solidFill>
              <a:latin typeface="Times New Roman" panose="02020603050405020304"/>
              <a:ea typeface="华文中宋" panose="02010600040101010101" charset="-122"/>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defRPr/>
            </a:pPr>
            <a:r>
              <a:rPr lang="zh-CN" altLang="en-US" sz="2200">
                <a:solidFill>
                  <a:srgbClr val="000000"/>
                </a:solidFill>
                <a:latin typeface="Times New Roman" panose="02020603050405020304"/>
                <a:ea typeface="华文中宋" panose="02010600040101010101" charset="-122"/>
              </a:rPr>
              <a:t>提出 </a:t>
            </a:r>
            <a:r>
              <a:rPr lang="en-US" altLang="zh-CN" sz="2200">
                <a:solidFill>
                  <a:srgbClr val="000000"/>
                </a:solidFill>
                <a:latin typeface="Times New Roman" panose="02020603050405020304"/>
                <a:ea typeface="华文中宋" panose="02010600040101010101" charset="-122"/>
              </a:rPr>
              <a:t>MSSC</a:t>
            </a:r>
            <a:r>
              <a:rPr lang="zh-CN" altLang="en-US" sz="2200">
                <a:solidFill>
                  <a:srgbClr val="000000"/>
                </a:solidFill>
                <a:latin typeface="Times New Roman" panose="02020603050405020304"/>
                <a:ea typeface="华文中宋" panose="02010600040101010101" charset="-122"/>
              </a:rPr>
              <a:t>，对优化前后代码进行校验</a:t>
            </a:r>
            <a:endParaRPr lang="en-US" altLang="zh-CN" sz="2200">
              <a:solidFill>
                <a:srgbClr val="000000"/>
              </a:solidFill>
              <a:latin typeface="Times New Roman" panose="02020603050405020304"/>
              <a:ea typeface="华文中宋" panose="02010600040101010101" charset="-122"/>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defRPr/>
            </a:pPr>
            <a:r>
              <a:rPr lang="zh-CN" altLang="en-US" sz="2200">
                <a:solidFill>
                  <a:srgbClr val="000000"/>
                </a:solidFill>
                <a:latin typeface="Times New Roman" panose="02020603050405020304"/>
                <a:ea typeface="华文中宋" panose="02010600040101010101" charset="-122"/>
              </a:rPr>
              <a:t>无需训练的大语言模型 </a:t>
            </a:r>
            <a:r>
              <a:rPr lang="en-US" altLang="zh-CN" sz="2200">
                <a:solidFill>
                  <a:srgbClr val="000000"/>
                </a:solidFill>
                <a:latin typeface="Times New Roman" panose="02020603050405020304"/>
                <a:ea typeface="华文中宋" panose="02010600040101010101" charset="-122"/>
              </a:rPr>
              <a:t>+ </a:t>
            </a:r>
            <a:r>
              <a:rPr lang="zh-CN" altLang="en-US" sz="2200">
                <a:solidFill>
                  <a:srgbClr val="000000"/>
                </a:solidFill>
                <a:latin typeface="Times New Roman" panose="02020603050405020304"/>
                <a:ea typeface="华文中宋" panose="02010600040101010101" charset="-122"/>
              </a:rPr>
              <a:t>规则化流程</a:t>
            </a:r>
            <a:endParaRPr lang="zh-CN" altLang="en-US" sz="2200">
              <a:solidFill>
                <a:srgbClr val="000000"/>
              </a:solidFill>
              <a:latin typeface="Times New Roman" panose="02020603050405020304"/>
              <a:ea typeface="华文中宋" panose="02010600040101010101"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kumimoji="1" lang="en-US" altLang="zh-CN" cap="none"/>
              <a:t>AV-Agent: A Bottom-Up Interpretable Malware Classifier Based on Large Language Models</a:t>
            </a:r>
            <a:endParaRPr kumimoji="1" lang="zh-CN" altLang="en-US" cap="none"/>
          </a:p>
        </p:txBody>
      </p:sp>
      <p:pic>
        <p:nvPicPr>
          <p:cNvPr id="5" name="图片 4" descr="图形用户界面, 图示&#10;&#10;AI 生成的内容可能不正确。"/>
          <p:cNvPicPr>
            <a:picLocks noChangeAspect="1"/>
          </p:cNvPicPr>
          <p:nvPr/>
        </p:nvPicPr>
        <p:blipFill>
          <a:blip r:embed="rId1"/>
          <a:stretch>
            <a:fillRect/>
          </a:stretch>
        </p:blipFill>
        <p:spPr>
          <a:xfrm>
            <a:off x="5257798" y="1821114"/>
            <a:ext cx="6464302" cy="3667502"/>
          </a:xfrm>
          <a:prstGeom prst="rect">
            <a:avLst/>
          </a:prstGeom>
        </p:spPr>
      </p:pic>
      <p:sp>
        <p:nvSpPr>
          <p:cNvPr id="6" name="文本框 5"/>
          <p:cNvSpPr txBox="1"/>
          <p:nvPr/>
        </p:nvSpPr>
        <p:spPr>
          <a:xfrm>
            <a:off x="6582824" y="5431459"/>
            <a:ext cx="3814249" cy="369332"/>
          </a:xfrm>
          <a:prstGeom prst="rect">
            <a:avLst/>
          </a:prstGeom>
          <a:noFill/>
        </p:spPr>
        <p:txBody>
          <a:bodyPr wrap="none" rtlCol="0">
            <a:spAutoFit/>
          </a:bodyPr>
          <a:lstStyle/>
          <a:p>
            <a:pPr lvl="0"/>
            <a:r>
              <a:rPr lang="en-US" altLang="zh-CN"/>
              <a:t>AV-agent</a:t>
            </a:r>
            <a:r>
              <a:rPr lang="zh-CN" altLang="en-US"/>
              <a:t>框架体系结构与数据流管道</a:t>
            </a:r>
            <a:endParaRPr kumimoji="0" lang="zh-CN" altLang="en-US" sz="1800" b="0" i="0" u="none" strike="noStrike" kern="1200" cap="none" spc="0" normalizeH="0" baseline="0" noProof="0">
              <a:ln>
                <a:noFill/>
              </a:ln>
              <a:solidFill>
                <a:srgbClr val="000000"/>
              </a:solidFill>
              <a:effectLst/>
              <a:uLnTx/>
              <a:uFillTx/>
              <a:latin typeface="Times New Roman" panose="02020603050405020304"/>
              <a:ea typeface="华文中宋" panose="02010600040101010101" charset="-122"/>
              <a:cs typeface="+mn-cs"/>
            </a:endParaRPr>
          </a:p>
        </p:txBody>
      </p:sp>
      <p:sp>
        <p:nvSpPr>
          <p:cNvPr id="4" name="内容占位符 1"/>
          <p:cNvSpPr>
            <a:spLocks noGrp="1"/>
          </p:cNvSpPr>
          <p:nvPr>
            <p:ph idx="1"/>
          </p:nvPr>
        </p:nvSpPr>
        <p:spPr>
          <a:xfrm>
            <a:off x="835306" y="1716574"/>
            <a:ext cx="4949544" cy="4792176"/>
          </a:xfrm>
        </p:spPr>
        <p:txBody>
          <a:bodyPr>
            <a:normAutofit fontScale="92500"/>
          </a:bodyPr>
          <a:lstStyle/>
          <a:p>
            <a:pPr marL="0" indent="0" defTabSz="457200">
              <a:lnSpc>
                <a:spcPct val="110000"/>
              </a:lnSpc>
              <a:buNone/>
            </a:pPr>
            <a:r>
              <a:rPr lang="zh-CN" altLang="en-US" sz="2400" b="1">
                <a:solidFill>
                  <a:srgbClr val="5C307D"/>
                </a:solidFill>
              </a:rPr>
              <a:t>类智能体框架</a:t>
            </a:r>
            <a:r>
              <a:rPr lang="en-US" altLang="zh-CN" sz="2400" b="1">
                <a:solidFill>
                  <a:srgbClr val="5C307D"/>
                </a:solidFill>
              </a:rPr>
              <a:t>AV-agent</a:t>
            </a:r>
            <a:endParaRPr lang="en-US" altLang="zh-CN" sz="2400" b="1">
              <a:solidFill>
                <a:srgbClr val="5C307D"/>
              </a:solidFill>
            </a:endParaRPr>
          </a:p>
          <a:p>
            <a:pPr marL="0" indent="0" defTabSz="457200">
              <a:lnSpc>
                <a:spcPct val="110000"/>
              </a:lnSpc>
              <a:buNone/>
            </a:pPr>
            <a:r>
              <a:rPr lang="zh-CN" altLang="en-US" sz="2400" b="1">
                <a:solidFill>
                  <a:srgbClr val="5C307D"/>
                </a:solidFill>
              </a:rPr>
              <a:t>核心挑战：</a:t>
            </a:r>
            <a:endParaRPr lang="en-US" altLang="zh-CN" sz="2400" b="1">
              <a:solidFill>
                <a:srgbClr val="5C307D"/>
              </a:solidFill>
            </a:endParaRPr>
          </a:p>
          <a:p>
            <a:pPr marL="285750" lvl="0" indent="-285750" defTabSz="457200">
              <a:lnSpc>
                <a:spcPct val="110000"/>
              </a:lnSpc>
              <a:spcBef>
                <a:spcPts val="0"/>
              </a:spcBef>
              <a:spcAft>
                <a:spcPts val="0"/>
              </a:spcAft>
              <a:buClrTx/>
              <a:buSzTx/>
              <a:buFont typeface="Arial" panose="020B0604020202020204" pitchFamily="34" charset="0"/>
              <a:buChar char="•"/>
              <a:defRPr/>
            </a:pPr>
            <a:r>
              <a:rPr lang="zh-CN" altLang="en-US" sz="2400"/>
              <a:t>二进制信息无法直接感知</a:t>
            </a:r>
            <a:endParaRPr lang="en-US" altLang="zh-CN" sz="2400"/>
          </a:p>
          <a:p>
            <a:pPr marL="285750" lvl="0" indent="-285750" defTabSz="457200">
              <a:lnSpc>
                <a:spcPct val="110000"/>
              </a:lnSpc>
              <a:spcBef>
                <a:spcPts val="0"/>
              </a:spcBef>
              <a:spcAft>
                <a:spcPts val="0"/>
              </a:spcAft>
              <a:buClrTx/>
              <a:buSzTx/>
              <a:buFont typeface="Arial" panose="020B0604020202020204" pitchFamily="34" charset="0"/>
              <a:buChar char="•"/>
              <a:defRPr/>
            </a:pPr>
            <a:r>
              <a:rPr lang="zh-CN" altLang="en-US" sz="2400">
                <a:solidFill>
                  <a:srgbClr val="000000"/>
                </a:solidFill>
                <a:latin typeface="Times New Roman" panose="02020603050405020304"/>
                <a:ea typeface="华文中宋" panose="02010600040101010101" charset="-122"/>
              </a:rPr>
              <a:t>上下文受限</a:t>
            </a:r>
            <a:endParaRPr lang="en-US" altLang="zh-CN" sz="2400">
              <a:solidFill>
                <a:srgbClr val="000000"/>
              </a:solidFill>
              <a:latin typeface="Times New Roman" panose="02020603050405020304"/>
              <a:ea typeface="华文中宋" panose="02010600040101010101" charset="-122"/>
            </a:endParaRPr>
          </a:p>
          <a:p>
            <a:pPr marL="285750" lvl="0" indent="-285750" defTabSz="457200">
              <a:lnSpc>
                <a:spcPct val="110000"/>
              </a:lnSpc>
              <a:spcBef>
                <a:spcPts val="0"/>
              </a:spcBef>
              <a:spcAft>
                <a:spcPts val="0"/>
              </a:spcAft>
              <a:buClrTx/>
              <a:buSzTx/>
              <a:buFont typeface="Arial" panose="020B0604020202020204" pitchFamily="34" charset="0"/>
              <a:buChar char="•"/>
              <a:defRPr/>
            </a:pPr>
            <a:r>
              <a:rPr lang="zh-CN" altLang="en-US" sz="2400">
                <a:solidFill>
                  <a:srgbClr val="000000"/>
                </a:solidFill>
                <a:latin typeface="Times New Roman" panose="02020603050405020304"/>
                <a:ea typeface="华文中宋" panose="02010600040101010101" charset="-122"/>
              </a:rPr>
              <a:t>一次性推理不稳定</a:t>
            </a:r>
            <a:endParaRPr lang="en-US" altLang="zh-CN" sz="2400">
              <a:solidFill>
                <a:srgbClr val="000000"/>
              </a:solidFill>
              <a:latin typeface="Times New Roman" panose="02020603050405020304"/>
              <a:ea typeface="华文中宋" panose="02010600040101010101" charset="-122"/>
            </a:endParaRPr>
          </a:p>
          <a:p>
            <a:pPr marL="285750" lvl="0" indent="-285750" defTabSz="457200">
              <a:lnSpc>
                <a:spcPct val="110000"/>
              </a:lnSpc>
              <a:spcBef>
                <a:spcPts val="0"/>
              </a:spcBef>
              <a:spcAft>
                <a:spcPts val="0"/>
              </a:spcAft>
              <a:buClrTx/>
              <a:buSzTx/>
              <a:buFont typeface="Arial" panose="020B0604020202020204" pitchFamily="34" charset="0"/>
              <a:buChar char="•"/>
              <a:defRPr/>
            </a:pPr>
            <a:r>
              <a:rPr kumimoji="0" lang="zh-CN" altLang="en-US" sz="2400" b="0" i="0" u="none" strike="noStrike" kern="1200" cap="none" spc="0" normalizeH="0" baseline="0" noProof="0">
                <a:ln>
                  <a:noFill/>
                </a:ln>
                <a:solidFill>
                  <a:srgbClr val="000000"/>
                </a:solidFill>
                <a:effectLst/>
                <a:uLnTx/>
                <a:uFillTx/>
                <a:latin typeface="Times New Roman" panose="02020603050405020304"/>
                <a:ea typeface="华文中宋" panose="02010600040101010101" charset="-122"/>
                <a:cs typeface="+mn-cs"/>
              </a:rPr>
              <a:t>传统方法的逻辑性问题</a:t>
            </a:r>
            <a:endParaRPr lang="en-US" altLang="zh-CN" sz="2400" b="1">
              <a:solidFill>
                <a:srgbClr val="5C307D"/>
              </a:solidFill>
            </a:endParaRPr>
          </a:p>
          <a:p>
            <a:pPr marL="0" indent="0" defTabSz="457200">
              <a:lnSpc>
                <a:spcPct val="110000"/>
              </a:lnSpc>
              <a:buNone/>
            </a:pPr>
            <a:r>
              <a:rPr lang="zh-CN" altLang="en-US" sz="2400" b="1">
                <a:solidFill>
                  <a:srgbClr val="5C307D"/>
                </a:solidFill>
              </a:rPr>
              <a:t>核心思路：</a:t>
            </a:r>
            <a:endParaRPr lang="en-US" altLang="zh-CN" sz="2400" b="1">
              <a:solidFill>
                <a:srgbClr val="5C307D"/>
              </a:solidFill>
            </a:endParaRPr>
          </a:p>
          <a:p>
            <a:pPr marL="285750" marR="0" lvl="0" indent="-285750" algn="l" defTabSz="457200" rtl="0" eaLnBrk="1" fontAlgn="auto" latinLnBrk="0" hangingPunct="1">
              <a:lnSpc>
                <a:spcPct val="110000"/>
              </a:lnSpc>
              <a:spcBef>
                <a:spcPts val="0"/>
              </a:spcBef>
              <a:spcAft>
                <a:spcPts val="0"/>
              </a:spcAft>
              <a:buClrTx/>
              <a:buSzTx/>
              <a:buFont typeface="Arial" panose="020B0604020202020204" pitchFamily="34" charset="0"/>
              <a:buChar char="•"/>
              <a:defRPr/>
            </a:pPr>
            <a:r>
              <a:rPr kumimoji="0" lang="zh-CN" altLang="en-US" sz="2400" b="0" i="0" u="none" strike="noStrike" kern="1200" cap="none" spc="0" normalizeH="0" baseline="0" noProof="0">
                <a:ln>
                  <a:noFill/>
                </a:ln>
                <a:solidFill>
                  <a:srgbClr val="000000"/>
                </a:solidFill>
                <a:effectLst/>
                <a:uLnTx/>
                <a:uFillTx/>
                <a:latin typeface="Times New Roman" panose="02020603050405020304"/>
                <a:ea typeface="华文中宋" panose="02010600040101010101" charset="-122"/>
                <a:cs typeface="+mn-cs"/>
              </a:rPr>
              <a:t>分析器充当感知模块</a:t>
            </a:r>
            <a:endParaRPr kumimoji="0" lang="en-US" altLang="zh-CN" sz="2400" b="0" i="0" u="none" strike="noStrike" kern="1200" cap="none" spc="0" normalizeH="0" baseline="0" noProof="0">
              <a:ln>
                <a:noFill/>
              </a:ln>
              <a:solidFill>
                <a:srgbClr val="000000"/>
              </a:solidFill>
              <a:effectLst/>
              <a:uLnTx/>
              <a:uFillTx/>
              <a:latin typeface="Times New Roman" panose="02020603050405020304"/>
              <a:ea typeface="华文中宋" panose="02010600040101010101" charset="-122"/>
              <a:cs typeface="+mn-cs"/>
            </a:endParaRPr>
          </a:p>
          <a:p>
            <a:pPr marL="285750" marR="0" lvl="0" indent="-285750" algn="l" defTabSz="457200" rtl="0" eaLnBrk="1" fontAlgn="auto" latinLnBrk="0" hangingPunct="1">
              <a:lnSpc>
                <a:spcPct val="110000"/>
              </a:lnSpc>
              <a:spcBef>
                <a:spcPts val="0"/>
              </a:spcBef>
              <a:spcAft>
                <a:spcPts val="0"/>
              </a:spcAft>
              <a:buClrTx/>
              <a:buSzTx/>
              <a:buFont typeface="Arial" panose="020B0604020202020204" pitchFamily="34" charset="0"/>
              <a:buChar char="•"/>
              <a:defRPr/>
            </a:pPr>
            <a:r>
              <a:rPr lang="zh-CN" altLang="en-US" sz="2400">
                <a:solidFill>
                  <a:srgbClr val="000000"/>
                </a:solidFill>
                <a:latin typeface="Times New Roman" panose="02020603050405020304"/>
                <a:ea typeface="华文中宋" panose="02010600040101010101" charset="-122"/>
              </a:rPr>
              <a:t>主动调用工具进行</a:t>
            </a:r>
            <a:r>
              <a:rPr lang="en-US" altLang="zh-CN" sz="2400">
                <a:solidFill>
                  <a:srgbClr val="000000"/>
                </a:solidFill>
                <a:latin typeface="Times New Roman" panose="02020603050405020304"/>
                <a:ea typeface="华文中宋" panose="02010600040101010101" charset="-122"/>
              </a:rPr>
              <a:t>Top-K</a:t>
            </a:r>
            <a:r>
              <a:rPr lang="zh-CN" altLang="en-US" sz="2400">
                <a:solidFill>
                  <a:srgbClr val="000000"/>
                </a:solidFill>
                <a:latin typeface="Times New Roman" panose="02020603050405020304"/>
                <a:ea typeface="华文中宋" panose="02010600040101010101" charset="-122"/>
              </a:rPr>
              <a:t>筛选</a:t>
            </a:r>
            <a:endParaRPr lang="en-US" altLang="zh-CN" sz="2400">
              <a:solidFill>
                <a:srgbClr val="000000"/>
              </a:solidFill>
              <a:latin typeface="Times New Roman" panose="02020603050405020304"/>
              <a:ea typeface="华文中宋" panose="02010600040101010101" charset="-122"/>
            </a:endParaRPr>
          </a:p>
          <a:p>
            <a:pPr marL="285750" marR="0" lvl="0" indent="-285750" algn="l" defTabSz="457200" rtl="0" eaLnBrk="1" fontAlgn="auto" latinLnBrk="0" hangingPunct="1">
              <a:lnSpc>
                <a:spcPct val="110000"/>
              </a:lnSpc>
              <a:spcBef>
                <a:spcPts val="0"/>
              </a:spcBef>
              <a:spcAft>
                <a:spcPts val="0"/>
              </a:spcAft>
              <a:buClrTx/>
              <a:buSzTx/>
              <a:buFont typeface="Arial" panose="020B0604020202020204" pitchFamily="34" charset="0"/>
              <a:buChar char="•"/>
              <a:defRPr/>
            </a:pPr>
            <a:r>
              <a:rPr lang="zh-CN" altLang="en-US" sz="2400">
                <a:solidFill>
                  <a:srgbClr val="000000"/>
                </a:solidFill>
                <a:latin typeface="Times New Roman" panose="02020603050405020304"/>
                <a:ea typeface="华文中宋" panose="02010600040101010101" charset="-122"/>
              </a:rPr>
              <a:t>反思、自我修正的两阶段推理机制</a:t>
            </a:r>
            <a:endParaRPr lang="en-US" altLang="zh-CN" sz="2400">
              <a:solidFill>
                <a:srgbClr val="000000"/>
              </a:solidFill>
              <a:latin typeface="Times New Roman" panose="02020603050405020304"/>
              <a:ea typeface="华文中宋" panose="02010600040101010101" charset="-122"/>
            </a:endParaRPr>
          </a:p>
          <a:p>
            <a:pPr marL="285750" marR="0" lvl="0" indent="-285750" algn="l" defTabSz="457200" rtl="0" eaLnBrk="1" fontAlgn="auto" latinLnBrk="0" hangingPunct="1">
              <a:lnSpc>
                <a:spcPct val="110000"/>
              </a:lnSpc>
              <a:spcBef>
                <a:spcPts val="0"/>
              </a:spcBef>
              <a:spcAft>
                <a:spcPts val="0"/>
              </a:spcAft>
              <a:buClrTx/>
              <a:buSzTx/>
              <a:buFont typeface="Arial" panose="020B0604020202020204" pitchFamily="34" charset="0"/>
              <a:buChar char="•"/>
              <a:defRPr/>
            </a:pPr>
            <a:r>
              <a:rPr lang="zh-CN" altLang="en-US" sz="2400">
                <a:solidFill>
                  <a:srgbClr val="000000"/>
                </a:solidFill>
                <a:latin typeface="Times New Roman" panose="02020603050405020304"/>
                <a:ea typeface="华文中宋" panose="02010600040101010101" charset="-122"/>
              </a:rPr>
              <a:t>感知</a:t>
            </a:r>
            <a:r>
              <a:rPr lang="en-US" altLang="zh-CN" sz="2400">
                <a:solidFill>
                  <a:srgbClr val="000000"/>
                </a:solidFill>
                <a:latin typeface="Times New Roman" panose="02020603050405020304"/>
                <a:ea typeface="华文中宋" panose="02010600040101010101" charset="-122"/>
              </a:rPr>
              <a:t>-</a:t>
            </a:r>
            <a:r>
              <a:rPr lang="zh-CN" altLang="en-US" sz="2400">
                <a:solidFill>
                  <a:srgbClr val="000000"/>
                </a:solidFill>
                <a:latin typeface="Times New Roman" panose="02020603050405020304"/>
                <a:ea typeface="华文中宋" panose="02010600040101010101" charset="-122"/>
              </a:rPr>
              <a:t>推理</a:t>
            </a:r>
            <a:r>
              <a:rPr lang="en-US" altLang="zh-CN" sz="2400">
                <a:solidFill>
                  <a:srgbClr val="000000"/>
                </a:solidFill>
                <a:latin typeface="Times New Roman" panose="02020603050405020304"/>
                <a:ea typeface="华文中宋" panose="02010600040101010101" charset="-122"/>
              </a:rPr>
              <a:t>-</a:t>
            </a:r>
            <a:r>
              <a:rPr lang="zh-CN" altLang="en-US" sz="2400">
                <a:solidFill>
                  <a:srgbClr val="000000"/>
                </a:solidFill>
                <a:latin typeface="Times New Roman" panose="02020603050405020304"/>
                <a:ea typeface="华文中宋" panose="02010600040101010101" charset="-122"/>
              </a:rPr>
              <a:t>决策全过程显式展开</a:t>
            </a:r>
            <a:endParaRPr lang="en-US" altLang="zh-CN" sz="2400">
              <a:solidFill>
                <a:srgbClr val="000000"/>
              </a:solidFill>
              <a:latin typeface="Times New Roman" panose="02020603050405020304"/>
              <a:ea typeface="华文中宋" panose="02010600040101010101"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3403430" y="355371"/>
            <a:ext cx="5109091" cy="461665"/>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a:ln>
                  <a:noFill/>
                </a:ln>
                <a:solidFill>
                  <a:srgbClr val="5C307D"/>
                </a:solidFill>
                <a:effectLst/>
                <a:uLnTx/>
                <a:uFillTx/>
                <a:latin typeface="Times New Roman" panose="02020603050405020304"/>
                <a:ea typeface="华文中宋" panose="02010600040101010101" charset="-122"/>
                <a:cs typeface="+mn-cs"/>
              </a:rPr>
              <a:t>对构建智能体“分析师”的逐步探索</a:t>
            </a:r>
            <a:endParaRPr kumimoji="0" lang="zh-CN" altLang="en-US" sz="2400" b="1" i="0" u="none" strike="noStrike" kern="1200" cap="none" spc="0" normalizeH="0" baseline="0" noProof="0">
              <a:ln>
                <a:noFill/>
              </a:ln>
              <a:solidFill>
                <a:srgbClr val="5C307D"/>
              </a:solidFill>
              <a:effectLst/>
              <a:uLnTx/>
              <a:uFillTx/>
              <a:latin typeface="Times New Roman" panose="02020603050405020304"/>
              <a:ea typeface="华文中宋" panose="02010600040101010101" charset="-122"/>
              <a:cs typeface="+mn-cs"/>
            </a:endParaRPr>
          </a:p>
        </p:txBody>
      </p:sp>
      <p:graphicFrame>
        <p:nvGraphicFramePr>
          <p:cNvPr id="4" name="表格 3"/>
          <p:cNvGraphicFramePr/>
          <p:nvPr/>
        </p:nvGraphicFramePr>
        <p:xfrm>
          <a:off x="1" y="949756"/>
          <a:ext cx="12191999" cy="4958488"/>
        </p:xfrm>
        <a:graphic>
          <a:graphicData uri="http://schemas.openxmlformats.org/drawingml/2006/table">
            <a:tbl>
              <a:tblPr firstRow="1" bandRow="1">
                <a:tableStyleId>{2D5ABB26-0587-4C30-8999-92F81FD0307C}</a:tableStyleId>
              </a:tblPr>
              <a:tblGrid>
                <a:gridCol w="1485804"/>
                <a:gridCol w="1676155"/>
                <a:gridCol w="2391425"/>
                <a:gridCol w="2500509"/>
                <a:gridCol w="2341079"/>
                <a:gridCol w="1797027"/>
              </a:tblGrid>
              <a:tr h="643370">
                <a:tc>
                  <a:txBody>
                    <a:bodyPr/>
                    <a:lstStyle/>
                    <a:p>
                      <a:pPr marL="0" algn="ctr" defTabSz="456565" rtl="0" eaLnBrk="1" latinLnBrk="0" hangingPunct="1"/>
                      <a:r>
                        <a:rPr lang="zh-CN" altLang="en-US" sz="1400" b="1" kern="1200">
                          <a:solidFill>
                            <a:srgbClr val="5C307D"/>
                          </a:solidFill>
                          <a:latin typeface="+mn-lt"/>
                          <a:ea typeface="+mn-ea"/>
                          <a:cs typeface="+mn-cs"/>
                        </a:rPr>
                        <a:t>论文</a:t>
                      </a:r>
                      <a:endParaRPr lang="zh-CN" altLang="en-US" sz="1400" b="1" kern="1200">
                        <a:solidFill>
                          <a:srgbClr val="5C307D"/>
                        </a:solidFill>
                        <a:latin typeface="+mn-lt"/>
                        <a:ea typeface="+mn-ea"/>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456565" rtl="0" eaLnBrk="1" latinLnBrk="0" hangingPunct="1"/>
                      <a:r>
                        <a:rPr lang="zh-CN" altLang="en-US" sz="1400" b="1" kern="1200">
                          <a:solidFill>
                            <a:srgbClr val="5C307D"/>
                          </a:solidFill>
                          <a:latin typeface="+mn-lt"/>
                          <a:ea typeface="+mn-ea"/>
                          <a:cs typeface="+mn-cs"/>
                        </a:rPr>
                        <a:t>对构建</a:t>
                      </a:r>
                      <a:r>
                        <a:rPr lang="en-US" altLang="zh-CN" sz="1400" b="1" kern="1200">
                          <a:solidFill>
                            <a:srgbClr val="5C307D"/>
                          </a:solidFill>
                          <a:latin typeface="+mn-lt"/>
                          <a:ea typeface="+mn-ea"/>
                          <a:cs typeface="+mn-cs"/>
                        </a:rPr>
                        <a:t>Agent</a:t>
                      </a:r>
                      <a:r>
                        <a:rPr lang="zh-CN" altLang="en-US" sz="1400" b="1" kern="1200">
                          <a:solidFill>
                            <a:srgbClr val="5C307D"/>
                          </a:solidFill>
                          <a:latin typeface="+mn-lt"/>
                          <a:ea typeface="+mn-ea"/>
                          <a:cs typeface="+mn-cs"/>
                        </a:rPr>
                        <a:t>的探索</a:t>
                      </a:r>
                      <a:endParaRPr lang="zh-CN" altLang="en-US" sz="1400" b="1" kern="1200">
                        <a:solidFill>
                          <a:srgbClr val="5C307D"/>
                        </a:solidFill>
                        <a:latin typeface="+mn-lt"/>
                        <a:ea typeface="+mn-ea"/>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456565" rtl="0" eaLnBrk="1" latinLnBrk="0" hangingPunct="1"/>
                      <a:r>
                        <a:rPr lang="zh-CN" altLang="en-US" sz="1400" b="1" kern="1200">
                          <a:solidFill>
                            <a:srgbClr val="5C307D"/>
                          </a:solidFill>
                          <a:latin typeface="+mn-lt"/>
                          <a:ea typeface="+mn-ea"/>
                          <a:cs typeface="+mn-cs"/>
                        </a:rPr>
                        <a:t>输入</a:t>
                      </a:r>
                      <a:endParaRPr lang="zh-CN" altLang="en-US" sz="1400" b="1" kern="1200">
                        <a:solidFill>
                          <a:srgbClr val="5C307D"/>
                        </a:solidFill>
                        <a:latin typeface="+mn-lt"/>
                        <a:ea typeface="+mn-ea"/>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456565" rtl="0" eaLnBrk="1" latinLnBrk="0" hangingPunct="1"/>
                      <a:r>
                        <a:rPr lang="zh-CN" altLang="en-US" sz="1400" b="1" kern="1200">
                          <a:solidFill>
                            <a:srgbClr val="5C307D"/>
                          </a:solidFill>
                          <a:latin typeface="+mn-lt"/>
                          <a:ea typeface="+mn-ea"/>
                          <a:cs typeface="+mn-cs"/>
                        </a:rPr>
                        <a:t>输出</a:t>
                      </a:r>
                      <a:endParaRPr lang="zh-CN" altLang="en-US" sz="1400" b="1" kern="1200">
                        <a:solidFill>
                          <a:srgbClr val="5C307D"/>
                        </a:solidFill>
                        <a:latin typeface="+mn-lt"/>
                        <a:ea typeface="+mn-ea"/>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456565" rtl="0" eaLnBrk="1" latinLnBrk="0" hangingPunct="1"/>
                      <a:r>
                        <a:rPr lang="en-US" altLang="zh-CN" sz="1400" b="1" kern="1200">
                          <a:solidFill>
                            <a:srgbClr val="5C307D"/>
                          </a:solidFill>
                          <a:latin typeface="+mn-lt"/>
                          <a:ea typeface="+mn-ea"/>
                          <a:cs typeface="+mn-cs"/>
                        </a:rPr>
                        <a:t>LLM</a:t>
                      </a:r>
                      <a:r>
                        <a:rPr lang="zh-CN" altLang="en-US" sz="1400" b="1" kern="1200">
                          <a:solidFill>
                            <a:srgbClr val="5C307D"/>
                          </a:solidFill>
                          <a:latin typeface="+mn-lt"/>
                          <a:ea typeface="+mn-ea"/>
                          <a:cs typeface="+mn-cs"/>
                        </a:rPr>
                        <a:t>幻觉问题的处理</a:t>
                      </a:r>
                      <a:endParaRPr lang="zh-CN" altLang="en-US" sz="1400" b="1" kern="1200">
                        <a:solidFill>
                          <a:srgbClr val="5C307D"/>
                        </a:solidFill>
                        <a:latin typeface="+mn-lt"/>
                        <a:ea typeface="+mn-ea"/>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456565" rtl="0" eaLnBrk="1" latinLnBrk="0" hangingPunct="1"/>
                      <a:r>
                        <a:rPr lang="zh-CN" altLang="en-US" sz="1400" b="1" kern="1200">
                          <a:solidFill>
                            <a:srgbClr val="5C307D"/>
                          </a:solidFill>
                          <a:latin typeface="+mn-lt"/>
                          <a:ea typeface="+mn-ea"/>
                          <a:cs typeface="+mn-cs"/>
                        </a:rPr>
                        <a:t>适用场景</a:t>
                      </a:r>
                      <a:endParaRPr lang="zh-CN" altLang="en-US" sz="1400" b="1" kern="1200">
                        <a:solidFill>
                          <a:srgbClr val="5C307D"/>
                        </a:solidFill>
                        <a:latin typeface="+mn-lt"/>
                        <a:ea typeface="+mn-ea"/>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136053">
                <a:tc>
                  <a:txBody>
                    <a:bodyPr/>
                    <a:lstStyle/>
                    <a:p>
                      <a:pPr algn="ctr"/>
                      <a:r>
                        <a:rPr lang="en-US" altLang="zh-CN" sz="1400" b="1">
                          <a:solidFill>
                            <a:srgbClr val="000000"/>
                          </a:solidFill>
                        </a:rPr>
                        <a:t>LLM for code analysis</a:t>
                      </a:r>
                      <a:endParaRPr lang="zh-CN" altLang="en-US" sz="1400" b="1" dirty="0">
                        <a:solidFill>
                          <a:srgbClr val="000000"/>
                        </a:solidFill>
                      </a:endParaRPr>
                    </a:p>
                  </a:txBody>
                  <a:tcPr anchor="ctr">
                    <a:lnT w="12700" cap="flat" cmpd="sng" algn="ctr">
                      <a:solidFill>
                        <a:schemeClr val="tx1"/>
                      </a:solidFill>
                      <a:prstDash val="solid"/>
                      <a:round/>
                      <a:headEnd type="none" w="med" len="med"/>
                      <a:tailEnd type="none" w="med" len="med"/>
                    </a:lnT>
                  </a:tcPr>
                </a:tc>
                <a:tc>
                  <a:txBody>
                    <a:bodyPr/>
                    <a:lstStyle/>
                    <a:p>
                      <a:pPr algn="ctr"/>
                      <a:r>
                        <a:rPr lang="zh-CN" altLang="en-US" sz="1400">
                          <a:solidFill>
                            <a:srgbClr val="000000"/>
                          </a:solidFill>
                        </a:rPr>
                        <a:t>评判</a:t>
                      </a:r>
                      <a:r>
                        <a:rPr lang="en-US" altLang="zh-CN" sz="1400">
                          <a:solidFill>
                            <a:srgbClr val="000000"/>
                          </a:solidFill>
                        </a:rPr>
                        <a:t>LLM</a:t>
                      </a:r>
                      <a:r>
                        <a:rPr lang="zh-CN" altLang="en-US" sz="1400">
                          <a:solidFill>
                            <a:srgbClr val="000000"/>
                          </a:solidFill>
                        </a:rPr>
                        <a:t>的代码理解与分析能力</a:t>
                      </a:r>
                      <a:endParaRPr lang="zh-CN" altLang="en-US" sz="1400">
                        <a:solidFill>
                          <a:srgbClr val="000000"/>
                        </a:solidFill>
                      </a:endParaRPr>
                    </a:p>
                  </a:txBody>
                  <a:tcPr anchor="ctr">
                    <a:lnT w="12700" cap="flat" cmpd="sng" algn="ctr">
                      <a:solidFill>
                        <a:schemeClr val="tx1"/>
                      </a:solidFill>
                      <a:prstDash val="solid"/>
                      <a:round/>
                      <a:headEnd type="none" w="med" len="med"/>
                      <a:tailEnd type="none" w="med" len="med"/>
                    </a:lnT>
                  </a:tcPr>
                </a:tc>
                <a:tc>
                  <a:txBody>
                    <a:bodyPr/>
                    <a:lstStyle/>
                    <a:p>
                      <a:pPr marL="0" indent="0" algn="ctr">
                        <a:buFont typeface="Arial" panose="020B0604020202020204" pitchFamily="34" charset="0"/>
                        <a:buNone/>
                      </a:pPr>
                      <a:r>
                        <a:rPr lang="zh-CN" altLang="en-US" sz="1400"/>
                        <a:t>非混淆或经过混淆的代码文件</a:t>
                      </a:r>
                      <a:endParaRPr lang="zh-CN" altLang="en-US" sz="1400">
                        <a:solidFill>
                          <a:srgbClr val="000000"/>
                        </a:solidFill>
                      </a:endParaRPr>
                    </a:p>
                  </a:txBody>
                  <a:tcPr anchor="ctr">
                    <a:lnT w="12700" cap="flat" cmpd="sng" algn="ctr">
                      <a:solidFill>
                        <a:schemeClr val="tx1"/>
                      </a:solidFill>
                      <a:prstDash val="solid"/>
                      <a:round/>
                      <a:headEnd type="none" w="med" len="med"/>
                      <a:tailEnd type="none" w="med" len="med"/>
                    </a:lnT>
                  </a:tcPr>
                </a:tc>
                <a:tc>
                  <a:txBody>
                    <a:bodyPr/>
                    <a:lstStyle/>
                    <a:p>
                      <a:pPr marL="0" indent="0" algn="ctr">
                        <a:buFont typeface="Arial" panose="020B0604020202020204" pitchFamily="34" charset="0"/>
                        <a:buNone/>
                      </a:pPr>
                      <a:r>
                        <a:rPr lang="zh-CN" altLang="en-US" sz="1400"/>
                        <a:t>对代码功能的自然语言解释</a:t>
                      </a:r>
                      <a:endParaRPr lang="zh-CN" altLang="en-US" sz="1400">
                        <a:solidFill>
                          <a:srgbClr val="000000"/>
                        </a:solidFill>
                      </a:endParaRPr>
                    </a:p>
                  </a:txBody>
                  <a:tcPr anchor="ctr">
                    <a:lnT w="12700" cap="flat" cmpd="sng" algn="ctr">
                      <a:solidFill>
                        <a:schemeClr val="tx1"/>
                      </a:solidFill>
                      <a:prstDash val="solid"/>
                      <a:round/>
                      <a:headEnd type="none" w="med" len="med"/>
                      <a:tailEnd type="none" w="med" len="med"/>
                    </a:lnT>
                  </a:tcPr>
                </a:tc>
                <a:tc>
                  <a:txBody>
                    <a:bodyPr/>
                    <a:lstStyle/>
                    <a:p>
                      <a:pPr marL="0" indent="0" algn="ctr">
                        <a:buFont typeface="Arial" panose="020B0604020202020204" pitchFamily="34" charset="0"/>
                        <a:buNone/>
                      </a:pPr>
                      <a:r>
                        <a:rPr lang="zh-CN" altLang="en-US" sz="1400"/>
                        <a:t>人工核验把错误解释剔除，用多指标检验输出一致性</a:t>
                      </a:r>
                      <a:endParaRPr lang="zh-CN" altLang="en-US" sz="1400">
                        <a:solidFill>
                          <a:srgbClr val="000000"/>
                        </a:solidFill>
                      </a:endParaRPr>
                    </a:p>
                  </a:txBody>
                  <a:tcPr anchor="ctr">
                    <a:lnT w="12700" cap="flat" cmpd="sng" algn="ctr">
                      <a:solidFill>
                        <a:schemeClr val="tx1"/>
                      </a:solidFill>
                      <a:prstDash val="solid"/>
                      <a:round/>
                      <a:headEnd type="none" w="med" len="med"/>
                      <a:tailEnd type="none" w="med" len="med"/>
                    </a:lnT>
                  </a:tcPr>
                </a:tc>
                <a:tc>
                  <a:txBody>
                    <a:bodyPr/>
                    <a:lstStyle/>
                    <a:p>
                      <a:pPr marL="0" indent="0" algn="ctr">
                        <a:buFont typeface="Arial" panose="020B0604020202020204" pitchFamily="34" charset="0"/>
                        <a:buNone/>
                      </a:pPr>
                      <a:r>
                        <a:rPr lang="zh-CN" altLang="en-US" sz="1400">
                          <a:solidFill>
                            <a:srgbClr val="000000"/>
                          </a:solidFill>
                        </a:rPr>
                        <a:t>代码理解能力评测 </a:t>
                      </a:r>
                      <a:r>
                        <a:rPr lang="en-US" altLang="zh-CN" sz="1400">
                          <a:solidFill>
                            <a:srgbClr val="000000"/>
                          </a:solidFill>
                        </a:rPr>
                        <a:t>/ </a:t>
                      </a:r>
                      <a:r>
                        <a:rPr lang="zh-CN" altLang="en-US" sz="1400">
                          <a:solidFill>
                            <a:srgbClr val="000000"/>
                          </a:solidFill>
                        </a:rPr>
                        <a:t>混淆代码分析</a:t>
                      </a:r>
                      <a:endParaRPr lang="zh-CN" altLang="en-US" sz="1400">
                        <a:solidFill>
                          <a:srgbClr val="000000"/>
                        </a:solidFill>
                      </a:endParaRPr>
                    </a:p>
                  </a:txBody>
                  <a:tcPr anchor="ctr">
                    <a:lnT w="12700" cap="flat" cmpd="sng" algn="ctr">
                      <a:solidFill>
                        <a:schemeClr val="tx1"/>
                      </a:solidFill>
                      <a:prstDash val="solid"/>
                      <a:round/>
                      <a:headEnd type="none" w="med" len="med"/>
                      <a:tailEnd type="none" w="med" len="med"/>
                    </a:lnT>
                  </a:tcPr>
                </a:tc>
              </a:tr>
              <a:tr h="1136053">
                <a:tc>
                  <a:txBody>
                    <a:bodyPr/>
                    <a:lstStyle/>
                    <a:p>
                      <a:pPr algn="ctr"/>
                      <a:r>
                        <a:rPr lang="en-US" altLang="zh-CN" sz="1400" b="1">
                          <a:solidFill>
                            <a:srgbClr val="000000"/>
                          </a:solidFill>
                        </a:rPr>
                        <a:t>Beyond Classification</a:t>
                      </a:r>
                      <a:endParaRPr lang="zh-CN" altLang="en-US" sz="1400" b="1">
                        <a:solidFill>
                          <a:srgbClr val="000000"/>
                        </a:solidFill>
                      </a:endParaRPr>
                    </a:p>
                  </a:txBody>
                  <a:tcPr anchor="ctr"/>
                </a:tc>
                <a:tc>
                  <a:txBody>
                    <a:bodyPr/>
                    <a:lstStyle/>
                    <a:p>
                      <a:pPr algn="ctr"/>
                      <a:r>
                        <a:rPr lang="zh-CN" altLang="en-US" sz="1400">
                          <a:solidFill>
                            <a:srgbClr val="000000"/>
                          </a:solidFill>
                        </a:rPr>
                        <a:t>评判</a:t>
                      </a:r>
                      <a:r>
                        <a:rPr lang="en-US" altLang="zh-CN" sz="1400">
                          <a:solidFill>
                            <a:srgbClr val="000000"/>
                          </a:solidFill>
                        </a:rPr>
                        <a:t>LLM</a:t>
                      </a:r>
                      <a:r>
                        <a:rPr lang="zh-CN" altLang="en-US" sz="1400">
                          <a:solidFill>
                            <a:srgbClr val="000000"/>
                          </a:solidFill>
                        </a:rPr>
                        <a:t>在</a:t>
                      </a:r>
                      <a:r>
                        <a:rPr lang="en-US" altLang="zh-CN" sz="1400">
                          <a:solidFill>
                            <a:srgbClr val="000000"/>
                          </a:solidFill>
                        </a:rPr>
                        <a:t>Android</a:t>
                      </a:r>
                      <a:r>
                        <a:rPr lang="zh-CN" altLang="en-US" sz="1400">
                          <a:solidFill>
                            <a:srgbClr val="000000"/>
                          </a:solidFill>
                        </a:rPr>
                        <a:t>恶意软件审计中的能力</a:t>
                      </a:r>
                      <a:endParaRPr lang="zh-CN" altLang="en-US" sz="1400">
                        <a:solidFill>
                          <a:srgbClr val="000000"/>
                        </a:solidFill>
                      </a:endParaRPr>
                    </a:p>
                  </a:txBody>
                  <a:tcPr anchor="ctr"/>
                </a:tc>
                <a:tc>
                  <a:txBody>
                    <a:bodyPr/>
                    <a:lstStyle/>
                    <a:p>
                      <a:pPr algn="ctr"/>
                      <a:r>
                        <a:rPr lang="zh-CN" altLang="en-US" sz="1400" b="0"/>
                        <a:t>可达函数抽象成的四元组</a:t>
                      </a:r>
                      <a:r>
                        <a:rPr lang="en-US" altLang="zh-CN" sz="1400">
                          <a:solidFill>
                            <a:srgbClr val="3D3D3D"/>
                          </a:solidFill>
                        </a:rPr>
                        <a:t>&lt;signature, summary, sensitivity score&gt;</a:t>
                      </a:r>
                      <a:endParaRPr lang="zh-CN" altLang="en-US" sz="1400" b="0">
                        <a:solidFill>
                          <a:srgbClr val="000000"/>
                        </a:solidFill>
                      </a:endParaRPr>
                    </a:p>
                  </a:txBody>
                  <a:tcPr anchor="ctr"/>
                </a:tc>
                <a:tc>
                  <a:txBody>
                    <a:bodyPr/>
                    <a:lstStyle/>
                    <a:p>
                      <a:pPr algn="ctr"/>
                      <a:r>
                        <a:rPr lang="zh-CN" altLang="en-US" sz="1400"/>
                        <a:t>敏感函数排序、证据→函数归因、行为报告综合、对误判样本的反驳</a:t>
                      </a:r>
                      <a:r>
                        <a:rPr lang="en-US" altLang="zh-CN" sz="1400"/>
                        <a:t>/</a:t>
                      </a:r>
                      <a:r>
                        <a:rPr lang="zh-CN" altLang="en-US" sz="1400"/>
                        <a:t>判别</a:t>
                      </a:r>
                      <a:endParaRPr lang="zh-CN" altLang="en-US" sz="1400" b="0">
                        <a:solidFill>
                          <a:srgbClr val="000000"/>
                        </a:solidFill>
                      </a:endParaRPr>
                    </a:p>
                  </a:txBody>
                  <a:tcPr anchor="ctr"/>
                </a:tc>
                <a:tc>
                  <a:txBody>
                    <a:bodyPr/>
                    <a:lstStyle/>
                    <a:p>
                      <a:pPr algn="ctr"/>
                      <a:r>
                        <a:rPr lang="zh-CN" altLang="en-US" sz="1400"/>
                        <a:t>用“证据真实性</a:t>
                      </a:r>
                      <a:r>
                        <a:rPr lang="en-US" altLang="zh-CN" sz="1400"/>
                        <a:t>/</a:t>
                      </a:r>
                      <a:r>
                        <a:rPr lang="zh-CN" altLang="en-US" sz="1400"/>
                        <a:t>引用有效性”避免 </a:t>
                      </a:r>
                      <a:r>
                        <a:rPr lang="en-US" altLang="zh-CN" sz="1400"/>
                        <a:t>LLM </a:t>
                      </a:r>
                      <a:r>
                        <a:rPr lang="zh-CN" altLang="en-US" sz="1400"/>
                        <a:t>乱挂证据、编造引用</a:t>
                      </a:r>
                      <a:endParaRPr lang="zh-CN" altLang="en-US" sz="1400" b="0">
                        <a:solidFill>
                          <a:srgbClr val="000000"/>
                        </a:solidFill>
                      </a:endParaRPr>
                    </a:p>
                  </a:txBody>
                  <a:tcPr anchor="ctr"/>
                </a:tc>
                <a:tc>
                  <a:txBody>
                    <a:bodyPr/>
                    <a:lstStyle/>
                    <a:p>
                      <a:pPr algn="ctr"/>
                      <a:r>
                        <a:rPr lang="zh-CN" altLang="en-US" sz="1400"/>
                        <a:t>恶意行为审计评测 </a:t>
                      </a:r>
                      <a:r>
                        <a:rPr lang="en-US" altLang="zh-CN" sz="1400"/>
                        <a:t>/ </a:t>
                      </a:r>
                      <a:r>
                        <a:rPr lang="zh-CN" altLang="en-US" sz="1400"/>
                        <a:t>证据链分析</a:t>
                      </a:r>
                      <a:endParaRPr lang="zh-CN" altLang="en-US" sz="1400" b="0">
                        <a:solidFill>
                          <a:srgbClr val="000000"/>
                        </a:solidFill>
                      </a:endParaRPr>
                    </a:p>
                  </a:txBody>
                  <a:tcPr anchor="ctr"/>
                </a:tc>
              </a:tr>
              <a:tr h="1136053">
                <a:tc>
                  <a:txBody>
                    <a:bodyPr/>
                    <a:lstStyle/>
                    <a:p>
                      <a:pPr algn="ctr"/>
                      <a:r>
                        <a:rPr lang="en-US" altLang="zh-CN" sz="1400" b="1">
                          <a:solidFill>
                            <a:srgbClr val="000000"/>
                          </a:solidFill>
                        </a:rPr>
                        <a:t>DeGPT</a:t>
                      </a:r>
                      <a:endParaRPr lang="zh-CN" altLang="en-US" sz="1400" b="1">
                        <a:solidFill>
                          <a:srgbClr val="000000"/>
                        </a:solidFill>
                      </a:endParaRPr>
                    </a:p>
                  </a:txBody>
                  <a:tcPr anchor="ctr"/>
                </a:tc>
                <a:tc>
                  <a:txBody>
                    <a:bodyPr/>
                    <a:lstStyle/>
                    <a:p>
                      <a:pPr algn="ctr"/>
                      <a:r>
                        <a:rPr lang="zh-CN" altLang="en-US" sz="1400">
                          <a:solidFill>
                            <a:srgbClr val="000000"/>
                          </a:solidFill>
                        </a:rPr>
                        <a:t>弱自治智能体系统框架</a:t>
                      </a:r>
                      <a:endParaRPr lang="zh-CN" altLang="en-US" sz="1400">
                        <a:solidFill>
                          <a:srgbClr val="000000"/>
                        </a:solidFill>
                      </a:endParaRPr>
                    </a:p>
                  </a:txBody>
                  <a:tcPr anchor="ctr"/>
                </a:tc>
                <a:tc>
                  <a:txBody>
                    <a:bodyPr/>
                    <a:lstStyle/>
                    <a:p>
                      <a:pPr algn="ctr"/>
                      <a:r>
                        <a:rPr lang="zh-CN" altLang="en-US" sz="1400"/>
                        <a:t>反编译器的输出</a:t>
                      </a:r>
                      <a:endParaRPr lang="zh-CN" altLang="en-US" sz="1400">
                        <a:solidFill>
                          <a:srgbClr val="000000"/>
                        </a:solidFill>
                      </a:endParaRPr>
                    </a:p>
                  </a:txBody>
                  <a:tcPr anchor="ctr"/>
                </a:tc>
                <a:tc>
                  <a:txBody>
                    <a:bodyPr/>
                    <a:lstStyle/>
                    <a:p>
                      <a:pPr algn="ctr"/>
                      <a:r>
                        <a:rPr lang="zh-CN" altLang="en-US" sz="1400"/>
                        <a:t>可读性更强的反编译 </a:t>
                      </a:r>
                      <a:r>
                        <a:rPr lang="en-US" altLang="zh-CN" sz="1400"/>
                        <a:t>C </a:t>
                      </a:r>
                      <a:r>
                        <a:rPr lang="zh-CN" altLang="en-US" sz="1400"/>
                        <a:t>代码</a:t>
                      </a:r>
                      <a:endParaRPr lang="zh-CN" altLang="en-US" sz="1400">
                        <a:solidFill>
                          <a:srgbClr val="000000"/>
                        </a:solidFill>
                      </a:endParaRPr>
                    </a:p>
                  </a:txBody>
                  <a:tcPr anchor="ctr"/>
                </a:tc>
                <a:tc>
                  <a:txBody>
                    <a:bodyPr/>
                    <a:lstStyle/>
                    <a:p>
                      <a:pPr algn="ctr"/>
                      <a:r>
                        <a:rPr lang="en-US" altLang="zh-CN" sz="1400"/>
                        <a:t>Operator + MSSC </a:t>
                      </a:r>
                      <a:r>
                        <a:rPr lang="zh-CN" altLang="en-US" sz="1400"/>
                        <a:t>过滤并报告能检测出的有害修改</a:t>
                      </a:r>
                      <a:endParaRPr lang="zh-CN" altLang="en-US" sz="1400">
                        <a:solidFill>
                          <a:srgbClr val="000000"/>
                        </a:solidFill>
                      </a:endParaRPr>
                    </a:p>
                  </a:txBody>
                  <a:tcPr anchor="ctr"/>
                </a:tc>
                <a:tc>
                  <a:txBody>
                    <a:bodyPr/>
                    <a:lstStyle/>
                    <a:p>
                      <a:pPr algn="ctr"/>
                      <a:r>
                        <a:rPr lang="zh-CN" altLang="en-US" sz="1400"/>
                        <a:t>逆向工程 </a:t>
                      </a:r>
                      <a:r>
                        <a:rPr lang="en-US" altLang="zh-CN" sz="1400"/>
                        <a:t>/ </a:t>
                      </a:r>
                      <a:r>
                        <a:rPr lang="zh-CN" altLang="en-US" sz="1400"/>
                        <a:t>反编译可读性优化</a:t>
                      </a:r>
                      <a:endParaRPr lang="zh-CN" altLang="en-US" sz="1400">
                        <a:solidFill>
                          <a:srgbClr val="000000"/>
                        </a:solidFill>
                      </a:endParaRPr>
                    </a:p>
                  </a:txBody>
                  <a:tcPr anchor="ctr"/>
                </a:tc>
              </a:tr>
              <a:tr h="906959">
                <a:tc>
                  <a:txBody>
                    <a:bodyPr/>
                    <a:lstStyle/>
                    <a:p>
                      <a:pPr marL="0" marR="0" lvl="0" indent="0" algn="ctr" defTabSz="456565" rtl="0" eaLnBrk="1" fontAlgn="auto" latinLnBrk="0" hangingPunct="1">
                        <a:lnSpc>
                          <a:spcPct val="100000"/>
                        </a:lnSpc>
                        <a:spcBef>
                          <a:spcPts val="0"/>
                        </a:spcBef>
                        <a:spcAft>
                          <a:spcPts val="0"/>
                        </a:spcAft>
                        <a:buClrTx/>
                        <a:buSzTx/>
                        <a:buFontTx/>
                        <a:buNone/>
                        <a:defRPr/>
                      </a:pPr>
                      <a:r>
                        <a:rPr kumimoji="1" lang="en-US" altLang="zh-CN" sz="1400" b="1" cap="none">
                          <a:solidFill>
                            <a:schemeClr val="tx1"/>
                          </a:solidFill>
                        </a:rPr>
                        <a:t>AV-Agent</a:t>
                      </a:r>
                      <a:endParaRPr lang="zh-CN" altLang="en-US" sz="1400" b="1">
                        <a:solidFill>
                          <a:schemeClr val="tx1"/>
                        </a:solidFill>
                      </a:endParaRPr>
                    </a:p>
                  </a:txBody>
                  <a:tcPr anchor="ctr">
                    <a:lnB w="12700" cap="flat" cmpd="sng" algn="ctr">
                      <a:solidFill>
                        <a:schemeClr val="tx1"/>
                      </a:solidFill>
                      <a:prstDash val="solid"/>
                      <a:round/>
                      <a:headEnd type="none" w="med" len="med"/>
                      <a:tailEnd type="none" w="med" len="med"/>
                    </a:lnB>
                  </a:tcPr>
                </a:tc>
                <a:tc>
                  <a:txBody>
                    <a:bodyPr/>
                    <a:lstStyle/>
                    <a:p>
                      <a:pPr algn="ctr"/>
                      <a:r>
                        <a:rPr lang="zh-CN" altLang="en-US" sz="1400">
                          <a:solidFill>
                            <a:schemeClr val="tx1"/>
                          </a:solidFill>
                        </a:rPr>
                        <a:t>类智能体框架</a:t>
                      </a:r>
                      <a:endParaRPr lang="zh-CN" altLang="en-US" sz="1400">
                        <a:solidFill>
                          <a:schemeClr val="tx1"/>
                        </a:solidFill>
                      </a:endParaRPr>
                    </a:p>
                  </a:txBody>
                  <a:tcPr anchor="ctr">
                    <a:lnB w="12700" cap="flat" cmpd="sng" algn="ctr">
                      <a:solidFill>
                        <a:schemeClr val="tx1"/>
                      </a:solidFill>
                      <a:prstDash val="solid"/>
                      <a:round/>
                      <a:headEnd type="none" w="med" len="med"/>
                      <a:tailEnd type="none" w="med" len="med"/>
                    </a:lnB>
                  </a:tcPr>
                </a:tc>
                <a:tc>
                  <a:txBody>
                    <a:bodyPr/>
                    <a:lstStyle/>
                    <a:p>
                      <a:pPr algn="ctr"/>
                      <a:r>
                        <a:rPr lang="zh-CN" altLang="en-US" sz="1400"/>
                        <a:t>原始二进制先经特征提取与分类器得到的置信分数、关键字符</a:t>
                      </a:r>
                      <a:r>
                        <a:rPr lang="en-US" altLang="zh-CN" sz="1400"/>
                        <a:t>/</a:t>
                      </a:r>
                      <a:r>
                        <a:rPr lang="zh-CN" altLang="en-US" sz="1400"/>
                        <a:t>特征</a:t>
                      </a:r>
                      <a:endParaRPr lang="zh-CN" altLang="en-US" sz="1400">
                        <a:solidFill>
                          <a:schemeClr val="tx1"/>
                        </a:solidFill>
                      </a:endParaRPr>
                    </a:p>
                  </a:txBody>
                  <a:tcPr anchor="ctr">
                    <a:lnB w="12700" cap="flat" cmpd="sng" algn="ctr">
                      <a:solidFill>
                        <a:schemeClr val="tx1"/>
                      </a:solidFill>
                      <a:prstDash val="solid"/>
                      <a:round/>
                      <a:headEnd type="none" w="med" len="med"/>
                      <a:tailEnd type="none" w="med" len="med"/>
                    </a:lnB>
                  </a:tcPr>
                </a:tc>
                <a:tc>
                  <a:txBody>
                    <a:bodyPr/>
                    <a:lstStyle/>
                    <a:p>
                      <a:pPr algn="ctr"/>
                      <a:r>
                        <a:rPr lang="zh-CN" altLang="en-US" sz="1400"/>
                        <a:t>恶意软件分类结论 </a:t>
                      </a:r>
                      <a:r>
                        <a:rPr lang="en-US" altLang="zh-CN" sz="1400"/>
                        <a:t>+ </a:t>
                      </a:r>
                      <a:r>
                        <a:rPr lang="zh-CN" altLang="en-US" sz="1400"/>
                        <a:t>结构化分析过程</a:t>
                      </a:r>
                      <a:r>
                        <a:rPr lang="en-US" altLang="zh-CN" sz="1400"/>
                        <a:t>/</a:t>
                      </a:r>
                      <a:r>
                        <a:rPr lang="zh-CN" altLang="en-US" sz="1400"/>
                        <a:t>解释</a:t>
                      </a:r>
                      <a:endParaRPr lang="zh-CN" altLang="en-US" sz="1400">
                        <a:solidFill>
                          <a:schemeClr val="tx1"/>
                        </a:solidFill>
                      </a:endParaRPr>
                    </a:p>
                  </a:txBody>
                  <a:tcPr anchor="ctr">
                    <a:lnB w="12700" cap="flat" cmpd="sng" algn="ctr">
                      <a:solidFill>
                        <a:schemeClr val="tx1"/>
                      </a:solidFill>
                      <a:prstDash val="solid"/>
                      <a:round/>
                      <a:headEnd type="none" w="med" len="med"/>
                      <a:tailEnd type="none" w="med" len="med"/>
                    </a:lnB>
                  </a:tcPr>
                </a:tc>
                <a:tc>
                  <a:txBody>
                    <a:bodyPr/>
                    <a:lstStyle/>
                    <a:p>
                      <a:pPr algn="ctr"/>
                      <a:r>
                        <a:rPr lang="zh-CN" altLang="en-US" sz="1400"/>
                        <a:t>两阶段与结构化 </a:t>
                      </a:r>
                      <a:r>
                        <a:rPr lang="en-US" altLang="zh-CN" sz="1400"/>
                        <a:t>prompt </a:t>
                      </a:r>
                      <a:r>
                        <a:rPr lang="zh-CN" altLang="en-US" sz="1400"/>
                        <a:t>降低发散；强调生成不确定性，做稳定性测试</a:t>
                      </a:r>
                      <a:endParaRPr lang="zh-CN" altLang="en-US" sz="1400">
                        <a:solidFill>
                          <a:schemeClr val="tx1"/>
                        </a:solidFill>
                      </a:endParaRPr>
                    </a:p>
                  </a:txBody>
                  <a:tcPr anchor="ctr">
                    <a:lnB w="12700" cap="flat" cmpd="sng" algn="ctr">
                      <a:solidFill>
                        <a:schemeClr val="tx1"/>
                      </a:solidFill>
                      <a:prstDash val="solid"/>
                      <a:round/>
                      <a:headEnd type="none" w="med" len="med"/>
                      <a:tailEnd type="none" w="med" len="med"/>
                    </a:lnB>
                  </a:tcPr>
                </a:tc>
                <a:tc>
                  <a:txBody>
                    <a:bodyPr/>
                    <a:lstStyle/>
                    <a:p>
                      <a:pPr algn="ctr"/>
                      <a:r>
                        <a:rPr lang="zh-CN" altLang="en-US" sz="1400" dirty="0"/>
                        <a:t>可解释恶意软件分类</a:t>
                      </a:r>
                      <a:endParaRPr lang="zh-CN" altLang="en-US" sz="1400" dirty="0">
                        <a:solidFill>
                          <a:schemeClr val="tx1"/>
                        </a:solidFill>
                      </a:endParaRPr>
                    </a:p>
                  </a:txBody>
                  <a:tcPr anchor="ctr">
                    <a:lnB w="12700" cap="flat" cmpd="sng" algn="ctr">
                      <a:solidFill>
                        <a:schemeClr val="tx1"/>
                      </a:solidFill>
                      <a:prstDash val="solid"/>
                      <a:round/>
                      <a:headEnd type="none" w="med" len="med"/>
                      <a:tailEnd type="none" w="med" len="med"/>
                    </a:lnB>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kumimoji="1" lang="zh-CN" altLang="en-US"/>
              <a:t>总结</a:t>
            </a:r>
            <a:endParaRPr kumimoji="1" lang="zh-CN"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kumimoji="1" lang="zh-CN" altLang="en-US"/>
              <a:t>总结</a:t>
            </a:r>
            <a:endParaRPr kumimoji="1" lang="zh-CN" altLang="en-US"/>
          </a:p>
        </p:txBody>
      </p:sp>
      <p:sp>
        <p:nvSpPr>
          <p:cNvPr id="5" name="文本框 4"/>
          <p:cNvSpPr txBox="1"/>
          <p:nvPr/>
        </p:nvSpPr>
        <p:spPr>
          <a:xfrm>
            <a:off x="9086848" y="3095811"/>
            <a:ext cx="2938238" cy="2585323"/>
          </a:xfrm>
          <a:prstGeom prst="rect">
            <a:avLst/>
          </a:prstGeom>
          <a:noFill/>
        </p:spPr>
        <p:txBody>
          <a:bodyPr wrap="square">
            <a:spAutoFit/>
          </a:bodyPr>
          <a:lstStyle/>
          <a:p>
            <a:pPr algn="ctr"/>
            <a:r>
              <a:rPr lang="zh-CN" altLang="en-US" b="1">
                <a:solidFill>
                  <a:srgbClr val="5C307D"/>
                </a:solidFill>
              </a:rPr>
              <a:t>构建智能体“分析师”</a:t>
            </a:r>
            <a:endParaRPr lang="en-US" altLang="zh-CN" b="1">
              <a:solidFill>
                <a:srgbClr val="5C307D"/>
              </a:solidFill>
            </a:endParaRPr>
          </a:p>
          <a:p>
            <a:endParaRPr lang="en-US" altLang="zh-CN" sz="1600"/>
          </a:p>
          <a:p>
            <a:pPr marL="285750" indent="-285750">
              <a:buFont typeface="Wingdings" panose="05000000000000000000" pitchFamily="2" charset="2"/>
              <a:buChar char="Ø"/>
            </a:pPr>
            <a:r>
              <a:rPr lang="zh-CN" altLang="en-US" sz="1600" b="1"/>
              <a:t>目标：</a:t>
            </a:r>
            <a:r>
              <a:rPr lang="zh-CN" altLang="en-US" sz="1600"/>
              <a:t>主动规划、决策和执行整个恶意代码分析流程</a:t>
            </a:r>
            <a:endParaRPr lang="en-US" altLang="zh-CN" sz="1600"/>
          </a:p>
          <a:p>
            <a:pPr marL="285750" indent="-285750">
              <a:buFont typeface="Wingdings" panose="05000000000000000000" pitchFamily="2" charset="2"/>
              <a:buChar char="Ø"/>
            </a:pPr>
            <a:r>
              <a:rPr lang="zh-CN" altLang="en-US" sz="1600" b="1"/>
              <a:t>关键技术：</a:t>
            </a:r>
            <a:r>
              <a:rPr lang="zh-CN" altLang="en-US" sz="1600"/>
              <a:t>多智能体协作、工具调用与闭环反馈、分阶段推理与证据管理</a:t>
            </a:r>
            <a:endParaRPr lang="en-US" altLang="zh-CN" sz="1600"/>
          </a:p>
          <a:p>
            <a:pPr marL="285750" indent="-285750">
              <a:buFont typeface="Wingdings" panose="05000000000000000000" pitchFamily="2" charset="2"/>
              <a:buChar char="Ø"/>
            </a:pPr>
            <a:r>
              <a:rPr lang="zh-CN" altLang="en-US" sz="1600" b="1"/>
              <a:t>局限：</a:t>
            </a:r>
            <a:r>
              <a:rPr lang="zh-CN" altLang="en-US" sz="1600"/>
              <a:t>提示词敏感、成本效率、对抗性弱、评估体系不完善</a:t>
            </a:r>
            <a:endParaRPr lang="en-US" altLang="zh-CN" sz="1600"/>
          </a:p>
        </p:txBody>
      </p:sp>
      <p:sp>
        <p:nvSpPr>
          <p:cNvPr id="7" name="文本框 6"/>
          <p:cNvSpPr txBox="1"/>
          <p:nvPr/>
        </p:nvSpPr>
        <p:spPr>
          <a:xfrm>
            <a:off x="139701" y="3095811"/>
            <a:ext cx="2769506" cy="1877437"/>
          </a:xfrm>
          <a:prstGeom prst="rect">
            <a:avLst/>
          </a:prstGeom>
          <a:noFill/>
        </p:spPr>
        <p:txBody>
          <a:bodyPr wrap="square">
            <a:spAutoFit/>
          </a:bodyPr>
          <a:lstStyle/>
          <a:p>
            <a:pPr algn="ctr"/>
            <a:r>
              <a:rPr lang="zh-CN" altLang="en-US" b="1">
                <a:solidFill>
                  <a:srgbClr val="5C307D"/>
                </a:solidFill>
              </a:rPr>
              <a:t>传统恶意软件检测技术</a:t>
            </a:r>
            <a:endParaRPr lang="en-US" altLang="zh-CN" b="1">
              <a:solidFill>
                <a:srgbClr val="5C307D"/>
              </a:solidFill>
            </a:endParaRPr>
          </a:p>
          <a:p>
            <a:endParaRPr lang="en-US" altLang="zh-CN" sz="1600"/>
          </a:p>
          <a:p>
            <a:pPr marL="285750" indent="-285750">
              <a:buFont typeface="Wingdings" panose="05000000000000000000" pitchFamily="2" charset="2"/>
              <a:buChar char="Ø"/>
            </a:pPr>
            <a:r>
              <a:rPr lang="zh-CN" altLang="en-US" sz="1600" b="1"/>
              <a:t>目标：</a:t>
            </a:r>
            <a:r>
              <a:rPr lang="zh-CN" altLang="en-US" sz="1600"/>
              <a:t>提取语义、关系、时序、结构特征</a:t>
            </a:r>
            <a:endParaRPr lang="en-US" altLang="zh-CN" sz="1600"/>
          </a:p>
          <a:p>
            <a:pPr marL="285750" indent="-285750">
              <a:buFont typeface="Wingdings" panose="05000000000000000000" pitchFamily="2" charset="2"/>
              <a:buChar char="Ø"/>
            </a:pPr>
            <a:r>
              <a:rPr lang="zh-CN" altLang="en-US" sz="1600" b="1"/>
              <a:t>关键技术：</a:t>
            </a:r>
            <a:r>
              <a:rPr lang="zh-CN" altLang="en-US" sz="1600"/>
              <a:t>语义聚类、元路径 、马尔科夫链等等</a:t>
            </a:r>
            <a:endParaRPr lang="en-US" altLang="zh-CN" sz="1600"/>
          </a:p>
          <a:p>
            <a:pPr marL="285750" indent="-285750">
              <a:buFont typeface="Wingdings" panose="05000000000000000000" pitchFamily="2" charset="2"/>
              <a:buChar char="Ø"/>
            </a:pPr>
            <a:r>
              <a:rPr lang="zh-CN" altLang="en-US" sz="1600" b="1"/>
              <a:t>局限：</a:t>
            </a:r>
            <a:r>
              <a:rPr lang="zh-CN" altLang="en-US" sz="1600"/>
              <a:t>依赖人工特征建模</a:t>
            </a:r>
            <a:endParaRPr lang="zh-CN" altLang="en-US" sz="1600"/>
          </a:p>
        </p:txBody>
      </p:sp>
      <p:sp>
        <p:nvSpPr>
          <p:cNvPr id="9" name="文本框 8"/>
          <p:cNvSpPr txBox="1"/>
          <p:nvPr/>
        </p:nvSpPr>
        <p:spPr>
          <a:xfrm>
            <a:off x="2909207" y="3095811"/>
            <a:ext cx="3404507" cy="2123658"/>
          </a:xfrm>
          <a:prstGeom prst="rect">
            <a:avLst/>
          </a:prstGeom>
          <a:noFill/>
        </p:spPr>
        <p:txBody>
          <a:bodyPr wrap="square">
            <a:spAutoFit/>
          </a:bodyPr>
          <a:lstStyle/>
          <a:p>
            <a:pPr algn="ctr"/>
            <a:r>
              <a:rPr lang="zh-CN" altLang="en-US" b="1">
                <a:solidFill>
                  <a:srgbClr val="5C307D"/>
                </a:solidFill>
              </a:rPr>
              <a:t>表征驱动，鲁棒化恶意软件分类</a:t>
            </a:r>
            <a:endParaRPr lang="en-US" altLang="zh-CN" b="1">
              <a:solidFill>
                <a:srgbClr val="5C307D"/>
              </a:solidFill>
            </a:endParaRPr>
          </a:p>
          <a:p>
            <a:pPr algn="ctr"/>
            <a:endParaRPr lang="en-US" altLang="zh-CN" b="1">
              <a:solidFill>
                <a:srgbClr val="5C307D"/>
              </a:solidFill>
            </a:endParaRPr>
          </a:p>
          <a:p>
            <a:pPr marL="285750" indent="-285750">
              <a:buFont typeface="Wingdings" panose="05000000000000000000" pitchFamily="2" charset="2"/>
              <a:buChar char="Ø"/>
            </a:pPr>
            <a:r>
              <a:rPr lang="zh-CN" altLang="en-US" sz="1600" b="1"/>
              <a:t>目标：</a:t>
            </a:r>
            <a:r>
              <a:rPr lang="zh-CN" altLang="en-US" sz="1600"/>
              <a:t>标签噪声、概念漂移、样本不均衡</a:t>
            </a:r>
            <a:endParaRPr lang="en-US" altLang="zh-CN" sz="1600"/>
          </a:p>
          <a:p>
            <a:pPr marL="285750" indent="-285750">
              <a:buFont typeface="Wingdings" panose="05000000000000000000" pitchFamily="2" charset="2"/>
              <a:buChar char="Ø"/>
            </a:pPr>
            <a:r>
              <a:rPr lang="zh-CN" altLang="en-US" sz="1600" b="1"/>
              <a:t>关键技术：</a:t>
            </a:r>
            <a:r>
              <a:rPr lang="zh-CN" altLang="en-US" sz="1600"/>
              <a:t>差分训练、对比学习、域自适应等等</a:t>
            </a:r>
            <a:endParaRPr lang="en-US" altLang="zh-CN" sz="1600"/>
          </a:p>
          <a:p>
            <a:pPr marL="285750" indent="-285750">
              <a:buFont typeface="Wingdings" panose="05000000000000000000" pitchFamily="2" charset="2"/>
              <a:buChar char="Ø"/>
            </a:pPr>
            <a:r>
              <a:rPr lang="zh-CN" altLang="en-US" sz="1600" b="1"/>
              <a:t>局限：</a:t>
            </a:r>
            <a:r>
              <a:rPr lang="zh-CN" altLang="en-US" sz="1600"/>
              <a:t>依赖标注、平台适配性、分析工具限制</a:t>
            </a:r>
            <a:endParaRPr lang="zh-CN" altLang="en-US" sz="1600"/>
          </a:p>
        </p:txBody>
      </p:sp>
      <p:sp>
        <p:nvSpPr>
          <p:cNvPr id="11" name="文本框 10"/>
          <p:cNvSpPr txBox="1"/>
          <p:nvPr/>
        </p:nvSpPr>
        <p:spPr>
          <a:xfrm>
            <a:off x="6313714" y="3095811"/>
            <a:ext cx="2769506" cy="2585323"/>
          </a:xfrm>
          <a:prstGeom prst="rect">
            <a:avLst/>
          </a:prstGeom>
          <a:noFill/>
        </p:spPr>
        <p:txBody>
          <a:bodyPr wrap="square">
            <a:spAutoFit/>
          </a:bodyPr>
          <a:lstStyle/>
          <a:p>
            <a:pPr algn="ctr"/>
            <a:r>
              <a:rPr lang="zh-CN" altLang="en-US" b="1">
                <a:solidFill>
                  <a:srgbClr val="5C307D"/>
                </a:solidFill>
              </a:rPr>
              <a:t>走向“理解”恶意软件</a:t>
            </a:r>
            <a:endParaRPr lang="en-US" altLang="zh-CN" b="1">
              <a:solidFill>
                <a:srgbClr val="5C307D"/>
              </a:solidFill>
            </a:endParaRPr>
          </a:p>
          <a:p>
            <a:endParaRPr lang="en-US" altLang="zh-CN" sz="1600"/>
          </a:p>
          <a:p>
            <a:pPr marL="285750" indent="-285750">
              <a:buFont typeface="Wingdings" panose="05000000000000000000" pitchFamily="2" charset="2"/>
              <a:buChar char="Ø"/>
            </a:pPr>
            <a:r>
              <a:rPr lang="zh-CN" altLang="en-US" sz="1600" b="1"/>
              <a:t>目标：</a:t>
            </a:r>
            <a:r>
              <a:rPr lang="zh-CN" altLang="en-US" sz="1600"/>
              <a:t>符号恢复、恶意代码解释</a:t>
            </a:r>
            <a:endParaRPr lang="en-US" altLang="zh-CN" sz="1600"/>
          </a:p>
          <a:p>
            <a:pPr marL="285750" indent="-285750">
              <a:buFont typeface="Wingdings" panose="05000000000000000000" pitchFamily="2" charset="2"/>
              <a:buChar char="Ø"/>
            </a:pPr>
            <a:r>
              <a:rPr lang="zh-CN" altLang="en-US" sz="1600" b="1"/>
              <a:t>关键技术：</a:t>
            </a:r>
            <a:r>
              <a:rPr lang="zh-CN" altLang="en-US" sz="1600"/>
              <a:t>微调、提示工程、思维链、逻辑推理等等</a:t>
            </a:r>
            <a:endParaRPr lang="en-US" altLang="zh-CN" sz="1600"/>
          </a:p>
          <a:p>
            <a:pPr marL="285750" indent="-285750">
              <a:buFont typeface="Wingdings" panose="05000000000000000000" pitchFamily="2" charset="2"/>
              <a:buChar char="Ø"/>
            </a:pPr>
            <a:r>
              <a:rPr lang="zh-CN" altLang="en-US" sz="1600" b="1"/>
              <a:t>局限：</a:t>
            </a:r>
            <a:r>
              <a:rPr lang="zh-CN" altLang="en-US" sz="1600"/>
              <a:t>幻觉问题、上下文长度、跨语言能力弱、成本高</a:t>
            </a:r>
            <a:endParaRPr lang="zh-CN" altLang="en-US" sz="1600"/>
          </a:p>
        </p:txBody>
      </p:sp>
      <p:sp>
        <p:nvSpPr>
          <p:cNvPr id="13" name="文本框 12"/>
          <p:cNvSpPr txBox="1"/>
          <p:nvPr/>
        </p:nvSpPr>
        <p:spPr>
          <a:xfrm>
            <a:off x="764182" y="1763359"/>
            <a:ext cx="10721694" cy="461665"/>
          </a:xfrm>
          <a:prstGeom prst="rect">
            <a:avLst/>
          </a:prstGeom>
          <a:noFill/>
        </p:spPr>
        <p:txBody>
          <a:bodyPr wrap="square">
            <a:spAutoFit/>
          </a:bodyPr>
          <a:lstStyle/>
          <a:p>
            <a:pPr algn="ctr"/>
            <a:r>
              <a:rPr lang="zh-CN" altLang="en-US" sz="2400" b="1">
                <a:solidFill>
                  <a:srgbClr val="5C307D"/>
                </a:solidFill>
              </a:rPr>
              <a:t>目标：</a:t>
            </a:r>
            <a:r>
              <a:rPr lang="zh-CN" altLang="en-US" sz="2400">
                <a:solidFill>
                  <a:srgbClr val="5C307D"/>
                </a:solidFill>
              </a:rPr>
              <a:t>自动化、可解释、强适应、低成本的下一代恶意软件分析系统</a:t>
            </a:r>
            <a:endParaRPr lang="zh-CN" altLang="en-US" sz="2400">
              <a:solidFill>
                <a:srgbClr val="5C307D"/>
              </a:solidFill>
            </a:endParaRPr>
          </a:p>
        </p:txBody>
      </p:sp>
      <p:cxnSp>
        <p:nvCxnSpPr>
          <p:cNvPr id="15" name="直接连接符 14"/>
          <p:cNvCxnSpPr/>
          <p:nvPr/>
        </p:nvCxnSpPr>
        <p:spPr>
          <a:xfrm>
            <a:off x="333829" y="2748644"/>
            <a:ext cx="11582400" cy="0"/>
          </a:xfrm>
          <a:prstGeom prst="line">
            <a:avLst/>
          </a:prstGeom>
          <a:ln w="76200">
            <a:solidFill>
              <a:schemeClr val="accent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9" name="椭圆 18"/>
          <p:cNvSpPr/>
          <p:nvPr/>
        </p:nvSpPr>
        <p:spPr>
          <a:xfrm>
            <a:off x="1323326" y="2482844"/>
            <a:ext cx="531599" cy="531599"/>
          </a:xfrm>
          <a:prstGeom prst="ellipse">
            <a:avLst/>
          </a:prstGeom>
          <a:solidFill>
            <a:schemeClr val="accent2"/>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a:t>1</a:t>
            </a:r>
            <a:endParaRPr lang="zh-CN" altLang="en-US" sz="3200"/>
          </a:p>
        </p:txBody>
      </p:sp>
      <p:sp>
        <p:nvSpPr>
          <p:cNvPr id="23" name="椭圆 22"/>
          <p:cNvSpPr/>
          <p:nvPr/>
        </p:nvSpPr>
        <p:spPr>
          <a:xfrm>
            <a:off x="4480863" y="2482844"/>
            <a:ext cx="531599" cy="531599"/>
          </a:xfrm>
          <a:prstGeom prst="ellipse">
            <a:avLst/>
          </a:prstGeom>
          <a:solidFill>
            <a:schemeClr val="accent2"/>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a:t>2</a:t>
            </a:r>
            <a:endParaRPr lang="zh-CN" altLang="en-US" sz="3200"/>
          </a:p>
        </p:txBody>
      </p:sp>
      <p:sp>
        <p:nvSpPr>
          <p:cNvPr id="24" name="椭圆 23"/>
          <p:cNvSpPr/>
          <p:nvPr/>
        </p:nvSpPr>
        <p:spPr>
          <a:xfrm>
            <a:off x="7432667" y="2482844"/>
            <a:ext cx="531599" cy="531599"/>
          </a:xfrm>
          <a:prstGeom prst="ellipse">
            <a:avLst/>
          </a:prstGeom>
          <a:solidFill>
            <a:schemeClr val="accent2"/>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a:t>3</a:t>
            </a:r>
            <a:endParaRPr lang="zh-CN" altLang="en-US" sz="3200"/>
          </a:p>
        </p:txBody>
      </p:sp>
      <p:sp>
        <p:nvSpPr>
          <p:cNvPr id="25" name="椭圆 24"/>
          <p:cNvSpPr/>
          <p:nvPr/>
        </p:nvSpPr>
        <p:spPr>
          <a:xfrm>
            <a:off x="10290167" y="2482844"/>
            <a:ext cx="531599" cy="531599"/>
          </a:xfrm>
          <a:prstGeom prst="ellipse">
            <a:avLst/>
          </a:prstGeom>
          <a:solidFill>
            <a:schemeClr val="accent2"/>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a:t>4</a:t>
            </a:r>
            <a:endParaRPr lang="zh-CN" altLang="en-US" sz="3200"/>
          </a:p>
        </p:txBody>
      </p:sp>
      <p:cxnSp>
        <p:nvCxnSpPr>
          <p:cNvPr id="27" name="直接连接符 26"/>
          <p:cNvCxnSpPr/>
          <p:nvPr/>
        </p:nvCxnSpPr>
        <p:spPr>
          <a:xfrm>
            <a:off x="2891064" y="3188361"/>
            <a:ext cx="0" cy="2685389"/>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6313714" y="3188361"/>
            <a:ext cx="0" cy="2685389"/>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9083220" y="3188361"/>
            <a:ext cx="0" cy="2685389"/>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1944317" y="1997839"/>
            <a:ext cx="8675785" cy="2862322"/>
          </a:xfrm>
          <a:prstGeom prst="rect">
            <a:avLst/>
          </a:prstGeom>
          <a:noFill/>
        </p:spPr>
        <p:txBody>
          <a:bodyPr wrap="square" rtlCol="0">
            <a:spAutoFit/>
          </a:bodyPr>
          <a:lstStyle/>
          <a:p>
            <a:pPr marL="342900" indent="-342900">
              <a:buFont typeface="Wingdings" panose="05000000000000000000" pitchFamily="2" charset="2"/>
              <a:buChar char="Ø"/>
            </a:pPr>
            <a:r>
              <a:rPr kumimoji="1" lang="en-US" altLang="zh-CN" sz="2000"/>
              <a:t>Level1 </a:t>
            </a:r>
            <a:r>
              <a:rPr kumimoji="1" lang="zh-CN" altLang="en-US" sz="2000"/>
              <a:t>传统恶意软件检测技术（</a:t>
            </a:r>
            <a:r>
              <a:rPr kumimoji="1" lang="en-US" altLang="zh-CN" sz="2000"/>
              <a:t>4</a:t>
            </a:r>
            <a:r>
              <a:rPr kumimoji="1" lang="zh-CN" altLang="en-US" sz="2000"/>
              <a:t>篇）：盖乐</a:t>
            </a:r>
            <a:endParaRPr kumimoji="1" lang="en-US" altLang="zh-CN" sz="2000"/>
          </a:p>
          <a:p>
            <a:pPr marL="342900" indent="-342900">
              <a:buFont typeface="Wingdings" panose="05000000000000000000" pitchFamily="2" charset="2"/>
              <a:buChar char="Ø"/>
            </a:pPr>
            <a:endParaRPr kumimoji="1" lang="en-US" altLang="zh-CN" sz="2000"/>
          </a:p>
          <a:p>
            <a:pPr marL="342900" indent="-342900">
              <a:buFont typeface="Wingdings" panose="05000000000000000000" pitchFamily="2" charset="2"/>
              <a:buChar char="Ø"/>
            </a:pPr>
            <a:r>
              <a:rPr kumimoji="1" lang="en-US" altLang="zh-CN" sz="2000"/>
              <a:t>Level2 </a:t>
            </a:r>
            <a:r>
              <a:rPr kumimoji="1" lang="zh-CN" altLang="en-US" sz="2000"/>
              <a:t>表征驱动，鲁棒化恶意软件分类（前</a:t>
            </a:r>
            <a:r>
              <a:rPr kumimoji="1" lang="en-US" altLang="zh-CN" sz="2000"/>
              <a:t>4</a:t>
            </a:r>
            <a:r>
              <a:rPr kumimoji="1" lang="zh-CN" altLang="en-US" sz="2000"/>
              <a:t>篇）：陈昕怡</a:t>
            </a:r>
            <a:endParaRPr kumimoji="1" lang="en-US" altLang="zh-CN" sz="2000"/>
          </a:p>
          <a:p>
            <a:pPr marL="342900" indent="-342900">
              <a:buFont typeface="Wingdings" panose="05000000000000000000" pitchFamily="2" charset="2"/>
              <a:buChar char="Ø"/>
            </a:pPr>
            <a:endParaRPr kumimoji="1" lang="en-US" altLang="zh-CN" sz="2000"/>
          </a:p>
          <a:p>
            <a:pPr marL="342900" indent="-342900">
              <a:buFont typeface="Wingdings" panose="05000000000000000000" pitchFamily="2" charset="2"/>
              <a:buChar char="Ø"/>
            </a:pPr>
            <a:r>
              <a:rPr kumimoji="1" lang="en-US" altLang="zh-CN" sz="2000"/>
              <a:t>Level2 </a:t>
            </a:r>
            <a:r>
              <a:rPr kumimoji="1" lang="zh-CN" altLang="en-US" sz="2000"/>
              <a:t>表征驱动，鲁棒化恶意软件分类（后</a:t>
            </a:r>
            <a:r>
              <a:rPr kumimoji="1" lang="en-US" altLang="zh-CN" sz="2000"/>
              <a:t>4</a:t>
            </a:r>
            <a:r>
              <a:rPr kumimoji="1" lang="zh-CN" altLang="en-US" sz="2000"/>
              <a:t>篇）：王迪</a:t>
            </a:r>
            <a:endParaRPr kumimoji="1" lang="en-US" altLang="zh-CN" sz="2000"/>
          </a:p>
          <a:p>
            <a:pPr marL="342900" indent="-342900">
              <a:buFont typeface="Wingdings" panose="05000000000000000000" pitchFamily="2" charset="2"/>
              <a:buChar char="Ø"/>
            </a:pPr>
            <a:endParaRPr kumimoji="1" lang="en-US" altLang="zh-CN" sz="2000"/>
          </a:p>
          <a:p>
            <a:pPr marL="342900" indent="-342900">
              <a:buFont typeface="Wingdings" panose="05000000000000000000" pitchFamily="2" charset="2"/>
              <a:buChar char="Ø"/>
            </a:pPr>
            <a:r>
              <a:rPr kumimoji="1" lang="en-US" altLang="zh-CN" sz="2000"/>
              <a:t>Level3 </a:t>
            </a:r>
            <a:r>
              <a:rPr kumimoji="1" lang="zh-CN" altLang="en-US" sz="2000"/>
              <a:t>走向“理解”恶意软件（</a:t>
            </a:r>
            <a:r>
              <a:rPr kumimoji="1" lang="en-US" altLang="zh-CN" sz="2000"/>
              <a:t>4</a:t>
            </a:r>
            <a:r>
              <a:rPr kumimoji="1" lang="zh-CN" altLang="en-US" sz="2000"/>
              <a:t>篇） ：贾泽栋</a:t>
            </a:r>
            <a:endParaRPr kumimoji="1" lang="en-US" altLang="zh-CN" sz="2000"/>
          </a:p>
          <a:p>
            <a:pPr marL="342900" indent="-342900">
              <a:buFont typeface="Wingdings" panose="05000000000000000000" pitchFamily="2" charset="2"/>
              <a:buChar char="Ø"/>
            </a:pPr>
            <a:endParaRPr kumimoji="1" lang="en-US" altLang="zh-CN" sz="2000"/>
          </a:p>
          <a:p>
            <a:pPr marL="342900" indent="-342900">
              <a:buFont typeface="Wingdings" panose="05000000000000000000" pitchFamily="2" charset="2"/>
              <a:buChar char="Ø"/>
            </a:pPr>
            <a:r>
              <a:rPr kumimoji="1" lang="en-US" altLang="zh-CN" sz="2000"/>
              <a:t>Level4 </a:t>
            </a:r>
            <a:r>
              <a:rPr kumimoji="1" lang="zh-CN" altLang="en-US" sz="2000"/>
              <a:t>构建智能体“分析师”（</a:t>
            </a:r>
            <a:r>
              <a:rPr kumimoji="1" lang="en-US" altLang="zh-CN" sz="2000"/>
              <a:t>4</a:t>
            </a:r>
            <a:r>
              <a:rPr kumimoji="1" lang="zh-CN" altLang="en-US" sz="2000"/>
              <a:t>篇） ：陈奕昊</a:t>
            </a:r>
            <a:endParaRPr kumimoji="1" lang="en-US" altLang="zh-CN" sz="2000"/>
          </a:p>
        </p:txBody>
      </p:sp>
      <p:sp>
        <p:nvSpPr>
          <p:cNvPr id="2" name="文本框 1"/>
          <p:cNvSpPr txBox="1"/>
          <p:nvPr/>
        </p:nvSpPr>
        <p:spPr>
          <a:xfrm>
            <a:off x="5067513" y="420686"/>
            <a:ext cx="2056973" cy="461665"/>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a:ln>
                  <a:noFill/>
                </a:ln>
                <a:solidFill>
                  <a:srgbClr val="5C307D"/>
                </a:solidFill>
                <a:effectLst/>
                <a:uLnTx/>
                <a:uFillTx/>
                <a:latin typeface="Times New Roman" panose="02020603050405020304"/>
                <a:ea typeface="华文中宋" panose="02010600040101010101" charset="-122"/>
                <a:cs typeface="+mn-cs"/>
              </a:rPr>
              <a:t>SoK </a:t>
            </a:r>
            <a:r>
              <a:rPr kumimoji="0" lang="zh-CN" altLang="en-US" sz="2400" b="1" i="0" u="none" strike="noStrike" kern="1200" cap="none" spc="0" normalizeH="0" baseline="0" noProof="0">
                <a:ln>
                  <a:noFill/>
                </a:ln>
                <a:solidFill>
                  <a:srgbClr val="5C307D"/>
                </a:solidFill>
                <a:effectLst/>
                <a:uLnTx/>
                <a:uFillTx/>
                <a:latin typeface="Times New Roman" panose="02020603050405020304"/>
                <a:ea typeface="华文中宋" panose="02010600040101010101" charset="-122"/>
                <a:cs typeface="+mn-cs"/>
              </a:rPr>
              <a:t>小组分工</a:t>
            </a:r>
            <a:endParaRPr kumimoji="0" lang="zh-CN" altLang="en-US" sz="2400" b="1" i="0" u="none" strike="noStrike" kern="1200" cap="none" spc="0" normalizeH="0" baseline="0" noProof="0">
              <a:ln>
                <a:noFill/>
              </a:ln>
              <a:solidFill>
                <a:srgbClr val="5C307D"/>
              </a:solidFill>
              <a:effectLst/>
              <a:uLnTx/>
              <a:uFillTx/>
              <a:latin typeface="Times New Roman" panose="02020603050405020304"/>
              <a:ea typeface="华文中宋" panose="02010600040101010101" charset="-122"/>
              <a:cs typeface="+mn-cs"/>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388113" y="237197"/>
            <a:ext cx="1415772" cy="461665"/>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a:ln>
                  <a:noFill/>
                </a:ln>
                <a:solidFill>
                  <a:srgbClr val="5C307D"/>
                </a:solidFill>
                <a:effectLst/>
                <a:uLnTx/>
                <a:uFillTx/>
                <a:latin typeface="Times New Roman" panose="02020603050405020304"/>
                <a:ea typeface="华文中宋" panose="02010600040101010101" charset="-122"/>
                <a:cs typeface="+mn-cs"/>
              </a:rPr>
              <a:t>论文列表</a:t>
            </a:r>
            <a:endParaRPr kumimoji="0" lang="zh-CN" altLang="en-US" sz="2400" b="1" i="0" u="none" strike="noStrike" kern="1200" cap="none" spc="0" normalizeH="0" baseline="0" noProof="0">
              <a:ln>
                <a:noFill/>
              </a:ln>
              <a:solidFill>
                <a:srgbClr val="5C307D"/>
              </a:solidFill>
              <a:effectLst/>
              <a:uLnTx/>
              <a:uFillTx/>
              <a:latin typeface="Times New Roman" panose="02020603050405020304"/>
              <a:ea typeface="华文中宋" panose="02010600040101010101" charset="-122"/>
              <a:cs typeface="+mn-cs"/>
            </a:endParaRPr>
          </a:p>
        </p:txBody>
      </p:sp>
      <p:graphicFrame>
        <p:nvGraphicFramePr>
          <p:cNvPr id="3" name="表格 2"/>
          <p:cNvGraphicFramePr>
            <a:graphicFrameLocks noGrp="1"/>
          </p:cNvGraphicFramePr>
          <p:nvPr/>
        </p:nvGraphicFramePr>
        <p:xfrm>
          <a:off x="1275347" y="698862"/>
          <a:ext cx="10518372" cy="5382260"/>
        </p:xfrm>
        <a:graphic>
          <a:graphicData uri="http://schemas.openxmlformats.org/drawingml/2006/table">
            <a:tbl>
              <a:tblPr firstRow="1" bandRow="1">
                <a:tableStyleId>{5940675A-B579-460E-94D1-54222C63F5DA}</a:tableStyleId>
              </a:tblPr>
              <a:tblGrid>
                <a:gridCol w="8530390"/>
                <a:gridCol w="1987982"/>
              </a:tblGrid>
              <a:tr h="256281">
                <a:tc>
                  <a:txBody>
                    <a:bodyPr/>
                    <a:lstStyle/>
                    <a:p>
                      <a:pPr algn="ctr"/>
                      <a:r>
                        <a:rPr lang="zh-CN" altLang="en-US" sz="1200" b="1"/>
                        <a:t>论文</a:t>
                      </a:r>
                      <a:endParaRPr lang="zh-CN" altLang="en-US" sz="1200" b="1"/>
                    </a:p>
                  </a:txBody>
                  <a:tcPr marL="58869" marR="58869" marT="29434" marB="29434"/>
                </a:tc>
                <a:tc>
                  <a:txBody>
                    <a:bodyPr/>
                    <a:lstStyle/>
                    <a:p>
                      <a:pPr algn="ctr"/>
                      <a:r>
                        <a:rPr lang="zh-CN" altLang="en-US" sz="1200" b="1"/>
                        <a:t>会议</a:t>
                      </a:r>
                      <a:r>
                        <a:rPr lang="en-US" altLang="zh-CN" sz="1200" b="1"/>
                        <a:t>/</a:t>
                      </a:r>
                      <a:r>
                        <a:rPr lang="zh-CN" altLang="en-US" sz="1200" b="1"/>
                        <a:t>期刊</a:t>
                      </a:r>
                      <a:r>
                        <a:rPr lang="en-US" altLang="zh-CN" sz="1200" b="1"/>
                        <a:t>/</a:t>
                      </a:r>
                      <a:r>
                        <a:rPr lang="zh-CN" altLang="en-US" sz="1200" b="1"/>
                        <a:t>实验室</a:t>
                      </a:r>
                      <a:endParaRPr lang="zh-CN" altLang="en-US" sz="1200" b="1"/>
                    </a:p>
                  </a:txBody>
                  <a:tcPr marL="58869" marR="58869" marT="29434" marB="29434"/>
                </a:tc>
              </a:tr>
              <a:tr h="256281">
                <a:tc>
                  <a:txBody>
                    <a:bodyPr/>
                    <a:lstStyle/>
                    <a:p>
                      <a:r>
                        <a:rPr lang="en-US" altLang="zh-CN" sz="1200" cap="none" dirty="0"/>
                        <a:t>MAMADROID: Detecting Android Malware by Building Markov Chains of Behavioral Models</a:t>
                      </a:r>
                      <a:endParaRPr lang="zh-CN" altLang="en-US" sz="1200" dirty="0"/>
                    </a:p>
                  </a:txBody>
                  <a:tcPr marL="58869" marR="58869" marT="29434" marB="29434">
                    <a:solidFill>
                      <a:schemeClr val="accent5">
                        <a:lumMod val="20000"/>
                        <a:lumOff val="80000"/>
                      </a:schemeClr>
                    </a:solidFill>
                  </a:tcPr>
                </a:tc>
                <a:tc>
                  <a:txBody>
                    <a:bodyPr/>
                    <a:lstStyle/>
                    <a:p>
                      <a:r>
                        <a:rPr lang="en-US" altLang="zh-CN" sz="1200" dirty="0"/>
                        <a:t>NDSS 2017</a:t>
                      </a:r>
                      <a:endParaRPr lang="zh-CN" altLang="en-US" sz="1200" dirty="0"/>
                    </a:p>
                  </a:txBody>
                  <a:tcPr marL="58869" marR="58869" marT="29434" marB="29434">
                    <a:solidFill>
                      <a:schemeClr val="accent5">
                        <a:lumMod val="20000"/>
                        <a:lumOff val="80000"/>
                      </a:schemeClr>
                    </a:solidFill>
                  </a:tcPr>
                </a:tc>
              </a:tr>
              <a:tr h="256281">
                <a:tc>
                  <a:txBody>
                    <a:bodyPr/>
                    <a:lstStyle/>
                    <a:p>
                      <a:r>
                        <a:rPr lang="en-US" altLang="zh-CN" sz="1200" cap="none" dirty="0" err="1"/>
                        <a:t>HinDroid</a:t>
                      </a:r>
                      <a:r>
                        <a:rPr lang="en-US" altLang="zh-CN" sz="1200" cap="none" dirty="0"/>
                        <a:t>: An Intelligent Android Malware Detection System Based on Structured Heterogeneous Information Network</a:t>
                      </a:r>
                      <a:endParaRPr lang="zh-CN" altLang="en-US" sz="1200" dirty="0"/>
                    </a:p>
                  </a:txBody>
                  <a:tcPr marL="58869" marR="58869" marT="29434" marB="29434">
                    <a:solidFill>
                      <a:schemeClr val="accent5">
                        <a:lumMod val="20000"/>
                        <a:lumOff val="80000"/>
                      </a:schemeClr>
                    </a:solidFill>
                  </a:tcPr>
                </a:tc>
                <a:tc>
                  <a:txBody>
                    <a:bodyPr/>
                    <a:lstStyle/>
                    <a:p>
                      <a:r>
                        <a:rPr lang="en-US" altLang="zh-CN" sz="1200" dirty="0"/>
                        <a:t>ACM SIGKDD 2017 </a:t>
                      </a:r>
                      <a:endParaRPr lang="zh-CN" altLang="en-US" sz="1200" dirty="0"/>
                    </a:p>
                  </a:txBody>
                  <a:tcPr marL="58869" marR="58869" marT="29434" marB="29434">
                    <a:solidFill>
                      <a:schemeClr val="accent5">
                        <a:lumMod val="20000"/>
                        <a:lumOff val="80000"/>
                      </a:schemeClr>
                    </a:solidFill>
                  </a:tcPr>
                </a:tc>
              </a:tr>
              <a:tr h="256281">
                <a:tc>
                  <a:txBody>
                    <a:bodyPr/>
                    <a:lstStyle/>
                    <a:p>
                      <a:r>
                        <a:rPr lang="en-US" altLang="zh-CN" sz="1200" cap="none" dirty="0"/>
                        <a:t>Slowing Down the Aging of Learning-Based Malware Detectors With API Knowledge</a:t>
                      </a:r>
                      <a:endParaRPr lang="zh-CN" altLang="en-US" sz="1200" dirty="0"/>
                    </a:p>
                  </a:txBody>
                  <a:tcPr marL="58869" marR="58869" marT="29434" marB="29434">
                    <a:solidFill>
                      <a:schemeClr val="accent5">
                        <a:lumMod val="20000"/>
                        <a:lumOff val="80000"/>
                      </a:schemeClr>
                    </a:solidFill>
                  </a:tcPr>
                </a:tc>
                <a:tc>
                  <a:txBody>
                    <a:bodyPr/>
                    <a:lstStyle/>
                    <a:p>
                      <a:r>
                        <a:rPr lang="en-US" altLang="zh-CN" sz="1200" dirty="0"/>
                        <a:t>TDSC 2023</a:t>
                      </a:r>
                      <a:endParaRPr lang="zh-CN" altLang="en-US" sz="1200" dirty="0"/>
                    </a:p>
                  </a:txBody>
                  <a:tcPr marL="58869" marR="58869" marT="29434" marB="29434">
                    <a:solidFill>
                      <a:schemeClr val="accent5">
                        <a:lumMod val="20000"/>
                        <a:lumOff val="80000"/>
                      </a:schemeClr>
                    </a:solidFill>
                  </a:tcPr>
                </a:tc>
              </a:tr>
              <a:tr h="256281">
                <a:tc>
                  <a:txBody>
                    <a:bodyPr/>
                    <a:lstStyle/>
                    <a:p>
                      <a:r>
                        <a:rPr lang="en-US" altLang="zh-CN" sz="1200" cap="none" dirty="0" err="1"/>
                        <a:t>DawnGNN</a:t>
                      </a:r>
                      <a:r>
                        <a:rPr lang="en-US" altLang="zh-CN" sz="1200" cap="none" dirty="0"/>
                        <a:t>: Documentation augmented windows malware detection using graph neural network</a:t>
                      </a:r>
                      <a:endParaRPr lang="zh-CN" altLang="en-US" sz="1200" dirty="0"/>
                    </a:p>
                  </a:txBody>
                  <a:tcPr marL="58869" marR="58869" marT="29434" marB="29434">
                    <a:solidFill>
                      <a:schemeClr val="accent5">
                        <a:lumMod val="20000"/>
                        <a:lumOff val="80000"/>
                      </a:schemeClr>
                    </a:solidFill>
                  </a:tcPr>
                </a:tc>
                <a:tc>
                  <a:txBody>
                    <a:bodyPr/>
                    <a:lstStyle/>
                    <a:p>
                      <a:r>
                        <a:rPr lang="en-US" altLang="zh-CN" sz="1200" dirty="0"/>
                        <a:t>Computers &amp; Security 2024</a:t>
                      </a:r>
                      <a:endParaRPr lang="zh-CN" altLang="en-US" sz="1200" dirty="0"/>
                    </a:p>
                  </a:txBody>
                  <a:tcPr marL="58869" marR="58869" marT="29434" marB="29434">
                    <a:solidFill>
                      <a:schemeClr val="accent5">
                        <a:lumMod val="20000"/>
                        <a:lumOff val="80000"/>
                      </a:schemeClr>
                    </a:solidFill>
                  </a:tcPr>
                </a:tc>
              </a:tr>
              <a:tr h="256281">
                <a:tc>
                  <a:txBody>
                    <a:bodyPr/>
                    <a:lstStyle/>
                    <a:p>
                      <a:r>
                        <a:rPr lang="en-US" altLang="zh-CN" sz="1200" kern="1200">
                          <a:solidFill>
                            <a:schemeClr val="tx1"/>
                          </a:solidFill>
                          <a:latin typeface="+mn-lt"/>
                          <a:ea typeface="+mn-ea"/>
                          <a:cs typeface="+mn-cs"/>
                        </a:rPr>
                        <a:t>Decoding the Secrets of ML in Malware Classification</a:t>
                      </a:r>
                      <a:endParaRPr lang="en-US" altLang="zh-CN" sz="1200" kern="1200">
                        <a:solidFill>
                          <a:schemeClr val="tx1"/>
                        </a:solidFill>
                        <a:latin typeface="+mn-lt"/>
                        <a:ea typeface="+mn-ea"/>
                        <a:cs typeface="+mn-cs"/>
                      </a:endParaRPr>
                    </a:p>
                  </a:txBody>
                  <a:tcPr marL="58869" marR="58869" marT="29434" marB="29434">
                    <a:solidFill>
                      <a:schemeClr val="accent3">
                        <a:lumMod val="20000"/>
                        <a:lumOff val="80000"/>
                      </a:schemeClr>
                    </a:solidFill>
                  </a:tcPr>
                </a:tc>
                <a:tc>
                  <a:txBody>
                    <a:bodyPr/>
                    <a:lstStyle/>
                    <a:p>
                      <a:pPr marL="0" marR="0" lvl="0" indent="0" algn="l" defTabSz="456565" rtl="0" eaLnBrk="1" fontAlgn="auto" latinLnBrk="0" hangingPunct="1">
                        <a:lnSpc>
                          <a:spcPct val="100000"/>
                        </a:lnSpc>
                        <a:spcBef>
                          <a:spcPts val="0"/>
                        </a:spcBef>
                        <a:spcAft>
                          <a:spcPts val="0"/>
                        </a:spcAft>
                        <a:buClrTx/>
                        <a:buSzTx/>
                        <a:buFontTx/>
                        <a:buNone/>
                        <a:defRPr/>
                      </a:pPr>
                      <a:r>
                        <a:rPr lang="en-US" altLang="zh-CN" sz="1200" kern="1200">
                          <a:solidFill>
                            <a:schemeClr val="tx1"/>
                          </a:solidFill>
                          <a:latin typeface="+mn-lt"/>
                          <a:ea typeface="+mn-ea"/>
                          <a:cs typeface="+mn-cs"/>
                        </a:rPr>
                        <a:t>CCS 2023</a:t>
                      </a:r>
                      <a:endParaRPr lang="en-US" altLang="zh-CN" sz="1200" kern="1200">
                        <a:solidFill>
                          <a:schemeClr val="tx1"/>
                        </a:solidFill>
                        <a:latin typeface="+mn-lt"/>
                        <a:ea typeface="+mn-ea"/>
                        <a:cs typeface="+mn-cs"/>
                      </a:endParaRPr>
                    </a:p>
                  </a:txBody>
                  <a:tcPr marL="58869" marR="58869" marT="29434" marB="29434">
                    <a:solidFill>
                      <a:schemeClr val="accent3">
                        <a:lumMod val="20000"/>
                        <a:lumOff val="80000"/>
                      </a:schemeClr>
                    </a:solidFill>
                  </a:tcPr>
                </a:tc>
              </a:tr>
              <a:tr h="256281">
                <a:tc>
                  <a:txBody>
                    <a:bodyPr/>
                    <a:lstStyle/>
                    <a:p>
                      <a:pPr marL="0" marR="0" lvl="0" indent="0" algn="l" defTabSz="456565" rtl="0" eaLnBrk="1" fontAlgn="auto" latinLnBrk="0" hangingPunct="1">
                        <a:lnSpc>
                          <a:spcPct val="100000"/>
                        </a:lnSpc>
                        <a:spcBef>
                          <a:spcPts val="0"/>
                        </a:spcBef>
                        <a:spcAft>
                          <a:spcPts val="0"/>
                        </a:spcAft>
                        <a:buClrTx/>
                        <a:buSzTx/>
                        <a:buFontTx/>
                        <a:buNone/>
                        <a:defRPr/>
                      </a:pPr>
                      <a:r>
                        <a:rPr lang="en-US" altLang="zh-CN" sz="1200" kern="1200">
                          <a:solidFill>
                            <a:schemeClr val="tx1"/>
                          </a:solidFill>
                          <a:latin typeface="+mn-lt"/>
                          <a:ea typeface="+mn-ea"/>
                          <a:cs typeface="+mn-cs"/>
                        </a:rPr>
                        <a:t>Differential Training: Reducing Label Noise for Android Malware Detection</a:t>
                      </a:r>
                      <a:endParaRPr lang="en-US" altLang="zh-CN" sz="1200" kern="1200">
                        <a:solidFill>
                          <a:schemeClr val="tx1"/>
                        </a:solidFill>
                        <a:latin typeface="+mn-lt"/>
                        <a:ea typeface="+mn-ea"/>
                        <a:cs typeface="+mn-cs"/>
                      </a:endParaRPr>
                    </a:p>
                  </a:txBody>
                  <a:tcPr marL="58869" marR="58869" marT="29434" marB="29434">
                    <a:solidFill>
                      <a:schemeClr val="accent3">
                        <a:lumMod val="20000"/>
                        <a:lumOff val="80000"/>
                      </a:schemeClr>
                    </a:solidFill>
                  </a:tcPr>
                </a:tc>
                <a:tc>
                  <a:txBody>
                    <a:bodyPr/>
                    <a:lstStyle/>
                    <a:p>
                      <a:pPr marL="0" marR="0" lvl="0" indent="0" algn="l" defTabSz="456565" rtl="0" eaLnBrk="1" fontAlgn="auto" latinLnBrk="0" hangingPunct="1">
                        <a:lnSpc>
                          <a:spcPct val="100000"/>
                        </a:lnSpc>
                        <a:spcBef>
                          <a:spcPts val="0"/>
                        </a:spcBef>
                        <a:spcAft>
                          <a:spcPts val="0"/>
                        </a:spcAft>
                        <a:buClrTx/>
                        <a:buSzTx/>
                        <a:buFontTx/>
                        <a:buNone/>
                        <a:defRPr/>
                      </a:pPr>
                      <a:r>
                        <a:rPr lang="en-US" altLang="zh-CN" sz="1200" kern="1200">
                          <a:solidFill>
                            <a:schemeClr val="tx1"/>
                          </a:solidFill>
                          <a:latin typeface="+mn-lt"/>
                          <a:ea typeface="+mn-ea"/>
                          <a:cs typeface="+mn-cs"/>
                        </a:rPr>
                        <a:t>NDSS 2021</a:t>
                      </a:r>
                      <a:endParaRPr lang="en-US" altLang="zh-CN" sz="1200" kern="1200">
                        <a:solidFill>
                          <a:schemeClr val="tx1"/>
                        </a:solidFill>
                        <a:latin typeface="+mn-lt"/>
                        <a:ea typeface="+mn-ea"/>
                        <a:cs typeface="+mn-cs"/>
                      </a:endParaRPr>
                    </a:p>
                  </a:txBody>
                  <a:tcPr marL="58869" marR="58869" marT="29434" marB="29434">
                    <a:solidFill>
                      <a:schemeClr val="accent3">
                        <a:lumMod val="20000"/>
                        <a:lumOff val="80000"/>
                      </a:schemeClr>
                    </a:solidFill>
                  </a:tcPr>
                </a:tc>
              </a:tr>
              <a:tr h="256281">
                <a:tc>
                  <a:txBody>
                    <a:bodyPr/>
                    <a:lstStyle/>
                    <a:p>
                      <a:pPr marL="0" marR="0" lvl="0" indent="0" algn="l" defTabSz="456565" rtl="0" eaLnBrk="1" fontAlgn="auto" latinLnBrk="0" hangingPunct="1">
                        <a:lnSpc>
                          <a:spcPct val="100000"/>
                        </a:lnSpc>
                        <a:spcBef>
                          <a:spcPts val="0"/>
                        </a:spcBef>
                        <a:spcAft>
                          <a:spcPts val="0"/>
                        </a:spcAft>
                        <a:buClrTx/>
                        <a:buSzTx/>
                        <a:buFontTx/>
                        <a:buNone/>
                        <a:defRPr/>
                      </a:pPr>
                      <a:r>
                        <a:rPr lang="en-US" altLang="zh-CN" sz="1200" kern="1200">
                          <a:solidFill>
                            <a:schemeClr val="tx1"/>
                          </a:solidFill>
                          <a:latin typeface="+mn-lt"/>
                          <a:ea typeface="+mn-ea"/>
                          <a:cs typeface="+mn-cs"/>
                        </a:rPr>
                        <a:t>Continuous Learning for Android Malware Detection</a:t>
                      </a:r>
                      <a:endParaRPr lang="en-US" altLang="zh-CN" sz="1200" kern="1200">
                        <a:solidFill>
                          <a:schemeClr val="tx1"/>
                        </a:solidFill>
                        <a:latin typeface="+mn-lt"/>
                        <a:ea typeface="+mn-ea"/>
                        <a:cs typeface="+mn-cs"/>
                      </a:endParaRPr>
                    </a:p>
                  </a:txBody>
                  <a:tcPr marL="58869" marR="58869" marT="29434" marB="29434">
                    <a:solidFill>
                      <a:schemeClr val="accent3">
                        <a:lumMod val="20000"/>
                        <a:lumOff val="80000"/>
                      </a:schemeClr>
                    </a:solidFill>
                  </a:tcPr>
                </a:tc>
                <a:tc>
                  <a:txBody>
                    <a:bodyPr/>
                    <a:lstStyle/>
                    <a:p>
                      <a:pPr marL="0" marR="0" lvl="0" indent="0" algn="l" defTabSz="456565" rtl="0" eaLnBrk="1" fontAlgn="auto" latinLnBrk="0" hangingPunct="1">
                        <a:lnSpc>
                          <a:spcPct val="100000"/>
                        </a:lnSpc>
                        <a:spcBef>
                          <a:spcPts val="0"/>
                        </a:spcBef>
                        <a:spcAft>
                          <a:spcPts val="0"/>
                        </a:spcAft>
                        <a:buClrTx/>
                        <a:buSzTx/>
                        <a:buFontTx/>
                        <a:buNone/>
                        <a:defRPr/>
                      </a:pPr>
                      <a:r>
                        <a:rPr lang="en-US" altLang="zh-CN" sz="1200" kern="1200" dirty="0">
                          <a:solidFill>
                            <a:schemeClr val="tx1"/>
                          </a:solidFill>
                          <a:latin typeface="+mn-lt"/>
                          <a:ea typeface="+mn-ea"/>
                          <a:cs typeface="+mn-cs"/>
                        </a:rPr>
                        <a:t>USENIX Security 2023</a:t>
                      </a:r>
                      <a:endParaRPr lang="en-US" altLang="zh-CN" sz="1200" kern="1200" dirty="0">
                        <a:solidFill>
                          <a:schemeClr val="tx1"/>
                        </a:solidFill>
                        <a:latin typeface="+mn-lt"/>
                        <a:ea typeface="+mn-ea"/>
                        <a:cs typeface="+mn-cs"/>
                      </a:endParaRPr>
                    </a:p>
                  </a:txBody>
                  <a:tcPr marL="58869" marR="58869" marT="29434" marB="29434">
                    <a:solidFill>
                      <a:schemeClr val="accent3">
                        <a:lumMod val="20000"/>
                        <a:lumOff val="80000"/>
                      </a:schemeClr>
                    </a:solidFill>
                  </a:tcPr>
                </a:tc>
              </a:tr>
              <a:tr h="256281">
                <a:tc>
                  <a:txBody>
                    <a:bodyPr/>
                    <a:lstStyle/>
                    <a:p>
                      <a:pPr marL="0" marR="0" lvl="0" indent="0" algn="l" defTabSz="456565" rtl="0" eaLnBrk="1" fontAlgn="auto" latinLnBrk="0" hangingPunct="1">
                        <a:lnSpc>
                          <a:spcPct val="100000"/>
                        </a:lnSpc>
                        <a:spcBef>
                          <a:spcPts val="0"/>
                        </a:spcBef>
                        <a:spcAft>
                          <a:spcPts val="0"/>
                        </a:spcAft>
                        <a:buClrTx/>
                        <a:buSzTx/>
                        <a:buFontTx/>
                        <a:buNone/>
                        <a:defRPr/>
                      </a:pPr>
                      <a:r>
                        <a:rPr lang="en-US" altLang="zh-CN" sz="1200" kern="1200">
                          <a:solidFill>
                            <a:schemeClr val="tx1"/>
                          </a:solidFill>
                          <a:latin typeface="+mn-lt"/>
                          <a:ea typeface="+mn-ea"/>
                          <a:cs typeface="+mn-cs"/>
                        </a:rPr>
                        <a:t>Revisiting Concept Drift in Windows Malware Detection: Adaptation with Graph Neural Networks</a:t>
                      </a:r>
                      <a:endParaRPr lang="en-US" altLang="zh-CN" sz="1200" kern="1200">
                        <a:solidFill>
                          <a:schemeClr val="tx1"/>
                        </a:solidFill>
                        <a:latin typeface="+mn-lt"/>
                        <a:ea typeface="+mn-ea"/>
                        <a:cs typeface="+mn-cs"/>
                      </a:endParaRPr>
                    </a:p>
                  </a:txBody>
                  <a:tcPr marL="58869" marR="58869" marT="29434" marB="29434">
                    <a:solidFill>
                      <a:schemeClr val="accent3">
                        <a:lumMod val="20000"/>
                        <a:lumOff val="80000"/>
                      </a:schemeClr>
                    </a:solidFill>
                  </a:tcPr>
                </a:tc>
                <a:tc>
                  <a:txBody>
                    <a:bodyPr/>
                    <a:lstStyle/>
                    <a:p>
                      <a:pPr marL="0" marR="0" lvl="0" indent="0" algn="l" defTabSz="456565" rtl="0" eaLnBrk="1" fontAlgn="auto" latinLnBrk="0" hangingPunct="1">
                        <a:lnSpc>
                          <a:spcPct val="100000"/>
                        </a:lnSpc>
                        <a:spcBef>
                          <a:spcPts val="0"/>
                        </a:spcBef>
                        <a:spcAft>
                          <a:spcPts val="0"/>
                        </a:spcAft>
                        <a:buClrTx/>
                        <a:buSzTx/>
                        <a:buFontTx/>
                        <a:buNone/>
                        <a:defRPr/>
                      </a:pPr>
                      <a:r>
                        <a:rPr lang="en-US" altLang="zh-CN" sz="1200" kern="1200">
                          <a:solidFill>
                            <a:schemeClr val="tx1"/>
                          </a:solidFill>
                          <a:latin typeface="+mn-lt"/>
                          <a:ea typeface="+mn-ea"/>
                          <a:cs typeface="+mn-cs"/>
                        </a:rPr>
                        <a:t>NDSS 2025</a:t>
                      </a:r>
                      <a:endParaRPr lang="en-US" altLang="zh-CN" sz="1200" kern="1200">
                        <a:solidFill>
                          <a:schemeClr val="tx1"/>
                        </a:solidFill>
                        <a:latin typeface="+mn-lt"/>
                        <a:ea typeface="+mn-ea"/>
                        <a:cs typeface="+mn-cs"/>
                      </a:endParaRPr>
                    </a:p>
                  </a:txBody>
                  <a:tcPr marL="58869" marR="58869" marT="29434" marB="29434">
                    <a:solidFill>
                      <a:schemeClr val="accent3">
                        <a:lumMod val="20000"/>
                        <a:lumOff val="80000"/>
                      </a:schemeClr>
                    </a:solidFill>
                  </a:tcPr>
                </a:tc>
              </a:tr>
              <a:tr h="256281">
                <a:tc>
                  <a:txBody>
                    <a:bodyPr/>
                    <a:lstStyle/>
                    <a:p>
                      <a:r>
                        <a:rPr lang="en-US" altLang="zh-CN" sz="1200" dirty="0"/>
                        <a:t>TESSERACT: Eliminating Experimental Bias in Malware Classification across Space and Time </a:t>
                      </a:r>
                      <a:endParaRPr lang="zh-CN" altLang="en-US" sz="1200" dirty="0"/>
                    </a:p>
                  </a:txBody>
                  <a:tcPr marL="58869" marR="58869" marT="29434" marB="29434">
                    <a:solidFill>
                      <a:schemeClr val="accent3">
                        <a:lumMod val="20000"/>
                        <a:lumOff val="80000"/>
                      </a:schemeClr>
                    </a:solidFill>
                  </a:tcPr>
                </a:tc>
                <a:tc>
                  <a:txBody>
                    <a:bodyPr/>
                    <a:lstStyle/>
                    <a:p>
                      <a:pPr marL="0" marR="0" lvl="0" indent="0" algn="l" defTabSz="456565" rtl="0" eaLnBrk="1" fontAlgn="auto" latinLnBrk="0" hangingPunct="1">
                        <a:lnSpc>
                          <a:spcPct val="100000"/>
                        </a:lnSpc>
                        <a:spcBef>
                          <a:spcPts val="0"/>
                        </a:spcBef>
                        <a:spcAft>
                          <a:spcPts val="0"/>
                        </a:spcAft>
                        <a:buClrTx/>
                        <a:buSzTx/>
                        <a:buFontTx/>
                        <a:buNone/>
                        <a:defRPr/>
                      </a:pPr>
                      <a:r>
                        <a:rPr lang="en-US" altLang="zh-CN" sz="1200" kern="1200" dirty="0">
                          <a:solidFill>
                            <a:schemeClr val="tx1"/>
                          </a:solidFill>
                          <a:latin typeface="+mn-lt"/>
                          <a:ea typeface="+mn-ea"/>
                          <a:cs typeface="+mn-cs"/>
                        </a:rPr>
                        <a:t>USENIX Security 2019</a:t>
                      </a:r>
                      <a:endParaRPr lang="en-US" altLang="zh-CN" sz="1200" kern="1200" dirty="0">
                        <a:solidFill>
                          <a:schemeClr val="tx1"/>
                        </a:solidFill>
                        <a:latin typeface="+mn-lt"/>
                        <a:ea typeface="+mn-ea"/>
                        <a:cs typeface="+mn-cs"/>
                      </a:endParaRPr>
                    </a:p>
                  </a:txBody>
                  <a:tcPr marL="58869" marR="58869" marT="29434" marB="29434">
                    <a:solidFill>
                      <a:schemeClr val="accent3">
                        <a:lumMod val="20000"/>
                        <a:lumOff val="80000"/>
                      </a:schemeClr>
                    </a:solidFill>
                  </a:tcPr>
                </a:tc>
              </a:tr>
              <a:tr h="256540">
                <a:tc>
                  <a:txBody>
                    <a:bodyPr/>
                    <a:lstStyle/>
                    <a:p>
                      <a:r>
                        <a:rPr lang="en-US" altLang="zh-CN" sz="1200" dirty="0"/>
                        <a:t>Functionality-preserving black-box optimization of adversarial windows malware </a:t>
                      </a:r>
                      <a:endParaRPr lang="zh-CN" altLang="en-US" sz="1200" dirty="0"/>
                    </a:p>
                  </a:txBody>
                  <a:tcPr marL="58869" marR="58869" marT="29434" marB="29434">
                    <a:solidFill>
                      <a:schemeClr val="accent3">
                        <a:lumMod val="20000"/>
                        <a:lumOff val="80000"/>
                      </a:schemeClr>
                    </a:solidFill>
                  </a:tcPr>
                </a:tc>
                <a:tc>
                  <a:txBody>
                    <a:bodyPr/>
                    <a:lstStyle/>
                    <a:p>
                      <a:r>
                        <a:rPr lang="en-US" altLang="zh-CN" sz="1200" dirty="0"/>
                        <a:t>TIFS 2021</a:t>
                      </a:r>
                      <a:endParaRPr lang="zh-CN" altLang="en-US" sz="1200" dirty="0"/>
                    </a:p>
                  </a:txBody>
                  <a:tcPr marL="58869" marR="58869" marT="29434" marB="29434">
                    <a:solidFill>
                      <a:schemeClr val="accent3">
                        <a:lumMod val="20000"/>
                        <a:lumOff val="80000"/>
                      </a:schemeClr>
                    </a:solidFill>
                  </a:tcPr>
                </a:tc>
              </a:tr>
              <a:tr h="256281">
                <a:tc>
                  <a:txBody>
                    <a:bodyPr/>
                    <a:lstStyle/>
                    <a:p>
                      <a:r>
                        <a:rPr lang="en-US" altLang="zh-CN" sz="1200" dirty="0"/>
                        <a:t>Make your IoT environments robust against adversarial machine learning malware threats: a code-cave approach</a:t>
                      </a:r>
                      <a:endParaRPr lang="en-US" altLang="zh-CN" sz="1200" dirty="0"/>
                    </a:p>
                  </a:txBody>
                  <a:tcPr marL="58869" marR="58869" marT="29434" marB="29434">
                    <a:solidFill>
                      <a:schemeClr val="accent3">
                        <a:lumMod val="20000"/>
                        <a:lumOff val="80000"/>
                      </a:schemeClr>
                    </a:solidFill>
                  </a:tcPr>
                </a:tc>
                <a:tc>
                  <a:txBody>
                    <a:bodyPr/>
                    <a:lstStyle/>
                    <a:p>
                      <a:r>
                        <a:rPr lang="en-US" altLang="zh-CN" sz="1200"/>
                        <a:t>NDSS 2024</a:t>
                      </a:r>
                      <a:endParaRPr lang="en-US" altLang="zh-CN" sz="1200"/>
                    </a:p>
                  </a:txBody>
                  <a:tcPr marL="58869" marR="58869" marT="29434" marB="29434">
                    <a:solidFill>
                      <a:schemeClr val="accent3">
                        <a:lumMod val="20000"/>
                        <a:lumOff val="80000"/>
                      </a:schemeClr>
                    </a:solidFill>
                  </a:tcPr>
                </a:tc>
              </a:tr>
              <a:tr h="256281">
                <a:tc>
                  <a:txBody>
                    <a:bodyPr/>
                    <a:lstStyle/>
                    <a:p>
                      <a:r>
                        <a:rPr lang="en-GB" altLang="zh-CN" sz="1200" dirty="0"/>
                        <a:t>PBP: Post-training Backdoor Purification for Malware Classifiers</a:t>
                      </a:r>
                      <a:endParaRPr lang="zh-CN" altLang="en-US" sz="1200" dirty="0"/>
                    </a:p>
                  </a:txBody>
                  <a:tcPr marL="58869" marR="58869" marT="29434" marB="29434">
                    <a:solidFill>
                      <a:schemeClr val="accent3">
                        <a:lumMod val="20000"/>
                        <a:lumOff val="80000"/>
                      </a:schemeClr>
                    </a:solidFill>
                  </a:tcPr>
                </a:tc>
                <a:tc>
                  <a:txBody>
                    <a:bodyPr/>
                    <a:lstStyle/>
                    <a:p>
                      <a:r>
                        <a:rPr lang="en-US" altLang="zh-CN" sz="1200" dirty="0"/>
                        <a:t>NDSS 2025</a:t>
                      </a:r>
                      <a:endParaRPr lang="zh-CN" altLang="en-US" sz="1200" dirty="0"/>
                    </a:p>
                  </a:txBody>
                  <a:tcPr marL="58869" marR="58869" marT="29434" marB="29434">
                    <a:solidFill>
                      <a:schemeClr val="accent3">
                        <a:lumMod val="20000"/>
                        <a:lumOff val="80000"/>
                      </a:schemeClr>
                    </a:solidFill>
                  </a:tcPr>
                </a:tc>
              </a:tr>
              <a:tr h="256281">
                <a:tc>
                  <a:txBody>
                    <a:bodyPr/>
                    <a:lstStyle/>
                    <a:p>
                      <a:r>
                        <a:rPr lang="en-US" altLang="zh-CN" sz="1200" err="1"/>
                        <a:t>ReSym</a:t>
                      </a:r>
                      <a:r>
                        <a:rPr lang="en-US" altLang="zh-CN" sz="1200"/>
                        <a:t>: Harnessing LLMs to Recover Variable and Data Structure Symbols from Stripped Binaries</a:t>
                      </a:r>
                      <a:endParaRPr lang="zh-CN" altLang="en-US" sz="1200"/>
                    </a:p>
                  </a:txBody>
                  <a:tcPr marL="58869" marR="58869" marT="29434" marB="29434">
                    <a:solidFill>
                      <a:schemeClr val="accent4">
                        <a:lumMod val="20000"/>
                        <a:lumOff val="80000"/>
                      </a:schemeClr>
                    </a:solidFill>
                  </a:tcPr>
                </a:tc>
                <a:tc>
                  <a:txBody>
                    <a:bodyPr/>
                    <a:lstStyle/>
                    <a:p>
                      <a:r>
                        <a:rPr lang="en-US" altLang="zh-CN" sz="1200"/>
                        <a:t>CCS 2024</a:t>
                      </a:r>
                      <a:endParaRPr lang="zh-CN" altLang="en-US" sz="1200"/>
                    </a:p>
                  </a:txBody>
                  <a:tcPr marL="58869" marR="58869" marT="29434" marB="29434">
                    <a:solidFill>
                      <a:schemeClr val="accent4">
                        <a:lumMod val="20000"/>
                        <a:lumOff val="80000"/>
                      </a:schemeClr>
                    </a:solidFill>
                  </a:tcPr>
                </a:tc>
              </a:tr>
              <a:tr h="256281">
                <a:tc>
                  <a:txBody>
                    <a:bodyPr/>
                    <a:lstStyle/>
                    <a:p>
                      <a:r>
                        <a:rPr lang="en-US" altLang="zh-CN" sz="1200"/>
                        <a:t>MalGuard: Towards Real-Time, Accurate, and Actionable Detection of Malicious Packages in PyPI Ecosystem</a:t>
                      </a:r>
                      <a:endParaRPr lang="zh-CN" altLang="en-US" sz="1200"/>
                    </a:p>
                  </a:txBody>
                  <a:tcPr marL="58869" marR="58869" marT="29434" marB="29434">
                    <a:solidFill>
                      <a:schemeClr val="accent4">
                        <a:lumMod val="20000"/>
                        <a:lumOff val="80000"/>
                      </a:schemeClr>
                    </a:solidFill>
                  </a:tcPr>
                </a:tc>
                <a:tc>
                  <a:txBody>
                    <a:bodyPr/>
                    <a:lstStyle/>
                    <a:p>
                      <a:r>
                        <a:rPr lang="en-US" altLang="zh-CN" sz="1200"/>
                        <a:t>USENIX Security 2025</a:t>
                      </a:r>
                      <a:endParaRPr lang="zh-CN" altLang="en-US" sz="1200"/>
                    </a:p>
                  </a:txBody>
                  <a:tcPr marL="58869" marR="58869" marT="29434" marB="29434">
                    <a:solidFill>
                      <a:schemeClr val="accent4">
                        <a:lumMod val="20000"/>
                        <a:lumOff val="80000"/>
                      </a:schemeClr>
                    </a:solidFill>
                  </a:tcPr>
                </a:tc>
              </a:tr>
              <a:tr h="256281">
                <a:tc>
                  <a:txBody>
                    <a:bodyPr/>
                    <a:lstStyle/>
                    <a:p>
                      <a:r>
                        <a:rPr lang="en-US" altLang="zh-CN" sz="1200"/>
                        <a:t>Leveraging Large Language Models to Detect npm Malicious Packages</a:t>
                      </a:r>
                      <a:endParaRPr lang="zh-CN" altLang="en-US" sz="1200"/>
                    </a:p>
                  </a:txBody>
                  <a:tcPr marL="58869" marR="58869" marT="29434" marB="29434">
                    <a:solidFill>
                      <a:schemeClr val="accent4">
                        <a:lumMod val="20000"/>
                        <a:lumOff val="80000"/>
                      </a:schemeClr>
                    </a:solidFill>
                  </a:tcPr>
                </a:tc>
                <a:tc>
                  <a:txBody>
                    <a:bodyPr/>
                    <a:lstStyle/>
                    <a:p>
                      <a:r>
                        <a:rPr lang="en-US" altLang="zh-CN" sz="1200"/>
                        <a:t>ICSE 2025</a:t>
                      </a:r>
                      <a:endParaRPr lang="zh-CN" altLang="en-US" sz="1200"/>
                    </a:p>
                  </a:txBody>
                  <a:tcPr marL="58869" marR="58869" marT="29434" marB="29434">
                    <a:solidFill>
                      <a:schemeClr val="accent4">
                        <a:lumMod val="20000"/>
                        <a:lumOff val="80000"/>
                      </a:schemeClr>
                    </a:solidFill>
                  </a:tcPr>
                </a:tc>
              </a:tr>
              <a:tr h="256281">
                <a:tc>
                  <a:txBody>
                    <a:bodyPr/>
                    <a:lstStyle/>
                    <a:p>
                      <a:r>
                        <a:rPr lang="en-US" altLang="zh-CN" sz="1200"/>
                        <a:t>ForeDroid: Scenario-Aware Analysis for Android Malware Detection and Explanation</a:t>
                      </a:r>
                      <a:endParaRPr lang="zh-CN" altLang="en-US" sz="1200"/>
                    </a:p>
                  </a:txBody>
                  <a:tcPr marL="58869" marR="58869" marT="29434" marB="29434">
                    <a:solidFill>
                      <a:schemeClr val="accent4">
                        <a:lumMod val="20000"/>
                        <a:lumOff val="80000"/>
                      </a:schemeClr>
                    </a:solidFill>
                  </a:tcPr>
                </a:tc>
                <a:tc>
                  <a:txBody>
                    <a:bodyPr/>
                    <a:lstStyle/>
                    <a:p>
                      <a:r>
                        <a:rPr lang="en-US" altLang="zh-CN" sz="1200"/>
                        <a:t>CCS 2025</a:t>
                      </a:r>
                      <a:endParaRPr lang="zh-CN" altLang="en-US" sz="1200"/>
                    </a:p>
                  </a:txBody>
                  <a:tcPr marL="58869" marR="58869" marT="29434" marB="29434">
                    <a:solidFill>
                      <a:schemeClr val="accent4">
                        <a:lumMod val="20000"/>
                        <a:lumOff val="80000"/>
                      </a:schemeClr>
                    </a:solidFill>
                  </a:tcPr>
                </a:tc>
              </a:tr>
              <a:tr h="256281">
                <a:tc>
                  <a:txBody>
                    <a:bodyPr/>
                    <a:lstStyle/>
                    <a:p>
                      <a:r>
                        <a:rPr kumimoji="1" lang="en-US" altLang="zh-CN" sz="1200" cap="none"/>
                        <a:t>Large Language Models for Code Analysis: Do LLMs Really Do Their Job? </a:t>
                      </a:r>
                      <a:endParaRPr lang="zh-CN" altLang="en-US" sz="1200"/>
                    </a:p>
                  </a:txBody>
                  <a:tcPr marL="58869" marR="58869" marT="29434" marB="29434">
                    <a:solidFill>
                      <a:schemeClr val="accent6">
                        <a:lumMod val="20000"/>
                        <a:lumOff val="80000"/>
                      </a:schemeClr>
                    </a:solidFill>
                  </a:tcPr>
                </a:tc>
                <a:tc>
                  <a:txBody>
                    <a:bodyPr/>
                    <a:lstStyle/>
                    <a:p>
                      <a:r>
                        <a:rPr lang="en-US" altLang="zh-CN" sz="1200"/>
                        <a:t>USENIX Security 2024</a:t>
                      </a:r>
                      <a:endParaRPr lang="zh-CN" altLang="en-US" sz="1200"/>
                    </a:p>
                  </a:txBody>
                  <a:tcPr marL="58869" marR="58869" marT="29434" marB="29434">
                    <a:solidFill>
                      <a:schemeClr val="accent6">
                        <a:lumMod val="20000"/>
                        <a:lumOff val="80000"/>
                      </a:schemeClr>
                    </a:solidFill>
                  </a:tcPr>
                </a:tc>
              </a:tr>
              <a:tr h="256281">
                <a:tc>
                  <a:txBody>
                    <a:bodyPr/>
                    <a:lstStyle/>
                    <a:p>
                      <a:r>
                        <a:rPr kumimoji="1" lang="en-US" altLang="zh-CN" sz="1200" cap="none"/>
                        <a:t>Beyond Classification: Evaluating LLMs for Fine-Grained Automatic Malware Behavior Auditing</a:t>
                      </a:r>
                      <a:endParaRPr lang="zh-CN" altLang="en-US" sz="1200"/>
                    </a:p>
                  </a:txBody>
                  <a:tcPr marL="58869" marR="58869" marT="29434" marB="29434">
                    <a:solidFill>
                      <a:schemeClr val="accent6">
                        <a:lumMod val="20000"/>
                        <a:lumOff val="80000"/>
                      </a:schemeClr>
                    </a:solidFill>
                  </a:tcPr>
                </a:tc>
                <a:tc>
                  <a:txBody>
                    <a:bodyPr/>
                    <a:lstStyle/>
                    <a:p>
                      <a:r>
                        <a:rPr lang="en-US" altLang="zh-CN" sz="1200"/>
                        <a:t>Arxiv 2025, S2Lab, UCL</a:t>
                      </a:r>
                      <a:endParaRPr lang="zh-CN" altLang="en-US" sz="1200"/>
                    </a:p>
                  </a:txBody>
                  <a:tcPr marL="58869" marR="58869" marT="29434" marB="29434">
                    <a:solidFill>
                      <a:schemeClr val="accent6">
                        <a:lumMod val="20000"/>
                        <a:lumOff val="80000"/>
                      </a:schemeClr>
                    </a:solidFill>
                  </a:tcPr>
                </a:tc>
              </a:tr>
              <a:tr h="256281">
                <a:tc>
                  <a:txBody>
                    <a:bodyPr/>
                    <a:lstStyle/>
                    <a:p>
                      <a:r>
                        <a:rPr lang="en-US" altLang="zh-CN" sz="1200" err="1"/>
                        <a:t>DeGPT</a:t>
                      </a:r>
                      <a:r>
                        <a:rPr lang="en-US" altLang="zh-CN" sz="1200"/>
                        <a:t>: Optimizing </a:t>
                      </a:r>
                      <a:r>
                        <a:rPr lang="en-US" altLang="zh-CN" sz="1200" err="1"/>
                        <a:t>Decompiler</a:t>
                      </a:r>
                      <a:r>
                        <a:rPr lang="en-US" altLang="zh-CN" sz="1200"/>
                        <a:t> Output with LLM</a:t>
                      </a:r>
                      <a:endParaRPr lang="zh-CN" altLang="en-US" sz="1200"/>
                    </a:p>
                  </a:txBody>
                  <a:tcPr marL="58869" marR="58869" marT="29434" marB="29434">
                    <a:solidFill>
                      <a:schemeClr val="accent6">
                        <a:lumMod val="20000"/>
                        <a:lumOff val="80000"/>
                      </a:schemeClr>
                    </a:solidFill>
                  </a:tcPr>
                </a:tc>
                <a:tc>
                  <a:txBody>
                    <a:bodyPr/>
                    <a:lstStyle/>
                    <a:p>
                      <a:r>
                        <a:rPr lang="en-US" altLang="zh-CN" sz="1200"/>
                        <a:t>NDSS 2024</a:t>
                      </a:r>
                      <a:endParaRPr lang="zh-CN" altLang="en-US" sz="1200"/>
                    </a:p>
                  </a:txBody>
                  <a:tcPr marL="58869" marR="58869" marT="29434" marB="29434">
                    <a:solidFill>
                      <a:schemeClr val="accent6">
                        <a:lumMod val="20000"/>
                        <a:lumOff val="80000"/>
                      </a:schemeClr>
                    </a:solidFill>
                  </a:tcPr>
                </a:tc>
              </a:tr>
              <a:tr h="256281">
                <a:tc>
                  <a:txBody>
                    <a:bodyPr/>
                    <a:lstStyle/>
                    <a:p>
                      <a:r>
                        <a:rPr kumimoji="1" lang="en-US" altLang="zh-CN" sz="1200" cap="none"/>
                        <a:t>AV-Agent: A Bottom-Up Interpretable Malware Classifier Based on Large Language Models</a:t>
                      </a:r>
                      <a:endParaRPr lang="zh-CN" altLang="en-US" sz="1200"/>
                    </a:p>
                  </a:txBody>
                  <a:tcPr marL="58869" marR="58869" marT="29434" marB="29434">
                    <a:solidFill>
                      <a:schemeClr val="accent6">
                        <a:lumMod val="20000"/>
                        <a:lumOff val="80000"/>
                      </a:schemeClr>
                    </a:solidFill>
                  </a:tcPr>
                </a:tc>
                <a:tc>
                  <a:txBody>
                    <a:bodyPr/>
                    <a:lstStyle/>
                    <a:p>
                      <a:r>
                        <a:rPr lang="en-US" altLang="zh-CN" sz="1200" dirty="0"/>
                        <a:t>TIFS 2024</a:t>
                      </a:r>
                      <a:endParaRPr lang="en-US" altLang="zh-CN" sz="1200" dirty="0"/>
                    </a:p>
                  </a:txBody>
                  <a:tcPr marL="58869" marR="58869" marT="29434" marB="29434">
                    <a:solidFill>
                      <a:schemeClr val="accent6">
                        <a:lumMod val="20000"/>
                        <a:lumOff val="80000"/>
                      </a:schemeClr>
                    </a:solidFill>
                  </a:tcPr>
                </a:tc>
              </a:tr>
            </a:tbl>
          </a:graphicData>
        </a:graphic>
      </p:graphicFrame>
      <p:grpSp>
        <p:nvGrpSpPr>
          <p:cNvPr id="7" name="组合 6"/>
          <p:cNvGrpSpPr/>
          <p:nvPr/>
        </p:nvGrpSpPr>
        <p:grpSpPr>
          <a:xfrm>
            <a:off x="142871" y="1019175"/>
            <a:ext cx="1040236" cy="902494"/>
            <a:chOff x="-73697" y="1019175"/>
            <a:chExt cx="1040236" cy="902494"/>
          </a:xfrm>
        </p:grpSpPr>
        <p:sp>
          <p:nvSpPr>
            <p:cNvPr id="5" name="文本框 4"/>
            <p:cNvSpPr txBox="1"/>
            <p:nvPr/>
          </p:nvSpPr>
          <p:spPr>
            <a:xfrm>
              <a:off x="-73697" y="1285756"/>
              <a:ext cx="966539" cy="338554"/>
            </a:xfrm>
            <a:prstGeom prst="rect">
              <a:avLst/>
            </a:prstGeom>
            <a:noFill/>
          </p:spPr>
          <p:txBody>
            <a:bodyPr wrap="square">
              <a:spAutoFit/>
            </a:bodyPr>
            <a:lstStyle/>
            <a:p>
              <a:r>
                <a:rPr lang="en-US" altLang="zh-CN" sz="1600"/>
                <a:t>Level1</a:t>
              </a:r>
              <a:endParaRPr lang="zh-CN" altLang="en-US" sz="1600"/>
            </a:p>
          </p:txBody>
        </p:sp>
        <p:sp>
          <p:nvSpPr>
            <p:cNvPr id="6" name="左大括号 5"/>
            <p:cNvSpPr/>
            <p:nvPr/>
          </p:nvSpPr>
          <p:spPr>
            <a:xfrm>
              <a:off x="819150" y="1019175"/>
              <a:ext cx="147389" cy="902494"/>
            </a:xfrm>
            <a:prstGeom prst="leftBrace">
              <a:avLst>
                <a:gd name="adj1" fmla="val 78307"/>
                <a:gd name="adj2" fmla="val 50000"/>
              </a:avLst>
            </a:prstGeom>
            <a:ln w="3810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grpSp>
        <p:nvGrpSpPr>
          <p:cNvPr id="8" name="组合 7"/>
          <p:cNvGrpSpPr/>
          <p:nvPr/>
        </p:nvGrpSpPr>
        <p:grpSpPr>
          <a:xfrm>
            <a:off x="142873" y="2040731"/>
            <a:ext cx="1040234" cy="902494"/>
            <a:chOff x="-73695" y="1019175"/>
            <a:chExt cx="1040234" cy="902494"/>
          </a:xfrm>
        </p:grpSpPr>
        <p:sp>
          <p:nvSpPr>
            <p:cNvPr id="9" name="文本框 8"/>
            <p:cNvSpPr txBox="1"/>
            <p:nvPr/>
          </p:nvSpPr>
          <p:spPr>
            <a:xfrm>
              <a:off x="-73695" y="1285756"/>
              <a:ext cx="966539" cy="338554"/>
            </a:xfrm>
            <a:prstGeom prst="rect">
              <a:avLst/>
            </a:prstGeom>
            <a:noFill/>
          </p:spPr>
          <p:txBody>
            <a:bodyPr wrap="square">
              <a:spAutoFit/>
            </a:bodyPr>
            <a:lstStyle/>
            <a:p>
              <a:r>
                <a:rPr lang="en-US" altLang="zh-CN" sz="1600"/>
                <a:t>Level2-1</a:t>
              </a:r>
              <a:endParaRPr lang="zh-CN" altLang="en-US" sz="1600"/>
            </a:p>
          </p:txBody>
        </p:sp>
        <p:sp>
          <p:nvSpPr>
            <p:cNvPr id="10" name="左大括号 9"/>
            <p:cNvSpPr/>
            <p:nvPr/>
          </p:nvSpPr>
          <p:spPr>
            <a:xfrm>
              <a:off x="819150" y="1019175"/>
              <a:ext cx="147389" cy="902494"/>
            </a:xfrm>
            <a:prstGeom prst="leftBrace">
              <a:avLst>
                <a:gd name="adj1" fmla="val 78307"/>
                <a:gd name="adj2" fmla="val 50000"/>
              </a:avLst>
            </a:prstGeom>
            <a:ln w="3810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grpSp>
        <p:nvGrpSpPr>
          <p:cNvPr id="11" name="组合 10"/>
          <p:cNvGrpSpPr/>
          <p:nvPr/>
        </p:nvGrpSpPr>
        <p:grpSpPr>
          <a:xfrm>
            <a:off x="142872" y="3055144"/>
            <a:ext cx="1040235" cy="902494"/>
            <a:chOff x="-73696" y="1019175"/>
            <a:chExt cx="1040235" cy="902494"/>
          </a:xfrm>
        </p:grpSpPr>
        <p:sp>
          <p:nvSpPr>
            <p:cNvPr id="12" name="文本框 11"/>
            <p:cNvSpPr txBox="1"/>
            <p:nvPr/>
          </p:nvSpPr>
          <p:spPr>
            <a:xfrm>
              <a:off x="-73696" y="1285756"/>
              <a:ext cx="966539" cy="338554"/>
            </a:xfrm>
            <a:prstGeom prst="rect">
              <a:avLst/>
            </a:prstGeom>
            <a:noFill/>
          </p:spPr>
          <p:txBody>
            <a:bodyPr wrap="square">
              <a:spAutoFit/>
            </a:bodyPr>
            <a:lstStyle/>
            <a:p>
              <a:r>
                <a:rPr lang="en-US" altLang="zh-CN" sz="1600"/>
                <a:t>Level2-2</a:t>
              </a:r>
              <a:endParaRPr lang="zh-CN" altLang="en-US" sz="1600"/>
            </a:p>
          </p:txBody>
        </p:sp>
        <p:sp>
          <p:nvSpPr>
            <p:cNvPr id="13" name="左大括号 12"/>
            <p:cNvSpPr/>
            <p:nvPr/>
          </p:nvSpPr>
          <p:spPr>
            <a:xfrm>
              <a:off x="819150" y="1019175"/>
              <a:ext cx="147389" cy="902494"/>
            </a:xfrm>
            <a:prstGeom prst="leftBrace">
              <a:avLst>
                <a:gd name="adj1" fmla="val 78307"/>
                <a:gd name="adj2" fmla="val 50000"/>
              </a:avLst>
            </a:prstGeom>
            <a:ln w="3810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grpSp>
        <p:nvGrpSpPr>
          <p:cNvPr id="14" name="组合 13"/>
          <p:cNvGrpSpPr/>
          <p:nvPr/>
        </p:nvGrpSpPr>
        <p:grpSpPr>
          <a:xfrm>
            <a:off x="142870" y="4105276"/>
            <a:ext cx="1040237" cy="902494"/>
            <a:chOff x="-73698" y="1019175"/>
            <a:chExt cx="1040237" cy="902494"/>
          </a:xfrm>
        </p:grpSpPr>
        <p:sp>
          <p:nvSpPr>
            <p:cNvPr id="15" name="文本框 14"/>
            <p:cNvSpPr txBox="1"/>
            <p:nvPr/>
          </p:nvSpPr>
          <p:spPr>
            <a:xfrm>
              <a:off x="-73698" y="1285756"/>
              <a:ext cx="966539" cy="338554"/>
            </a:xfrm>
            <a:prstGeom prst="rect">
              <a:avLst/>
            </a:prstGeom>
            <a:noFill/>
          </p:spPr>
          <p:txBody>
            <a:bodyPr wrap="square">
              <a:spAutoFit/>
            </a:bodyPr>
            <a:lstStyle/>
            <a:p>
              <a:r>
                <a:rPr lang="en-US" altLang="zh-CN" sz="1600"/>
                <a:t>Level3</a:t>
              </a:r>
              <a:endParaRPr lang="zh-CN" altLang="en-US" sz="1600"/>
            </a:p>
          </p:txBody>
        </p:sp>
        <p:sp>
          <p:nvSpPr>
            <p:cNvPr id="16" name="左大括号 15"/>
            <p:cNvSpPr/>
            <p:nvPr/>
          </p:nvSpPr>
          <p:spPr>
            <a:xfrm>
              <a:off x="819150" y="1019175"/>
              <a:ext cx="147389" cy="902494"/>
            </a:xfrm>
            <a:prstGeom prst="leftBrace">
              <a:avLst>
                <a:gd name="adj1" fmla="val 78307"/>
                <a:gd name="adj2" fmla="val 50000"/>
              </a:avLst>
            </a:prstGeom>
            <a:ln w="3810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grpSp>
        <p:nvGrpSpPr>
          <p:cNvPr id="17" name="组合 16"/>
          <p:cNvGrpSpPr/>
          <p:nvPr/>
        </p:nvGrpSpPr>
        <p:grpSpPr>
          <a:xfrm>
            <a:off x="142870" y="5120997"/>
            <a:ext cx="1040237" cy="902494"/>
            <a:chOff x="-73698" y="1019175"/>
            <a:chExt cx="1040237" cy="902494"/>
          </a:xfrm>
        </p:grpSpPr>
        <p:sp>
          <p:nvSpPr>
            <p:cNvPr id="18" name="文本框 17"/>
            <p:cNvSpPr txBox="1"/>
            <p:nvPr/>
          </p:nvSpPr>
          <p:spPr>
            <a:xfrm>
              <a:off x="-73698" y="1285756"/>
              <a:ext cx="966539" cy="338554"/>
            </a:xfrm>
            <a:prstGeom prst="rect">
              <a:avLst/>
            </a:prstGeom>
            <a:noFill/>
          </p:spPr>
          <p:txBody>
            <a:bodyPr wrap="square">
              <a:spAutoFit/>
            </a:bodyPr>
            <a:lstStyle/>
            <a:p>
              <a:r>
                <a:rPr lang="en-US" altLang="zh-CN" sz="1600"/>
                <a:t>Level4</a:t>
              </a:r>
              <a:endParaRPr lang="zh-CN" altLang="en-US" sz="1600"/>
            </a:p>
          </p:txBody>
        </p:sp>
        <p:sp>
          <p:nvSpPr>
            <p:cNvPr id="19" name="左大括号 18"/>
            <p:cNvSpPr/>
            <p:nvPr/>
          </p:nvSpPr>
          <p:spPr>
            <a:xfrm>
              <a:off x="819150" y="1019175"/>
              <a:ext cx="147389" cy="902494"/>
            </a:xfrm>
            <a:prstGeom prst="leftBrace">
              <a:avLst>
                <a:gd name="adj1" fmla="val 78307"/>
                <a:gd name="adj2" fmla="val 50000"/>
              </a:avLst>
            </a:prstGeom>
            <a:ln w="3810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5186937" y="3044279"/>
            <a:ext cx="1438214" cy="769441"/>
          </a:xfrm>
          <a:prstGeom prst="rect">
            <a:avLst/>
          </a:prstGeom>
          <a:noFill/>
        </p:spPr>
        <p:txBody>
          <a:bodyPr wrap="none" rtlCol="0">
            <a:spAutoFit/>
          </a:bodyPr>
          <a:lstStyle/>
          <a:p>
            <a:r>
              <a:rPr kumimoji="1" lang="en-US" altLang="zh-CN" sz="4400"/>
              <a:t>Q&amp;A</a:t>
            </a:r>
            <a:endParaRPr kumimoji="1" lang="zh-CN" altLang="en-US" sz="4400"/>
          </a:p>
        </p:txBody>
      </p:sp>
    </p:spTree>
  </p:cSld>
  <p:clrMapOvr>
    <a:masterClrMapping/>
  </p:clrMapOvr>
</p:sld>
</file>

<file path=ppt/tags/tag1.xml><?xml version="1.0" encoding="utf-8"?>
<p:tagLst xmlns:p="http://schemas.openxmlformats.org/presentationml/2006/main">
  <p:tag name="TABLE_ENDDRAG_ORIGIN_RECT" val="868*376"/>
  <p:tag name="TABLE_ENDDRAG_RECT" val="51*97*868*376"/>
</p:tagLst>
</file>

<file path=ppt/theme/theme1.xml><?xml version="1.0" encoding="utf-8"?>
<a:theme xmlns:a="http://schemas.openxmlformats.org/drawingml/2006/main" name="清华简约主题-扁平-16:9">
  <a:themeElements>
    <a:clrScheme name="自定义 6">
      <a:dk1>
        <a:srgbClr val="000000"/>
      </a:dk1>
      <a:lt1>
        <a:srgbClr val="FFFFFF"/>
      </a:lt1>
      <a:dk2>
        <a:srgbClr val="3D3D3D"/>
      </a:dk2>
      <a:lt2>
        <a:srgbClr val="EBEBEB"/>
      </a:lt2>
      <a:accent1>
        <a:srgbClr val="5B2F7C"/>
      </a:accent1>
      <a:accent2>
        <a:srgbClr val="5C2F7D"/>
      </a:accent2>
      <a:accent3>
        <a:srgbClr val="E6C46D"/>
      </a:accent3>
      <a:accent4>
        <a:srgbClr val="969FA7"/>
      </a:accent4>
      <a:accent5>
        <a:srgbClr val="A9C37C"/>
      </a:accent5>
      <a:accent6>
        <a:srgbClr val="5A8071"/>
      </a:accent6>
      <a:hlink>
        <a:srgbClr val="828282"/>
      </a:hlink>
      <a:folHlink>
        <a:srgbClr val="A5A5A5"/>
      </a:folHlink>
    </a:clrScheme>
    <a:fontScheme name="自定义 1">
      <a:majorFont>
        <a:latin typeface="Times New Roman"/>
        <a:ea typeface="华文中宋"/>
        <a:cs typeface=""/>
      </a:majorFont>
      <a:minorFont>
        <a:latin typeface="Times New Roman"/>
        <a:ea typeface="华文中宋"/>
        <a:cs typeface=""/>
      </a:minorFont>
    </a:fontScheme>
    <a:fmtScheme name="红利">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12307</Words>
  <Application>WPS 演示</Application>
  <PresentationFormat>宽屏</PresentationFormat>
  <Paragraphs>844</Paragraphs>
  <Slides>36</Slides>
  <Notes>18</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36</vt:i4>
      </vt:variant>
    </vt:vector>
  </HeadingPairs>
  <TitlesOfParts>
    <vt:vector size="49" baseType="lpstr">
      <vt:lpstr>Arial</vt:lpstr>
      <vt:lpstr>宋体</vt:lpstr>
      <vt:lpstr>Wingdings</vt:lpstr>
      <vt:lpstr>Wingdings 2</vt:lpstr>
      <vt:lpstr>Gill Sans MT</vt:lpstr>
      <vt:lpstr>微软雅黑</vt:lpstr>
      <vt:lpstr>Times New Roman</vt:lpstr>
      <vt:lpstr>华文中宋</vt:lpstr>
      <vt:lpstr>Arial Unicode MS</vt:lpstr>
      <vt:lpstr>等线</vt:lpstr>
      <vt:lpstr>Times New Roman</vt:lpstr>
      <vt:lpstr>等线 Light</vt:lpstr>
      <vt:lpstr>清华简约主题-扁平-16:9</vt:lpstr>
      <vt:lpstr>The Evolution of Malware Analysis</vt:lpstr>
      <vt:lpstr>目录</vt:lpstr>
      <vt:lpstr>Level1：传统恶意软件检测技术</vt:lpstr>
      <vt:lpstr>MAMADROID: Detecting Android Malware by Building Markov Chains of Behavioral Models</vt:lpstr>
      <vt:lpstr>HinDroid: An Intelligent Android Malware Detection System Based on Structured Heterogeneous Information Network</vt:lpstr>
      <vt:lpstr>Slowing Down the Aging of Learning-Based Malware Detectors With API Knowledge</vt:lpstr>
      <vt:lpstr>DawnGNN: Documentation augmented windows malware detection using graph neural network</vt:lpstr>
      <vt:lpstr>PowerPoint 演示文稿</vt:lpstr>
      <vt:lpstr>Level2：表征驱动，鲁棒化恶意软件分类</vt:lpstr>
      <vt:lpstr>Decoding the Secrets of Machine Learning in Malware Classification: A  Deep Dive into Datasets, Feature Extraction, and Model Performance</vt:lpstr>
      <vt:lpstr>Differential Training: A Generic Framework to  Reduce Label Noises for Android Malware Detection</vt:lpstr>
      <vt:lpstr>Continuous Learning for Android Malware Detection</vt:lpstr>
      <vt:lpstr>Revisiting Concept Drift in Windows Malware Detection: Adaptation with Graph Neural Networks</vt:lpstr>
      <vt:lpstr>TESSERACT: Eliminating Experimental Bias in Malware Classification across Space and Time (Security'19)</vt:lpstr>
      <vt:lpstr>Functionality-preserving black-box optimization of adversarial windows malware （TIFS`21)</vt:lpstr>
      <vt:lpstr>Make your IoT environments robust against adversarial machine learning malware threats: a code-cave approach （NDSS Workshop`24）</vt:lpstr>
      <vt:lpstr>PBP: Post-training Backdoor Purification for Malware Classifiers（NDSS`25）</vt:lpstr>
      <vt:lpstr>PowerPoint 演示文稿</vt:lpstr>
      <vt:lpstr>PowerPoint 演示文稿</vt:lpstr>
      <vt:lpstr>Level3：走向“理解”恶意软件</vt:lpstr>
      <vt:lpstr>ReSym: Harnessing LLMs to Recover Variable and Data Structure Symbols from Stripped Binaries</vt:lpstr>
      <vt:lpstr>MalGuard: Towards Real-Time, Accurate, and Actionable Detection of Malicious Packages in PyPI Ecosystem</vt:lpstr>
      <vt:lpstr>Leveraging Large Language Models to Detect npm Malicious Packages</vt:lpstr>
      <vt:lpstr>ForeDroid: Scenario-Aware Analysis for Android Malware Detection and Explanation</vt:lpstr>
      <vt:lpstr>PowerPoint 演示文稿</vt:lpstr>
      <vt:lpstr>LEVEL4：构建智能体“分析师”</vt:lpstr>
      <vt:lpstr>Large Language Models for Code Analysis: Do LLMs Really Do Their Job? </vt:lpstr>
      <vt:lpstr>Beyond Classification: Evaluating LLMs for Fine-Grained Automatic Malware Behavior Auditing</vt:lpstr>
      <vt:lpstr>DeGPT: Optimizing Decompiler Output with LLM</vt:lpstr>
      <vt:lpstr>AV-Agent: A Bottom-Up Interpretable Malware Classifier Based on Large Language Models</vt:lpstr>
      <vt:lpstr>PowerPoint 演示文稿</vt:lpstr>
      <vt:lpstr>总结</vt:lpstr>
      <vt:lpstr>总结</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陈 伟浩</dc:creator>
  <cp:lastModifiedBy>谭柘</cp:lastModifiedBy>
  <cp:revision>62</cp:revision>
  <cp:lastPrinted>2021-10-26T11:19:00Z</cp:lastPrinted>
  <dcterms:created xsi:type="dcterms:W3CDTF">2021-10-26T11:19:00Z</dcterms:created>
  <dcterms:modified xsi:type="dcterms:W3CDTF">2025-12-23T01:50:53Z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2052-12.1.0.24034</vt:lpwstr>
  </property>
  <property fmtid="{D5CDD505-2E9C-101B-9397-08002B2CF9AE}" pid="3" name="ICV">
    <vt:lpwstr>96BC758C08A749B792F9ECE64619F251_12</vt:lpwstr>
  </property>
</Properties>
</file>