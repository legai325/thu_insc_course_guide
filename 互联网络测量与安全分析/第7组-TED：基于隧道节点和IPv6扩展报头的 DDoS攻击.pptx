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media/image19.svg" ContentType="image/svg+xml"/>
  <Override PartName="/ppt/media/image21.svg" ContentType="image/svg+xml"/>
  <Override PartName="/ppt/media/image23.svg" ContentType="image/svg+xml"/>
  <Override PartName="/ppt/media/image2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8"/>
  </p:notesMasterIdLst>
  <p:handoutMasterIdLst>
    <p:handoutMasterId r:id="rId15"/>
  </p:handoutMasterIdLst>
  <p:sldIdLst>
    <p:sldId id="256" r:id="rId4"/>
    <p:sldId id="257" r:id="rId5"/>
    <p:sldId id="258" r:id="rId6"/>
    <p:sldId id="270" r:id="rId7"/>
    <p:sldId id="269" r:id="rId9"/>
    <p:sldId id="266" r:id="rId10"/>
    <p:sldId id="272" r:id="rId11"/>
    <p:sldId id="271" r:id="rId12"/>
    <p:sldId id="267" r:id="rId13"/>
    <p:sldId id="26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5" userDrawn="1">
          <p15:clr>
            <a:srgbClr val="A4A3A4"/>
          </p15:clr>
        </p15:guide>
        <p15:guide id="2" pos="385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p:scale>
          <a:sx n="75" d="100"/>
          <a:sy n="75" d="100"/>
        </p:scale>
        <p:origin x="1360" y="824"/>
      </p:cViewPr>
      <p:guideLst>
        <p:guide orient="horz" pos="2195"/>
        <p:guide pos="385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notesMaster" Target="notesMasters/notesMaster1.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33ccff"/>
    </inkml:brush>
  </inkml:definitions>
  <inkml:trace contextRef="#ctx0" brushRef="#br0">0.000 1032.000 24575,'0.000'0.000'0,"0.000"0.000"0,1.000 1.000 0,8.000 11.000 0,1.000-1.000 0,0.000 0.000 0,2.000 0.000 0,-1.000-1.000 0,1.000 0.000 0,0.000-1.000 0,24.000 13.000 0,8.000 2.000 0,49.000 17.000 0,-63.000-29.000 0,68.000 28.000 0,106.000 29.000 0,-152.000-55.000 0,119.000 32.000 0,3.000-12.000 0,-86.000-24.000 0,0.000-3.000 0,0.000-4.000 0,125.000-12.000 0,144.000-40.000 0,-323.000 43.000 0,60.000-19.000 0,-74.000 17.000 0,0.000 0.000 0,-1.000 0.000 0,0.000-2.000 0,20.000-13.000 0,29.000-27.000 0,-59.000 42.000 0,0.000-1.000 0,-1.000 0.000 0,1.000 0.000 0,12.000-18.000 0,50.000-105.000 0,-8.000 13.000 0,-50.000 98.000 0,2.000 1.000 0,0.000-1.000 0,1.000 2.000 0,1.000 0.000 0,1.000 1.000 0,28.000-22.000 0,-40.000 35.000 0,96.000-71.000 0,-75.000 58.000 0,56.000-29.000 0,186.000-57.000 0,-257.000 100.000 0,526.000-173.000 0,-145.000 65.000 0,-192.000 57.000 0,114.000-18.000 0,4.000 21.000 0,-216.000 37.000 0,140.000-2.000 0,-210.000 17.000-682,40.000-6.000-1,-66.000 5.000-6143</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33ccff"/>
    </inkml:brush>
  </inkml:definitions>
  <inkml:trace contextRef="#ctx0" brushRef="#br0">0.000 0.000 24575,'3.000'7.000'0,"0.000"-3.000"0,0.000 1.000 0,-1.000-1.000 0,1.000 0.000 0,0.000 0.000 0,1.000 0.000 0,-1.000 0.000 0,1.000-1.000 0,-1.000 0.000 0,1.000 0.000 0,0.000 1.000 0,1.000-1.000 0,-1.000-1.000 0,6.000 3.000 0,6.000 3.000 0,1.000-1.000 0,23.000 6.000 0,19.000 3.000 0,65.000 10.000 0,62.000 0.000 0,-140.000-20.000 0,-27.000-3.000 0,83.000 12.000 0,-83.000-12.000 0,0.000 2.000 0,0.000 1.000 0,21.000 9.000 0,-35.000-13.000 0,-1.000 0.000 0,1.000 0.000 0,-1.000 1.000 0,0.000 0.000 0,1.000 0.000 0,2.000 3.000 0,-6.000-5.000 0,0.000 0.000 0,0.000 0.000 0,0.000 0.000 0,0.000 0.000 0,0.000 0.000 0,0.000 1.000 0,-1.000-1.000 0,1.000 0.000 0,0.000 0.000 0,0.000 0.000 0,-1.000 1.000 0,0.000 0.000 0,1.000-1.000 0,-1.000 0.000 0,0.000 0.000 0,1.000 1.000 0,-1.000-1.000 0,0.000 1.000 0,0.000-1.000 0,0.000 1.000 0,0.000-1.000 0,0.000 0.000 0,-1.000 1.000 0,1.000-1.000 0,-1.000 3.000 0,-2.000 2.000 0,0.000-1.000 0,0.000 1.000 0,-1.000 0.000 0,0.000-1.000 0,0.000 0.000 0,-7.000 7.000 0,-17.000 17.000-32,-58.000 46.000-1,-41.000 20.000-1190,-17.000 6.000 980,-72.000 51.000-880,156.000-108.000-4414</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33ccff"/>
    </inkml:brush>
  </inkml:definitions>
  <inkml:trace contextRef="#ctx0" brushRef="#br0">29.000 0.000 24575,'1.000'1.000'0,"-1.000"1.000"0,0.000-1.000 0,1.000 0.000 0,-1.000 0.000 0,1.000 0.000 0,0.000 0.000 0,0.000 2.000 0,1.000 1.000 0,0.000 2.000 0,1.000 0.000 0,-1.000-1.000 0,-1.000 2.000 0,0.000-1.000 0,0.000 0.000 0,0.000 0.000 0,-1.000 9.000 0,-4.000 43.000 0,-14.000 64.000 0,-5.000 41.000 0,22.000-159.000-62,1.000-3.000-82,0.000 1.000-1,-1.000-1.000 0,1.000 0.000 0,0.000 0.000 0,0.000 1.000 0,0.000-1.000 1,0.000 0.000-1,1.000 1.000 0</inkml:trace>
</inkml:ink>
</file>

<file path=ppt/ink/ink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33ccff"/>
    </inkml:brush>
  </inkml:definitions>
  <inkml:trace contextRef="#ctx0" brushRef="#br0">17.000 0.000 24575,'0.000'0.000'0,"1.000"1.000"0,95.000 25.000 0,-9.000-2.000 0,-66.000-17.000 0,0.000 1.000 0,21.000 10.000 0,-36.000-14.000 0,1.000-1.000 0,-1.000 2.000 0,0.000-1.000 0,0.000 1.000 0,0.000-1.000 0,-1.000 1.000 0,8.000 9.000 0,-12.000-12.000 0,1.000 0.000 0,0.000 1.000 0,0.000-1.000 0,-1.000 1.000 0,0.000 0.000 0,0.000 0.000 0,0.000-1.000 0,1.000 2.000 0,-1.000 2.000 0,-1.000-4.000 0,1.000 0.000 0,-1.000 0.000 0,0.000 0.000 0,0.000 1.000 0,-1.000-1.000 0,1.000 0.000 0,0.000 0.000 0,-1.000 0.000 0,1.000 0.000 0,-1.000 0.000 0,0.000 0.000 0,0.000 1.000 0,-2.000 2.000 0,1.000-1.000 0,-1.000 1.000 0,0.000-1.000 0,-1.000 0.000 0,1.000-1.000 0,-1.000 1.000 0,0.000-1.000 0,0.000 1.000 0,0.000-2.000 0,-1.000 1.000 0,-5.000 3.000 0,-7.000 3.000 0,-25.000 9.000 0,28.000-12.000 0,-84.000 30.000 0,73.000-29.000 0,0.000-1.000 0,-28.000 4.000 0,52.000-9.000 0,-3.000-1.000 0,1.000 1.000 0,-1.000-1.000 0,1.000 0.000 0,-7.000-1.000 0,10.000 1.000 0,0.000 0.000 0,0.000 0.000 0,-1.000 0.000 0,1.000 0.000 0,0.000 0.000 0,0.000 0.000 0,0.000 0.000 0,0.000 0.000 0,0.000 0.000 0,0.000 0.000 0,0.000 0.000 0,0.000 0.000 0,0.000 0.000 0,0.000 0.000 0,0.000-1.000 0,0.000 1.000 0,0.000 0.000 0,0.000 0.000 0,0.000 0.000 0,0.000 0.000 0,0.000 0.000 0,0.000 0.000 0,0.000 0.000 0,0.000 0.000 0,0.000 0.000 0,0.000 0.000 0,0.000 0.000 0,0.000-1.000 0,0.000 1.000 0,0.000 0.000 0,0.000 0.000 0,0.000 0.000 0,0.000 0.000 0,0.000 0.000 0,0.000 0.000 0,0.000 0.000 0,1.000 0.000 0,-1.000 0.000 0,0.000 0.000 0,0.000 0.000 0,0.000 0.000 0,0.000 0.000 0,0.000 0.000 0,0.000 0.000 0,0.000 0.000 0,0.000 0.000 0,0.000 0.000 0,0.000-1.000 0,0.000 1.000 0,0.000 0.000 0,1.000 0.000 0,3.000-4.000 0,5.000-1.000-184,1.000 0.000 1,-1.000 0.000-1,20.000-6.000 0,-23.000 9.000-446,10.000-4.000-6196</inkml:trace>
</inkml:ink>
</file>

<file path=ppt/ink/ink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33ccff"/>
    </inkml:brush>
  </inkml:definitions>
  <inkml:trace contextRef="#ctx0" brushRef="#br0">0.000 1.000 24575,'0.000'0.000'0,"0.000"0.000"0,2.000 0.000 0,15.000 4.000 0,1.000-2.000 0,19.000 1.000 0,37.000-3.000 0,15.000 2.000 0,-73.000-1.000 0,-1.000 1.000 0,0.000 1.000 0,26.000 7.000 0,-36.000-9.000 0,-2.000 1.000 0,1.000-1.000 0,-1.000 0.000 0,1.000 1.000 0,6.000 4.000 0,-10.000-5.000 0,1.000 0.000 0,0.000-1.000 0,0.000 1.000 0,0.000 0.000 0,0.000 0.000 0,-1.000 0.000 0,2.000 0.000 0,-2.000 0.000 0,1.000 0.000 0,-1.000 1.000 0,1.000-1.000 0,-1.000 0.000 0,1.000 0.000 0,-1.000 0.000 0,0.000 0.000 0,1.000 0.000 0,-1.000 1.000 0,0.000-1.000 0,0.000 0.000 0,0.000 0.000 0,0.000 1.000 0,0.000 0.000 0,-1.000 3.000 0,0.000-2.000 0,1.000 1.000 0,-2.000 0.000 0,1.000-1.000 0,-1.000 1.000 0,1.000 0.000 0,-1.000-1.000 0,0.000 0.000 0,0.000 0.000 0,0.000 1.000 0,-1.000-1.000 0,0.000 0.000 0,-5.000 5.000 0,-4.000 2.000 0,0.000 0.000 0,-15.000 9.000 0,18.000-13.000 0,-48.000 29.000 0,46.000-29.000 0,0.000-1.000 0,-1.000 0.000 0,-16.000 5.000 0,72.000-19.000 0,60.000-4.000 0,18.000 7.000-1365,-111.000 6.000-5461</inkml:trace>
</inkml:ink>
</file>

<file path=ppt/ink/ink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ab008b"/>
    </inkml:brush>
  </inkml:definitions>
  <inkml:trace contextRef="#ctx0" brushRef="#br0">0.000 318.000 24575,'2.000'-1.000'0,"158.000"-101.000"0,-119.000 77.000 0,1.000 2.000 0,2.000 2.000 0,85.000-30.000 0,-53.000 29.000 0,124.000-22.000 0,-28.000 20.000 0,-135.000 21.000 0,-1.000 1.000 0,64.000 6.000 0,-67.000 0.000 0,-1.000 1.000 0,1.000 2.000 0,48.000 16.000 0,-57.000-14.000 0,0.000 2.000 0,0.000 0.000 0,-1.000 1.000 0,-1.000 1.000 0,22.000 17.000 0,-17.000-8.000 0,0.000 1.000 0,-2.000 1.000 0,41.000 50.000 0,-31.000-26.000 0,43.000 75.000 0,-49.000-69.000 0,42.000 113.000 0,1.000 66.000 0,-26.000-87.000 0,13.000-3.000 0,-43.000-114.000 0,0.000-1.000 0,35.000 44.000 0,-36.000-53.000 0,1.000-1.000 0,1.000-1.000 0,1.000 0.000 0,27.000 19.000 0,7.000-2.000 0,1.000-2.000 0,74.000 32.000 0,41.000 3.000 0,4.000-10.000 0,-132.000-44.000 0,189.000 47.000 0,-172.000-47.000 0,44.000 13.000 0,120.000 25.000 0,3.000-14.000 0,-46.000-13.000 0,80.000 6.000 0,281.000-15.000 0,-390.000-19.000 0,81.000-2.000 0,0.000 11.000 0,-103.000-1.000 0,20.000 2.000 0,4.000 13.000 0,-63.000-5.000 0,-31.000-10.000-1365,-37.000-4.000-5461</inkml:trace>
</inkml:ink>
</file>

<file path=ppt/ink/ink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ab008b"/>
    </inkml:brush>
  </inkml:definitions>
  <inkml:trace contextRef="#ctx0" brushRef="#br0">42.000 1.000 24575,'0.000'0.000'0,"0.000"0.000"0,0.000 0.000 0,0.000 1.000 0,5.000 5.000 0,1.000 1.000 0,0.000-1.000 0,1.000-1.000 0,-1.000 1.000 0,0.000-1.000 0,1.000 0.000 0,12.000 5.000 0,56.000 25.000 0,-61.000-30.000 0,76.000 30.000 0,16.000 6.000 0,-104.000-41.000 0,0.000 1.000 0,-1.000 0.000 0,0.000 0.000 0,1.000-1.000 0,-1.000 1.000 0,3.000 2.000 0,-4.000-2.000 0,1.000-1.000 0,-1.000 0.000 0,0.000 1.000 0,0.000-1.000 0,0.000 1.000 0,1.000-1.000 0,-1.000 0.000 0,0.000 1.000 0,0.000-1.000 0,0.000 0.000 0,0.000 1.000 0,0.000-1.000 0,0.000 1.000 0,0.000-1.000 0,0.000 0.000 0,0.000 1.000 0,0.000-1.000 0,0.000 1.000 0,0.000-1.000 0,0.000 0.000 0,0.000 1.000 0,0.000-1.000 0,0.000 1.000 0,0.000 0.000 0,0.000-1.000 0,0.000 0.000 0,-1.000 1.000 0,1.000-1.000 0,0.000 0.000 0,0.000 1.000 0,-1.000 0.000 0,-3.000 3.000 0,0.000 2.000 0,-1.000-2.000 0,0.000 0.000 0,0.000 1.000 0,0.000-1.000 0,0.000 0.000 0,-8.000 4.000 0,7.000-4.000 0,-30.000 19.000 60,-76.000 34.000 0,-44.000 3.000-1545,111.000-44.000-5341</inkml:trace>
</inkml:ink>
</file>

<file path=ppt/ink/ink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ab008b"/>
    </inkml:brush>
  </inkml:definitions>
  <inkml:trace contextRef="#ctx0" brushRef="#br0">153.000 1.000 24575,'-118.000'395.000'0,"91.000"-246.000"0,23.000-108.000 0,1.000 69.000 0,3.000-105.000-1365</inkml:trace>
</inkml:ink>
</file>

<file path=ppt/ink/ink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ab008b"/>
    </inkml:brush>
  </inkml:definitions>
  <inkml:trace contextRef="#ctx0" brushRef="#br0">98.000 8.000 24575,'21.000'-3.000'0,"1.000"0.000"0,0.000 2.000 0,-1.000 0.000 0,1.000 2.000 0,0.000 0.000 0,0.000 1.000 0,-1.000 1.000 0,38.000 10.000 0,-47.000-8.000 0,0.000-1.000 0,0.000 1.000 0,0.000 1.000 0,-1.000 1.000 0,19.000 12.000 0,-23.000-14.000 0,0.000 1.000 0,-1.000 0.000 0,1.000 0.000 0,-1.000 0.000 0,0.000 1.000 0,-1.000 0.000 0,0.000 0.000 0,0.000 0.000 0,4.000 11.000 0,-7.000-15.000 0,-1.000-1.000 0,0.000 1.000 0,-1.000 0.000 0,1.000 0.000 0,0.000-1.000 0,0.000 1.000 0,-1.000 0.000 0,0.000 0.000 0,0.000 0.000 0,0.000 0.000 0,0.000 0.000 0,0.000 0.000 0,0.000-1.000 0,-1.000 1.000 0,0.000 0.000 0,0.000 0.000 0,1.000-1.000 0,-1.000 1.000 0,0.000 0.000 0,-1.000 0.000 0,-2.000 3.000 0,-3.000 5.000 0,-1.000 0.000 0,0.000-1.000 0,-15.000 15.000 0,-33.000 24.000 0,27.000-28.000 0,-2.000 0.000 0,0.000-1.000 0,-1.000-1.000 0,-1.000-3.000 0,-1.000 0.000 0,0.000-2.000 0,-62.000 17.000 0,86.000-29.000 0,1.000 0.000 0,-18.000 2.000 0,27.000-4.000-40,0.000 0.000 0,-1.000 0.000 0,1.000 0.000 0,-1.000 0.000-1,1.000 0.000 1,0.000 0.000 0,-1.000 0.000 0,1.000 0.000 0,0.000 0.000 0,-1.000 0.000 0,1.000 0.000-1,0.000-1.000 1,0.000 1.000 0,-1.000 0.000 0,1.000 0.000 0,0.000 0.000 0,-1.000 0.000-1,1.000 0.000 1,0.000-1.000 0,0.000 1.000 0,-1.000 0.000 0,1.000 0.000 0,0.000 0.000 0,0.000-1.000-1,0.000 1.000 1,-1.000 0.000 0,1.000 0.000 0,0.000-1.000 0,0.000 1.000 0,0.000 0.000-1,0.000 0.000 1,-1.000-1.000 0,1.000 0.000 0</inkml:trace>
</inkml:ink>
</file>

<file path=ppt/ink/ink1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ab008b"/>
    </inkml:brush>
  </inkml:definitions>
  <inkml:trace contextRef="#ctx0" brushRef="#br0">129.000 11.000 24575,'9.000'3.000'0,"-1.000"0.000"0,0.000-1.000 0,1.000 0.000 0,-1.000 0.000 0,1.000 0.000 0,-1.000-2.000 0,1.000 1.000 0,14.000-1.000 0,2.000-3.000 0,40.000-9.000 0,-20.000 4.000 0,-43.000 8.000 0,19.000-2.000 0,-20.000 1.000 0,0.000 1.000 0,0.000 0.000 0,0.000 0.000 0,0.000 1.000 0,1.000-1.000 0,-1.000 0.000 0,0.000 0.000 0,0.000 0.000 0,0.000 1.000 0,1.000-1.000 0,-1.000 1.000 0,2.000 0.000 0,-3.000-1.000 0,0.000 1.000 0,1.000-1.000 0,-1.000 0.000 0,0.000 1.000 0,0.000-1.000 0,0.000 0.000 0,0.000 1.000 0,0.000-1.000 0,0.000 0.000 0,0.000 1.000 0,1.000-1.000 0,-1.000 0.000 0,0.000 1.000 0,0.000-1.000 0,0.000 0.000 0,0.000 1.000 0,-1.000-1.000 0,1.000 0.000 0,0.000 1.000 0,0.000-1.000 0,0.000 0.000 0,0.000 1.000 0,0.000 0.000 0,0.000-1.000 0,0.000 0.000 0,-1.000 0.000 0,1.000 1.000 0,0.000-1.000 0,0.000 0.000 0,-1.000 1.000 0,-8.000 11.000 0,8.000-11.000 0,-24.000 27.000 0,-47.000 41.000 0,-36.000 17.000 0,85.000-70.000 0,36.000-25.000 0,39.000-22.000 0,20.000-4.000 0,-59.000 29.000 0,-1.000 2.000 0,2.000 1.000 0,25.000-5.000 0,-38.000 7.000 0,2.000 1.000 0,0.000 0.000 0,0.000 0.000 0,-1.000-1.000 0,5.000 2.000 0,-7.000-1.000 0,1.000 0.000 0,-1.000 0.000 0,0.000 0.000 0,1.000 0.000 0,0.000 0.000 0,-1.000 0.000 0,1.000 0.000 0,-1.000 1.000 0,0.000-1.000 0,1.000 0.000 0,-1.000 0.000 0,1.000 0.000 0,-1.000 1.000 0,0.000-1.000 0,1.000 0.000 0,-1.000 0.000 0,0.000 1.000 0,0.000-1.000 0,1.000 0.000 0,-1.000 1.000 0,0.000-1.000 0,1.000 0.000 0,-1.000 1.000 0,0.000-1.000 0,0.000 1.000 0,0.000-1.000 0,0.000 0.000 0,1.000 1.000 0,-1.000-1.000 0,0.000 1.000 0,0.000-1.000 0,0.000 1.000 0,1.000 0.000 0,-2.000 2.000 0,1.000 0.000 0,-1.000 1.000 0,1.000-1.000 0,-1.000 0.000 0,0.000 0.000 0,0.000 1.000 0,0.000-1.000 0,-2.000 3.000 0,-14.000 24.000 0,15.000-26.000 0,-17.000 24.000 0,-2.000-1.000 0,0.000 0.000 0,-2.000-1.000 0,0.000-2.000 0,-3.000 0.000 0,1.000-2.000 0,-40.000 27.000 0,46.000-37.000-273,-1.000 0.000 0,0.000-1.000 0,-1.000-1.000 0,-21.000 7.000 0,15.000-8.000-6553</inkml:trace>
</inkml:ink>
</file>

<file path=ppt/ink/ink1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ffc114"/>
    </inkml:brush>
  </inkml:definitions>
  <inkml:trace contextRef="#ctx0" brushRef="#br0">1.000 1020.000 24575,'1.000'-1.000'0,"51.000"-36.000"0,143.000-90.000 0,64.000 3.000-160,11.000 20.000-436,-251.000 97.000 600,871.000-270.000-1483,-94.000 112.000 1479,-668.000 143.000 0,208.000-34.000 0,1.000 9.000 0,184.000 3.000 0,-146.000 36.000 58,-1.000 19.000-782,-112.000 5.000 598,-4.000 19.000-97,300.000 107.000 2429,-551.000-141.000-2137,73.000 22.000 925,-63.000-18.000-1456,1.000-2.000-1,28.000 1.000 0,-32.000-3.000-6363</inkml:trace>
</inkml:ink>
</file>

<file path=ppt/ink/ink1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ffc114"/>
    </inkml:brush>
  </inkml:definitions>
  <inkml:trace contextRef="#ctx0" brushRef="#br0">368.000 0.000 24575,'17.000'15.000'0,"0.000"0.000"0,1.000-2.000 0,0.000 0.000 0,23.000 12.000 0,83.000 35.000 0,-75.000-38.000 0,58.000 35.000 0,-78.000-38.000 0,34.000 27.000 0,-54.000-37.000 0,0.000-1.000 0,1.000 2.000 0,-2.000-1.000 0,0.000 0.000 0,0.000 1.000 0,11.000 20.000 0,-18.000-28.000 0,0.000 1.000 0,0.000-1.000 0,1.000 0.000 0,-2.000 1.000 0,2.000 4.000 0,-2.000-6.000 0,0.000 0.000 0,0.000 0.000 0,0.000 0.000 0,0.000 0.000 0,0.000 0.000 0,0.000-1.000 0,0.000 1.000 0,0.000 0.000 0,-1.000 0.000 0,1.000 0.000 0,0.000-1.000 0,-1.000 1.000 0,1.000 0.000 0,0.000 0.000 0,-1.000-1.000 0,0.000 2.000 0,1.000-2.000 0,-1.000 1.000 0,1.000 0.000 0,-1.000-1.000 0,-1.000 2.000 0,-3.000 1.000 0,0.000 1.000 0,-1.000-1.000 0,0.000 0.000 0,0.000 0.000 0,0.000 0.000 0,0.000-1.000 0,-7.000 2.000 0,6.000-2.000 0,-57.000 17.000 0,-26.000 3.000-317,-29.000 1.000-952,-28.000 2.000 390,-169.000 22.000-2416,191.000-29.000 864</inkml:trace>
</inkml:ink>
</file>

<file path=ppt/ink/ink1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ffc114"/>
    </inkml:brush>
  </inkml:definitions>
  <inkml:trace contextRef="#ctx0" brushRef="#br0">90.000 0.000 24575,'-7.000'7.000'0,"0.000"0.000"0,-10.000 15.000 0,13.000-18.000 0,2.000 1.000 0,-1.000 0.000 0,1.000 0.000 0,0.000 0.000 0,0.000 0.000 0,-2.000 9.000 0,0.000 16.000 0,-2.000 53.000 0,4.000-47.000 0,-11.000 120.000 87,-1.000 38.000-1539,13.000-179.000-5374</inkml:trace>
</inkml:ink>
</file>

<file path=ppt/ink/ink1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ffc114"/>
    </inkml:brush>
  </inkml:definitions>
  <inkml:trace contextRef="#ctx0" brushRef="#br0">1.000 0.000 24575,'23.000'4.000'0,"0.000"-1.000"0,1.000-2.000 0,24.000 0.000 0,-21.000-1.000 0,4.000 0.000 0,111.000 6.000 0,-127.000-4.000 0,0.000 0.000 0,0.000 1.000 0,-1.000 1.000 0,1.000 1.000 0,-1.000 0.000 0,0.000 0.000 0,17.000 10.000 0,-24.000-11.000 0,0.000 1.000 0,1.000 0.000 0,6.000 7.000 0,-11.000-9.000 0,0.000-1.000 0,-1.000 1.000 0,1.000 0.000 0,-1.000 0.000 0,0.000 0.000 0,0.000 0.000 0,0.000 1.000 0,0.000-1.000 0,2.000 6.000 0,-4.000-7.000 0,0.000-1.000 0,1.000 1.000 0,-1.000 0.000 0,0.000-1.000 0,0.000 1.000 0,0.000 0.000 0,0.000 0.000 0,0.000-1.000 0,0.000 1.000 0,-1.000 0.000 0,1.000 0.000 0,-1.000-1.000 0,0.000 1.000 0,1.000-1.000 0,-1.000 1.000 0,0.000-1.000 0,1.000 1.000 0,-1.000-1.000 0,0.000 1.000 0,0.000 0.000 0,0.000-1.000 0,-2.000 2.000 0,-3.000 3.000 0,0.000-1.000 0,0.000 0.000 0,-12.000 7.000 0,18.000-12.000 0,-109.000 62.000 0,-7.000-8.000 0,84.000-39.000 0,24.000-12.000-104,-69.000 34.000-1157,62.000-28.000-5565</inkml:trace>
</inkml:ink>
</file>

<file path=ppt/ink/ink1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ffc114"/>
    </inkml:brush>
  </inkml:definitions>
  <inkml:trace contextRef="#ctx0" brushRef="#br0">167.000 1.000 24575,'-100.000'130.000'0,"37.000"-54.000"0,63.000-76.000 0,-1.000 1.000 0,1.000 0.000 0,0.000-1.000 0,-1.000 1.000 0,1.000-1.000 0,0.000 1.000 0,0.000-1.000 0,-1.000 1.000 0,1.000 0.000 0,0.000-1.000 0,0.000 1.000 0,0.000-1.000 0,-1.000 1.000 0,1.000 0.000 0,0.000-1.000 0,0.000 1.000 0,0.000 0.000 0,0.000 0.000 0,1.000-1.000 0,-1.000 1.000 0,0.000 0.000 0,0.000-1.000 0,0.000 0.000 0,1.000 1.000 0,-1.000-1.000 0,0.000 1.000 0,0.000-1.000 0,1.000 0.000 0,-1.000 1.000 0,0.000-1.000 0,1.000 0.000 0,-1.000 0.000 0,0.000 1.000 0,1.000-1.000 0,-1.000 0.000 0,1.000 0.000 0,0.000 1.000 0,3.000 0.000 0,-1.000 0.000 0,1.000 0.000 0,-1.000 0.000 0,1.000-1.000 0,4.000 1.000 0,-7.000-1.000 0,25.000 2.000 0,1.000-2.000 0,41.000-4.000 0,-29.000 0.000 0,42.000-12.000 0,-74.000 14.000 0,9.000-2.000 0,22.000-8.000 0,-35.000 11.000 0,1.000-1.000 0,-1.000 1.000 0,1.000-2.000 0,-1.000 2.000 0,0.000-1.000 0,1.000-1.000 0,-2.000 1.000 0,1.000-1.000 0,0.000 1.000 0,0.000-1.000 0,4.000-6.000 0,-6.000 8.000-47,0.000 0.000 0,-1.000-1.000 0,1.000 1.000 0,-1.000-1.000 0,1.000 1.000 0,-1.000-1.000 0,1.000 1.000 0,-1.000-1.000 0,1.000 0.000-1,-1.000 1.000 1,0.000-1.000 0,0.000 1.000 0,0.000-1.000 0,0.000 0.000 0,-1.000 1.000 0,1.000-1.000 0,-1.000 1.000 0,1.000-1.000 0,0.000 1.000 0,-1.000-1.000 0,0.000 0.000 0,1.000 1.000-1,-1.000 0.000 1,0.000-1.000 0,0.000 1.000 0,1.000 0.000 0,-1.000-1.000 0,-2.000-1.000 0,-1.000-1.000-6779</inkml:trace>
</inkml:ink>
</file>

<file path=ppt/ink/ink1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7:38:38"/>
    </inkml:context>
    <inkml:brush xml:id="br0">
      <inkml:brushProperty name="width" value="0.035" units="cm"/>
      <inkml:brushProperty name="height" value="0.035" units="cm"/>
      <inkml:brushProperty name="color" value="#ffc114"/>
    </inkml:brush>
  </inkml:definitions>
  <inkml:trace contextRef="#ctx0" brushRef="#br0">123.000 0.000 24575,'0.000'0.000'0,"-2.000"7.000"0,-1.000 1.000 0,-4.000 9.000 0,-2.000 6.000 0,-3.000 7.000 0,-2.000 4.000 0,-1.000 0.000 0,1.000 0.000 0,1.000-2.000 0,1.000-1.000 0,2.000-1.000 0,3.000-5.000 0,2.000-8.000-8191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DDoS-&gt;</a:t>
            </a:r>
            <a:r>
              <a:rPr lang="zh-CN" altLang="en-US" b="1">
                <a:solidFill>
                  <a:schemeClr val="accent1"/>
                </a:solidFill>
                <a:latin typeface="微软雅黑" panose="020B0503020204020204" charset="-122"/>
                <a:ea typeface="微软雅黑" panose="020B0503020204020204" charset="-122"/>
                <a:cs typeface="微软雅黑" panose="020B0503020204020204" charset="-122"/>
                <a:sym typeface="+mn-ea"/>
              </a:rPr>
              <a:t>低速缓慢型</a:t>
            </a:r>
            <a:r>
              <a:rPr lang="en-US" altLang="zh-CN"/>
              <a:t>DoS-&gt;</a:t>
            </a:r>
            <a:r>
              <a:rPr lang="zh-CN" altLang="en-US" b="1">
                <a:solidFill>
                  <a:schemeClr val="accent1"/>
                </a:solidFill>
                <a:latin typeface="微软雅黑" panose="020B0503020204020204" charset="-122"/>
                <a:ea typeface="微软雅黑" panose="020B0503020204020204" charset="-122"/>
                <a:cs typeface="微软雅黑" panose="020B0503020204020204" charset="-122"/>
                <a:sym typeface="+mn-ea"/>
              </a:rPr>
              <a:t>脉冲式DoS</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0" algn="l">
              <a:lnSpc>
                <a:spcPct val="120000"/>
              </a:lnSpc>
              <a:buClrTx/>
              <a:buSzTx/>
              <a:buFont typeface="+mj-lt"/>
              <a:buNone/>
            </a:pPr>
            <a:endParaRPr lang="en-US" altLang="zh-CN">
              <a:latin typeface="微软雅黑" panose="020B0503020204020204" charset="-122"/>
              <a:ea typeface="微软雅黑" panose="020B0503020204020204" charset="-122"/>
              <a:cs typeface="微软雅黑" panose="020B0503020204020204" charset="-122"/>
            </a:endParaRPr>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285750" indent="-285750" algn="l">
              <a:lnSpc>
                <a:spcPct val="120000"/>
              </a:lnSpc>
              <a:buClrTx/>
              <a:buSzTx/>
              <a:buFont typeface="Arial" panose="020B0604020202020204" pitchFamily="34" charset="0"/>
              <a:buChar char="•"/>
            </a:pPr>
            <a:r>
              <a:rPr lang="zh-CN" altLang="en-US"/>
              <a:t>攻击者需要设计负载均衡的多层嵌套的攻击路径，以最大化攻击强度，同时避免被检测。</a:t>
            </a:r>
            <a:endParaRPr lang="zh-CN" altLang="en-US"/>
          </a:p>
          <a:p>
            <a:pPr marL="285750" indent="-285750" algn="l">
              <a:lnSpc>
                <a:spcPct val="120000"/>
              </a:lnSpc>
              <a:buClrTx/>
              <a:buSzTx/>
              <a:buFont typeface="Arial" panose="020B0604020202020204" pitchFamily="34" charset="0"/>
              <a:buChar char="•"/>
            </a:pPr>
            <a:endParaRPr lang="en-US" altLang="zh-CN"/>
          </a:p>
          <a:p>
            <a:pPr marL="285750" indent="-285750" algn="l">
              <a:lnSpc>
                <a:spcPct val="120000"/>
              </a:lnSpc>
              <a:buClrTx/>
              <a:buSzTx/>
              <a:buFont typeface="Arial" panose="020B0604020202020204" pitchFamily="34" charset="0"/>
              <a:buChar char="•"/>
            </a:pPr>
            <a:r>
              <a:rPr lang="en-US" altLang="zh-CN"/>
              <a:t>6.4 </a:t>
            </a:r>
            <a:r>
              <a:rPr lang="zh-CN" altLang="en-US"/>
              <a:t>伪装攻击源地址与难以逆向追踪</a:t>
            </a:r>
            <a:endParaRPr lang="zh-CN" altLang="en-US"/>
          </a:p>
          <a:p>
            <a:pPr marL="285750" indent="-285750" algn="l">
              <a:lnSpc>
                <a:spcPct val="120000"/>
              </a:lnSpc>
              <a:buClrTx/>
              <a:buSzTx/>
              <a:buFont typeface="Arial" panose="020B0604020202020204" pitchFamily="34" charset="0"/>
              <a:buChar char="•"/>
            </a:pPr>
            <a:endParaRPr lang="en-US" altLang="zh-CN"/>
          </a:p>
          <a:p>
            <a:pPr marL="285750" indent="-285750" algn="l">
              <a:lnSpc>
                <a:spcPct val="120000"/>
              </a:lnSpc>
              <a:buClrTx/>
              <a:buSzTx/>
              <a:buFont typeface="Arial" panose="020B0604020202020204" pitchFamily="34" charset="0"/>
              <a:buChar char="•"/>
            </a:pPr>
            <a:r>
              <a:rPr lang="zh-CN" altLang="en-US"/>
              <a:t>如何设置数据包的源地址，实现层层地址伪装，构建跨越多个自治域（</a:t>
            </a:r>
            <a:r>
              <a:rPr lang="en-US" altLang="zh-CN"/>
              <a:t>AS</a:t>
            </a:r>
            <a:r>
              <a:rPr lang="zh-CN" altLang="en-US"/>
              <a:t>）的复杂攻击链，使得难以被逆向追踪，是攻击成功的关键。</a:t>
            </a:r>
            <a:endParaRPr lang="zh-CN" altLang="en-US"/>
          </a:p>
          <a:p>
            <a:pPr marL="285750" indent="-285750" algn="l">
              <a:lnSpc>
                <a:spcPct val="120000"/>
              </a:lnSpc>
              <a:buClrTx/>
              <a:buSzTx/>
              <a:buFont typeface="Arial" panose="020B0604020202020204" pitchFamily="34" charset="0"/>
              <a:buChar char="•"/>
            </a:pPr>
            <a:endParaRPr lang="en-US" altLang="zh-CN"/>
          </a:p>
          <a:p>
            <a:pPr marL="285750" indent="-285750" algn="l">
              <a:lnSpc>
                <a:spcPct val="120000"/>
              </a:lnSpc>
              <a:buClrTx/>
              <a:buSzTx/>
              <a:buFont typeface="Arial" panose="020B0604020202020204" pitchFamily="34" charset="0"/>
              <a:buChar char="•"/>
            </a:pPr>
            <a:r>
              <a:rPr lang="en-US" altLang="zh-CN"/>
              <a:t>    </a:t>
            </a:r>
            <a:r>
              <a:rPr lang="zh-CN" altLang="en-US"/>
              <a:t>入口过滤机制的阻碍：</a:t>
            </a:r>
            <a:r>
              <a:rPr lang="en-US" altLang="zh-CN"/>
              <a:t> </a:t>
            </a:r>
            <a:r>
              <a:rPr lang="zh-CN" altLang="en-US"/>
              <a:t>现代网络中广泛部署了单播反向路径转发（</a:t>
            </a:r>
            <a:r>
              <a:rPr lang="en-US" altLang="zh-CN"/>
              <a:t>uRPF</a:t>
            </a:r>
            <a:r>
              <a:rPr lang="zh-CN" altLang="en-US"/>
              <a:t>）等入口过滤机制</a:t>
            </a:r>
            <a:r>
              <a:rPr lang="en-US" altLang="zh-CN"/>
              <a:t> </a:t>
            </a:r>
            <a:r>
              <a:rPr lang="zh-CN" altLang="en-US"/>
              <a:t>。</a:t>
            </a:r>
            <a:r>
              <a:rPr lang="en-US" altLang="zh-CN"/>
              <a:t>uRPF </a:t>
            </a:r>
            <a:r>
              <a:rPr lang="zh-CN" altLang="en-US"/>
              <a:t>的作用是检测并丢弃源地址欺骗的报文。攻击者面临的挑战是，必须找到缺乏严格入口过滤的脆弱自治域作为欺骗流量的起点，否则大规模的源地址欺骗</a:t>
            </a:r>
            <a:r>
              <a:rPr lang="en-US" altLang="zh-CN"/>
              <a:t> DDoS </a:t>
            </a:r>
            <a:r>
              <a:rPr lang="zh-CN" altLang="en-US"/>
              <a:t>攻击将难以实现</a:t>
            </a:r>
            <a:r>
              <a:rPr lang="en-US" altLang="zh-CN"/>
              <a:t> </a:t>
            </a:r>
            <a:r>
              <a:rPr lang="zh-CN" altLang="en-US"/>
              <a:t>。</a:t>
            </a:r>
            <a:r>
              <a:rPr lang="en-US" altLang="zh-CN"/>
              <a:t>   </a:t>
            </a:r>
            <a:endParaRPr lang="en-US" altLang="zh-CN"/>
          </a:p>
          <a:p>
            <a:pPr marL="285750" indent="-285750" algn="l">
              <a:lnSpc>
                <a:spcPct val="120000"/>
              </a:lnSpc>
              <a:buClrTx/>
              <a:buSzTx/>
              <a:buFont typeface="Arial" panose="020B0604020202020204" pitchFamily="34" charset="0"/>
              <a:buChar char="•"/>
            </a:pPr>
            <a:endParaRPr lang="en-US" altLang="zh-CN"/>
          </a:p>
          <a:p>
            <a:pPr marL="285750" indent="-285750" algn="l">
              <a:lnSpc>
                <a:spcPct val="120000"/>
              </a:lnSpc>
              <a:buClrTx/>
              <a:buSzTx/>
              <a:buFont typeface="Arial" panose="020B0604020202020204" pitchFamily="34" charset="0"/>
              <a:buChar char="•"/>
            </a:pPr>
            <a:r>
              <a:rPr lang="zh-CN" altLang="en-US"/>
              <a:t>隧道协议的认证弱点：</a:t>
            </a:r>
            <a:r>
              <a:rPr lang="en-US" altLang="zh-CN"/>
              <a:t> </a:t>
            </a:r>
            <a:r>
              <a:rPr lang="zh-CN" altLang="en-US"/>
              <a:t>虽然像</a:t>
            </a:r>
            <a:r>
              <a:rPr lang="en-US" altLang="zh-CN"/>
              <a:t> 6in4 </a:t>
            </a:r>
            <a:r>
              <a:rPr lang="zh-CN" altLang="en-US"/>
              <a:t>这样的隧道协议普遍缺乏健壮的认证机制，为欺骗提供了机会</a:t>
            </a:r>
            <a:r>
              <a:rPr lang="en-US" altLang="zh-CN"/>
              <a:t> </a:t>
            </a:r>
            <a:r>
              <a:rPr lang="zh-CN" altLang="en-US"/>
              <a:t>，但攻击者需要具备运营和网络知识，才能在这些易受攻击的隧道点上成功实施源地址欺骗，并将其与</a:t>
            </a:r>
            <a:r>
              <a:rPr lang="en-US" altLang="zh-CN"/>
              <a:t> EH </a:t>
            </a:r>
            <a:r>
              <a:rPr lang="zh-CN" altLang="en-US"/>
              <a:t>攻击载荷结合，实现跨域攻击。</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0" y="1512712"/>
            <a:ext cx="12192000" cy="25610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99226" y="1731653"/>
            <a:ext cx="10993549" cy="2123126"/>
          </a:xfrm>
          <a:prstGeom prst="rect">
            <a:avLst/>
          </a:prstGeom>
          <a:effectLst/>
        </p:spPr>
        <p:txBody>
          <a:bodyPr anchor="ctr">
            <a:normAutofit/>
          </a:bodyPr>
          <a:lstStyle>
            <a:lvl1pPr algn="ctr">
              <a:defRPr lang="en-US" altLang="en-US" sz="3600" b="0" kern="1200" cap="none" baseline="0" dirty="0">
                <a:solidFill>
                  <a:schemeClr val="bg1"/>
                </a:solidFill>
                <a:latin typeface="+mj-lt"/>
                <a:ea typeface="+mj-ea"/>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581193" y="4194262"/>
            <a:ext cx="10993547" cy="1340999"/>
          </a:xfrm>
        </p:spPr>
        <p:txBody>
          <a:bodyPr anchor="t">
            <a:normAutofit/>
          </a:bodyPr>
          <a:lstStyle>
            <a:lvl1pPr marL="0" indent="0" algn="ctr">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pic>
        <p:nvPicPr>
          <p:cNvPr id="10" name="图片 9"/>
          <p:cNvPicPr>
            <a:picLocks noChangeAspect="1"/>
          </p:cNvPicPr>
          <p:nvPr/>
        </p:nvPicPr>
        <p:blipFill>
          <a:blip r:embed="rId2"/>
          <a:stretch>
            <a:fillRect/>
          </a:stretch>
        </p:blipFill>
        <p:spPr>
          <a:xfrm>
            <a:off x="459200" y="275794"/>
            <a:ext cx="2519770" cy="992105"/>
          </a:xfrm>
          <a:prstGeom prst="rect">
            <a:avLst/>
          </a:prstGeom>
        </p:spPr>
      </p:pic>
      <p:sp>
        <p:nvSpPr>
          <p:cNvPr id="9"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D997B5FA-0921-464F-AAE1-844C04324D75}" type="datetimeFigureOut">
              <a:rPr lang="zh-CN" altLang="en-US" smtClean="0"/>
            </a:fld>
            <a:endParaRPr lang="zh-CN" altLang="en-US"/>
          </a:p>
        </p:txBody>
      </p:sp>
      <p:sp>
        <p:nvSpPr>
          <p:cNvPr id="11"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lang="zh-CN" altLang="en-US"/>
          </a:p>
        </p:txBody>
      </p:sp>
      <p:sp>
        <p:nvSpPr>
          <p:cNvPr id="12"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4" y="2180498"/>
            <a:ext cx="11029615" cy="367830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565CE74E-AB26-4998-AD42-012C4C1AD076}" type="slidenum">
              <a:rPr lang="zh-CN" altLang="en-US" smtClean="0"/>
            </a:fld>
            <a:endParaRPr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p:cSld name="目录">
    <p:spTree>
      <p:nvGrpSpPr>
        <p:cNvPr id="1" name=""/>
        <p:cNvGrpSpPr/>
        <p:nvPr/>
      </p:nvGrpSpPr>
      <p:grpSpPr>
        <a:xfrm>
          <a:off x="0" y="0"/>
          <a:ext cx="0" cy="0"/>
          <a:chOff x="0" y="0"/>
          <a:chExt cx="0" cy="0"/>
        </a:xfrm>
      </p:grpSpPr>
      <p:sp>
        <p:nvSpPr>
          <p:cNvPr id="14" name="Rectangle 6"/>
          <p:cNvSpPr>
            <a:spLocks noChangeAspect="1"/>
          </p:cNvSpPr>
          <p:nvPr/>
        </p:nvSpPr>
        <p:spPr>
          <a:xfrm>
            <a:off x="2" y="0"/>
            <a:ext cx="3488007"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565CE74E-AB26-4998-AD42-012C4C1AD076}" type="slidenum">
              <a:rPr lang="zh-CN" altLang="en-US" smtClean="0"/>
            </a:fld>
            <a:endParaRPr lang="zh-CN" altLang="en-US"/>
          </a:p>
        </p:txBody>
      </p:sp>
      <p:sp>
        <p:nvSpPr>
          <p:cNvPr id="12" name="Title 1"/>
          <p:cNvSpPr>
            <a:spLocks noGrp="1"/>
          </p:cNvSpPr>
          <p:nvPr>
            <p:ph type="title"/>
          </p:nvPr>
        </p:nvSpPr>
        <p:spPr>
          <a:xfrm>
            <a:off x="248291" y="1964075"/>
            <a:ext cx="2991424" cy="2929850"/>
          </a:xfrm>
          <a:prstGeom prst="rect">
            <a:avLst/>
          </a:prstGeom>
        </p:spPr>
        <p:txBody>
          <a:bodyPr anchor="ctr">
            <a:normAutofit/>
          </a:bodyPr>
          <a:lstStyle>
            <a:lvl1pPr algn="ctr">
              <a:defRPr sz="3600" cap="none" baseline="0"/>
            </a:lvl1pPr>
          </a:lstStyle>
          <a:p>
            <a:r>
              <a:rPr lang="zh-CN" altLang="en-US"/>
              <a:t>单击此处编辑母版标题样式</a:t>
            </a:r>
            <a:endParaRPr lang="en-US" dirty="0"/>
          </a:p>
        </p:txBody>
      </p:sp>
      <p:sp>
        <p:nvSpPr>
          <p:cNvPr id="9" name="Content Placeholder 2"/>
          <p:cNvSpPr>
            <a:spLocks noGrp="1"/>
          </p:cNvSpPr>
          <p:nvPr>
            <p:ph idx="1"/>
          </p:nvPr>
        </p:nvSpPr>
        <p:spPr>
          <a:xfrm>
            <a:off x="5544290" y="1137357"/>
            <a:ext cx="6066519" cy="4583289"/>
          </a:xfr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pic>
        <p:nvPicPr>
          <p:cNvPr id="10" name="图片 9"/>
          <p:cNvPicPr>
            <a:picLocks noChangeAspect="1"/>
          </p:cNvPicPr>
          <p:nvPr/>
        </p:nvPicPr>
        <p:blipFill>
          <a:blip r:embed="rId2"/>
          <a:stretch>
            <a:fillRect/>
          </a:stretch>
        </p:blipFill>
        <p:spPr>
          <a:xfrm>
            <a:off x="92600" y="92600"/>
            <a:ext cx="1015763" cy="101955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8" name="Rectangle 7"/>
          <p:cNvSpPr>
            <a:spLocks noChangeAspect="1"/>
          </p:cNvSpPr>
          <p:nvPr/>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9" name="图片 8"/>
          <p:cNvPicPr>
            <a:picLocks noChangeAspect="1"/>
          </p:cNvPicPr>
          <p:nvPr/>
        </p:nvPicPr>
        <p:blipFill>
          <a:blip r:embed="rId2"/>
          <a:stretch>
            <a:fillRect/>
          </a:stretch>
        </p:blipFill>
        <p:spPr>
          <a:xfrm>
            <a:off x="11072241" y="5257877"/>
            <a:ext cx="1015763" cy="1019553"/>
          </a:xfrm>
          <a:prstGeom prst="rect">
            <a:avLst/>
          </a:prstGeom>
        </p:spPr>
      </p:pic>
      <p:sp>
        <p:nvSpPr>
          <p:cNvPr id="2" name="Title 1"/>
          <p:cNvSpPr>
            <a:spLocks noGrp="1"/>
          </p:cNvSpPr>
          <p:nvPr>
            <p:ph type="title"/>
          </p:nvPr>
        </p:nvSpPr>
        <p:spPr>
          <a:xfrm>
            <a:off x="581194" y="3043912"/>
            <a:ext cx="11029615" cy="1497507"/>
          </a:xfrm>
          <a:prstGeom prst="rect">
            <a:avLst/>
          </a:prstGeom>
        </p:spPr>
        <p:txBody>
          <a:bodyPr anchor="b">
            <a:normAutofit/>
          </a:bodyPr>
          <a:lstStyle>
            <a:lvl1pPr algn="l">
              <a:defRPr sz="3600" b="0" cap="none" baseline="0">
                <a:solidFill>
                  <a:schemeClr val="accent1"/>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81194" y="4541417"/>
            <a:ext cx="11029615" cy="600556"/>
          </a:xfrm>
        </p:spPr>
        <p:txBody>
          <a:bodyPr anchor="t">
            <a:normAutofit/>
          </a:bodyPr>
          <a:lstStyle>
            <a:lvl1pPr marL="0" indent="0" algn="l">
              <a:buNone/>
              <a:defRPr sz="1800" cap="none" baseline="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10" name="Date Placeholder 4"/>
          <p:cNvSpPr>
            <a:spLocks noGrp="1"/>
          </p:cNvSpPr>
          <p:nvPr>
            <p:ph type="dt" sz="half" idx="10"/>
          </p:nvPr>
        </p:nvSpPr>
        <p:spPr>
          <a:xfrm>
            <a:off x="7605953" y="5956139"/>
            <a:ext cx="2844799" cy="365125"/>
          </a:xfrm>
        </p:spPr>
        <p:txBody>
          <a:bodyPr/>
          <a:lstStyle>
            <a:lvl1pPr>
              <a:defRPr>
                <a:solidFill>
                  <a:schemeClr val="accent1">
                    <a:lumMod val="75000"/>
                    <a:lumOff val="25000"/>
                  </a:schemeClr>
                </a:solidFill>
              </a:defRPr>
            </a:lvl1pPr>
          </a:lstStyle>
          <a:p>
            <a:fld id="{D997B5FA-0921-464F-AAE1-844C04324D75}" type="datetimeFigureOut">
              <a:rPr lang="zh-CN" altLang="en-US" smtClean="0"/>
            </a:fld>
            <a:endParaRPr lang="zh-CN" altLang="en-US"/>
          </a:p>
        </p:txBody>
      </p:sp>
      <p:sp>
        <p:nvSpPr>
          <p:cNvPr id="11" name="Footer Placeholder 5"/>
          <p:cNvSpPr>
            <a:spLocks noGrp="1"/>
          </p:cNvSpPr>
          <p:nvPr>
            <p:ph type="ftr" sz="quarter" idx="11"/>
          </p:nvPr>
        </p:nvSpPr>
        <p:spPr>
          <a:xfrm>
            <a:off x="581192" y="5951813"/>
            <a:ext cx="6917211" cy="365125"/>
          </a:xfrm>
        </p:spPr>
        <p:txBody>
          <a:bodyPr/>
          <a:lstStyle>
            <a:lvl1pPr>
              <a:defRPr>
                <a:solidFill>
                  <a:schemeClr val="accent1">
                    <a:lumMod val="75000"/>
                    <a:lumOff val="25000"/>
                  </a:schemeClr>
                </a:solidFill>
              </a:defRPr>
            </a:lvl1pPr>
          </a:lstStyle>
          <a:p>
            <a:endParaRPr lang="zh-CN" altLang="en-US"/>
          </a:p>
        </p:txBody>
      </p:sp>
      <p:sp>
        <p:nvSpPr>
          <p:cNvPr id="12" name="Slide Number Placeholder 6"/>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5" name="Rectangle 6"/>
          <p:cNvSpPr>
            <a:spLocks noChangeAspect="1"/>
          </p:cNvSpPr>
          <p:nvPr/>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1" name="Rectangle 7"/>
          <p:cNvSpPr>
            <a:spLocks noChangeAspect="1"/>
          </p:cNvSpPr>
          <p:nvPr/>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a:prstGeom prst="rect">
            <a:avLst/>
          </a:prstGeom>
        </p:spPr>
        <p:txBody>
          <a:bodyPr anchor="ctr">
            <a:normAutofit/>
          </a:bodyPr>
          <a:lstStyle>
            <a:lvl1pPr algn="l">
              <a:defRPr sz="2400" b="0" cap="none" baseline="0">
                <a:solidFill>
                  <a:schemeClr val="bg1"/>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5740825" y="5262298"/>
            <a:ext cx="4709928" cy="689515"/>
          </a:xfrm>
        </p:spPr>
        <p:txBody>
          <a:bodyPr anchor="ctr">
            <a:normAutofit/>
          </a:bodyPr>
          <a:lstStyle>
            <a:lvl1pPr marL="0" indent="0" algn="r">
              <a:buNone/>
              <a:defRPr sz="16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zh-CN" altLang="en-US"/>
          </a:p>
        </p:txBody>
      </p:sp>
      <p:pic>
        <p:nvPicPr>
          <p:cNvPr id="10" name="图片 9"/>
          <p:cNvPicPr>
            <a:picLocks noChangeAspect="1"/>
          </p:cNvPicPr>
          <p:nvPr/>
        </p:nvPicPr>
        <p:blipFill>
          <a:blip r:embed="rId2"/>
          <a:stretch>
            <a:fillRect/>
          </a:stretch>
        </p:blipFill>
        <p:spPr>
          <a:xfrm>
            <a:off x="11072241" y="5257877"/>
            <a:ext cx="1015763" cy="1019553"/>
          </a:xfrm>
          <a:prstGeom prst="rect">
            <a:avLst/>
          </a:prstGeom>
        </p:spPr>
      </p:pic>
      <p:sp>
        <p:nvSpPr>
          <p:cNvPr id="7" name="Slide Number Placeholder 6"/>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cap="none" baseline="0">
                <a:solidFill>
                  <a:schemeClr val="accent1"/>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5260129"/>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8" name="Rectangle 6"/>
          <p:cNvSpPr>
            <a:spLocks noChangeAspect="1"/>
          </p:cNvSpPr>
          <p:nvPr/>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showMasterSp="0">
  <p:cSld name="竖排标题与文本">
    <p:spTree>
      <p:nvGrpSpPr>
        <p:cNvPr id="1" name=""/>
        <p:cNvGrpSpPr/>
        <p:nvPr/>
      </p:nvGrpSpPr>
      <p:grpSpPr>
        <a:xfrm>
          <a:off x="0" y="0"/>
          <a:ext cx="0" cy="0"/>
          <a:chOff x="0" y="0"/>
          <a:chExt cx="0" cy="0"/>
        </a:xfrm>
      </p:grpSpPr>
      <p:sp>
        <p:nvSpPr>
          <p:cNvPr id="7" name="Rectangle 6"/>
          <p:cNvSpPr>
            <a:spLocks noChangeAspect="1"/>
          </p:cNvSpPr>
          <p:nvPr/>
        </p:nvSpPr>
        <p:spPr>
          <a:xfrm>
            <a:off x="8839202" y="0"/>
            <a:ext cx="335279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993673" y="675728"/>
            <a:ext cx="2089963" cy="5183073"/>
          </a:xfrm>
          <a:prstGeom prst="rect">
            <a:avLst/>
          </a:prstGeom>
        </p:spPr>
        <p:txBody>
          <a:bodyPr vert="eaVert" anchor="b"/>
          <a:lstStyle>
            <a:lvl1pPr>
              <a:defRPr cap="none" baseline="0"/>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774925" y="675728"/>
            <a:ext cx="7896279" cy="5183073"/>
          </a:xfrm>
        </p:spPr>
        <p:txBody>
          <a:bodyPr vert="eaVert" ancho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a:xfrm>
            <a:off x="8993674" y="5956139"/>
            <a:ext cx="1328141" cy="365125"/>
          </a:xfrm>
        </p:spPr>
        <p:txBody>
          <a:bodyPr/>
          <a:lstStyle>
            <a:lvl1pPr>
              <a:defRPr>
                <a:solidFill>
                  <a:schemeClr val="accent1">
                    <a:lumMod val="75000"/>
                    <a:lumOff val="25000"/>
                  </a:schemeClr>
                </a:solidFill>
              </a:defRPr>
            </a:lvl1p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a:xfrm>
            <a:off x="774925" y="5951813"/>
            <a:ext cx="7896279" cy="365125"/>
          </a:xfrm>
        </p:spPr>
        <p:txBody>
          <a:bodyPr/>
          <a:lstStyle/>
          <a:p>
            <a:endParaRPr lang="zh-CN" altLang="en-US"/>
          </a:p>
        </p:txBody>
      </p:sp>
      <p:sp>
        <p:nvSpPr>
          <p:cNvPr id="6" name="Slide Number Placeholder 5"/>
          <p:cNvSpPr>
            <a:spLocks noGrp="1"/>
          </p:cNvSpPr>
          <p:nvPr>
            <p:ph type="sldNum" sz="quarter" idx="12"/>
          </p:nvPr>
        </p:nvSpPr>
        <p:spPr>
          <a:xfrm>
            <a:off x="10446616" y="5956139"/>
            <a:ext cx="970459" cy="365125"/>
          </a:xfrm>
        </p:spPr>
        <p:txBody>
          <a:bodyPr/>
          <a:lstStyle>
            <a:lvl1pPr>
              <a:defRPr>
                <a:solidFill>
                  <a:schemeClr val="accent1">
                    <a:lumMod val="75000"/>
                    <a:lumOff val="25000"/>
                  </a:schemeClr>
                </a:solidFill>
              </a:defRPr>
            </a:lvl1pPr>
          </a:lstStyle>
          <a:p>
            <a:fld id="{565CE74E-AB26-4998-AD42-012C4C1AD076}" type="slidenum">
              <a:rPr lang="zh-CN" altLang="en-US" smtClean="0"/>
            </a:fld>
            <a:endParaRPr lang="zh-CN" altLang="en-US"/>
          </a:p>
        </p:txBody>
      </p:sp>
      <p:pic>
        <p:nvPicPr>
          <p:cNvPr id="10" name="图片 9"/>
          <p:cNvPicPr>
            <a:picLocks noChangeAspect="1"/>
          </p:cNvPicPr>
          <p:nvPr/>
        </p:nvPicPr>
        <p:blipFill>
          <a:blip r:embed="rId2"/>
          <a:stretch>
            <a:fillRect/>
          </a:stretch>
        </p:blipFill>
        <p:spPr>
          <a:xfrm>
            <a:off x="11083637" y="92600"/>
            <a:ext cx="1015763" cy="1019553"/>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0" y="1512712"/>
            <a:ext cx="12192000" cy="25610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99226" y="1731653"/>
            <a:ext cx="10993549" cy="2123126"/>
          </a:xfrm>
          <a:prstGeom prst="rect">
            <a:avLst/>
          </a:prstGeom>
          <a:effectLst/>
        </p:spPr>
        <p:txBody>
          <a:bodyPr anchor="ctr">
            <a:normAutofit/>
          </a:bodyPr>
          <a:lstStyle>
            <a:lvl1pPr algn="ctr">
              <a:defRPr lang="en-US" altLang="en-US" sz="3600" b="0" kern="1200" cap="none" baseline="0" dirty="0">
                <a:solidFill>
                  <a:schemeClr val="bg1"/>
                </a:solidFill>
                <a:latin typeface="+mj-lt"/>
                <a:ea typeface="+mj-ea"/>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581193" y="4194262"/>
            <a:ext cx="10993547" cy="1340999"/>
          </a:xfrm>
        </p:spPr>
        <p:txBody>
          <a:bodyPr anchor="t">
            <a:normAutofit/>
          </a:bodyPr>
          <a:lstStyle>
            <a:lvl1pPr marL="0" indent="0" algn="ctr">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pic>
        <p:nvPicPr>
          <p:cNvPr id="10" name="图片 9"/>
          <p:cNvPicPr>
            <a:picLocks noChangeAspect="1"/>
          </p:cNvPicPr>
          <p:nvPr/>
        </p:nvPicPr>
        <p:blipFill>
          <a:blip r:embed="rId2"/>
          <a:stretch>
            <a:fillRect/>
          </a:stretch>
        </p:blipFill>
        <p:spPr>
          <a:xfrm>
            <a:off x="459200" y="275794"/>
            <a:ext cx="2519770" cy="992105"/>
          </a:xfrm>
          <a:prstGeom prst="rect">
            <a:avLst/>
          </a:prstGeom>
        </p:spPr>
      </p:pic>
      <p:sp>
        <p:nvSpPr>
          <p:cNvPr id="9"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D997B5FA-0921-464F-AAE1-844C04324D75}" type="datetimeFigureOut">
              <a:rPr lang="zh-CN" altLang="en-US" smtClean="0"/>
            </a:fld>
            <a:endParaRPr lang="zh-CN" altLang="en-US"/>
          </a:p>
        </p:txBody>
      </p:sp>
      <p:sp>
        <p:nvSpPr>
          <p:cNvPr id="11"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lang="zh-CN" altLang="en-US"/>
          </a:p>
        </p:txBody>
      </p:sp>
      <p:sp>
        <p:nvSpPr>
          <p:cNvPr id="12"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565CE74E-AB26-4998-AD42-012C4C1AD07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4" y="2180498"/>
            <a:ext cx="11029615" cy="367830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565CE74E-AB26-4998-AD42-012C4C1AD076}" type="slidenum">
              <a:rPr lang="zh-CN" altLang="en-US" smtClean="0"/>
            </a:fld>
            <a:endParaRPr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p:cSld name="目录">
    <p:spTree>
      <p:nvGrpSpPr>
        <p:cNvPr id="1" name=""/>
        <p:cNvGrpSpPr/>
        <p:nvPr/>
      </p:nvGrpSpPr>
      <p:grpSpPr>
        <a:xfrm>
          <a:off x="0" y="0"/>
          <a:ext cx="0" cy="0"/>
          <a:chOff x="0" y="0"/>
          <a:chExt cx="0" cy="0"/>
        </a:xfrm>
      </p:grpSpPr>
      <p:sp>
        <p:nvSpPr>
          <p:cNvPr id="14" name="Rectangle 6"/>
          <p:cNvSpPr>
            <a:spLocks noChangeAspect="1"/>
          </p:cNvSpPr>
          <p:nvPr/>
        </p:nvSpPr>
        <p:spPr>
          <a:xfrm>
            <a:off x="2" y="0"/>
            <a:ext cx="3488007"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565CE74E-AB26-4998-AD42-012C4C1AD076}" type="slidenum">
              <a:rPr lang="zh-CN" altLang="en-US" smtClean="0"/>
            </a:fld>
            <a:endParaRPr lang="zh-CN" altLang="en-US"/>
          </a:p>
        </p:txBody>
      </p:sp>
      <p:sp>
        <p:nvSpPr>
          <p:cNvPr id="12" name="Title 1"/>
          <p:cNvSpPr>
            <a:spLocks noGrp="1"/>
          </p:cNvSpPr>
          <p:nvPr>
            <p:ph type="title"/>
          </p:nvPr>
        </p:nvSpPr>
        <p:spPr>
          <a:xfrm>
            <a:off x="248291" y="1964075"/>
            <a:ext cx="2991424" cy="2929850"/>
          </a:xfrm>
          <a:prstGeom prst="rect">
            <a:avLst/>
          </a:prstGeom>
        </p:spPr>
        <p:txBody>
          <a:bodyPr anchor="ctr">
            <a:normAutofit/>
          </a:bodyPr>
          <a:lstStyle>
            <a:lvl1pPr algn="ctr">
              <a:defRPr sz="3600" cap="none" baseline="0"/>
            </a:lvl1pPr>
          </a:lstStyle>
          <a:p>
            <a:r>
              <a:rPr lang="zh-CN" altLang="en-US"/>
              <a:t>单击此处编辑母版标题样式</a:t>
            </a:r>
            <a:endParaRPr lang="en-US" dirty="0"/>
          </a:p>
        </p:txBody>
      </p:sp>
      <p:sp>
        <p:nvSpPr>
          <p:cNvPr id="9" name="Content Placeholder 2"/>
          <p:cNvSpPr>
            <a:spLocks noGrp="1"/>
          </p:cNvSpPr>
          <p:nvPr>
            <p:ph idx="1"/>
          </p:nvPr>
        </p:nvSpPr>
        <p:spPr>
          <a:xfrm>
            <a:off x="5544290" y="1137357"/>
            <a:ext cx="6066519" cy="4583289"/>
          </a:xfr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pic>
        <p:nvPicPr>
          <p:cNvPr id="10" name="图片 9"/>
          <p:cNvPicPr>
            <a:picLocks noChangeAspect="1"/>
          </p:cNvPicPr>
          <p:nvPr/>
        </p:nvPicPr>
        <p:blipFill>
          <a:blip r:embed="rId2"/>
          <a:stretch>
            <a:fillRect/>
          </a:stretch>
        </p:blipFill>
        <p:spPr>
          <a:xfrm>
            <a:off x="92600" y="92600"/>
            <a:ext cx="1015763" cy="1019553"/>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8" name="Rectangle 7"/>
          <p:cNvSpPr>
            <a:spLocks noChangeAspect="1"/>
          </p:cNvSpPr>
          <p:nvPr/>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9" name="图片 8"/>
          <p:cNvPicPr>
            <a:picLocks noChangeAspect="1"/>
          </p:cNvPicPr>
          <p:nvPr/>
        </p:nvPicPr>
        <p:blipFill>
          <a:blip r:embed="rId2"/>
          <a:stretch>
            <a:fillRect/>
          </a:stretch>
        </p:blipFill>
        <p:spPr>
          <a:xfrm>
            <a:off x="11072241" y="5257877"/>
            <a:ext cx="1015763" cy="1019553"/>
          </a:xfrm>
          <a:prstGeom prst="rect">
            <a:avLst/>
          </a:prstGeom>
        </p:spPr>
      </p:pic>
      <p:sp>
        <p:nvSpPr>
          <p:cNvPr id="2" name="Title 1"/>
          <p:cNvSpPr>
            <a:spLocks noGrp="1"/>
          </p:cNvSpPr>
          <p:nvPr>
            <p:ph type="title"/>
          </p:nvPr>
        </p:nvSpPr>
        <p:spPr>
          <a:xfrm>
            <a:off x="581194" y="3043912"/>
            <a:ext cx="11029615" cy="1497507"/>
          </a:xfrm>
          <a:prstGeom prst="rect">
            <a:avLst/>
          </a:prstGeom>
        </p:spPr>
        <p:txBody>
          <a:bodyPr anchor="b">
            <a:normAutofit/>
          </a:bodyPr>
          <a:lstStyle>
            <a:lvl1pPr algn="l">
              <a:defRPr sz="3600" b="0" cap="none" baseline="0">
                <a:solidFill>
                  <a:schemeClr val="accent1"/>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81194" y="4541417"/>
            <a:ext cx="11029615" cy="600556"/>
          </a:xfrm>
        </p:spPr>
        <p:txBody>
          <a:bodyPr anchor="t">
            <a:normAutofit/>
          </a:bodyPr>
          <a:lstStyle>
            <a:lvl1pPr marL="0" indent="0" algn="l">
              <a:buNone/>
              <a:defRPr sz="1800" cap="none" baseline="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10" name="Date Placeholder 4"/>
          <p:cNvSpPr>
            <a:spLocks noGrp="1"/>
          </p:cNvSpPr>
          <p:nvPr>
            <p:ph type="dt" sz="half" idx="10"/>
          </p:nvPr>
        </p:nvSpPr>
        <p:spPr>
          <a:xfrm>
            <a:off x="7605953" y="5956139"/>
            <a:ext cx="2844799" cy="365125"/>
          </a:xfrm>
        </p:spPr>
        <p:txBody>
          <a:bodyPr/>
          <a:lstStyle>
            <a:lvl1pPr>
              <a:defRPr>
                <a:solidFill>
                  <a:schemeClr val="accent1">
                    <a:lumMod val="75000"/>
                    <a:lumOff val="25000"/>
                  </a:schemeClr>
                </a:solidFill>
              </a:defRPr>
            </a:lvl1pPr>
          </a:lstStyle>
          <a:p>
            <a:fld id="{D997B5FA-0921-464F-AAE1-844C04324D75}" type="datetimeFigureOut">
              <a:rPr lang="zh-CN" altLang="en-US" smtClean="0"/>
            </a:fld>
            <a:endParaRPr lang="zh-CN" altLang="en-US"/>
          </a:p>
        </p:txBody>
      </p:sp>
      <p:sp>
        <p:nvSpPr>
          <p:cNvPr id="11" name="Footer Placeholder 5"/>
          <p:cNvSpPr>
            <a:spLocks noGrp="1"/>
          </p:cNvSpPr>
          <p:nvPr>
            <p:ph type="ftr" sz="quarter" idx="11"/>
          </p:nvPr>
        </p:nvSpPr>
        <p:spPr>
          <a:xfrm>
            <a:off x="581192" y="5951813"/>
            <a:ext cx="6917211" cy="365125"/>
          </a:xfrm>
        </p:spPr>
        <p:txBody>
          <a:bodyPr/>
          <a:lstStyle>
            <a:lvl1pPr>
              <a:defRPr>
                <a:solidFill>
                  <a:schemeClr val="accent1">
                    <a:lumMod val="75000"/>
                    <a:lumOff val="25000"/>
                  </a:schemeClr>
                </a:solidFill>
              </a:defRPr>
            </a:lvl1pPr>
          </a:lstStyle>
          <a:p>
            <a:endParaRPr lang="zh-CN" altLang="en-US"/>
          </a:p>
        </p:txBody>
      </p:sp>
      <p:sp>
        <p:nvSpPr>
          <p:cNvPr id="12" name="Slide Number Placeholder 6"/>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565CE74E-AB26-4998-AD42-012C4C1AD07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5" name="Rectangle 6"/>
          <p:cNvSpPr>
            <a:spLocks noChangeAspect="1"/>
          </p:cNvSpPr>
          <p:nvPr/>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1" name="Rectangle 7"/>
          <p:cNvSpPr>
            <a:spLocks noChangeAspect="1"/>
          </p:cNvSpPr>
          <p:nvPr/>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a:prstGeom prst="rect">
            <a:avLst/>
          </a:prstGeom>
        </p:spPr>
        <p:txBody>
          <a:bodyPr anchor="ctr">
            <a:normAutofit/>
          </a:bodyPr>
          <a:lstStyle>
            <a:lvl1pPr algn="l">
              <a:defRPr sz="2400" b="0" cap="none" baseline="0">
                <a:solidFill>
                  <a:schemeClr val="bg1"/>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5740825" y="5262298"/>
            <a:ext cx="4709928" cy="689515"/>
          </a:xfrm>
        </p:spPr>
        <p:txBody>
          <a:bodyPr anchor="ctr">
            <a:normAutofit/>
          </a:bodyPr>
          <a:lstStyle>
            <a:lvl1pPr marL="0" indent="0" algn="r">
              <a:buNone/>
              <a:defRPr sz="16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zh-CN" altLang="en-US"/>
          </a:p>
        </p:txBody>
      </p:sp>
      <p:pic>
        <p:nvPicPr>
          <p:cNvPr id="10" name="图片 9"/>
          <p:cNvPicPr>
            <a:picLocks noChangeAspect="1"/>
          </p:cNvPicPr>
          <p:nvPr/>
        </p:nvPicPr>
        <p:blipFill>
          <a:blip r:embed="rId2"/>
          <a:stretch>
            <a:fillRect/>
          </a:stretch>
        </p:blipFill>
        <p:spPr>
          <a:xfrm>
            <a:off x="11072241" y="5257877"/>
            <a:ext cx="1015763" cy="1019553"/>
          </a:xfrm>
          <a:prstGeom prst="rect">
            <a:avLst/>
          </a:prstGeom>
        </p:spPr>
      </p:pic>
      <p:sp>
        <p:nvSpPr>
          <p:cNvPr id="7" name="Slide Number Placeholder 6"/>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565CE74E-AB26-4998-AD42-012C4C1AD076}"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cap="none" baseline="0">
                <a:solidFill>
                  <a:schemeClr val="accent1"/>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5260129"/>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8" name="Rectangle 6"/>
          <p:cNvSpPr>
            <a:spLocks noChangeAspect="1"/>
          </p:cNvSpPr>
          <p:nvPr/>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showMasterSp="0">
  <p:cSld name="竖排标题与文本">
    <p:spTree>
      <p:nvGrpSpPr>
        <p:cNvPr id="1" name=""/>
        <p:cNvGrpSpPr/>
        <p:nvPr/>
      </p:nvGrpSpPr>
      <p:grpSpPr>
        <a:xfrm>
          <a:off x="0" y="0"/>
          <a:ext cx="0" cy="0"/>
          <a:chOff x="0" y="0"/>
          <a:chExt cx="0" cy="0"/>
        </a:xfrm>
      </p:grpSpPr>
      <p:sp>
        <p:nvSpPr>
          <p:cNvPr id="7" name="Rectangle 6"/>
          <p:cNvSpPr>
            <a:spLocks noChangeAspect="1"/>
          </p:cNvSpPr>
          <p:nvPr/>
        </p:nvSpPr>
        <p:spPr>
          <a:xfrm>
            <a:off x="8839202" y="0"/>
            <a:ext cx="335279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993673" y="675728"/>
            <a:ext cx="2089963" cy="5183073"/>
          </a:xfrm>
          <a:prstGeom prst="rect">
            <a:avLst/>
          </a:prstGeom>
        </p:spPr>
        <p:txBody>
          <a:bodyPr vert="eaVert" anchor="b"/>
          <a:lstStyle>
            <a:lvl1pPr>
              <a:defRPr cap="none" baseline="0"/>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774925" y="675728"/>
            <a:ext cx="7896279" cy="5183073"/>
          </a:xfrm>
        </p:spPr>
        <p:txBody>
          <a:bodyPr vert="eaVert" ancho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a:xfrm>
            <a:off x="8993674" y="5956139"/>
            <a:ext cx="1328141" cy="365125"/>
          </a:xfrm>
        </p:spPr>
        <p:txBody>
          <a:bodyPr/>
          <a:lstStyle>
            <a:lvl1pPr>
              <a:defRPr>
                <a:solidFill>
                  <a:schemeClr val="accent1">
                    <a:lumMod val="75000"/>
                    <a:lumOff val="25000"/>
                  </a:schemeClr>
                </a:solidFill>
              </a:defRPr>
            </a:lvl1p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a:xfrm>
            <a:off x="774925" y="5951813"/>
            <a:ext cx="7896279" cy="365125"/>
          </a:xfrm>
        </p:spPr>
        <p:txBody>
          <a:bodyPr/>
          <a:lstStyle/>
          <a:p>
            <a:endParaRPr lang="zh-CN" altLang="en-US"/>
          </a:p>
        </p:txBody>
      </p:sp>
      <p:sp>
        <p:nvSpPr>
          <p:cNvPr id="6" name="Slide Number Placeholder 5"/>
          <p:cNvSpPr>
            <a:spLocks noGrp="1"/>
          </p:cNvSpPr>
          <p:nvPr>
            <p:ph type="sldNum" sz="quarter" idx="12"/>
          </p:nvPr>
        </p:nvSpPr>
        <p:spPr>
          <a:xfrm>
            <a:off x="10446616" y="5956139"/>
            <a:ext cx="970459" cy="365125"/>
          </a:xfrm>
        </p:spPr>
        <p:txBody>
          <a:bodyPr/>
          <a:lstStyle>
            <a:lvl1pPr>
              <a:defRPr>
                <a:solidFill>
                  <a:schemeClr val="accent1">
                    <a:lumMod val="75000"/>
                    <a:lumOff val="25000"/>
                  </a:schemeClr>
                </a:solidFill>
              </a:defRPr>
            </a:lvl1pPr>
          </a:lstStyle>
          <a:p>
            <a:fld id="{565CE74E-AB26-4998-AD42-012C4C1AD076}" type="slidenum">
              <a:rPr lang="zh-CN" altLang="en-US" smtClean="0"/>
            </a:fld>
            <a:endParaRPr lang="zh-CN" altLang="en-US"/>
          </a:p>
        </p:txBody>
      </p:sp>
      <p:pic>
        <p:nvPicPr>
          <p:cNvPr id="10" name="图片 9"/>
          <p:cNvPicPr>
            <a:picLocks noChangeAspect="1"/>
          </p:cNvPicPr>
          <p:nvPr/>
        </p:nvPicPr>
        <p:blipFill>
          <a:blip r:embed="rId2"/>
          <a:stretch>
            <a:fillRect/>
          </a:stretch>
        </p:blipFill>
        <p:spPr>
          <a:xfrm>
            <a:off x="11083637" y="92600"/>
            <a:ext cx="1015763" cy="101955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emf"/><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2.emf"/><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1DFE2"/>
            </a:gs>
            <a:gs pos="50000">
              <a:schemeClr val="bg1">
                <a:lumMod val="95000"/>
              </a:schemeClr>
            </a:gs>
            <a:gs pos="100000">
              <a:srgbClr val="E1DFE2"/>
            </a:gs>
          </a:gsLst>
          <a:lin ang="0" scaled="1"/>
          <a:tileRect/>
        </a:gradFill>
        <a:effectLst/>
      </p:bgPr>
    </p:bg>
    <p:spTree>
      <p:nvGrpSpPr>
        <p:cNvPr id="1" name=""/>
        <p:cNvGrpSpPr/>
        <p:nvPr/>
      </p:nvGrpSpPr>
      <p:grpSpPr>
        <a:xfrm>
          <a:off x="0" y="0"/>
          <a:ext cx="0" cy="0"/>
          <a:chOff x="0" y="0"/>
          <a:chExt cx="0" cy="0"/>
        </a:xfrm>
      </p:grpSpPr>
      <p:sp>
        <p:nvSpPr>
          <p:cNvPr id="16" name="Rectangle 6"/>
          <p:cNvSpPr>
            <a:spLocks noChangeAspect="1"/>
          </p:cNvSpPr>
          <p:nvPr/>
        </p:nvSpPr>
        <p:spPr>
          <a:xfrm>
            <a:off x="0" y="0"/>
            <a:ext cx="12192000"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lang="zh-CN" altLang="en-US"/>
          </a:p>
        </p:txBody>
      </p:sp>
      <p:sp>
        <p:nvSpPr>
          <p:cNvPr id="6"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565CE74E-AB26-4998-AD42-012C4C1AD076}" type="slidenum">
              <a:rPr lang="zh-CN" altLang="en-US" smtClean="0"/>
            </a:fld>
            <a:endParaRPr lang="zh-CN" altLang="en-US"/>
          </a:p>
        </p:txBody>
      </p:sp>
      <p:sp>
        <p:nvSpPr>
          <p:cNvPr id="11" name="Rectangle 6"/>
          <p:cNvSpPr>
            <a:spLocks noChangeAspect="1"/>
          </p:cNvSpPr>
          <p:nvPr/>
        </p:nvSpPr>
        <p:spPr>
          <a:xfrm>
            <a:off x="0" y="6612003"/>
            <a:ext cx="12192000" cy="245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0" name="图片 9"/>
          <p:cNvPicPr>
            <a:picLocks noChangeAspect="1"/>
          </p:cNvPicPr>
          <p:nvPr/>
        </p:nvPicPr>
        <p:blipFill>
          <a:blip r:embed="rId13"/>
          <a:stretch>
            <a:fillRect/>
          </a:stretch>
        </p:blipFill>
        <p:spPr>
          <a:xfrm>
            <a:off x="11072160" y="87749"/>
            <a:ext cx="1015763" cy="1019553"/>
          </a:xfrm>
          <a:prstGeom prst="rect">
            <a:avLst/>
          </a:prstGeom>
        </p:spPr>
      </p:pic>
      <p:sp>
        <p:nvSpPr>
          <p:cNvPr id="2" name="Title Placeholder 1"/>
          <p:cNvSpPr>
            <a:spLocks noGrp="1"/>
          </p:cNvSpPr>
          <p:nvPr>
            <p:ph type="title"/>
          </p:nvPr>
        </p:nvSpPr>
        <p:spPr>
          <a:xfrm>
            <a:off x="270377" y="87749"/>
            <a:ext cx="10795605" cy="10152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457200" rtl="0" eaLnBrk="1" latinLnBrk="0" hangingPunct="1">
        <a:spcBef>
          <a:spcPct val="0"/>
        </a:spcBef>
        <a:buNone/>
        <a:defRPr sz="2800" b="0" kern="1200" cap="none"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6" name="Rectangle 6"/>
          <p:cNvSpPr>
            <a:spLocks noChangeAspect="1"/>
          </p:cNvSpPr>
          <p:nvPr/>
        </p:nvSpPr>
        <p:spPr>
          <a:xfrm>
            <a:off x="0" y="0"/>
            <a:ext cx="12192000"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lang="zh-CN" altLang="en-US"/>
          </a:p>
        </p:txBody>
      </p:sp>
      <p:sp>
        <p:nvSpPr>
          <p:cNvPr id="6"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565CE74E-AB26-4998-AD42-012C4C1AD076}" type="slidenum">
              <a:rPr lang="zh-CN" altLang="en-US" smtClean="0"/>
            </a:fld>
            <a:endParaRPr lang="zh-CN" altLang="en-US"/>
          </a:p>
        </p:txBody>
      </p:sp>
      <p:sp>
        <p:nvSpPr>
          <p:cNvPr id="11" name="Rectangle 6"/>
          <p:cNvSpPr>
            <a:spLocks noChangeAspect="1"/>
          </p:cNvSpPr>
          <p:nvPr/>
        </p:nvSpPr>
        <p:spPr>
          <a:xfrm>
            <a:off x="0" y="6612003"/>
            <a:ext cx="12192000" cy="245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0" name="图片 9"/>
          <p:cNvPicPr>
            <a:picLocks noChangeAspect="1"/>
          </p:cNvPicPr>
          <p:nvPr/>
        </p:nvPicPr>
        <p:blipFill>
          <a:blip r:embed="rId13"/>
          <a:stretch>
            <a:fillRect/>
          </a:stretch>
        </p:blipFill>
        <p:spPr>
          <a:xfrm>
            <a:off x="11072160" y="87749"/>
            <a:ext cx="1015763" cy="1019553"/>
          </a:xfrm>
          <a:prstGeom prst="rect">
            <a:avLst/>
          </a:prstGeom>
        </p:spPr>
      </p:pic>
      <p:sp>
        <p:nvSpPr>
          <p:cNvPr id="2" name="Title Placeholder 1"/>
          <p:cNvSpPr>
            <a:spLocks noGrp="1"/>
          </p:cNvSpPr>
          <p:nvPr>
            <p:ph type="title"/>
          </p:nvPr>
        </p:nvSpPr>
        <p:spPr>
          <a:xfrm>
            <a:off x="270377" y="87749"/>
            <a:ext cx="10795605" cy="10152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457200" rtl="0" eaLnBrk="1" latinLnBrk="0" hangingPunct="1">
        <a:spcBef>
          <a:spcPct val="0"/>
        </a:spcBef>
        <a:buNone/>
        <a:defRPr sz="2800" b="0" kern="1200" cap="none"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8.xml.rels><?xml version="1.0" encoding="UTF-8" standalone="yes"?>
<Relationships xmlns="http://schemas.openxmlformats.org/package/2006/relationships"><Relationship Id="rId9" Type="http://schemas.openxmlformats.org/officeDocument/2006/relationships/customXml" Target="../ink/ink1.xml"/><Relationship Id="rId8" Type="http://schemas.openxmlformats.org/officeDocument/2006/relationships/image" Target="../media/image25.svg"/><Relationship Id="rId7" Type="http://schemas.openxmlformats.org/officeDocument/2006/relationships/image" Target="../media/image24.png"/><Relationship Id="rId6" Type="http://schemas.openxmlformats.org/officeDocument/2006/relationships/image" Target="../media/image23.svg"/><Relationship Id="rId5" Type="http://schemas.openxmlformats.org/officeDocument/2006/relationships/image" Target="../media/image22.png"/><Relationship Id="rId42" Type="http://schemas.openxmlformats.org/officeDocument/2006/relationships/slideLayout" Target="../slideLayouts/slideLayout2.xml"/><Relationship Id="rId41" Type="http://schemas.openxmlformats.org/officeDocument/2006/relationships/image" Target="../media/image42.png"/><Relationship Id="rId40" Type="http://schemas.openxmlformats.org/officeDocument/2006/relationships/image" Target="../media/image41.png"/><Relationship Id="rId4" Type="http://schemas.openxmlformats.org/officeDocument/2006/relationships/image" Target="../media/image21.svg"/><Relationship Id="rId39" Type="http://schemas.openxmlformats.org/officeDocument/2006/relationships/customXml" Target="../ink/ink16.xml"/><Relationship Id="rId38" Type="http://schemas.openxmlformats.org/officeDocument/2006/relationships/image" Target="../media/image40.png"/><Relationship Id="rId37" Type="http://schemas.openxmlformats.org/officeDocument/2006/relationships/customXml" Target="../ink/ink15.xml"/><Relationship Id="rId36" Type="http://schemas.openxmlformats.org/officeDocument/2006/relationships/image" Target="../media/image39.png"/><Relationship Id="rId35" Type="http://schemas.openxmlformats.org/officeDocument/2006/relationships/customXml" Target="../ink/ink14.xml"/><Relationship Id="rId34" Type="http://schemas.openxmlformats.org/officeDocument/2006/relationships/image" Target="../media/image38.png"/><Relationship Id="rId33" Type="http://schemas.openxmlformats.org/officeDocument/2006/relationships/customXml" Target="../ink/ink13.xml"/><Relationship Id="rId32" Type="http://schemas.openxmlformats.org/officeDocument/2006/relationships/image" Target="../media/image37.png"/><Relationship Id="rId31" Type="http://schemas.openxmlformats.org/officeDocument/2006/relationships/customXml" Target="../ink/ink12.xml"/><Relationship Id="rId30" Type="http://schemas.openxmlformats.org/officeDocument/2006/relationships/image" Target="../media/image36.png"/><Relationship Id="rId3" Type="http://schemas.openxmlformats.org/officeDocument/2006/relationships/image" Target="../media/image20.png"/><Relationship Id="rId29" Type="http://schemas.openxmlformats.org/officeDocument/2006/relationships/customXml" Target="../ink/ink11.xml"/><Relationship Id="rId28" Type="http://schemas.openxmlformats.org/officeDocument/2006/relationships/image" Target="../media/image35.png"/><Relationship Id="rId27" Type="http://schemas.openxmlformats.org/officeDocument/2006/relationships/customXml" Target="../ink/ink10.xml"/><Relationship Id="rId26" Type="http://schemas.openxmlformats.org/officeDocument/2006/relationships/image" Target="../media/image34.png"/><Relationship Id="rId25" Type="http://schemas.openxmlformats.org/officeDocument/2006/relationships/customXml" Target="../ink/ink9.xml"/><Relationship Id="rId24" Type="http://schemas.openxmlformats.org/officeDocument/2006/relationships/image" Target="../media/image33.png"/><Relationship Id="rId23" Type="http://schemas.openxmlformats.org/officeDocument/2006/relationships/customXml" Target="../ink/ink8.xml"/><Relationship Id="rId22" Type="http://schemas.openxmlformats.org/officeDocument/2006/relationships/image" Target="../media/image32.png"/><Relationship Id="rId21" Type="http://schemas.openxmlformats.org/officeDocument/2006/relationships/customXml" Target="../ink/ink7.xml"/><Relationship Id="rId20" Type="http://schemas.openxmlformats.org/officeDocument/2006/relationships/image" Target="../media/image31.png"/><Relationship Id="rId2" Type="http://schemas.openxmlformats.org/officeDocument/2006/relationships/image" Target="../media/image19.svg"/><Relationship Id="rId19" Type="http://schemas.openxmlformats.org/officeDocument/2006/relationships/customXml" Target="../ink/ink6.xml"/><Relationship Id="rId18" Type="http://schemas.openxmlformats.org/officeDocument/2006/relationships/image" Target="../media/image30.png"/><Relationship Id="rId17" Type="http://schemas.openxmlformats.org/officeDocument/2006/relationships/customXml" Target="../ink/ink5.xml"/><Relationship Id="rId16" Type="http://schemas.openxmlformats.org/officeDocument/2006/relationships/image" Target="../media/image29.png"/><Relationship Id="rId15" Type="http://schemas.openxmlformats.org/officeDocument/2006/relationships/customXml" Target="../ink/ink4.xml"/><Relationship Id="rId14" Type="http://schemas.openxmlformats.org/officeDocument/2006/relationships/image" Target="../media/image28.png"/><Relationship Id="rId13" Type="http://schemas.openxmlformats.org/officeDocument/2006/relationships/customXml" Target="../ink/ink3.xml"/><Relationship Id="rId12" Type="http://schemas.openxmlformats.org/officeDocument/2006/relationships/image" Target="../media/image27.png"/><Relationship Id="rId11" Type="http://schemas.openxmlformats.org/officeDocument/2006/relationships/customXml" Target="../ink/ink2.xml"/><Relationship Id="rId10" Type="http://schemas.openxmlformats.org/officeDocument/2006/relationships/image" Target="../media/image26.png"/><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nSpc>
                <a:spcPct val="150000"/>
              </a:lnSpc>
            </a:pPr>
            <a:r>
              <a:rPr lang="en-US" altLang="zh-CN" sz="3600" b="1" dirty="0"/>
              <a:t>TED</a:t>
            </a:r>
            <a:r>
              <a:rPr lang="zh-CN" altLang="en-US" sz="3600" b="1" dirty="0"/>
              <a:t>：基于隧道节点和</a:t>
            </a:r>
            <a:r>
              <a:rPr lang="en-US" altLang="zh-CN" sz="3600" b="1" dirty="0"/>
              <a:t>IPv6</a:t>
            </a:r>
            <a:r>
              <a:rPr lang="zh-CN" altLang="en-US" sz="3600" b="1" dirty="0"/>
              <a:t>扩展报头的</a:t>
            </a:r>
            <a:br>
              <a:rPr lang="en-US" altLang="zh-CN" sz="3600" b="1" dirty="0"/>
            </a:br>
            <a:r>
              <a:rPr lang="en-US" altLang="zh-CN" sz="3600" b="1" dirty="0"/>
              <a:t>DDoS</a:t>
            </a:r>
            <a:r>
              <a:rPr lang="zh-CN" altLang="en-US" sz="3600" b="1" dirty="0"/>
              <a:t>攻击</a:t>
            </a:r>
            <a:endParaRPr lang="zh-CN" altLang="en-US" dirty="0"/>
          </a:p>
        </p:txBody>
      </p:sp>
      <p:sp>
        <p:nvSpPr>
          <p:cNvPr id="3" name="副标题 2"/>
          <p:cNvSpPr>
            <a:spLocks noGrp="1"/>
          </p:cNvSpPr>
          <p:nvPr>
            <p:ph type="subTitle" idx="1"/>
          </p:nvPr>
        </p:nvSpPr>
        <p:spPr>
          <a:xfrm>
            <a:off x="581193" y="4808307"/>
            <a:ext cx="10993547" cy="1340999"/>
          </a:xfrm>
        </p:spPr>
        <p:txBody>
          <a:bodyPr/>
          <a:lstStyle/>
          <a:p>
            <a:r>
              <a:rPr lang="zh-CN" altLang="en-US" sz="2800" dirty="0"/>
              <a:t>盖乐</a:t>
            </a:r>
            <a:r>
              <a:rPr lang="en-US" altLang="zh-CN" sz="2800" dirty="0"/>
              <a:t> </a:t>
            </a:r>
            <a:r>
              <a:rPr lang="zh-CN" altLang="en-US" sz="2800" dirty="0"/>
              <a:t>贾泽栋</a:t>
            </a:r>
            <a:endParaRPr lang="zh-CN" altLang="en-US" sz="2800" dirty="0"/>
          </a:p>
        </p:txBody>
      </p:sp>
      <p:grpSp>
        <p:nvGrpSpPr>
          <p:cNvPr id="24" name="组合 23"/>
          <p:cNvGrpSpPr/>
          <p:nvPr/>
        </p:nvGrpSpPr>
        <p:grpSpPr>
          <a:xfrm>
            <a:off x="4080510" y="4258945"/>
            <a:ext cx="4030980" cy="548640"/>
            <a:chOff x="6560" y="6820"/>
            <a:chExt cx="6348" cy="864"/>
          </a:xfrm>
        </p:grpSpPr>
        <p:sp>
          <p:nvSpPr>
            <p:cNvPr id="10" name="副标题 2"/>
            <p:cNvSpPr txBox="1"/>
            <p:nvPr/>
          </p:nvSpPr>
          <p:spPr>
            <a:xfrm>
              <a:off x="7104" y="6820"/>
              <a:ext cx="5184" cy="865"/>
            </a:xfrm>
            <a:prstGeom prst="rect">
              <a:avLst/>
            </a:prstGeom>
          </p:spPr>
          <p:txBody>
            <a:bodyPr>
              <a:normAutofit/>
              <a:scene3d>
                <a:camera prst="orthographicFront"/>
                <a:lightRig rig="threePt" dir="t"/>
              </a:scene3d>
            </a:bodyPr>
            <a:lstStyle>
              <a:lvl1pPr marL="342900" indent="-342900" algn="l" defTabSz="914400" rtl="0" eaLnBrk="1" latinLnBrk="0" hangingPunct="1">
                <a:spcBef>
                  <a:spcPct val="20000"/>
                </a:spcBef>
                <a:buSzPct val="40000"/>
                <a:buFont typeface="Wingdings" panose="05000000000000000000" pitchFamily="2" charset="2"/>
                <a:buChar char="n"/>
                <a:defRPr sz="2800" b="1"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b="1"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b="1"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b="1"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fld id="{8C008AFD-AF98-42D9-A3F2-D23DC0F23CE2}" type="datetime1">
                <a:rPr lang="zh-CN" altLang="en-US" smtClean="0">
                  <a:solidFill>
                    <a:schemeClr val="accent1"/>
                  </a:solidFill>
                  <a:effectLst>
                    <a:outerShdw blurRad="38100" dist="25400" dir="5400000" algn="ctr" rotWithShape="0">
                      <a:srgbClr val="6E747A">
                        <a:alpha val="43000"/>
                      </a:srgbClr>
                    </a:outerShdw>
                  </a:effectLst>
                </a:rPr>
              </a:fld>
              <a:endParaRPr lang="zh-CN" altLang="en-US" dirty="0" smtClean="0">
                <a:solidFill>
                  <a:schemeClr val="accent1"/>
                </a:solidFill>
                <a:effectLst>
                  <a:outerShdw blurRad="38100" dist="25400" dir="5400000" algn="ctr" rotWithShape="0">
                    <a:srgbClr val="6E747A">
                      <a:alpha val="43000"/>
                    </a:srgbClr>
                  </a:outerShdw>
                </a:effectLst>
              </a:endParaRPr>
            </a:p>
          </p:txBody>
        </p:sp>
        <p:grpSp>
          <p:nvGrpSpPr>
            <p:cNvPr id="14" name="组合 13"/>
            <p:cNvGrpSpPr/>
            <p:nvPr/>
          </p:nvGrpSpPr>
          <p:grpSpPr>
            <a:xfrm rot="0" flipV="1">
              <a:off x="6560" y="7148"/>
              <a:ext cx="6348" cy="120"/>
              <a:chOff x="3172449" y="3650145"/>
              <a:chExt cx="6124985" cy="0"/>
            </a:xfrm>
          </p:grpSpPr>
          <p:cxnSp>
            <p:nvCxnSpPr>
              <p:cNvPr id="21" name="直接连接符 20"/>
              <p:cNvCxnSpPr/>
              <p:nvPr/>
            </p:nvCxnSpPr>
            <p:spPr>
              <a:xfrm>
                <a:off x="3172449" y="3650145"/>
                <a:ext cx="971550" cy="0"/>
              </a:xfrm>
              <a:prstGeom prst="line">
                <a:avLst/>
              </a:prstGeom>
            </p:spPr>
            <p:style>
              <a:lnRef idx="3">
                <a:schemeClr val="accent1"/>
              </a:lnRef>
              <a:fillRef idx="0">
                <a:srgbClr val="FFFFFF"/>
              </a:fillRef>
              <a:effectRef idx="0">
                <a:srgbClr val="FFFFFF"/>
              </a:effectRef>
              <a:fontRef idx="minor">
                <a:schemeClr val="tx1"/>
              </a:fontRef>
            </p:style>
          </p:cxnSp>
          <p:cxnSp>
            <p:nvCxnSpPr>
              <p:cNvPr id="22" name="直接连接符 21"/>
              <p:cNvCxnSpPr/>
              <p:nvPr/>
            </p:nvCxnSpPr>
            <p:spPr>
              <a:xfrm>
                <a:off x="8325884" y="3650145"/>
                <a:ext cx="971550" cy="0"/>
              </a:xfrm>
              <a:prstGeom prst="line">
                <a:avLst/>
              </a:prstGeom>
            </p:spPr>
            <p:style>
              <a:lnRef idx="3">
                <a:schemeClr val="accent1"/>
              </a:lnRef>
              <a:fillRef idx="0">
                <a:srgbClr val="FFFFFF"/>
              </a:fillRef>
              <a:effectRef idx="0">
                <a:srgbClr val="FFFFFF"/>
              </a:effectRef>
              <a:fontRef idx="minor">
                <a:schemeClr val="tx1"/>
              </a:fontRef>
            </p:style>
          </p:cxn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目录</a:t>
            </a:r>
            <a:endParaRPr lang="zh-CN" altLang="en-US"/>
          </a:p>
        </p:txBody>
      </p:sp>
      <p:sp>
        <p:nvSpPr>
          <p:cNvPr id="3" name="内容占位符 2"/>
          <p:cNvSpPr>
            <a:spLocks noGrp="1"/>
          </p:cNvSpPr>
          <p:nvPr>
            <p:ph idx="1"/>
          </p:nvPr>
        </p:nvSpPr>
        <p:spPr>
          <a:xfrm>
            <a:off x="4505430" y="1137357"/>
            <a:ext cx="6066519" cy="4583289"/>
          </a:xfrm>
        </p:spPr>
        <p:txBody>
          <a:bodyPr/>
          <a:p>
            <a:pPr algn="l"/>
            <a:r>
              <a:rPr lang="zh-CN" altLang="en-US" sz="3600"/>
              <a:t>一、选题背景</a:t>
            </a:r>
            <a:endParaRPr lang="zh-CN" altLang="en-US" sz="3600"/>
          </a:p>
          <a:p>
            <a:pPr algn="l"/>
            <a:r>
              <a:rPr lang="zh-CN" altLang="en-US" sz="3600"/>
              <a:t>二、问题的意义与价值</a:t>
            </a:r>
            <a:endParaRPr lang="zh-CN" altLang="en-US" sz="3600"/>
          </a:p>
          <a:p>
            <a:pPr algn="l"/>
            <a:r>
              <a:rPr lang="zh-CN" altLang="en-US" sz="3600"/>
              <a:t>三、挑战与难点</a:t>
            </a:r>
            <a:endParaRPr lang="zh-CN" altLang="en-US" sz="3600"/>
          </a:p>
          <a:p>
            <a:pPr algn="l"/>
            <a:r>
              <a:rPr lang="zh-CN" altLang="en-US" sz="3600"/>
              <a:t>四、</a:t>
            </a:r>
            <a:r>
              <a:rPr lang="zh-CN" altLang="en-US" sz="3600">
                <a:latin typeface="微软雅黑" panose="020B0503020204020204" charset="-122"/>
                <a:cs typeface="微软雅黑" panose="020B0503020204020204" charset="-122"/>
                <a:sym typeface="+mn-ea"/>
              </a:rPr>
              <a:t>基本思路</a:t>
            </a:r>
            <a:endParaRPr lang="zh-CN" altLang="en-US" sz="3600">
              <a:latin typeface="微软雅黑" panose="020B0503020204020204" charset="-122"/>
              <a:cs typeface="微软雅黑" panose="020B0503020204020204" charset="-122"/>
              <a:sym typeface="+mn-ea"/>
            </a:endParaRPr>
          </a:p>
          <a:p>
            <a:pPr algn="l"/>
            <a:r>
              <a:rPr lang="zh-CN" altLang="en-US" sz="3600"/>
              <a:t>五、团体分工与时间安排</a:t>
            </a:r>
            <a:endParaRPr lang="zh-CN" altLang="en-US" sz="3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sz="3600"/>
              <a:t>一、</a:t>
            </a:r>
            <a:r>
              <a:rPr lang="zh-CN" altLang="en-US" sz="3600">
                <a:sym typeface="+mn-ea"/>
              </a:rPr>
              <a:t>选题背景</a:t>
            </a:r>
            <a:endParaRPr lang="zh-CN" altLang="en-US" sz="3600">
              <a:sym typeface="+mn-ea"/>
            </a:endParaRPr>
          </a:p>
        </p:txBody>
      </p:sp>
      <p:sp>
        <p:nvSpPr>
          <p:cNvPr id="6" name="文本框 5"/>
          <p:cNvSpPr txBox="1"/>
          <p:nvPr/>
        </p:nvSpPr>
        <p:spPr>
          <a:xfrm>
            <a:off x="379095" y="1281430"/>
            <a:ext cx="11591925" cy="1751965"/>
          </a:xfrm>
          <a:prstGeom prst="rect">
            <a:avLst/>
          </a:prstGeom>
          <a:noFill/>
        </p:spPr>
        <p:txBody>
          <a:bodyPr wrap="square" rtlCol="0">
            <a:spAutoFit/>
          </a:bodyPr>
          <a:p>
            <a:pPr marL="285750" indent="-285750">
              <a:lnSpc>
                <a:spcPct val="120000"/>
              </a:lnSpc>
              <a:buFont typeface="Wingdings" panose="05000000000000000000" charset="0"/>
              <a:buChar char="Ø"/>
            </a:pPr>
            <a:r>
              <a:rPr lang="zh-CN" altLang="en-US">
                <a:latin typeface="微软雅黑" panose="020B0503020204020204" charset="-122"/>
                <a:ea typeface="微软雅黑" panose="020B0503020204020204" charset="-122"/>
                <a:cs typeface="微软雅黑" panose="020B0503020204020204" charset="-122"/>
              </a:rPr>
              <a:t>随着</a:t>
            </a:r>
            <a:r>
              <a:rPr lang="en-US" altLang="zh-CN">
                <a:latin typeface="微软雅黑" panose="020B0503020204020204" charset="-122"/>
                <a:ea typeface="微软雅黑" panose="020B0503020204020204" charset="-122"/>
                <a:cs typeface="微软雅黑" panose="020B0503020204020204" charset="-122"/>
              </a:rPr>
              <a:t> IPv6 </a:t>
            </a:r>
            <a:r>
              <a:rPr lang="zh-CN" altLang="en-US">
                <a:latin typeface="微软雅黑" panose="020B0503020204020204" charset="-122"/>
                <a:ea typeface="微软雅黑" panose="020B0503020204020204" charset="-122"/>
                <a:cs typeface="微软雅黑" panose="020B0503020204020204" charset="-122"/>
              </a:rPr>
              <a:t>的部署推进，大量网络采用</a:t>
            </a:r>
            <a:r>
              <a:rPr lang="en-US" altLang="zh-CN" b="1">
                <a:solidFill>
                  <a:schemeClr val="accent1"/>
                </a:solidFill>
                <a:latin typeface="微软雅黑" panose="020B0503020204020204" charset="-122"/>
                <a:ea typeface="微软雅黑" panose="020B0503020204020204" charset="-122"/>
                <a:cs typeface="微软雅黑" panose="020B0503020204020204" charset="-122"/>
              </a:rPr>
              <a:t>IPv6</a:t>
            </a:r>
            <a:r>
              <a:rPr lang="zh-CN" altLang="en-US" b="1">
                <a:solidFill>
                  <a:schemeClr val="accent1"/>
                </a:solidFill>
                <a:latin typeface="微软雅黑" panose="020B0503020204020204" charset="-122"/>
                <a:ea typeface="微软雅黑" panose="020B0503020204020204" charset="-122"/>
                <a:cs typeface="微软雅黑" panose="020B0503020204020204" charset="-122"/>
              </a:rPr>
              <a:t>过渡机制中的隧道技术</a:t>
            </a:r>
            <a:r>
              <a:rPr lang="zh-CN" altLang="en-US">
                <a:latin typeface="微软雅黑" panose="020B0503020204020204" charset="-122"/>
                <a:ea typeface="微软雅黑" panose="020B0503020204020204" charset="-122"/>
                <a:cs typeface="微软雅黑" panose="020B0503020204020204" charset="-122"/>
              </a:rPr>
              <a:t>以兼容</a:t>
            </a:r>
            <a:r>
              <a:rPr lang="en-US" altLang="zh-CN">
                <a:latin typeface="微软雅黑" panose="020B0503020204020204" charset="-122"/>
                <a:ea typeface="微软雅黑" panose="020B0503020204020204" charset="-122"/>
                <a:cs typeface="微软雅黑" panose="020B0503020204020204" charset="-122"/>
              </a:rPr>
              <a:t> IPv4</a:t>
            </a:r>
            <a:r>
              <a:rPr lang="zh-CN" altLang="en-US">
                <a:latin typeface="微软雅黑" panose="020B0503020204020204" charset="-122"/>
                <a:ea typeface="微软雅黑" panose="020B0503020204020204" charset="-122"/>
                <a:cs typeface="微软雅黑" panose="020B0503020204020204" charset="-122"/>
              </a:rPr>
              <a:t>。但现有对隧道机制的防护策略还不完善，在没有适当身份验证机制的情况下</a:t>
            </a:r>
            <a:r>
              <a:rPr lang="zh-CN" altLang="en-US" b="1">
                <a:solidFill>
                  <a:schemeClr val="accent1"/>
                </a:solidFill>
                <a:latin typeface="微软雅黑" panose="020B0503020204020204" charset="-122"/>
                <a:ea typeface="微软雅黑" panose="020B0503020204020204" charset="-122"/>
                <a:cs typeface="微软雅黑" panose="020B0503020204020204" charset="-122"/>
              </a:rPr>
              <a:t>存在被攻击者利用的风险</a:t>
            </a:r>
            <a:r>
              <a:rPr lang="zh-CN" altLang="en-US">
                <a:latin typeface="微软雅黑" panose="020B0503020204020204" charset="-122"/>
                <a:ea typeface="微软雅黑" panose="020B0503020204020204" charset="-122"/>
                <a:cs typeface="微软雅黑" panose="020B0503020204020204" charset="-122"/>
              </a:rPr>
              <a:t>。</a:t>
            </a:r>
            <a:endParaRPr lang="en-US" altLang="zh-CN">
              <a:latin typeface="微软雅黑" panose="020B0503020204020204" charset="-122"/>
              <a:ea typeface="微软雅黑" panose="020B0503020204020204" charset="-122"/>
              <a:cs typeface="微软雅黑" panose="020B0503020204020204" charset="-122"/>
            </a:endParaRPr>
          </a:p>
          <a:p>
            <a:pPr marL="285750" indent="-285750">
              <a:lnSpc>
                <a:spcPct val="120000"/>
              </a:lnSpc>
              <a:buFont typeface="Wingdings" panose="05000000000000000000" charset="0"/>
              <a:buChar char="Ø"/>
            </a:pPr>
            <a:r>
              <a:rPr lang="en-US" altLang="zh-CN" b="1">
                <a:solidFill>
                  <a:schemeClr val="accent1"/>
                </a:solidFill>
                <a:latin typeface="微软雅黑" panose="020B0503020204020204" charset="-122"/>
                <a:ea typeface="微软雅黑" panose="020B0503020204020204" charset="-122"/>
                <a:cs typeface="微软雅黑" panose="020B0503020204020204" charset="-122"/>
              </a:rPr>
              <a:t>IPv6 </a:t>
            </a:r>
            <a:r>
              <a:rPr lang="zh-CN" altLang="en-US" b="1">
                <a:solidFill>
                  <a:schemeClr val="accent1"/>
                </a:solidFill>
                <a:latin typeface="微软雅黑" panose="020B0503020204020204" charset="-122"/>
                <a:ea typeface="微软雅黑" panose="020B0503020204020204" charset="-122"/>
                <a:cs typeface="微软雅黑" panose="020B0503020204020204" charset="-122"/>
              </a:rPr>
              <a:t>支持扩展报头</a:t>
            </a:r>
            <a:r>
              <a:rPr lang="zh-CN" altLang="en-US">
                <a:latin typeface="微软雅黑" panose="020B0503020204020204" charset="-122"/>
                <a:ea typeface="微软雅黑" panose="020B0503020204020204" charset="-122"/>
                <a:cs typeface="微软雅黑" panose="020B0503020204020204" charset="-122"/>
              </a:rPr>
              <a:t>，即在固定</a:t>
            </a:r>
            <a:r>
              <a:rPr lang="en-US" altLang="zh-CN">
                <a:latin typeface="微软雅黑" panose="020B0503020204020204" charset="-122"/>
                <a:ea typeface="微软雅黑" panose="020B0503020204020204" charset="-122"/>
                <a:cs typeface="微软雅黑" panose="020B0503020204020204" charset="-122"/>
              </a:rPr>
              <a:t> IPv6 </a:t>
            </a:r>
            <a:r>
              <a:rPr lang="zh-CN" altLang="en-US">
                <a:latin typeface="微软雅黑" panose="020B0503020204020204" charset="-122"/>
                <a:ea typeface="微软雅黑" panose="020B0503020204020204" charset="-122"/>
                <a:cs typeface="微软雅黑" panose="020B0503020204020204" charset="-122"/>
              </a:rPr>
              <a:t>头部之后可以选择使用可选报头。不同的互联网服务提供商对</a:t>
            </a:r>
            <a:r>
              <a:rPr lang="zh-CN" altLang="en-US">
                <a:latin typeface="微软雅黑" panose="020B0503020204020204" charset="-122"/>
                <a:ea typeface="微软雅黑" panose="020B0503020204020204" charset="-122"/>
                <a:cs typeface="微软雅黑" panose="020B0503020204020204" charset="-122"/>
              </a:rPr>
              <a:t>报头的处理机制大不相同。攻击者可以利用扩展报头</a:t>
            </a:r>
            <a:r>
              <a:rPr lang="zh-CN" altLang="en-US" b="1">
                <a:solidFill>
                  <a:schemeClr val="accent1"/>
                </a:solidFill>
                <a:latin typeface="微软雅黑" panose="020B0503020204020204" charset="-122"/>
                <a:ea typeface="微软雅黑" panose="020B0503020204020204" charset="-122"/>
                <a:cs typeface="微软雅黑" panose="020B0503020204020204" charset="-122"/>
              </a:rPr>
              <a:t>构造缺陷数据包以绕过防护策略</a:t>
            </a:r>
            <a:r>
              <a:rPr lang="zh-CN" altLang="en-US">
                <a:latin typeface="微软雅黑" panose="020B0503020204020204" charset="-122"/>
                <a:ea typeface="微软雅黑" panose="020B0503020204020204" charset="-122"/>
                <a:cs typeface="微软雅黑" panose="020B0503020204020204" charset="-122"/>
              </a:rPr>
              <a:t>，通过</a:t>
            </a:r>
            <a:r>
              <a:rPr lang="zh-CN" altLang="en-US" b="1">
                <a:solidFill>
                  <a:schemeClr val="accent1"/>
                </a:solidFill>
                <a:latin typeface="微软雅黑" panose="020B0503020204020204" charset="-122"/>
                <a:ea typeface="微软雅黑" panose="020B0503020204020204" charset="-122"/>
                <a:cs typeface="微软雅黑" panose="020B0503020204020204" charset="-122"/>
              </a:rPr>
              <a:t>多层封装的隧道数据流</a:t>
            </a:r>
            <a:r>
              <a:rPr lang="zh-CN" altLang="en-US">
                <a:latin typeface="微软雅黑" panose="020B0503020204020204" charset="-122"/>
                <a:ea typeface="微软雅黑" panose="020B0503020204020204" charset="-122"/>
                <a:cs typeface="微软雅黑" panose="020B0503020204020204" charset="-122"/>
              </a:rPr>
              <a:t>对关键网络设备和服务进行</a:t>
            </a:r>
            <a:r>
              <a:rPr lang="en-US" altLang="zh-CN" b="1">
                <a:solidFill>
                  <a:schemeClr val="accent1"/>
                </a:solidFill>
                <a:latin typeface="微软雅黑" panose="020B0503020204020204" charset="-122"/>
                <a:ea typeface="微软雅黑" panose="020B0503020204020204" charset="-122"/>
                <a:cs typeface="微软雅黑" panose="020B0503020204020204" charset="-122"/>
              </a:rPr>
              <a:t>ddos</a:t>
            </a:r>
            <a:r>
              <a:rPr lang="zh-CN" altLang="en-US" b="1">
                <a:solidFill>
                  <a:schemeClr val="accent1"/>
                </a:solidFill>
                <a:latin typeface="微软雅黑" panose="020B0503020204020204" charset="-122"/>
                <a:ea typeface="微软雅黑" panose="020B0503020204020204" charset="-122"/>
                <a:cs typeface="微软雅黑" panose="020B0503020204020204" charset="-122"/>
              </a:rPr>
              <a:t>攻击</a:t>
            </a:r>
            <a:r>
              <a:rPr lang="zh-CN" altLang="en-US">
                <a:latin typeface="微软雅黑" panose="020B0503020204020204" charset="-122"/>
                <a:ea typeface="微软雅黑" panose="020B0503020204020204" charset="-122"/>
                <a:cs typeface="微软雅黑" panose="020B0503020204020204" charset="-122"/>
              </a:rPr>
              <a:t>。</a:t>
            </a: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13" name="组合 12"/>
          <p:cNvGrpSpPr/>
          <p:nvPr/>
        </p:nvGrpSpPr>
        <p:grpSpPr>
          <a:xfrm>
            <a:off x="1146810" y="2951480"/>
            <a:ext cx="10057130" cy="3618865"/>
            <a:chOff x="984" y="4480"/>
            <a:chExt cx="16167" cy="5817"/>
          </a:xfrm>
        </p:grpSpPr>
        <p:pic>
          <p:nvPicPr>
            <p:cNvPr id="5" name="图片 4" descr="14d38cf4b3f0b6a1cb2f2db5b95345d3"/>
            <p:cNvPicPr>
              <a:picLocks noChangeAspect="1"/>
            </p:cNvPicPr>
            <p:nvPr/>
          </p:nvPicPr>
          <p:blipFill>
            <a:blip r:embed="rId1"/>
            <a:srcRect l="6618" t="5405" r="28281" b="7361"/>
            <a:stretch>
              <a:fillRect/>
            </a:stretch>
          </p:blipFill>
          <p:spPr>
            <a:xfrm>
              <a:off x="12079" y="4542"/>
              <a:ext cx="5072" cy="5244"/>
            </a:xfrm>
            <a:prstGeom prst="rect">
              <a:avLst/>
            </a:prstGeom>
          </p:spPr>
        </p:pic>
        <p:sp>
          <p:nvSpPr>
            <p:cNvPr id="9" name="矩形 24"/>
            <p:cNvSpPr/>
            <p:nvPr/>
          </p:nvSpPr>
          <p:spPr>
            <a:xfrm>
              <a:off x="984" y="9777"/>
              <a:ext cx="9941" cy="520"/>
            </a:xfrm>
            <a:prstGeom prst="rect">
              <a:avLst/>
            </a:prstGeom>
          </p:spPr>
          <p:style>
            <a:lnRef idx="0">
              <a:srgbClr val="FFFFFF"/>
            </a:lnRef>
            <a:fillRef idx="1">
              <a:schemeClr val="accent1"/>
            </a:fillRef>
            <a:effectRef idx="0">
              <a:srgbClr val="FFFFFF"/>
            </a:effectRef>
            <a:fontRef idx="minor">
              <a:schemeClr val="lt1"/>
            </a:fontRef>
          </p:style>
          <p:txBody>
            <a:bodyPr vert="horz" wrap="square" lIns="0" tIns="0" rIns="179999" bIns="0" anchor="ctr" anchorCtr="1" compatLnSpc="1">
              <a:no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altLang="zh-CN" sz="1600" kern="1200">
                  <a:solidFill>
                    <a:srgbClr val="FFFFFF"/>
                  </a:solidFill>
                  <a:latin typeface="微软雅黑" panose="020B0503020204020204" charset="-122"/>
                  <a:ea typeface="微软雅黑" panose="020B0503020204020204" charset="-122"/>
                  <a:sym typeface="+mn-ea"/>
                </a:rPr>
                <a:t>v4/v6</a:t>
              </a:r>
              <a:r>
                <a:rPr lang="zh-CN" altLang="en-US" sz="1600" kern="1200">
                  <a:solidFill>
                    <a:srgbClr val="FFFFFF"/>
                  </a:solidFill>
                  <a:latin typeface="微软雅黑" panose="020B0503020204020204" charset="-122"/>
                  <a:ea typeface="微软雅黑" panose="020B0503020204020204" charset="-122"/>
                  <a:sym typeface="+mn-ea"/>
                </a:rPr>
                <a:t>隧道节点全球分布</a:t>
              </a:r>
              <a:r>
                <a:rPr lang="zh-CN" altLang="en-US" sz="1600" b="0" i="0" u="none" strike="noStrike" kern="1200" cap="none" spc="0" baseline="0">
                  <a:solidFill>
                    <a:srgbClr val="FFFFFF"/>
                  </a:solidFill>
                  <a:uFillTx/>
                  <a:latin typeface="微软雅黑" panose="020B0503020204020204" charset="-122"/>
                  <a:ea typeface="微软雅黑" panose="020B0503020204020204" charset="-122"/>
                </a:rPr>
                <a:t>图</a:t>
              </a:r>
              <a:endParaRPr lang="zh-CN" altLang="en-US" sz="1600" b="0" i="0" u="none" strike="noStrike" kern="1200" cap="none" spc="0" baseline="0">
                <a:solidFill>
                  <a:srgbClr val="FFFFFF"/>
                </a:solidFill>
                <a:uFillTx/>
                <a:latin typeface="微软雅黑" panose="020B0503020204020204" charset="-122"/>
                <a:ea typeface="微软雅黑" panose="020B0503020204020204" charset="-122"/>
              </a:endParaRPr>
            </a:p>
          </p:txBody>
        </p:sp>
        <p:sp>
          <p:nvSpPr>
            <p:cNvPr id="10" name="矩形 24"/>
            <p:cNvSpPr/>
            <p:nvPr/>
          </p:nvSpPr>
          <p:spPr>
            <a:xfrm>
              <a:off x="12079" y="9777"/>
              <a:ext cx="5071" cy="520"/>
            </a:xfrm>
            <a:prstGeom prst="rect">
              <a:avLst/>
            </a:prstGeom>
          </p:spPr>
          <p:style>
            <a:lnRef idx="0">
              <a:srgbClr val="FFFFFF"/>
            </a:lnRef>
            <a:fillRef idx="1">
              <a:schemeClr val="accent1"/>
            </a:fillRef>
            <a:effectRef idx="0">
              <a:srgbClr val="FFFFFF"/>
            </a:effectRef>
            <a:fontRef idx="minor">
              <a:schemeClr val="lt1"/>
            </a:fontRef>
          </p:style>
          <p:txBody>
            <a:bodyPr vert="horz" wrap="square" lIns="0" tIns="0" rIns="179999" bIns="0" anchor="ctr" anchorCtr="1" compatLnSpc="1">
              <a:no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微软雅黑" panose="020B0503020204020204" charset="-122"/>
                  <a:ea typeface="微软雅黑" panose="020B0503020204020204" charset="-122"/>
                </a:rPr>
                <a:t> IPv6</a:t>
              </a:r>
              <a:r>
                <a:rPr lang="zh-CN" altLang="en-US" sz="1600" b="0" i="0" u="none" strike="noStrike" kern="1200" cap="none" spc="0" baseline="0">
                  <a:solidFill>
                    <a:srgbClr val="FFFFFF"/>
                  </a:solidFill>
                  <a:uFillTx/>
                  <a:latin typeface="微软雅黑" panose="020B0503020204020204" charset="-122"/>
                  <a:ea typeface="微软雅黑" panose="020B0503020204020204" charset="-122"/>
                </a:rPr>
                <a:t>扩展报头</a:t>
              </a:r>
              <a:r>
                <a:rPr lang="zh-CN" altLang="en-US" sz="1600" b="0" i="0" u="none" strike="noStrike" kern="1200" cap="none" spc="0" baseline="0">
                  <a:solidFill>
                    <a:srgbClr val="FFFFFF"/>
                  </a:solidFill>
                  <a:uFillTx/>
                  <a:latin typeface="微软雅黑" panose="020B0503020204020204" charset="-122"/>
                  <a:ea typeface="微软雅黑" panose="020B0503020204020204" charset="-122"/>
                </a:rPr>
                <a:t>分类</a:t>
              </a:r>
              <a:endParaRPr lang="zh-CN" altLang="en-US" sz="1600" b="0" i="0" u="none" strike="noStrike" kern="1200" cap="none" spc="0" baseline="0">
                <a:solidFill>
                  <a:srgbClr val="FFFFFF"/>
                </a:solidFill>
                <a:uFillTx/>
                <a:latin typeface="微软雅黑" panose="020B0503020204020204" charset="-122"/>
                <a:ea typeface="微软雅黑" panose="020B0503020204020204" charset="-122"/>
              </a:endParaRPr>
            </a:p>
          </p:txBody>
        </p:sp>
        <p:pic>
          <p:nvPicPr>
            <p:cNvPr id="12" name="图片 11"/>
            <p:cNvPicPr>
              <a:picLocks noChangeAspect="1"/>
            </p:cNvPicPr>
            <p:nvPr/>
          </p:nvPicPr>
          <p:blipFill>
            <a:blip r:embed="rId2"/>
            <a:stretch>
              <a:fillRect/>
            </a:stretch>
          </p:blipFill>
          <p:spPr>
            <a:xfrm>
              <a:off x="985" y="4480"/>
              <a:ext cx="9940" cy="5297"/>
            </a:xfrm>
            <a:prstGeom prst="rect">
              <a:avLst/>
            </a:prstGeom>
          </p:spPr>
        </p:pic>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sz="3600"/>
              <a:t>一、</a:t>
            </a:r>
            <a:r>
              <a:rPr lang="zh-CN" altLang="en-US" sz="3600">
                <a:latin typeface="微软雅黑" panose="020B0503020204020204" charset="-122"/>
                <a:cs typeface="微软雅黑" panose="020B0503020204020204" charset="-122"/>
                <a:sym typeface="+mn-ea"/>
              </a:rPr>
              <a:t>研究背景</a:t>
            </a:r>
            <a:endParaRPr lang="en-US" altLang="zh-CN" sz="3600">
              <a:sym typeface="+mn-ea"/>
            </a:endParaRPr>
          </a:p>
        </p:txBody>
      </p:sp>
      <p:sp>
        <p:nvSpPr>
          <p:cNvPr id="2" name="文本框 1"/>
          <p:cNvSpPr txBox="1"/>
          <p:nvPr/>
        </p:nvSpPr>
        <p:spPr>
          <a:xfrm>
            <a:off x="413385" y="1254125"/>
            <a:ext cx="7092950" cy="4892675"/>
          </a:xfrm>
          <a:prstGeom prst="rect">
            <a:avLst/>
          </a:prstGeom>
          <a:noFill/>
        </p:spPr>
        <p:txBody>
          <a:bodyPr wrap="square" rtlCol="0">
            <a:spAutoFit/>
          </a:bodyPr>
          <a:p>
            <a:pPr marL="285750" indent="-285750">
              <a:lnSpc>
                <a:spcPct val="120000"/>
              </a:lnSpc>
              <a:buFont typeface="Wingdings" panose="05000000000000000000" charset="0"/>
              <a:buChar char="Ø"/>
            </a:pPr>
            <a:r>
              <a:rPr lang="zh-CN" altLang="en-US" sz="2000" b="1">
                <a:solidFill>
                  <a:schemeClr val="tx1"/>
                </a:solidFill>
                <a:latin typeface="微软雅黑" panose="020B0503020204020204" charset="-122"/>
                <a:ea typeface="微软雅黑" panose="020B0503020204020204" charset="-122"/>
                <a:cs typeface="微软雅黑" panose="020B0503020204020204" charset="-122"/>
              </a:rPr>
              <a:t>DoS与DDoS攻击</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a:lnSpc>
                <a:spcPct val="120000"/>
              </a:lnSpc>
              <a:buFont typeface="Arial" panose="020B0604020202020204" pitchFamily="34" charset="0"/>
              <a:buChar char="•"/>
            </a:pPr>
            <a:r>
              <a:rPr lang="zh-CN" altLang="en-US" sz="2000">
                <a:latin typeface="微软雅黑" panose="020B0503020204020204" charset="-122"/>
                <a:ea typeface="微软雅黑" panose="020B0503020204020204" charset="-122"/>
                <a:cs typeface="微软雅黑" panose="020B0503020204020204" charset="-122"/>
              </a:rPr>
              <a:t>拒绝服务攻击：通过单一源发送大量流量，</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耗尽目标服务器资源</a:t>
            </a:r>
            <a:r>
              <a:rPr lang="zh-CN" altLang="en-US" sz="2000">
                <a:latin typeface="微软雅黑" panose="020B0503020204020204" charset="-122"/>
                <a:ea typeface="微软雅黑" panose="020B0503020204020204" charset="-122"/>
                <a:cs typeface="微软雅黑" panose="020B0503020204020204" charset="-122"/>
              </a:rPr>
              <a:t>，导致服务中断或系统崩溃。</a:t>
            </a:r>
            <a:endParaRPr lang="en-US" altLang="zh-CN" sz="2000">
              <a:latin typeface="微软雅黑" panose="020B0503020204020204" charset="-122"/>
              <a:ea typeface="微软雅黑" panose="020B0503020204020204" charset="-122"/>
              <a:cs typeface="微软雅黑" panose="020B0503020204020204" charset="-122"/>
            </a:endParaRPr>
          </a:p>
          <a:p>
            <a:pPr marL="342900" indent="-342900">
              <a:lnSpc>
                <a:spcPct val="120000"/>
              </a:lnSpc>
              <a:buFont typeface="Arial" panose="020B0604020202020204" pitchFamily="34" charset="0"/>
              <a:buChar char="•"/>
            </a:pPr>
            <a:r>
              <a:rPr lang="zh-CN" altLang="en-US" sz="2000">
                <a:latin typeface="微软雅黑" panose="020B0503020204020204" charset="-122"/>
                <a:ea typeface="微软雅黑" panose="020B0503020204020204" charset="-122"/>
                <a:cs typeface="微软雅黑" panose="020B0503020204020204" charset="-122"/>
              </a:rPr>
              <a:t>分布式拒绝服务攻击：利用</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成千上万受控设备</a:t>
            </a:r>
            <a:r>
              <a:rPr lang="zh-CN" altLang="en-US" sz="2000">
                <a:latin typeface="微软雅黑" panose="020B0503020204020204" charset="-122"/>
                <a:ea typeface="微软雅黑" panose="020B0503020204020204" charset="-122"/>
                <a:cs typeface="微软雅黑" panose="020B0503020204020204" charset="-122"/>
              </a:rPr>
              <a:t>协同发起攻击，</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流量规模更大、来源更分散，难以防御。</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endParaRPr>
          </a:p>
          <a:p>
            <a:pPr marL="285750" indent="-285750" algn="l">
              <a:lnSpc>
                <a:spcPct val="120000"/>
              </a:lnSpc>
              <a:buClrTx/>
              <a:buSzTx/>
              <a:buFont typeface="Wingdings" panose="05000000000000000000" charset="0"/>
              <a:buChar char="Ø"/>
            </a:pPr>
            <a:r>
              <a:rPr lang="zh-CN" altLang="en-US" sz="2000" b="1">
                <a:latin typeface="微软雅黑" panose="020B0503020204020204" charset="-122"/>
                <a:ea typeface="微软雅黑" panose="020B0503020204020204" charset="-122"/>
                <a:cs typeface="微软雅黑" panose="020B0503020204020204" charset="-122"/>
              </a:rPr>
              <a:t>低速缓慢型DDoS攻击</a:t>
            </a:r>
            <a:endParaRPr lang="zh-CN" altLang="en-US" sz="2000" b="1">
              <a:latin typeface="微软雅黑" panose="020B0503020204020204" charset="-122"/>
              <a:ea typeface="微软雅黑" panose="020B0503020204020204" charset="-122"/>
              <a:cs typeface="微软雅黑" panose="020B0503020204020204" charset="-122"/>
            </a:endParaRPr>
          </a:p>
          <a:p>
            <a:pPr marL="342900" indent="-342900">
              <a:lnSpc>
                <a:spcPct val="120000"/>
              </a:lnSpc>
              <a:buFont typeface="Arial" panose="020B0604020202020204" pitchFamily="34" charset="0"/>
              <a:buChar char="•"/>
            </a:pPr>
            <a:r>
              <a:rPr lang="zh-CN" altLang="en-US" sz="2000">
                <a:latin typeface="微软雅黑" panose="020B0503020204020204" charset="-122"/>
                <a:ea typeface="微软雅黑" panose="020B0503020204020204" charset="-122"/>
                <a:cs typeface="微软雅黑" panose="020B0503020204020204" charset="-122"/>
              </a:rPr>
              <a:t>以</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低速率、持续性</a:t>
            </a:r>
            <a:r>
              <a:rPr lang="zh-CN" altLang="en-US" sz="2000">
                <a:latin typeface="微软雅黑" panose="020B0503020204020204" charset="-122"/>
                <a:ea typeface="微软雅黑" panose="020B0503020204020204" charset="-122"/>
                <a:cs typeface="微软雅黑" panose="020B0503020204020204" charset="-122"/>
              </a:rPr>
              <a:t>发送请求，</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避免触发安全警报</a:t>
            </a:r>
            <a:r>
              <a:rPr lang="zh-CN" altLang="en-US" sz="2000">
                <a:latin typeface="微软雅黑" panose="020B0503020204020204" charset="-122"/>
                <a:ea typeface="微软雅黑" panose="020B0503020204020204" charset="-122"/>
                <a:cs typeface="微软雅黑" panose="020B0503020204020204" charset="-122"/>
              </a:rPr>
              <a:t>。</a:t>
            </a:r>
            <a:endParaRPr lang="en-US" altLang="zh-CN" sz="2000">
              <a:latin typeface="微软雅黑" panose="020B0503020204020204" charset="-122"/>
              <a:ea typeface="微软雅黑" panose="020B0503020204020204" charset="-122"/>
              <a:cs typeface="微软雅黑" panose="020B0503020204020204" charset="-122"/>
            </a:endParaRPr>
          </a:p>
          <a:p>
            <a:pPr marL="342900" indent="-342900">
              <a:lnSpc>
                <a:spcPct val="120000"/>
              </a:lnSpc>
              <a:buFont typeface="Arial" panose="020B0604020202020204" pitchFamily="34" charset="0"/>
              <a:buChar char="•"/>
            </a:pPr>
            <a:r>
              <a:rPr lang="zh-CN" altLang="en-US" sz="2000">
                <a:latin typeface="微软雅黑" panose="020B0503020204020204" charset="-122"/>
                <a:ea typeface="微软雅黑" panose="020B0503020204020204" charset="-122"/>
                <a:cs typeface="微软雅黑" panose="020B0503020204020204" charset="-122"/>
              </a:rPr>
              <a:t>通过</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占用服务器线程或TCP会话，逐步耗尽资源</a:t>
            </a:r>
            <a:r>
              <a:rPr lang="zh-CN" altLang="en-US" sz="2000">
                <a:latin typeface="微软雅黑" panose="020B0503020204020204" charset="-122"/>
                <a:ea typeface="微软雅黑" panose="020B0503020204020204" charset="-122"/>
                <a:cs typeface="微软雅黑" panose="020B0503020204020204" charset="-122"/>
              </a:rPr>
              <a:t>，影响合法用户访问。</a:t>
            </a:r>
            <a:endParaRPr lang="en-US" altLang="zh-CN" sz="2000">
              <a:latin typeface="微软雅黑" panose="020B0503020204020204" charset="-122"/>
              <a:ea typeface="微软雅黑" panose="020B0503020204020204" charset="-122"/>
              <a:cs typeface="微软雅黑" panose="020B0503020204020204" charset="-122"/>
            </a:endParaRPr>
          </a:p>
          <a:p>
            <a:pPr marL="285750" indent="-285750" algn="l">
              <a:lnSpc>
                <a:spcPct val="120000"/>
              </a:lnSpc>
              <a:buClrTx/>
              <a:buSzTx/>
              <a:buFont typeface="Wingdings" panose="05000000000000000000" charset="0"/>
              <a:buChar char="Ø"/>
            </a:pPr>
            <a:r>
              <a:rPr lang="zh-CN" altLang="en-US" sz="2000" b="1">
                <a:latin typeface="微软雅黑" panose="020B0503020204020204" charset="-122"/>
                <a:ea typeface="微软雅黑" panose="020B0503020204020204" charset="-122"/>
                <a:cs typeface="微软雅黑" panose="020B0503020204020204" charset="-122"/>
              </a:rPr>
              <a:t>脉冲式DoS攻击：一种新型低速率DDoS</a:t>
            </a:r>
            <a:endParaRPr lang="zh-CN" altLang="en-US" sz="2000" b="1">
              <a:latin typeface="微软雅黑" panose="020B0503020204020204" charset="-122"/>
              <a:ea typeface="微软雅黑" panose="020B0503020204020204" charset="-122"/>
              <a:cs typeface="微软雅黑" panose="020B0503020204020204" charset="-122"/>
            </a:endParaRPr>
          </a:p>
          <a:p>
            <a:pPr marL="342900" indent="-342900">
              <a:lnSpc>
                <a:spcPct val="120000"/>
              </a:lnSpc>
              <a:buFont typeface="Arial" panose="020B0604020202020204" pitchFamily="34" charset="0"/>
              <a:buChar char="•"/>
            </a:pPr>
            <a:r>
              <a:rPr lang="zh-CN" altLang="en-US" sz="2000">
                <a:latin typeface="微软雅黑" panose="020B0503020204020204" charset="-122"/>
                <a:ea typeface="微软雅黑" panose="020B0503020204020204" charset="-122"/>
                <a:cs typeface="微软雅黑" panose="020B0503020204020204" charset="-122"/>
              </a:rPr>
              <a:t>由</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周期性、短时突发流量</a:t>
            </a:r>
            <a:r>
              <a:rPr lang="zh-CN" altLang="en-US" sz="2000">
                <a:latin typeface="微软雅黑" panose="020B0503020204020204" charset="-122"/>
                <a:ea typeface="微软雅黑" panose="020B0503020204020204" charset="-122"/>
                <a:cs typeface="微软雅黑" panose="020B0503020204020204" charset="-122"/>
              </a:rPr>
              <a:t>构成。</a:t>
            </a:r>
            <a:endParaRPr lang="en-US" altLang="zh-CN" sz="2000">
              <a:latin typeface="微软雅黑" panose="020B0503020204020204" charset="-122"/>
              <a:ea typeface="微软雅黑" panose="020B0503020204020204" charset="-122"/>
              <a:cs typeface="微软雅黑" panose="020B0503020204020204" charset="-122"/>
            </a:endParaRPr>
          </a:p>
          <a:p>
            <a:pPr marL="342900" indent="-342900">
              <a:lnSpc>
                <a:spcPct val="120000"/>
              </a:lnSpc>
              <a:buFont typeface="Arial" panose="020B0604020202020204" pitchFamily="34" charset="0"/>
              <a:buChar char="•"/>
            </a:pPr>
            <a:r>
              <a:rPr lang="zh-CN" altLang="en-US" sz="2000">
                <a:latin typeface="微软雅黑" panose="020B0503020204020204" charset="-122"/>
                <a:ea typeface="微软雅黑" panose="020B0503020204020204" charset="-122"/>
                <a:cs typeface="微软雅黑" panose="020B0503020204020204" charset="-122"/>
              </a:rPr>
              <a:t>相比传统低速率攻击，</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更具破坏力与隐蔽性</a:t>
            </a:r>
            <a:r>
              <a:rPr lang="zh-CN" altLang="en-US" sz="2000">
                <a:latin typeface="微软雅黑" panose="020B0503020204020204" charset="-122"/>
                <a:ea typeface="微软雅黑" panose="020B0503020204020204" charset="-122"/>
                <a:cs typeface="微软雅黑" panose="020B0503020204020204" charset="-122"/>
              </a:rPr>
              <a:t>。</a:t>
            </a:r>
            <a:endParaRPr lang="en-US" altLang="zh-CN" sz="2000">
              <a:latin typeface="微软雅黑" panose="020B0503020204020204" charset="-122"/>
              <a:ea typeface="微软雅黑" panose="020B0503020204020204" charset="-122"/>
              <a:cs typeface="微软雅黑" panose="020B0503020204020204" charset="-122"/>
            </a:endParaRPr>
          </a:p>
          <a:p>
            <a:pPr marL="342900" indent="-342900">
              <a:lnSpc>
                <a:spcPct val="120000"/>
              </a:lnSpc>
              <a:buFont typeface="Arial" panose="020B0604020202020204" pitchFamily="34" charset="0"/>
              <a:buChar char="•"/>
            </a:pPr>
            <a:r>
              <a:rPr lang="zh-CN" altLang="en-US" sz="2000">
                <a:latin typeface="微软雅黑" panose="020B0503020204020204" charset="-122"/>
                <a:ea typeface="微软雅黑" panose="020B0503020204020204" charset="-122"/>
                <a:cs typeface="微软雅黑" panose="020B0503020204020204" charset="-122"/>
              </a:rPr>
              <a:t>经多年研究验证，已在实际中产生显著影响。</a:t>
            </a:r>
            <a:endParaRPr lang="zh-CN" altLang="en-US" sz="2000">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rcRect l="1115" t="13605" r="57156" b="18790"/>
          <a:stretch>
            <a:fillRect/>
          </a:stretch>
        </p:blipFill>
        <p:spPr>
          <a:xfrm>
            <a:off x="7506335" y="4043680"/>
            <a:ext cx="4494530" cy="2340610"/>
          </a:xfrm>
          <a:prstGeom prst="rect">
            <a:avLst/>
          </a:prstGeom>
        </p:spPr>
      </p:pic>
      <p:pic>
        <p:nvPicPr>
          <p:cNvPr id="6" name="图片 5"/>
          <p:cNvPicPr/>
          <p:nvPr/>
        </p:nvPicPr>
        <p:blipFill>
          <a:blip r:embed="rId2"/>
          <a:stretch>
            <a:fillRect/>
          </a:stretch>
        </p:blipFill>
        <p:spPr>
          <a:xfrm>
            <a:off x="7506335" y="1517650"/>
            <a:ext cx="4495165" cy="22479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normAutofit/>
          </a:bodyPr>
          <a:p>
            <a:r>
              <a:rPr lang="zh-CN" altLang="en-US" sz="3600">
                <a:sym typeface="+mn-ea"/>
              </a:rPr>
              <a:t>二、问题的意义与价值</a:t>
            </a:r>
            <a:endParaRPr lang="zh-CN" altLang="en-US" sz="3600">
              <a:sym typeface="+mn-ea"/>
            </a:endParaRPr>
          </a:p>
        </p:txBody>
      </p:sp>
      <p:sp>
        <p:nvSpPr>
          <p:cNvPr id="2" name="文本框 1"/>
          <p:cNvSpPr txBox="1"/>
          <p:nvPr/>
        </p:nvSpPr>
        <p:spPr>
          <a:xfrm>
            <a:off x="579755" y="1226185"/>
            <a:ext cx="11076940" cy="3320415"/>
          </a:xfrm>
          <a:prstGeom prst="rect">
            <a:avLst/>
          </a:prstGeom>
          <a:noFill/>
        </p:spPr>
        <p:txBody>
          <a:bodyPr wrap="square" rtlCol="0">
            <a:spAutoFit/>
          </a:bodyPr>
          <a:p>
            <a:pPr marL="342900" indent="-342900">
              <a:lnSpc>
                <a:spcPct val="140000"/>
              </a:lnSpc>
              <a:buFont typeface="+mj-lt"/>
              <a:buAutoNum type="arabicPeriod"/>
            </a:pPr>
            <a:r>
              <a:rPr lang="zh-CN" altLang="en-US" sz="2000" b="1">
                <a:latin typeface="微软雅黑" panose="020B0503020204020204" charset="-122"/>
                <a:ea typeface="微软雅黑" panose="020B0503020204020204" charset="-122"/>
                <a:cs typeface="微软雅黑" panose="020B0503020204020204" charset="-122"/>
              </a:rPr>
              <a:t>时代背景与国家</a:t>
            </a:r>
            <a:r>
              <a:rPr lang="zh-CN" altLang="en-US" sz="2000" b="1">
                <a:latin typeface="微软雅黑" panose="020B0503020204020204" charset="-122"/>
                <a:ea typeface="微软雅黑" panose="020B0503020204020204" charset="-122"/>
                <a:cs typeface="微软雅黑" panose="020B0503020204020204" charset="-122"/>
              </a:rPr>
              <a:t>战略需求</a:t>
            </a:r>
            <a:endParaRPr lang="en-US" altLang="zh-CN" sz="2000" b="1">
              <a:latin typeface="微软雅黑" panose="020B0503020204020204" charset="-122"/>
              <a:ea typeface="微软雅黑" panose="020B0503020204020204" charset="-122"/>
              <a:cs typeface="微软雅黑" panose="020B0503020204020204" charset="-122"/>
            </a:endParaRPr>
          </a:p>
          <a:p>
            <a:pPr marL="285750" indent="-285750">
              <a:lnSpc>
                <a:spcPct val="140000"/>
              </a:lnSpc>
              <a:buFont typeface="Arial" panose="020B0604020202020204" pitchFamily="34" charset="0"/>
              <a:buChar char="•"/>
            </a:pPr>
            <a:r>
              <a:rPr lang="en-US" altLang="zh-CN">
                <a:latin typeface="微软雅黑" panose="020B0503020204020204" charset="-122"/>
                <a:ea typeface="微软雅黑" panose="020B0503020204020204" charset="-122"/>
                <a:cs typeface="微软雅黑" panose="020B0503020204020204" charset="-122"/>
              </a:rPr>
              <a:t>IPv6</a:t>
            </a:r>
            <a:r>
              <a:rPr lang="zh-CN" altLang="en-US">
                <a:latin typeface="微软雅黑" panose="020B0503020204020204" charset="-122"/>
                <a:ea typeface="微软雅黑" panose="020B0503020204020204" charset="-122"/>
                <a:cs typeface="微软雅黑" panose="020B0503020204020204" charset="-122"/>
              </a:rPr>
              <a:t>部署加速，在引入新协议的同时也带来了新的安全挑战。</a:t>
            </a:r>
            <a:endParaRPr lang="zh-CN" altLang="en-US">
              <a:latin typeface="微软雅黑" panose="020B0503020204020204" charset="-122"/>
              <a:ea typeface="微软雅黑" panose="020B0503020204020204" charset="-122"/>
              <a:cs typeface="微软雅黑" panose="020B0503020204020204" charset="-122"/>
            </a:endParaRPr>
          </a:p>
          <a:p>
            <a:pPr marL="285750" indent="-285750">
              <a:lnSpc>
                <a:spcPct val="140000"/>
              </a:lnSpc>
              <a:buFont typeface="Arial" panose="020B0604020202020204" pitchFamily="34" charset="0"/>
              <a:buChar char="•"/>
            </a:pPr>
            <a:r>
              <a:rPr lang="zh-CN" altLang="en-US">
                <a:latin typeface="微软雅黑" panose="020B0503020204020204" charset="-122"/>
                <a:ea typeface="微软雅黑" panose="020B0503020204020204" charset="-122"/>
                <a:cs typeface="微软雅黑" panose="020B0503020204020204" charset="-122"/>
              </a:rPr>
              <a:t>保障网络空间安全、实现基础设施</a:t>
            </a:r>
            <a:r>
              <a:rPr lang="zh-CN" altLang="en-US" b="1">
                <a:solidFill>
                  <a:schemeClr val="accent1"/>
                </a:solidFill>
                <a:latin typeface="微软雅黑" panose="020B0503020204020204" charset="-122"/>
                <a:ea typeface="微软雅黑" panose="020B0503020204020204" charset="-122"/>
                <a:cs typeface="微软雅黑" panose="020B0503020204020204" charset="-122"/>
              </a:rPr>
              <a:t>自主可控</a:t>
            </a:r>
            <a:r>
              <a:rPr lang="zh-CN" altLang="en-US">
                <a:latin typeface="微软雅黑" panose="020B0503020204020204" charset="-122"/>
                <a:ea typeface="微软雅黑" panose="020B0503020204020204" charset="-122"/>
                <a:cs typeface="微软雅黑" panose="020B0503020204020204" charset="-122"/>
              </a:rPr>
              <a:t>已成为国家战略需求。</a:t>
            </a:r>
            <a:endParaRPr lang="zh-CN" altLang="en-US">
              <a:latin typeface="微软雅黑" panose="020B0503020204020204" charset="-122"/>
              <a:ea typeface="微软雅黑" panose="020B0503020204020204" charset="-122"/>
              <a:cs typeface="微软雅黑" panose="020B0503020204020204" charset="-122"/>
            </a:endParaRPr>
          </a:p>
          <a:p>
            <a:pPr marL="457200" indent="-457200" algn="l">
              <a:lnSpc>
                <a:spcPct val="140000"/>
              </a:lnSpc>
              <a:buClrTx/>
              <a:buSzTx/>
              <a:buFont typeface="+mj-lt"/>
              <a:buAutoNum type="arabicPeriod" startAt="2"/>
            </a:pPr>
            <a:r>
              <a:rPr lang="zh-CN" altLang="en-US" sz="2000" b="1">
                <a:latin typeface="微软雅黑" panose="020B0503020204020204" charset="-122"/>
                <a:ea typeface="微软雅黑" panose="020B0503020204020204" charset="-122"/>
                <a:cs typeface="微软雅黑" panose="020B0503020204020204" charset="-122"/>
              </a:rPr>
              <a:t>攻击面扩大、传统防御失效</a:t>
            </a:r>
            <a:endParaRPr lang="zh-CN" altLang="en-US" sz="2000" b="1">
              <a:latin typeface="微软雅黑" panose="020B0503020204020204" charset="-122"/>
              <a:ea typeface="微软雅黑" panose="020B0503020204020204" charset="-122"/>
              <a:cs typeface="微软雅黑" panose="020B0503020204020204" charset="-122"/>
            </a:endParaRPr>
          </a:p>
          <a:p>
            <a:pPr marL="285750" indent="-285750">
              <a:lnSpc>
                <a:spcPct val="140000"/>
              </a:lnSpc>
              <a:buFont typeface="Arial" panose="020B0604020202020204" pitchFamily="34" charset="0"/>
              <a:buChar char="•"/>
            </a:pPr>
            <a:r>
              <a:rPr lang="zh-CN" altLang="en-US" sz="1800" b="1">
                <a:solidFill>
                  <a:schemeClr val="accent1"/>
                </a:solidFill>
                <a:latin typeface="微软雅黑" panose="020B0503020204020204" charset="-122"/>
                <a:ea typeface="微软雅黑" panose="020B0503020204020204" charset="-122"/>
                <a:cs typeface="微软雅黑" panose="020B0503020204020204" charset="-122"/>
              </a:rPr>
              <a:t>隧道节点 + 扩展报头</a:t>
            </a:r>
            <a:r>
              <a:rPr lang="zh-CN" altLang="en-US">
                <a:latin typeface="微软雅黑" panose="020B0503020204020204" charset="-122"/>
                <a:ea typeface="微软雅黑" panose="020B0503020204020204" charset="-122"/>
                <a:cs typeface="微软雅黑" panose="020B0503020204020204" charset="-122"/>
              </a:rPr>
              <a:t>的组合，会导致新型</a:t>
            </a:r>
            <a:r>
              <a:rPr lang="en-US" altLang="zh-CN">
                <a:latin typeface="微软雅黑" panose="020B0503020204020204" charset="-122"/>
                <a:ea typeface="微软雅黑" panose="020B0503020204020204" charset="-122"/>
                <a:cs typeface="微软雅黑" panose="020B0503020204020204" charset="-122"/>
              </a:rPr>
              <a:t>DDoS</a:t>
            </a:r>
            <a:r>
              <a:rPr lang="zh-CN" altLang="en-US">
                <a:latin typeface="微软雅黑" panose="020B0503020204020204" charset="-122"/>
                <a:ea typeface="微软雅黑" panose="020B0503020204020204" charset="-122"/>
                <a:cs typeface="微软雅黑" panose="020B0503020204020204" charset="-122"/>
              </a:rPr>
              <a:t>攻击，攻击者</a:t>
            </a:r>
            <a:r>
              <a:rPr lang="zh-CN" altLang="en-US" b="1">
                <a:solidFill>
                  <a:schemeClr val="accent1"/>
                </a:solidFill>
                <a:latin typeface="微软雅黑" panose="020B0503020204020204" charset="-122"/>
                <a:ea typeface="微软雅黑" panose="020B0503020204020204" charset="-122"/>
                <a:cs typeface="微软雅黑" panose="020B0503020204020204" charset="-122"/>
              </a:rPr>
              <a:t>利用隧道绕过监控，并借助扩展报头耗尽节点资源</a:t>
            </a:r>
            <a:r>
              <a:rPr lang="zh-CN" altLang="en-US">
                <a:latin typeface="微软雅黑" panose="020B0503020204020204" charset="-122"/>
                <a:ea typeface="微软雅黑" panose="020B0503020204020204" charset="-122"/>
                <a:cs typeface="微软雅黑" panose="020B0503020204020204" charset="-122"/>
              </a:rPr>
              <a:t>，导致传统防御体系失效。</a:t>
            </a:r>
            <a:endParaRPr lang="zh-CN" altLang="en-US">
              <a:latin typeface="微软雅黑" panose="020B0503020204020204" charset="-122"/>
              <a:ea typeface="微软雅黑" panose="020B0503020204020204" charset="-122"/>
              <a:cs typeface="微软雅黑" panose="020B0503020204020204" charset="-122"/>
            </a:endParaRPr>
          </a:p>
          <a:p>
            <a:pPr marL="285750" indent="-285750">
              <a:lnSpc>
                <a:spcPct val="140000"/>
              </a:lnSpc>
              <a:buFont typeface="Arial" panose="020B0604020202020204" pitchFamily="34" charset="0"/>
              <a:buChar char="•"/>
            </a:pPr>
            <a:r>
              <a:rPr lang="zh-CN" altLang="en-US">
                <a:latin typeface="微软雅黑" panose="020B0503020204020204" charset="-122"/>
                <a:ea typeface="微软雅黑" panose="020B0503020204020204" charset="-122"/>
                <a:cs typeface="微软雅黑" panose="020B0503020204020204" charset="-122"/>
              </a:rPr>
              <a:t>研究这一复合攻击，是</a:t>
            </a:r>
            <a:r>
              <a:rPr lang="zh-CN" altLang="en-US" b="1">
                <a:solidFill>
                  <a:schemeClr val="accent1"/>
                </a:solidFill>
                <a:latin typeface="微软雅黑" panose="020B0503020204020204" charset="-122"/>
                <a:ea typeface="微软雅黑" panose="020B0503020204020204" charset="-122"/>
                <a:cs typeface="微软雅黑" panose="020B0503020204020204" charset="-122"/>
              </a:rPr>
              <a:t>防范未来大规模网络攻击</a:t>
            </a:r>
            <a:r>
              <a:rPr lang="zh-CN" altLang="en-US">
                <a:latin typeface="微软雅黑" panose="020B0503020204020204" charset="-122"/>
                <a:ea typeface="微软雅黑" panose="020B0503020204020204" charset="-122"/>
                <a:cs typeface="微软雅黑" panose="020B0503020204020204" charset="-122"/>
              </a:rPr>
              <a:t>的关键。</a:t>
            </a:r>
            <a:endParaRPr lang="zh-CN" altLang="en-US">
              <a:latin typeface="微软雅黑" panose="020B0503020204020204" charset="-122"/>
              <a:ea typeface="微软雅黑" panose="020B0503020204020204" charset="-122"/>
              <a:cs typeface="微软雅黑" panose="020B0503020204020204" charset="-122"/>
            </a:endParaRPr>
          </a:p>
          <a:p>
            <a:pPr marL="457200" indent="-457200" algn="l">
              <a:lnSpc>
                <a:spcPct val="140000"/>
              </a:lnSpc>
              <a:buClrTx/>
              <a:buSzTx/>
              <a:buFont typeface="+mj-lt"/>
              <a:buAutoNum type="arabicPeriod" startAt="3"/>
            </a:pPr>
            <a:r>
              <a:rPr lang="zh-CN" altLang="en-US" sz="2000" b="1">
                <a:latin typeface="微软雅黑" panose="020B0503020204020204" charset="-122"/>
                <a:ea typeface="微软雅黑" panose="020B0503020204020204" charset="-122"/>
                <a:cs typeface="微软雅黑" panose="020B0503020204020204" charset="-122"/>
              </a:rPr>
              <a:t>理论价值与实践意义</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579755" y="4389755"/>
            <a:ext cx="5556885" cy="1640205"/>
          </a:xfrm>
          <a:prstGeom prst="rect">
            <a:avLst/>
          </a:prstGeom>
          <a:noFill/>
        </p:spPr>
        <p:txBody>
          <a:bodyPr wrap="square" rtlCol="0">
            <a:spAutoFit/>
          </a:bodyPr>
          <a:p>
            <a:pPr marL="285750" indent="-285750" algn="l">
              <a:lnSpc>
                <a:spcPct val="140000"/>
              </a:lnSpc>
              <a:buClrTx/>
              <a:buSzTx/>
              <a:buFont typeface="Arial" panose="020B0604020202020204" pitchFamily="34" charset="0"/>
              <a:buChar char="•"/>
            </a:pPr>
            <a:r>
              <a:rPr lang="zh-CN" altLang="en-US" b="1">
                <a:solidFill>
                  <a:schemeClr val="accent1"/>
                </a:solidFill>
                <a:latin typeface="微软雅黑" panose="020B0503020204020204" charset="-122"/>
                <a:ea typeface="微软雅黑" panose="020B0503020204020204" charset="-122"/>
                <a:cs typeface="微软雅黑" panose="020B0503020204020204" charset="-122"/>
              </a:rPr>
              <a:t>理论价值：</a:t>
            </a:r>
            <a:r>
              <a:rPr lang="zh-CN" altLang="en-US">
                <a:latin typeface="微软雅黑" panose="020B0503020204020204" charset="-122"/>
                <a:ea typeface="微软雅黑" panose="020B0503020204020204" charset="-122"/>
                <a:cs typeface="微软雅黑" panose="020B0503020204020204" charset="-122"/>
              </a:rPr>
              <a:t>填补隧道节点+扩展报头组合攻击的研究空白，深化对IPv6安全机制的理解。</a:t>
            </a:r>
            <a:endParaRPr lang="zh-CN" altLang="en-US">
              <a:latin typeface="微软雅黑" panose="020B0503020204020204" charset="-122"/>
              <a:ea typeface="微软雅黑" panose="020B0503020204020204" charset="-122"/>
              <a:cs typeface="微软雅黑" panose="020B0503020204020204" charset="-122"/>
            </a:endParaRPr>
          </a:p>
          <a:p>
            <a:pPr marL="285750" indent="-285750" algn="l">
              <a:lnSpc>
                <a:spcPct val="140000"/>
              </a:lnSpc>
              <a:buClrTx/>
              <a:buSzTx/>
              <a:buFont typeface="Arial" panose="020B0604020202020204" pitchFamily="34" charset="0"/>
              <a:buChar char="•"/>
            </a:pPr>
            <a:r>
              <a:rPr lang="zh-CN" altLang="en-US" b="1">
                <a:solidFill>
                  <a:schemeClr val="accent1"/>
                </a:solidFill>
                <a:latin typeface="微软雅黑" panose="020B0503020204020204" charset="-122"/>
                <a:ea typeface="微软雅黑" panose="020B0503020204020204" charset="-122"/>
                <a:cs typeface="微软雅黑" panose="020B0503020204020204" charset="-122"/>
              </a:rPr>
              <a:t>实践意义：</a:t>
            </a:r>
            <a:r>
              <a:rPr lang="zh-CN" altLang="en-US">
                <a:latin typeface="微软雅黑" panose="020B0503020204020204" charset="-122"/>
                <a:ea typeface="微软雅黑" panose="020B0503020204020204" charset="-122"/>
                <a:cs typeface="微软雅黑" panose="020B0503020204020204" charset="-122"/>
              </a:rPr>
              <a:t>为运营商、厂商与安全机构提供攻击检测与缓解方案。</a:t>
            </a: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23" name="组合 22"/>
          <p:cNvGrpSpPr/>
          <p:nvPr/>
        </p:nvGrpSpPr>
        <p:grpSpPr>
          <a:xfrm>
            <a:off x="6563995" y="3672356"/>
            <a:ext cx="5532120" cy="2796389"/>
            <a:chOff x="3319" y="2978"/>
            <a:chExt cx="11977" cy="5901"/>
          </a:xfrm>
        </p:grpSpPr>
        <p:pic>
          <p:nvPicPr>
            <p:cNvPr id="7" name="图片 109" descr="/private/var/folders/bn/2ywf_mm10_z2zxmmx4rr29br0000gn/T/com.kingsoft.wpsoffice.mac/photoedit2/20241014163029/temp.pngtemp"/>
            <p:cNvPicPr>
              <a:picLocks noChangeAspect="1"/>
            </p:cNvPicPr>
            <p:nvPr/>
          </p:nvPicPr>
          <p:blipFill>
            <a:blip r:embed="rId1"/>
            <a:stretch>
              <a:fillRect/>
            </a:stretch>
          </p:blipFill>
          <p:spPr>
            <a:xfrm>
              <a:off x="6382" y="3525"/>
              <a:ext cx="1611" cy="1069"/>
            </a:xfrm>
            <a:prstGeom prst="rect">
              <a:avLst/>
            </a:prstGeom>
            <a:noFill/>
            <a:ln cap="flat">
              <a:noFill/>
            </a:ln>
          </p:spPr>
        </p:pic>
        <p:pic>
          <p:nvPicPr>
            <p:cNvPr id="8" name="图片 110" descr="/private/var/folders/bn/2ywf_mm10_z2zxmmx4rr29br0000gn/T/com.kingsoft.wpsoffice.mac/photoedit2/20241014162945/temp.pngtemp"/>
            <p:cNvPicPr>
              <a:picLocks noChangeAspect="1"/>
            </p:cNvPicPr>
            <p:nvPr/>
          </p:nvPicPr>
          <p:blipFill>
            <a:blip r:embed="rId2"/>
            <a:stretch>
              <a:fillRect/>
            </a:stretch>
          </p:blipFill>
          <p:spPr>
            <a:xfrm>
              <a:off x="10428" y="3581"/>
              <a:ext cx="1610" cy="1013"/>
            </a:xfrm>
            <a:prstGeom prst="rect">
              <a:avLst/>
            </a:prstGeom>
            <a:noFill/>
            <a:ln cap="flat">
              <a:noFill/>
            </a:ln>
          </p:spPr>
        </p:pic>
        <p:pic>
          <p:nvPicPr>
            <p:cNvPr id="10" name="图片 114"/>
            <p:cNvPicPr>
              <a:picLocks noChangeAspect="1"/>
            </p:cNvPicPr>
            <p:nvPr/>
          </p:nvPicPr>
          <p:blipFill>
            <a:blip r:embed="rId3"/>
            <a:stretch>
              <a:fillRect/>
            </a:stretch>
          </p:blipFill>
          <p:spPr>
            <a:xfrm flipH="1">
              <a:off x="6176" y="7490"/>
              <a:ext cx="1816" cy="1081"/>
            </a:xfrm>
            <a:prstGeom prst="rect">
              <a:avLst/>
            </a:prstGeom>
            <a:noFill/>
            <a:ln cap="flat">
              <a:noFill/>
            </a:ln>
          </p:spPr>
        </p:pic>
        <p:pic>
          <p:nvPicPr>
            <p:cNvPr id="11" name="图片 116"/>
            <p:cNvPicPr>
              <a:picLocks noChangeAspect="1"/>
            </p:cNvPicPr>
            <p:nvPr/>
          </p:nvPicPr>
          <p:blipFill>
            <a:blip r:embed="rId4"/>
            <a:stretch>
              <a:fillRect/>
            </a:stretch>
          </p:blipFill>
          <p:spPr>
            <a:xfrm>
              <a:off x="10417" y="7490"/>
              <a:ext cx="1632" cy="1244"/>
            </a:xfrm>
            <a:prstGeom prst="rect">
              <a:avLst/>
            </a:prstGeom>
            <a:noFill/>
            <a:ln cap="flat">
              <a:noFill/>
            </a:ln>
          </p:spPr>
        </p:pic>
        <p:sp>
          <p:nvSpPr>
            <p:cNvPr id="12" name="文本框 119"/>
            <p:cNvSpPr txBox="1"/>
            <p:nvPr/>
          </p:nvSpPr>
          <p:spPr>
            <a:xfrm>
              <a:off x="5835" y="2978"/>
              <a:ext cx="2708" cy="647"/>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zh-CN" sz="1400" b="1" i="0" u="none" strike="noStrike" kern="1200" cap="none" spc="0" baseline="0">
                  <a:solidFill>
                    <a:srgbClr val="000000"/>
                  </a:solidFill>
                  <a:uFillTx/>
                  <a:latin typeface="微软雅黑" panose="020B0503020204020204" charset="-122"/>
                  <a:ea typeface="微软雅黑" panose="020B0503020204020204" charset="-122"/>
                </a:rPr>
                <a:t>网络攻击</a:t>
              </a:r>
              <a:endParaRPr lang="zh-CN" sz="1400" b="1" i="0" u="none" strike="noStrike" kern="1200" cap="none" spc="0" baseline="0">
                <a:solidFill>
                  <a:srgbClr val="000000"/>
                </a:solidFill>
                <a:uFillTx/>
                <a:latin typeface="微软雅黑" panose="020B0503020204020204" charset="-122"/>
                <a:ea typeface="微软雅黑" panose="020B0503020204020204" charset="-122"/>
              </a:endParaRPr>
            </a:p>
          </p:txBody>
        </p:sp>
        <p:sp>
          <p:nvSpPr>
            <p:cNvPr id="13" name="文本框 120"/>
            <p:cNvSpPr txBox="1"/>
            <p:nvPr/>
          </p:nvSpPr>
          <p:spPr>
            <a:xfrm>
              <a:off x="9771" y="3016"/>
              <a:ext cx="2877" cy="647"/>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zh-CN" sz="1400" b="1" i="0" u="none" strike="noStrike" kern="1200" cap="none" spc="0" baseline="0">
                  <a:solidFill>
                    <a:srgbClr val="000000"/>
                  </a:solidFill>
                  <a:uFillTx/>
                  <a:latin typeface="微软雅黑" panose="020B0503020204020204" charset="-122"/>
                  <a:ea typeface="微软雅黑" panose="020B0503020204020204" charset="-122"/>
                </a:rPr>
                <a:t>网络资产发现</a:t>
              </a:r>
              <a:endParaRPr lang="zh-CN" sz="1400" b="1" i="0" u="none" strike="noStrike" kern="1200" cap="none" spc="0" baseline="0">
                <a:solidFill>
                  <a:srgbClr val="000000"/>
                </a:solidFill>
                <a:uFillTx/>
                <a:latin typeface="微软雅黑" panose="020B0503020204020204" charset="-122"/>
                <a:ea typeface="微软雅黑" panose="020B0503020204020204" charset="-122"/>
              </a:endParaRPr>
            </a:p>
          </p:txBody>
        </p:sp>
        <p:grpSp>
          <p:nvGrpSpPr>
            <p:cNvPr id="9" name="组合 8"/>
            <p:cNvGrpSpPr/>
            <p:nvPr/>
          </p:nvGrpSpPr>
          <p:grpSpPr>
            <a:xfrm>
              <a:off x="4090" y="4310"/>
              <a:ext cx="2084" cy="2059"/>
              <a:chOff x="4245" y="4259"/>
              <a:chExt cx="2084" cy="2059"/>
            </a:xfrm>
          </p:grpSpPr>
          <p:pic>
            <p:nvPicPr>
              <p:cNvPr id="14" name="图片 111" descr="/private/var/folders/bn/2ywf_mm10_z2zxmmx4rr29br0000gn/T/com.kingsoft.wpsoffice.mac/photoedit2/20241014162909/temp.pngtemp"/>
              <p:cNvPicPr>
                <a:picLocks noChangeAspect="1"/>
              </p:cNvPicPr>
              <p:nvPr/>
            </p:nvPicPr>
            <p:blipFill>
              <a:blip r:embed="rId5"/>
              <a:stretch>
                <a:fillRect/>
              </a:stretch>
            </p:blipFill>
            <p:spPr>
              <a:xfrm>
                <a:off x="4487" y="4757"/>
                <a:ext cx="1605" cy="1561"/>
              </a:xfrm>
              <a:prstGeom prst="rect">
                <a:avLst/>
              </a:prstGeom>
              <a:noFill/>
              <a:ln cap="flat">
                <a:noFill/>
              </a:ln>
            </p:spPr>
          </p:pic>
          <p:sp>
            <p:nvSpPr>
              <p:cNvPr id="15" name="文本框 121"/>
              <p:cNvSpPr txBox="1"/>
              <p:nvPr/>
            </p:nvSpPr>
            <p:spPr>
              <a:xfrm>
                <a:off x="4245" y="4259"/>
                <a:ext cx="2084" cy="647"/>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zh-CN" sz="1400" b="1" i="0" u="none" strike="noStrike" kern="1200" cap="none" spc="0" baseline="0">
                    <a:solidFill>
                      <a:srgbClr val="000000"/>
                    </a:solidFill>
                    <a:uFillTx/>
                    <a:latin typeface="微软雅黑" panose="020B0503020204020204" charset="-122"/>
                    <a:ea typeface="微软雅黑" panose="020B0503020204020204" charset="-122"/>
                  </a:rPr>
                  <a:t>安全防护</a:t>
                </a:r>
                <a:endParaRPr lang="zh-CN" sz="1400" b="1" i="0" u="none" strike="noStrike" kern="1200" cap="none" spc="0" baseline="0">
                  <a:solidFill>
                    <a:srgbClr val="000000"/>
                  </a:solidFill>
                  <a:uFillTx/>
                  <a:latin typeface="微软雅黑" panose="020B0503020204020204" charset="-122"/>
                  <a:ea typeface="微软雅黑" panose="020B0503020204020204" charset="-122"/>
                </a:endParaRPr>
              </a:p>
            </p:txBody>
          </p:sp>
        </p:grpSp>
        <p:grpSp>
          <p:nvGrpSpPr>
            <p:cNvPr id="16" name="组合 15"/>
            <p:cNvGrpSpPr/>
            <p:nvPr/>
          </p:nvGrpSpPr>
          <p:grpSpPr>
            <a:xfrm>
              <a:off x="12704" y="4334"/>
              <a:ext cx="1941" cy="2012"/>
              <a:chOff x="12859" y="4409"/>
              <a:chExt cx="1941" cy="2012"/>
            </a:xfrm>
          </p:grpSpPr>
          <p:pic>
            <p:nvPicPr>
              <p:cNvPr id="17" name="图片 112" descr="/private/var/folders/bn/2ywf_mm10_z2zxmmx4rr29br0000gn/T/com.kingsoft.wpsoffice.mac/photoedit2/20241014163102/temp.pngtemp"/>
              <p:cNvPicPr>
                <a:picLocks noChangeAspect="1"/>
              </p:cNvPicPr>
              <p:nvPr/>
            </p:nvPicPr>
            <p:blipFill>
              <a:blip r:embed="rId6"/>
              <a:stretch>
                <a:fillRect/>
              </a:stretch>
            </p:blipFill>
            <p:spPr>
              <a:xfrm>
                <a:off x="12957" y="4980"/>
                <a:ext cx="1631" cy="1441"/>
              </a:xfrm>
              <a:prstGeom prst="rect">
                <a:avLst/>
              </a:prstGeom>
              <a:noFill/>
              <a:ln cap="flat">
                <a:noFill/>
              </a:ln>
            </p:spPr>
          </p:pic>
          <p:sp>
            <p:nvSpPr>
              <p:cNvPr id="18" name="文本框 122"/>
              <p:cNvSpPr txBox="1"/>
              <p:nvPr/>
            </p:nvSpPr>
            <p:spPr>
              <a:xfrm>
                <a:off x="12859" y="4409"/>
                <a:ext cx="1941" cy="647"/>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zh-CN" sz="1400" b="1" i="0" u="none" strike="noStrike" kern="1200" cap="none" spc="0" baseline="0">
                    <a:solidFill>
                      <a:srgbClr val="000000"/>
                    </a:solidFill>
                    <a:uFillTx/>
                    <a:latin typeface="微软雅黑" panose="020B0503020204020204" charset="-122"/>
                    <a:ea typeface="微软雅黑" panose="020B0503020204020204" charset="-122"/>
                  </a:rPr>
                  <a:t>网络测绘</a:t>
                </a:r>
                <a:endParaRPr lang="zh-CN" sz="1400" b="1" i="0" u="none" strike="noStrike" kern="1200" cap="none" spc="0" baseline="0">
                  <a:solidFill>
                    <a:srgbClr val="000000"/>
                  </a:solidFill>
                  <a:uFillTx/>
                  <a:latin typeface="微软雅黑" panose="020B0503020204020204" charset="-122"/>
                  <a:ea typeface="微软雅黑" panose="020B0503020204020204" charset="-122"/>
                </a:endParaRPr>
              </a:p>
            </p:txBody>
          </p:sp>
        </p:grpSp>
        <p:sp>
          <p:nvSpPr>
            <p:cNvPr id="19" name="文本框 123"/>
            <p:cNvSpPr txBox="1"/>
            <p:nvPr/>
          </p:nvSpPr>
          <p:spPr>
            <a:xfrm>
              <a:off x="5725" y="6932"/>
              <a:ext cx="2818" cy="647"/>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zh-CN" sz="1400" b="1" i="0" u="none" strike="noStrike" kern="1200" cap="none" spc="0" baseline="0">
                  <a:solidFill>
                    <a:srgbClr val="000000"/>
                  </a:solidFill>
                  <a:uFillTx/>
                  <a:latin typeface="微软雅黑" panose="020B0503020204020204" charset="-122"/>
                  <a:ea typeface="微软雅黑" panose="020B0503020204020204" charset="-122"/>
                </a:rPr>
                <a:t>网络态势感知</a:t>
              </a:r>
              <a:endParaRPr lang="zh-CN" sz="1400" b="1" i="0" u="none" strike="noStrike" kern="1200" cap="none" spc="0" baseline="0">
                <a:solidFill>
                  <a:srgbClr val="000000"/>
                </a:solidFill>
                <a:uFillTx/>
                <a:latin typeface="微软雅黑" panose="020B0503020204020204" charset="-122"/>
                <a:ea typeface="微软雅黑" panose="020B0503020204020204" charset="-122"/>
              </a:endParaRPr>
            </a:p>
          </p:txBody>
        </p:sp>
        <p:sp>
          <p:nvSpPr>
            <p:cNvPr id="20" name="文本框 124"/>
            <p:cNvSpPr txBox="1"/>
            <p:nvPr/>
          </p:nvSpPr>
          <p:spPr>
            <a:xfrm>
              <a:off x="10196" y="7007"/>
              <a:ext cx="2076" cy="647"/>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zh-CN" sz="1400" b="1" i="0" u="none" strike="noStrike" kern="1200" cap="none" spc="0" baseline="0">
                  <a:solidFill>
                    <a:srgbClr val="000000"/>
                  </a:solidFill>
                  <a:uFillTx/>
                  <a:latin typeface="微软雅黑" panose="020B0503020204020204" charset="-122"/>
                  <a:ea typeface="微软雅黑" panose="020B0503020204020204" charset="-122"/>
                </a:rPr>
                <a:t>网络管理</a:t>
              </a:r>
              <a:endParaRPr lang="zh-CN" sz="1400" b="1" i="0" u="none" strike="noStrike" kern="1200" cap="none" spc="0" baseline="0">
                <a:solidFill>
                  <a:srgbClr val="000000"/>
                </a:solidFill>
                <a:uFillTx/>
                <a:latin typeface="微软雅黑" panose="020B0503020204020204" charset="-122"/>
                <a:ea typeface="微软雅黑" panose="020B0503020204020204" charset="-122"/>
              </a:endParaRPr>
            </a:p>
          </p:txBody>
        </p:sp>
        <p:pic>
          <p:nvPicPr>
            <p:cNvPr id="21" name="图片 126"/>
            <p:cNvPicPr>
              <a:picLocks noChangeAspect="1"/>
            </p:cNvPicPr>
            <p:nvPr/>
          </p:nvPicPr>
          <p:blipFill>
            <a:blip r:embed="rId7"/>
            <a:srcRect l="35121" t="17517" r="34431" b="15450"/>
            <a:stretch>
              <a:fillRect/>
            </a:stretch>
          </p:blipFill>
          <p:spPr>
            <a:xfrm>
              <a:off x="8340" y="5081"/>
              <a:ext cx="2088" cy="2003"/>
            </a:xfrm>
            <a:prstGeom prst="rect">
              <a:avLst/>
            </a:prstGeom>
            <a:noFill/>
            <a:ln cap="flat">
              <a:noFill/>
            </a:ln>
          </p:spPr>
        </p:pic>
        <p:pic>
          <p:nvPicPr>
            <p:cNvPr id="22" name="图片 125" descr="/private/var/folders/bn/2ywf_mm10_z2zxmmx4rr29br0000gn/T/com.kingsoft.wpsoffice.mac/kaimatting/20241014165950/output_aiMatting_20241014170022.pngoutput_aiMatting_20241014170022"/>
            <p:cNvPicPr>
              <a:picLocks noChangeAspect="1"/>
            </p:cNvPicPr>
            <p:nvPr/>
          </p:nvPicPr>
          <p:blipFill>
            <a:blip r:embed="rId8"/>
            <a:stretch>
              <a:fillRect/>
            </a:stretch>
          </p:blipFill>
          <p:spPr>
            <a:xfrm>
              <a:off x="8968" y="5298"/>
              <a:ext cx="803" cy="805"/>
            </a:xfrm>
            <a:prstGeom prst="rect">
              <a:avLst/>
            </a:prstGeom>
            <a:noFill/>
            <a:ln cap="flat">
              <a:noFill/>
            </a:ln>
          </p:spPr>
        </p:pic>
        <p:sp>
          <p:nvSpPr>
            <p:cNvPr id="24" name="文本框 127"/>
            <p:cNvSpPr txBox="1"/>
            <p:nvPr/>
          </p:nvSpPr>
          <p:spPr>
            <a:xfrm>
              <a:off x="8197" y="6131"/>
              <a:ext cx="2275" cy="712"/>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zh-CN" sz="1600" b="1" i="0" u="none" strike="noStrike" kern="1200" cap="none" spc="0" baseline="0">
                  <a:solidFill>
                    <a:srgbClr val="ED7D31"/>
                  </a:solidFill>
                  <a:uFillTx/>
                  <a:latin typeface="Calibri" panose="020F0502020204030204"/>
                  <a:ea typeface="宋体" panose="02010600030101010101" pitchFamily="2" charset="-122"/>
                  <a:cs typeface="Calibri" panose="020F0502020204030204"/>
                </a:rPr>
                <a:t>网络空间</a:t>
              </a:r>
              <a:endParaRPr lang="zh-CN" sz="1600" b="1" i="0" u="none" strike="noStrike" kern="1200" cap="none" spc="0" baseline="0">
                <a:solidFill>
                  <a:srgbClr val="ED7D31"/>
                </a:solidFill>
                <a:uFillTx/>
                <a:latin typeface="Calibri" panose="020F0502020204030204"/>
                <a:ea typeface="宋体" panose="02010600030101010101" pitchFamily="2" charset="-122"/>
                <a:cs typeface="Calibri" panose="020F0502020204030204"/>
              </a:endParaRPr>
            </a:p>
          </p:txBody>
        </p:sp>
        <p:cxnSp>
          <p:nvCxnSpPr>
            <p:cNvPr id="25" name="直接箭头连接符 24"/>
            <p:cNvCxnSpPr/>
            <p:nvPr/>
          </p:nvCxnSpPr>
          <p:spPr>
            <a:xfrm>
              <a:off x="10466" y="5833"/>
              <a:ext cx="2239" cy="0"/>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cxnSp>
          <p:nvCxnSpPr>
            <p:cNvPr id="26" name="直接箭头连接符 25"/>
            <p:cNvCxnSpPr/>
            <p:nvPr/>
          </p:nvCxnSpPr>
          <p:spPr>
            <a:xfrm flipH="1">
              <a:off x="6153" y="5833"/>
              <a:ext cx="2073" cy="0"/>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cxnSp>
          <p:nvCxnSpPr>
            <p:cNvPr id="27" name="直接箭头连接符 26"/>
            <p:cNvCxnSpPr/>
            <p:nvPr/>
          </p:nvCxnSpPr>
          <p:spPr>
            <a:xfrm flipV="1">
              <a:off x="10542" y="4659"/>
              <a:ext cx="712" cy="710"/>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cxnSp>
          <p:nvCxnSpPr>
            <p:cNvPr id="28" name="直接箭头连接符 27"/>
            <p:cNvCxnSpPr/>
            <p:nvPr/>
          </p:nvCxnSpPr>
          <p:spPr>
            <a:xfrm flipH="1" flipV="1">
              <a:off x="7485" y="4659"/>
              <a:ext cx="712" cy="710"/>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grpSp>
          <p:nvGrpSpPr>
            <p:cNvPr id="29" name="组合 28"/>
            <p:cNvGrpSpPr/>
            <p:nvPr/>
          </p:nvGrpSpPr>
          <p:grpSpPr>
            <a:xfrm rot="10800000">
              <a:off x="7485" y="6297"/>
              <a:ext cx="3769" cy="710"/>
              <a:chOff x="7685" y="4859"/>
              <a:chExt cx="3769" cy="710"/>
            </a:xfrm>
          </p:grpSpPr>
          <p:cxnSp>
            <p:nvCxnSpPr>
              <p:cNvPr id="30" name="直接箭头连接符 29"/>
              <p:cNvCxnSpPr/>
              <p:nvPr/>
            </p:nvCxnSpPr>
            <p:spPr>
              <a:xfrm flipV="1">
                <a:off x="10742" y="4859"/>
                <a:ext cx="712" cy="710"/>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cxnSp>
            <p:nvCxnSpPr>
              <p:cNvPr id="31" name="直接箭头连接符 30"/>
              <p:cNvCxnSpPr/>
              <p:nvPr/>
            </p:nvCxnSpPr>
            <p:spPr>
              <a:xfrm flipH="1" flipV="1">
                <a:off x="7685" y="4859"/>
                <a:ext cx="712" cy="710"/>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grpSp>
        <p:sp>
          <p:nvSpPr>
            <p:cNvPr id="32" name="圆角矩形 31"/>
            <p:cNvSpPr/>
            <p:nvPr/>
          </p:nvSpPr>
          <p:spPr>
            <a:xfrm>
              <a:off x="3319" y="3055"/>
              <a:ext cx="11977" cy="5824"/>
            </a:xfrm>
            <a:prstGeom prst="roundRect">
              <a:avLst/>
            </a:prstGeom>
            <a:ln>
              <a:solidFill>
                <a:schemeClr val="tx1"/>
              </a:solidFill>
              <a:prstDash val="sysDash"/>
            </a:ln>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sz="3600"/>
              <a:t>三、</a:t>
            </a:r>
            <a:r>
              <a:rPr lang="zh-CN" altLang="en-US" sz="3600">
                <a:sym typeface="+mn-ea"/>
              </a:rPr>
              <a:t>挑战与难点</a:t>
            </a:r>
            <a:endParaRPr lang="zh-CN" altLang="en-US" sz="3600">
              <a:sym typeface="+mn-ea"/>
            </a:endParaRPr>
          </a:p>
        </p:txBody>
      </p:sp>
      <p:pic>
        <p:nvPicPr>
          <p:cNvPr id="31" name="图片 30"/>
          <p:cNvPicPr>
            <a:picLocks noChangeAspect="1"/>
          </p:cNvPicPr>
          <p:nvPr/>
        </p:nvPicPr>
        <p:blipFill>
          <a:blip r:embed="rId1"/>
          <a:stretch>
            <a:fillRect/>
          </a:stretch>
        </p:blipFill>
        <p:spPr>
          <a:xfrm>
            <a:off x="7160260" y="1308100"/>
            <a:ext cx="4906010" cy="1298575"/>
          </a:xfrm>
          <a:prstGeom prst="rect">
            <a:avLst/>
          </a:prstGeom>
        </p:spPr>
      </p:pic>
      <p:pic>
        <p:nvPicPr>
          <p:cNvPr id="33" name="图片 32"/>
          <p:cNvPicPr>
            <a:picLocks noChangeAspect="1"/>
          </p:cNvPicPr>
          <p:nvPr/>
        </p:nvPicPr>
        <p:blipFill>
          <a:blip r:embed="rId2"/>
          <a:stretch>
            <a:fillRect/>
          </a:stretch>
        </p:blipFill>
        <p:spPr>
          <a:xfrm>
            <a:off x="7160895" y="2688590"/>
            <a:ext cx="4904740" cy="1796415"/>
          </a:xfrm>
          <a:prstGeom prst="rect">
            <a:avLst/>
          </a:prstGeom>
        </p:spPr>
      </p:pic>
      <p:sp>
        <p:nvSpPr>
          <p:cNvPr id="35" name="文本框 34"/>
          <p:cNvSpPr txBox="1"/>
          <p:nvPr/>
        </p:nvSpPr>
        <p:spPr>
          <a:xfrm>
            <a:off x="516890" y="1266190"/>
            <a:ext cx="6644005" cy="3340100"/>
          </a:xfrm>
          <a:prstGeom prst="rect">
            <a:avLst/>
          </a:prstGeom>
          <a:noFill/>
        </p:spPr>
        <p:txBody>
          <a:bodyPr wrap="square" rtlCol="0">
            <a:noAutofit/>
          </a:bodyPr>
          <a:p>
            <a:pPr indent="0" algn="l">
              <a:lnSpc>
                <a:spcPct val="130000"/>
              </a:lnSpc>
              <a:buClrTx/>
              <a:buSzTx/>
              <a:buFontTx/>
              <a:buNone/>
            </a:pPr>
            <a:r>
              <a:rPr lang="zh-CN" altLang="en-US" sz="2000" b="1">
                <a:latin typeface="微软雅黑" panose="020B0503020204020204" charset="-122"/>
                <a:ea typeface="微软雅黑" panose="020B0503020204020204" charset="-122"/>
                <a:cs typeface="微软雅黑" panose="020B0503020204020204" charset="-122"/>
              </a:rPr>
              <a:t>1.探测可用隧道节点并计算节点之间的时延</a:t>
            </a:r>
            <a:endParaRPr lang="zh-CN" altLang="en-US" sz="1800">
              <a:latin typeface="微软雅黑" panose="020B0503020204020204" charset="-122"/>
              <a:ea typeface="微软雅黑" panose="020B0503020204020204" charset="-122"/>
              <a:cs typeface="微软雅黑" panose="020B0503020204020204" charset="-122"/>
            </a:endParaRPr>
          </a:p>
          <a:p>
            <a:pPr>
              <a:lnSpc>
                <a:spcPct val="130000"/>
              </a:lnSpc>
            </a:pPr>
            <a:r>
              <a:rPr lang="zh-CN" altLang="en-US" sz="2000">
                <a:latin typeface="微软雅黑" panose="020B0503020204020204" charset="-122"/>
                <a:ea typeface="微软雅黑" panose="020B0503020204020204" charset="-122"/>
                <a:cs typeface="微软雅黑" panose="020B0503020204020204" charset="-122"/>
              </a:rPr>
              <a:t>攻击者需先</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发现并确认</a:t>
            </a:r>
            <a:r>
              <a:rPr lang="zh-CN" altLang="en-US" sz="2000">
                <a:latin typeface="微软雅黑" panose="020B0503020204020204" charset="-122"/>
                <a:ea typeface="微软雅黑" panose="020B0503020204020204" charset="-122"/>
                <a:cs typeface="微软雅黑" panose="020B0503020204020204" charset="-122"/>
              </a:rPr>
              <a:t>全网可被利用的隧道节点（如</a:t>
            </a:r>
            <a:r>
              <a:rPr lang="en-US" altLang="zh-CN" sz="2000">
                <a:latin typeface="微软雅黑" panose="020B0503020204020204" charset="-122"/>
                <a:ea typeface="微软雅黑" panose="020B0503020204020204" charset="-122"/>
                <a:cs typeface="微软雅黑" panose="020B0503020204020204" charset="-122"/>
              </a:rPr>
              <a:t>IPIP</a:t>
            </a:r>
            <a:r>
              <a:rPr lang="zh-CN" altLang="en-US" sz="2000">
                <a:latin typeface="微软雅黑" panose="020B0503020204020204" charset="-122"/>
                <a:ea typeface="微软雅黑" panose="020B0503020204020204" charset="-122"/>
                <a:cs typeface="微软雅黑" panose="020B0503020204020204" charset="-122"/>
              </a:rPr>
              <a:t>、</a:t>
            </a:r>
            <a:r>
              <a:rPr lang="en-US" altLang="zh-CN" sz="2000">
                <a:latin typeface="微软雅黑" panose="020B0503020204020204" charset="-122"/>
                <a:ea typeface="微软雅黑" panose="020B0503020204020204" charset="-122"/>
                <a:cs typeface="微软雅黑" panose="020B0503020204020204" charset="-122"/>
              </a:rPr>
              <a:t>6to4</a:t>
            </a:r>
            <a:r>
              <a:rPr lang="zh-CN" altLang="en-US" sz="2000">
                <a:latin typeface="微软雅黑" panose="020B0503020204020204" charset="-122"/>
                <a:ea typeface="微软雅黑" panose="020B0503020204020204" charset="-122"/>
                <a:cs typeface="微软雅黑" panose="020B0503020204020204" charset="-122"/>
              </a:rPr>
              <a:t>、</a:t>
            </a:r>
            <a:r>
              <a:rPr lang="en-US" altLang="zh-CN" sz="2000">
                <a:latin typeface="微软雅黑" panose="020B0503020204020204" charset="-122"/>
                <a:ea typeface="微软雅黑" panose="020B0503020204020204" charset="-122"/>
                <a:cs typeface="微软雅黑" panose="020B0503020204020204" charset="-122"/>
              </a:rPr>
              <a:t>GRE</a:t>
            </a:r>
            <a:r>
              <a:rPr lang="zh-CN" altLang="en-US" sz="2000">
                <a:latin typeface="微软雅黑" panose="020B0503020204020204" charset="-122"/>
                <a:ea typeface="微软雅黑" panose="020B0503020204020204" charset="-122"/>
                <a:cs typeface="微软雅黑" panose="020B0503020204020204" charset="-122"/>
              </a:rPr>
              <a:t>隧道），验证其</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开放状态与转发能力</a:t>
            </a:r>
            <a:r>
              <a:rPr lang="zh-CN" altLang="en-US" sz="2000">
                <a:latin typeface="微软雅黑" panose="020B0503020204020204" charset="-122"/>
                <a:ea typeface="微软雅黑" panose="020B0503020204020204" charset="-122"/>
                <a:cs typeface="微软雅黑" panose="020B0503020204020204" charset="-122"/>
              </a:rPr>
              <a:t>。</a:t>
            </a:r>
            <a:endParaRPr lang="zh-CN" altLang="en-US" sz="2000">
              <a:latin typeface="微软雅黑" panose="020B0503020204020204" charset="-122"/>
              <a:ea typeface="微软雅黑" panose="020B0503020204020204" charset="-122"/>
              <a:cs typeface="微软雅黑" panose="020B0503020204020204" charset="-122"/>
            </a:endParaRPr>
          </a:p>
          <a:p>
            <a:pPr marL="285750" indent="-285750">
              <a:lnSpc>
                <a:spcPct val="130000"/>
              </a:lnSpc>
              <a:buFont typeface="Arial" panose="020B0604020202020204" pitchFamily="34" charset="0"/>
              <a:buChar char="•"/>
            </a:pPr>
            <a:r>
              <a:rPr lang="zh-CN" altLang="en-US" sz="1600">
                <a:latin typeface="微软雅黑" panose="020B0503020204020204" charset="-122"/>
                <a:ea typeface="微软雅黑" panose="020B0503020204020204" charset="-122"/>
                <a:cs typeface="微软雅黑" panose="020B0503020204020204" charset="-122"/>
                <a:sym typeface="+mn-ea"/>
              </a:rPr>
              <a:t>隧道类型繁多且部署分布不均，导致隧道节点的测量存在</a:t>
            </a:r>
            <a:r>
              <a:rPr lang="zh-CN" altLang="en-US" sz="1600">
                <a:latin typeface="微软雅黑" panose="020B0503020204020204" charset="-122"/>
                <a:ea typeface="微软雅黑" panose="020B0503020204020204" charset="-122"/>
                <a:cs typeface="微软雅黑" panose="020B0503020204020204" charset="-122"/>
                <a:sym typeface="+mn-ea"/>
              </a:rPr>
              <a:t>不确定性。由于常见的过滤与认证机制会阻挡不合规流量，所以攻击者须挑选出配置不当的节点，以便后续的转发利用。</a:t>
            </a:r>
            <a:endParaRPr lang="zh-CN" altLang="en-US" sz="1600">
              <a:latin typeface="微软雅黑" panose="020B0503020204020204" charset="-122"/>
              <a:ea typeface="微软雅黑" panose="020B0503020204020204" charset="-122"/>
              <a:cs typeface="微软雅黑" panose="020B0503020204020204" charset="-122"/>
              <a:sym typeface="+mn-ea"/>
            </a:endParaRPr>
          </a:p>
          <a:p>
            <a:pPr marL="285750" indent="-285750">
              <a:lnSpc>
                <a:spcPct val="130000"/>
              </a:lnSpc>
              <a:buFont typeface="Arial" panose="020B0604020202020204" pitchFamily="34" charset="0"/>
              <a:buChar char="•"/>
            </a:pPr>
            <a:r>
              <a:rPr lang="zh-CN" altLang="en-US" sz="1600">
                <a:latin typeface="微软雅黑" panose="020B0503020204020204" charset="-122"/>
                <a:ea typeface="微软雅黑" panose="020B0503020204020204" charset="-122"/>
                <a:cs typeface="微软雅黑" panose="020B0503020204020204" charset="-122"/>
                <a:sym typeface="+mn-ea"/>
              </a:rPr>
              <a:t>要实现高效的</a:t>
            </a:r>
            <a:r>
              <a:rPr lang="en-US" altLang="zh-CN" sz="1600">
                <a:latin typeface="微软雅黑" panose="020B0503020204020204" charset="-122"/>
                <a:ea typeface="微软雅黑" panose="020B0503020204020204" charset="-122"/>
                <a:cs typeface="微软雅黑" panose="020B0503020204020204" charset="-122"/>
                <a:sym typeface="+mn-ea"/>
              </a:rPr>
              <a:t> DDoS</a:t>
            </a:r>
            <a:r>
              <a:rPr lang="zh-CN" altLang="en-US" sz="1600">
                <a:latin typeface="微软雅黑" panose="020B0503020204020204" charset="-122"/>
                <a:ea typeface="微软雅黑" panose="020B0503020204020204" charset="-122"/>
                <a:cs typeface="微软雅黑" panose="020B0503020204020204" charset="-122"/>
                <a:sym typeface="+mn-ea"/>
              </a:rPr>
              <a:t>，攻击流量需尽可能同步到达目标，这要求对多跳转发路径的时延进行精确估计。</a:t>
            </a:r>
            <a:endParaRPr lang="zh-CN" altLang="en-US" sz="1600">
              <a:latin typeface="微软雅黑" panose="020B0503020204020204" charset="-122"/>
              <a:ea typeface="微软雅黑" panose="020B0503020204020204" charset="-122"/>
              <a:cs typeface="微软雅黑" panose="020B0503020204020204" charset="-122"/>
            </a:endParaRPr>
          </a:p>
          <a:p>
            <a:pPr indent="0" algn="l">
              <a:lnSpc>
                <a:spcPct val="130000"/>
              </a:lnSpc>
              <a:buClrTx/>
              <a:buSzTx/>
              <a:buFont typeface="+mj-lt"/>
              <a:buNone/>
            </a:pPr>
            <a:r>
              <a:rPr lang="zh-CN" altLang="en-US" sz="2000" b="1">
                <a:latin typeface="微软雅黑" panose="020B0503020204020204" charset="-122"/>
                <a:ea typeface="微软雅黑" panose="020B0503020204020204" charset="-122"/>
                <a:cs typeface="微软雅黑" panose="020B0503020204020204" charset="-122"/>
              </a:rPr>
              <a:t>2.构造</a:t>
            </a:r>
            <a:r>
              <a:rPr lang="zh-CN" altLang="en-US" sz="2000" b="1">
                <a:latin typeface="微软雅黑" panose="020B0503020204020204" charset="-122"/>
                <a:ea typeface="微软雅黑" panose="020B0503020204020204" charset="-122"/>
                <a:cs typeface="微软雅黑" panose="020B0503020204020204" charset="-122"/>
              </a:rPr>
              <a:t>支持多跳转发数据包</a:t>
            </a:r>
            <a:endParaRPr lang="zh-CN" altLang="en-US" sz="160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516890" y="4485005"/>
            <a:ext cx="10819130" cy="1931670"/>
          </a:xfrm>
          <a:prstGeom prst="rect">
            <a:avLst/>
          </a:prstGeom>
          <a:noFill/>
        </p:spPr>
        <p:txBody>
          <a:bodyPr wrap="square" rtlCol="0" anchor="t">
            <a:spAutoFit/>
          </a:bodyPr>
          <a:p>
            <a:pPr indent="0">
              <a:lnSpc>
                <a:spcPct val="130000"/>
              </a:lnSpc>
              <a:buFont typeface="Arial" panose="020B0604020202020204" pitchFamily="34" charset="0"/>
              <a:buNone/>
            </a:pPr>
            <a:r>
              <a:rPr lang="zh-CN" altLang="en-US" sz="2000">
                <a:latin typeface="微软雅黑" panose="020B0503020204020204" charset="-122"/>
                <a:ea typeface="微软雅黑" panose="020B0503020204020204" charset="-122"/>
                <a:cs typeface="微软雅黑" panose="020B0503020204020204" charset="-122"/>
                <a:sym typeface="+mn-ea"/>
              </a:rPr>
              <a:t>如何利用</a:t>
            </a:r>
            <a:r>
              <a:rPr lang="en-US" altLang="zh-CN" sz="2000">
                <a:latin typeface="微软雅黑" panose="020B0503020204020204" charset="-122"/>
                <a:ea typeface="微软雅黑" panose="020B0503020204020204" charset="-122"/>
                <a:cs typeface="微软雅黑" panose="020B0503020204020204" charset="-122"/>
                <a:sym typeface="+mn-ea"/>
              </a:rPr>
              <a:t>IPv6</a:t>
            </a:r>
            <a:r>
              <a:rPr lang="zh-CN" altLang="en-US" sz="2000">
                <a:latin typeface="微软雅黑" panose="020B0503020204020204" charset="-122"/>
                <a:ea typeface="微软雅黑" panose="020B0503020204020204" charset="-122"/>
                <a:cs typeface="微软雅黑" panose="020B0503020204020204" charset="-122"/>
                <a:sym typeface="+mn-ea"/>
              </a:rPr>
              <a:t>扩展报头（如路由、分段、逐跳选项），构造可</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实现多跳转发与隧道嵌套</a:t>
            </a:r>
            <a:r>
              <a:rPr lang="zh-CN" altLang="en-US" sz="2000">
                <a:latin typeface="微软雅黑" panose="020B0503020204020204" charset="-122"/>
                <a:ea typeface="微软雅黑" panose="020B0503020204020204" charset="-122"/>
                <a:cs typeface="微软雅黑" panose="020B0503020204020204" charset="-122"/>
                <a:sym typeface="+mn-ea"/>
              </a:rPr>
              <a:t>的数据包，使报文既能通过隧道封装绕过防护策略</a:t>
            </a:r>
            <a:r>
              <a:rPr lang="en-US" altLang="zh-CN" sz="2000">
                <a:latin typeface="微软雅黑" panose="020B0503020204020204" charset="-122"/>
                <a:ea typeface="微软雅黑" panose="020B0503020204020204" charset="-122"/>
                <a:cs typeface="微软雅黑" panose="020B0503020204020204" charset="-122"/>
                <a:sym typeface="+mn-ea"/>
              </a:rPr>
              <a:t> </a:t>
            </a:r>
            <a:r>
              <a:rPr lang="zh-CN" altLang="en-US" sz="2000">
                <a:latin typeface="微软雅黑" panose="020B0503020204020204" charset="-122"/>
                <a:ea typeface="微软雅黑" panose="020B0503020204020204" charset="-122"/>
                <a:cs typeface="微软雅黑" panose="020B0503020204020204" charset="-122"/>
                <a:sym typeface="+mn-ea"/>
              </a:rPr>
              <a:t>，又能触发接收方对所构造的复杂数据包解析和处理，最终实现</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有效消耗目标资源</a:t>
            </a:r>
            <a:r>
              <a:rPr lang="zh-CN" altLang="en-US" sz="2000">
                <a:latin typeface="微软雅黑" panose="020B0503020204020204" charset="-122"/>
                <a:ea typeface="微软雅黑" panose="020B0503020204020204" charset="-122"/>
                <a:cs typeface="微软雅黑" panose="020B0503020204020204" charset="-122"/>
                <a:sym typeface="+mn-ea"/>
              </a:rPr>
              <a:t>的目标。且现有威胁模型的研究</a:t>
            </a:r>
            <a:r>
              <a:rPr lang="zh-CN" altLang="en-US" sz="2000">
                <a:latin typeface="微软雅黑" panose="020B0503020204020204" charset="-122"/>
                <a:ea typeface="微软雅黑" panose="020B0503020204020204" charset="-122"/>
                <a:cs typeface="微软雅黑" panose="020B0503020204020204" charset="-122"/>
                <a:sym typeface="+mn-ea"/>
              </a:rPr>
              <a:t>不支持</a:t>
            </a:r>
            <a:r>
              <a:rPr lang="zh-CN" altLang="en-US" sz="2000">
                <a:latin typeface="微软雅黑" panose="020B0503020204020204" charset="-122"/>
                <a:ea typeface="微软雅黑" panose="020B0503020204020204" charset="-122"/>
                <a:cs typeface="微软雅黑" panose="020B0503020204020204" charset="-122"/>
                <a:sym typeface="+mn-ea"/>
              </a:rPr>
              <a:t>多跳转发。</a:t>
            </a:r>
            <a:endParaRPr lang="zh-CN" altLang="en-US" sz="1600">
              <a:latin typeface="微软雅黑" panose="020B0503020204020204" charset="-122"/>
              <a:ea typeface="微软雅黑" panose="020B0503020204020204" charset="-122"/>
              <a:cs typeface="微软雅黑" panose="020B0503020204020204" charset="-122"/>
              <a:sym typeface="+mn-ea"/>
            </a:endParaRPr>
          </a:p>
          <a:p>
            <a:pPr marL="285750" indent="-285750">
              <a:lnSpc>
                <a:spcPct val="130000"/>
              </a:lnSpc>
              <a:buFont typeface="Arial" panose="020B0604020202020204" pitchFamily="34" charset="0"/>
              <a:buChar char="•"/>
            </a:pPr>
            <a:r>
              <a:rPr lang="zh-CN" altLang="en-US" sz="1600">
                <a:latin typeface="微软雅黑" panose="020B0503020204020204" charset="-122"/>
                <a:ea typeface="微软雅黑" panose="020B0503020204020204" charset="-122"/>
                <a:cs typeface="微软雅黑" panose="020B0503020204020204" charset="-122"/>
                <a:sym typeface="+mn-ea"/>
              </a:rPr>
              <a:t>各厂商与不同设备对</a:t>
            </a:r>
            <a:r>
              <a:rPr lang="en-US" altLang="zh-CN" sz="1600">
                <a:latin typeface="微软雅黑" panose="020B0503020204020204" charset="-122"/>
                <a:ea typeface="微软雅黑" panose="020B0503020204020204" charset="-122"/>
                <a:cs typeface="微软雅黑" panose="020B0503020204020204" charset="-122"/>
                <a:sym typeface="+mn-ea"/>
              </a:rPr>
              <a:t> IPv6 </a:t>
            </a:r>
            <a:r>
              <a:rPr lang="zh-CN" altLang="en-US" sz="1600">
                <a:latin typeface="微软雅黑" panose="020B0503020204020204" charset="-122"/>
                <a:ea typeface="微软雅黑" panose="020B0503020204020204" charset="-122"/>
                <a:cs typeface="微软雅黑" panose="020B0503020204020204" charset="-122"/>
                <a:sym typeface="+mn-ea"/>
              </a:rPr>
              <a:t>扩展报头及封装的实现存在差异，有的设备会解析并转发，有的会丢弃处理。这种行为差异使得</a:t>
            </a:r>
            <a:r>
              <a:rPr lang="zh-CN" altLang="en-US" sz="1600">
                <a:latin typeface="微软雅黑" panose="020B0503020204020204" charset="-122"/>
                <a:ea typeface="微软雅黑" panose="020B0503020204020204" charset="-122"/>
                <a:cs typeface="微软雅黑" panose="020B0503020204020204" charset="-122"/>
                <a:sym typeface="+mn-ea"/>
              </a:rPr>
              <a:t>同样的数据包在不同路径上表现存在</a:t>
            </a:r>
            <a:r>
              <a:rPr lang="zh-CN" altLang="en-US" sz="1600">
                <a:latin typeface="微软雅黑" panose="020B0503020204020204" charset="-122"/>
                <a:ea typeface="微软雅黑" panose="020B0503020204020204" charset="-122"/>
                <a:cs typeface="微软雅黑" panose="020B0503020204020204" charset="-122"/>
                <a:sym typeface="+mn-ea"/>
              </a:rPr>
              <a:t>差异。</a:t>
            </a:r>
            <a:endParaRPr lang="zh-CN" altLang="en-US" sz="160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sz="3600"/>
              <a:t>三、</a:t>
            </a:r>
            <a:r>
              <a:rPr lang="zh-CN" altLang="en-US" sz="3600">
                <a:sym typeface="+mn-ea"/>
              </a:rPr>
              <a:t>挑战与难点</a:t>
            </a:r>
            <a:endParaRPr lang="zh-CN" altLang="en-US" sz="3600">
              <a:sym typeface="+mn-ea"/>
            </a:endParaRPr>
          </a:p>
        </p:txBody>
      </p:sp>
      <p:pic>
        <p:nvPicPr>
          <p:cNvPr id="27" name="图片 26"/>
          <p:cNvPicPr/>
          <p:nvPr/>
        </p:nvPicPr>
        <p:blipFill>
          <a:blip r:embed="rId1"/>
          <a:srcRect t="2249" r="1260"/>
          <a:stretch>
            <a:fillRect/>
          </a:stretch>
        </p:blipFill>
        <p:spPr>
          <a:xfrm>
            <a:off x="6795770" y="4023360"/>
            <a:ext cx="4646930" cy="2426970"/>
          </a:xfrm>
          <a:prstGeom prst="rect">
            <a:avLst/>
          </a:prstGeom>
        </p:spPr>
      </p:pic>
      <p:sp>
        <p:nvSpPr>
          <p:cNvPr id="35" name="文本框 34"/>
          <p:cNvSpPr txBox="1"/>
          <p:nvPr/>
        </p:nvSpPr>
        <p:spPr>
          <a:xfrm>
            <a:off x="427355" y="1266190"/>
            <a:ext cx="5502910" cy="4589780"/>
          </a:xfrm>
          <a:prstGeom prst="rect">
            <a:avLst/>
          </a:prstGeom>
          <a:noFill/>
        </p:spPr>
        <p:txBody>
          <a:bodyPr wrap="square" rtlCol="0">
            <a:spAutoFit/>
          </a:bodyPr>
          <a:p>
            <a:pPr indent="0" algn="l">
              <a:lnSpc>
                <a:spcPct val="120000"/>
              </a:lnSpc>
              <a:buClrTx/>
              <a:buSzTx/>
              <a:buFont typeface="+mj-lt"/>
              <a:buNone/>
            </a:pPr>
            <a:r>
              <a:rPr lang="zh-CN" altLang="en-US" sz="2000" b="1">
                <a:latin typeface="微软雅黑" panose="020B0503020204020204" charset="-122"/>
                <a:ea typeface="微软雅黑" panose="020B0503020204020204" charset="-122"/>
                <a:cs typeface="微软雅黑" panose="020B0503020204020204" charset="-122"/>
                <a:sym typeface="+mn-ea"/>
              </a:rPr>
              <a:t>3.构建多跳转发路径</a:t>
            </a:r>
            <a:endParaRPr lang="zh-CN" altLang="en-US" sz="2000" b="1">
              <a:latin typeface="微软雅黑" panose="020B0503020204020204" charset="-122"/>
              <a:ea typeface="微软雅黑" panose="020B0503020204020204" charset="-122"/>
              <a:cs typeface="微软雅黑" panose="020B0503020204020204" charset="-122"/>
            </a:endParaRPr>
          </a:p>
          <a:p>
            <a:pPr>
              <a:lnSpc>
                <a:spcPct val="120000"/>
              </a:lnSpc>
            </a:pPr>
            <a:r>
              <a:rPr lang="zh-CN" altLang="en-US" sz="2000">
                <a:latin typeface="微软雅黑" panose="020B0503020204020204" charset="-122"/>
                <a:ea typeface="微软雅黑" panose="020B0503020204020204" charset="-122"/>
                <a:cs typeface="微软雅黑" panose="020B0503020204020204" charset="-122"/>
                <a:sym typeface="+mn-ea"/>
              </a:rPr>
              <a:t>关键在于设计负载均衡的</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多层嵌套的攻击路径</a:t>
            </a:r>
            <a:r>
              <a:rPr lang="zh-CN" altLang="en-US" sz="2000">
                <a:latin typeface="微软雅黑" panose="020B0503020204020204" charset="-122"/>
                <a:ea typeface="微软雅黑" panose="020B0503020204020204" charset="-122"/>
                <a:cs typeface="微软雅黑" panose="020B0503020204020204" charset="-122"/>
                <a:sym typeface="+mn-ea"/>
              </a:rPr>
              <a:t>，在</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流量放大效果</a:t>
            </a:r>
            <a:r>
              <a:rPr lang="zh-CN" altLang="en-US" sz="2000">
                <a:latin typeface="微软雅黑" panose="020B0503020204020204" charset="-122"/>
                <a:ea typeface="微软雅黑" panose="020B0503020204020204" charset="-122"/>
                <a:cs typeface="微软雅黑" panose="020B0503020204020204" charset="-122"/>
                <a:sym typeface="+mn-ea"/>
              </a:rPr>
              <a:t>与</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隧道转发能力</a:t>
            </a:r>
            <a:r>
              <a:rPr lang="zh-CN" altLang="en-US" sz="2000">
                <a:latin typeface="微软雅黑" panose="020B0503020204020204" charset="-122"/>
                <a:ea typeface="微软雅黑" panose="020B0503020204020204" charset="-122"/>
                <a:cs typeface="微软雅黑" panose="020B0503020204020204" charset="-122"/>
                <a:sym typeface="+mn-ea"/>
              </a:rPr>
              <a:t>之间取得平衡，确保攻击流量同时到达，</a:t>
            </a:r>
            <a:r>
              <a:rPr lang="zh-CN" altLang="en-US" sz="2000">
                <a:latin typeface="微软雅黑" panose="020B0503020204020204" charset="-122"/>
                <a:ea typeface="微软雅黑" panose="020B0503020204020204" charset="-122"/>
                <a:cs typeface="微软雅黑" panose="020B0503020204020204" charset="-122"/>
                <a:sym typeface="+mn-ea"/>
              </a:rPr>
              <a:t>实现</a:t>
            </a:r>
            <a:r>
              <a:rPr lang="zh-CN" altLang="en-US" sz="2000">
                <a:latin typeface="微软雅黑" panose="020B0503020204020204" charset="-122"/>
                <a:ea typeface="微软雅黑" panose="020B0503020204020204" charset="-122"/>
                <a:cs typeface="微软雅黑" panose="020B0503020204020204" charset="-122"/>
                <a:sym typeface="+mn-ea"/>
              </a:rPr>
              <a:t>攻击强度最大化，同时</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避免触发节点告警</a:t>
            </a:r>
            <a:r>
              <a:rPr lang="zh-CN" altLang="en-US" sz="2000">
                <a:latin typeface="微软雅黑" panose="020B0503020204020204" charset="-122"/>
                <a:ea typeface="微软雅黑" panose="020B0503020204020204" charset="-122"/>
                <a:cs typeface="微软雅黑" panose="020B0503020204020204" charset="-122"/>
                <a:sym typeface="+mn-ea"/>
              </a:rPr>
              <a:t>。</a:t>
            </a:r>
            <a:endParaRPr lang="zh-CN" altLang="en-US" sz="2000">
              <a:latin typeface="微软雅黑" panose="020B0503020204020204" charset="-122"/>
              <a:ea typeface="微软雅黑" panose="020B0503020204020204" charset="-122"/>
              <a:cs typeface="微软雅黑" panose="020B0503020204020204" charset="-122"/>
              <a:sym typeface="+mn-ea"/>
            </a:endParaRPr>
          </a:p>
          <a:p>
            <a:pPr marL="342900" indent="-342900" algn="l">
              <a:lnSpc>
                <a:spcPct val="130000"/>
              </a:lnSpc>
              <a:buClrTx/>
              <a:buSzTx/>
              <a:buFont typeface="Arial" panose="020B0604020202020204" pitchFamily="34" charset="0"/>
              <a:buChar char="•"/>
            </a:pPr>
            <a:r>
              <a:rPr lang="zh-CN" altLang="en-US" sz="1600">
                <a:latin typeface="微软雅黑" panose="020B0503020204020204" charset="-122"/>
                <a:ea typeface="微软雅黑" panose="020B0503020204020204" charset="-122"/>
                <a:cs typeface="微软雅黑" panose="020B0503020204020204" charset="-122"/>
                <a:sym typeface="+mn-ea"/>
              </a:rPr>
              <a:t>多跳路径的攻击效果会受限于每一跳的带宽、队列策略与并发处理能力。</a:t>
            </a:r>
            <a:r>
              <a:rPr lang="zh-CN" altLang="en-US" sz="1600">
                <a:latin typeface="微软雅黑" panose="020B0503020204020204" charset="-122"/>
                <a:ea typeface="微软雅黑" panose="020B0503020204020204" charset="-122"/>
                <a:cs typeface="微软雅黑" panose="020B0503020204020204" charset="-122"/>
                <a:sym typeface="+mn-ea"/>
              </a:rPr>
              <a:t>然而，构造的数据包越大、越复杂，越容易在网络中被处理节点（路由器）因处理压力过大或不符合严格实现的协议要求而丢弃</a:t>
            </a:r>
            <a:r>
              <a:rPr lang="en-US" altLang="zh-CN" sz="1600">
                <a:latin typeface="微软雅黑" panose="020B0503020204020204" charset="-122"/>
                <a:ea typeface="微软雅黑" panose="020B0503020204020204" charset="-122"/>
                <a:cs typeface="微软雅黑" panose="020B0503020204020204" charset="-122"/>
                <a:sym typeface="+mn-ea"/>
              </a:rPr>
              <a:t> </a:t>
            </a:r>
            <a:r>
              <a:rPr lang="zh-CN" altLang="en-US" sz="1600">
                <a:latin typeface="微软雅黑" panose="020B0503020204020204" charset="-122"/>
                <a:ea typeface="微软雅黑" panose="020B0503020204020204" charset="-122"/>
                <a:cs typeface="微软雅黑" panose="020B0503020204020204" charset="-122"/>
                <a:sym typeface="+mn-ea"/>
              </a:rPr>
              <a:t>。攻击者必须在追求最大化资源消耗和保证攻击流量成功到达之间找到平衡。</a:t>
            </a:r>
            <a:r>
              <a:rPr lang="en-US" altLang="zh-CN" sz="1600">
                <a:latin typeface="微软雅黑" panose="020B0503020204020204" charset="-122"/>
                <a:ea typeface="微软雅黑" panose="020B0503020204020204" charset="-122"/>
                <a:cs typeface="微软雅黑" panose="020B0503020204020204" charset="-122"/>
                <a:sym typeface="+mn-ea"/>
              </a:rPr>
              <a:t> </a:t>
            </a:r>
            <a:br>
              <a:rPr lang="en-US" altLang="zh-CN" sz="2000">
                <a:sym typeface="+mn-ea"/>
              </a:rPr>
            </a:br>
            <a:endParaRPr lang="en-US" altLang="zh-CN" sz="2000">
              <a:latin typeface="微软雅黑" panose="020B0503020204020204" charset="-122"/>
              <a:ea typeface="微软雅黑" panose="020B0503020204020204" charset="-122"/>
              <a:cs typeface="微软雅黑" panose="020B0503020204020204" charset="-122"/>
            </a:endParaRPr>
          </a:p>
          <a:p>
            <a:pPr indent="0" algn="l">
              <a:lnSpc>
                <a:spcPct val="120000"/>
              </a:lnSpc>
              <a:buClrTx/>
              <a:buSzTx/>
              <a:buFont typeface="+mj-lt"/>
              <a:buNone/>
            </a:pPr>
            <a:endParaRPr lang="zh-CN" altLang="en-US">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6311265" y="1266190"/>
            <a:ext cx="5715000" cy="2826385"/>
          </a:xfrm>
          <a:prstGeom prst="rect">
            <a:avLst/>
          </a:prstGeom>
          <a:noFill/>
        </p:spPr>
        <p:txBody>
          <a:bodyPr wrap="square" rtlCol="0" anchor="t">
            <a:noAutofit/>
          </a:bodyPr>
          <a:p>
            <a:pPr indent="0" algn="l">
              <a:lnSpc>
                <a:spcPct val="120000"/>
              </a:lnSpc>
              <a:buClrTx/>
              <a:buSzTx/>
              <a:buFont typeface="+mj-lt"/>
              <a:buNone/>
            </a:pPr>
            <a:r>
              <a:rPr lang="zh-CN" altLang="en-US" sz="2000" b="1">
                <a:latin typeface="微软雅黑" panose="020B0503020204020204" charset="-122"/>
                <a:ea typeface="微软雅黑" panose="020B0503020204020204" charset="-122"/>
                <a:cs typeface="微软雅黑" panose="020B0503020204020204" charset="-122"/>
                <a:sym typeface="+mn-ea"/>
              </a:rPr>
              <a:t>4.伪装攻击源地址</a:t>
            </a:r>
            <a:endParaRPr lang="zh-CN" altLang="en-US" sz="2000" b="1">
              <a:latin typeface="微软雅黑" panose="020B0503020204020204" charset="-122"/>
              <a:ea typeface="微软雅黑" panose="020B0503020204020204" charset="-122"/>
              <a:cs typeface="微软雅黑" panose="020B0503020204020204" charset="-122"/>
            </a:endParaRPr>
          </a:p>
          <a:p>
            <a:pPr>
              <a:lnSpc>
                <a:spcPct val="120000"/>
              </a:lnSpc>
            </a:pPr>
            <a:r>
              <a:rPr lang="zh-CN" altLang="en-US" sz="2000">
                <a:latin typeface="微软雅黑" panose="020B0503020204020204" charset="-122"/>
                <a:ea typeface="微软雅黑" panose="020B0503020204020204" charset="-122"/>
                <a:cs typeface="微软雅黑" panose="020B0503020204020204" charset="-122"/>
                <a:sym typeface="+mn-ea"/>
              </a:rPr>
              <a:t>怎样设置数据包地址，实现</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层层地址伪装</a:t>
            </a:r>
            <a:r>
              <a:rPr lang="zh-CN" altLang="en-US" sz="2000">
                <a:latin typeface="微软雅黑" panose="020B0503020204020204" charset="-122"/>
                <a:ea typeface="微软雅黑" panose="020B0503020204020204" charset="-122"/>
                <a:cs typeface="微软雅黑" panose="020B0503020204020204" charset="-122"/>
                <a:sym typeface="+mn-ea"/>
              </a:rPr>
              <a:t>，构建跨越多个自治域的复杂攻击链，使得</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难以被逆向追踪</a:t>
            </a:r>
            <a:r>
              <a:rPr lang="zh-CN" altLang="en-US" sz="2000">
                <a:latin typeface="微软雅黑" panose="020B0503020204020204" charset="-122"/>
                <a:ea typeface="微软雅黑" panose="020B0503020204020204" charset="-122"/>
                <a:cs typeface="微软雅黑" panose="020B0503020204020204" charset="-122"/>
                <a:sym typeface="+mn-ea"/>
              </a:rPr>
              <a:t>。</a:t>
            </a:r>
            <a:endParaRPr lang="zh-CN" altLang="en-US" sz="2000">
              <a:latin typeface="微软雅黑" panose="020B0503020204020204" charset="-122"/>
              <a:ea typeface="微软雅黑" panose="020B0503020204020204" charset="-122"/>
              <a:cs typeface="微软雅黑" panose="020B0503020204020204" charset="-122"/>
              <a:sym typeface="+mn-ea"/>
            </a:endParaRPr>
          </a:p>
          <a:p>
            <a:pPr marL="285750" indent="-285750">
              <a:lnSpc>
                <a:spcPct val="120000"/>
              </a:lnSpc>
              <a:buFont typeface="Arial" panose="020B0604020202020204" pitchFamily="34" charset="0"/>
              <a:buChar char="•"/>
            </a:pPr>
            <a:r>
              <a:rPr lang="zh-CN" altLang="en-US" sz="1600">
                <a:latin typeface="微软雅黑" panose="020B0503020204020204" charset="-122"/>
                <a:ea typeface="微软雅黑" panose="020B0503020204020204" charset="-122"/>
                <a:cs typeface="微软雅黑" panose="020B0503020204020204" charset="-122"/>
                <a:sym typeface="+mn-ea"/>
              </a:rPr>
              <a:t>在初始包中使用伪造的IPv6源地址，在每一跳隧道封装时，</a:t>
            </a:r>
            <a:r>
              <a:rPr lang="zh-CN" altLang="en-US" sz="1600">
                <a:latin typeface="微软雅黑" panose="020B0503020204020204" charset="-122"/>
                <a:ea typeface="微软雅黑" panose="020B0503020204020204" charset="-122"/>
                <a:cs typeface="微软雅黑" panose="020B0503020204020204" charset="-122"/>
                <a:sym typeface="+mn-ea"/>
              </a:rPr>
              <a:t>外层封装头</a:t>
            </a:r>
            <a:r>
              <a:rPr lang="zh-CN" altLang="en-US" sz="1600">
                <a:latin typeface="微软雅黑" panose="020B0503020204020204" charset="-122"/>
                <a:ea typeface="微软雅黑" panose="020B0503020204020204" charset="-122"/>
                <a:cs typeface="微软雅黑" panose="020B0503020204020204" charset="-122"/>
                <a:sym typeface="+mn-ea"/>
              </a:rPr>
              <a:t>使用不同的伪造源地址。</a:t>
            </a:r>
            <a:endParaRPr lang="zh-CN" altLang="en-US" sz="1600">
              <a:latin typeface="微软雅黑" panose="020B0503020204020204" charset="-122"/>
              <a:ea typeface="微软雅黑" panose="020B0503020204020204" charset="-122"/>
              <a:cs typeface="微软雅黑" panose="020B0503020204020204" charset="-122"/>
              <a:sym typeface="+mn-ea"/>
            </a:endParaRPr>
          </a:p>
          <a:p>
            <a:pPr marL="285750" indent="-285750">
              <a:lnSpc>
                <a:spcPct val="120000"/>
              </a:lnSpc>
              <a:buFont typeface="Arial" panose="020B0604020202020204" pitchFamily="34" charset="0"/>
              <a:buChar char="•"/>
            </a:pPr>
            <a:r>
              <a:rPr lang="zh-CN" altLang="en-US" sz="1600">
                <a:latin typeface="微软雅黑" panose="020B0503020204020204" charset="-122"/>
                <a:ea typeface="微软雅黑" panose="020B0503020204020204" charset="-122"/>
                <a:cs typeface="微软雅黑" panose="020B0503020204020204" charset="-122"/>
                <a:sym typeface="+mn-ea"/>
              </a:rPr>
              <a:t>选择分布在不同国家、不同运营商的隧道节点。</a:t>
            </a:r>
            <a:r>
              <a:rPr lang="zh-CN" altLang="en-US" sz="1600">
                <a:latin typeface="微软雅黑" panose="020B0503020204020204" charset="-122"/>
                <a:ea typeface="微软雅黑" panose="020B0503020204020204" charset="-122"/>
                <a:cs typeface="微软雅黑" panose="020B0503020204020204" charset="-122"/>
                <a:sym typeface="+mn-ea"/>
              </a:rPr>
              <a:t>在攻击过程中，动态切换部分中间节点，使得攻击路径不断变化。</a:t>
            </a:r>
            <a:endParaRPr lang="en-US" altLang="zh-CN" sz="1600">
              <a:latin typeface="微软雅黑" panose="020B0503020204020204" charset="-122"/>
              <a:ea typeface="微软雅黑" panose="020B0503020204020204" charset="-122"/>
              <a:cs typeface="微软雅黑" panose="020B0503020204020204" charset="-122"/>
              <a:sym typeface="+mn-ea"/>
            </a:endParaRPr>
          </a:p>
        </p:txBody>
      </p:sp>
      <p:cxnSp>
        <p:nvCxnSpPr>
          <p:cNvPr id="4" name="直接连接符 3"/>
          <p:cNvCxnSpPr/>
          <p:nvPr/>
        </p:nvCxnSpPr>
        <p:spPr>
          <a:xfrm>
            <a:off x="6085205" y="1367155"/>
            <a:ext cx="0" cy="5063490"/>
          </a:xfrm>
          <a:prstGeom prst="line">
            <a:avLst/>
          </a:prstGeom>
          <a:ln w="12700" cap="rnd" cmpd="sng" algn="ctr">
            <a:solidFill>
              <a:schemeClr val="accent1"/>
            </a:solidFill>
            <a:prstDash val="dash"/>
          </a:ln>
        </p:spPr>
        <p:style>
          <a:lnRef idx="0">
            <a:schemeClr val="accent1"/>
          </a:lnRef>
          <a:fillRef idx="0">
            <a:srgbClr val="FFFFFF"/>
          </a:fillRef>
          <a:effectRef idx="0">
            <a:srgbClr val="FFFFFF"/>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sz="3600">
                <a:sym typeface="+mn-ea"/>
              </a:rPr>
              <a:t>四、</a:t>
            </a:r>
            <a:r>
              <a:rPr lang="zh-CN" altLang="en-US" sz="3600">
                <a:sym typeface="+mn-ea"/>
              </a:rPr>
              <a:t>基本思路</a:t>
            </a:r>
            <a:endParaRPr lang="zh-CN" altLang="en-US" sz="3600">
              <a:sym typeface="+mn-ea"/>
            </a:endParaRPr>
          </a:p>
        </p:txBody>
      </p:sp>
      <p:sp>
        <p:nvSpPr>
          <p:cNvPr id="2" name="矩形 1"/>
          <p:cNvSpPr/>
          <p:nvPr/>
        </p:nvSpPr>
        <p:spPr>
          <a:xfrm>
            <a:off x="683399" y="2504637"/>
            <a:ext cx="2027629" cy="86698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收集隧道节点</a:t>
            </a:r>
            <a:endParaRPr lang="zh-CN" altLang="en-US" dirty="0">
              <a:solidFill>
                <a:schemeClr val="tx1"/>
              </a:solidFill>
              <a:latin typeface="微软雅黑" panose="020B0503020204020204" charset="-122"/>
              <a:ea typeface="微软雅黑" panose="020B0503020204020204" charset="-122"/>
            </a:endParaRPr>
          </a:p>
        </p:txBody>
      </p:sp>
      <p:sp>
        <p:nvSpPr>
          <p:cNvPr id="9" name="矩形 8"/>
          <p:cNvSpPr/>
          <p:nvPr/>
        </p:nvSpPr>
        <p:spPr>
          <a:xfrm>
            <a:off x="3521849" y="2504637"/>
            <a:ext cx="2027629" cy="86698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计算隧道节点之间时延</a:t>
            </a:r>
            <a:endParaRPr lang="zh-CN" altLang="en-US" dirty="0">
              <a:solidFill>
                <a:schemeClr val="tx1"/>
              </a:solidFill>
              <a:latin typeface="微软雅黑" panose="020B0503020204020204" charset="-122"/>
              <a:ea typeface="微软雅黑" panose="020B0503020204020204" charset="-122"/>
            </a:endParaRPr>
          </a:p>
        </p:txBody>
      </p:sp>
      <p:sp>
        <p:nvSpPr>
          <p:cNvPr id="11" name="矩形 10"/>
          <p:cNvSpPr/>
          <p:nvPr/>
        </p:nvSpPr>
        <p:spPr>
          <a:xfrm>
            <a:off x="6360299" y="2504636"/>
            <a:ext cx="2027629" cy="86698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构造攻击路径</a:t>
            </a:r>
            <a:endParaRPr lang="zh-CN" altLang="en-US" dirty="0">
              <a:solidFill>
                <a:schemeClr val="tx1"/>
              </a:solidFill>
              <a:latin typeface="微软雅黑" panose="020B0503020204020204" charset="-122"/>
              <a:ea typeface="微软雅黑" panose="020B0503020204020204" charset="-122"/>
            </a:endParaRPr>
          </a:p>
        </p:txBody>
      </p:sp>
      <p:sp>
        <p:nvSpPr>
          <p:cNvPr id="12" name="矩形 11"/>
          <p:cNvSpPr/>
          <p:nvPr/>
        </p:nvSpPr>
        <p:spPr>
          <a:xfrm>
            <a:off x="9198749" y="2504636"/>
            <a:ext cx="2027629" cy="86698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评估攻击效果</a:t>
            </a:r>
            <a:endParaRPr lang="zh-CN" altLang="en-US" dirty="0">
              <a:solidFill>
                <a:schemeClr val="tx1"/>
              </a:solidFill>
              <a:latin typeface="微软雅黑" panose="020B0503020204020204" charset="-122"/>
              <a:ea typeface="微软雅黑" panose="020B0503020204020204" charset="-122"/>
            </a:endParaRPr>
          </a:p>
        </p:txBody>
      </p:sp>
      <p:cxnSp>
        <p:nvCxnSpPr>
          <p:cNvPr id="17" name="直接箭头连接符 16"/>
          <p:cNvCxnSpPr>
            <a:stCxn id="2" idx="3"/>
            <a:endCxn id="9" idx="1"/>
          </p:cNvCxnSpPr>
          <p:nvPr/>
        </p:nvCxnSpPr>
        <p:spPr>
          <a:xfrm>
            <a:off x="2711028" y="2938128"/>
            <a:ext cx="8108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42" name="组合 41"/>
          <p:cNvGrpSpPr/>
          <p:nvPr/>
        </p:nvGrpSpPr>
        <p:grpSpPr>
          <a:xfrm>
            <a:off x="5549440" y="1586308"/>
            <a:ext cx="3646805" cy="688020"/>
            <a:chOff x="3087796" y="3626249"/>
            <a:chExt cx="5997606" cy="1287437"/>
          </a:xfrm>
        </p:grpSpPr>
        <p:sp>
          <p:nvSpPr>
            <p:cNvPr id="43" name="云形 42"/>
            <p:cNvSpPr/>
            <p:nvPr/>
          </p:nvSpPr>
          <p:spPr>
            <a:xfrm>
              <a:off x="3087796" y="3667837"/>
              <a:ext cx="1929928" cy="1112179"/>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50" b="1" dirty="0"/>
                <a:t>Attacker</a:t>
              </a:r>
              <a:endParaRPr lang="en-US" altLang="zh-CN" sz="1050" b="1" dirty="0"/>
            </a:p>
            <a:p>
              <a:pPr algn="ctr"/>
              <a:r>
                <a:rPr lang="en-US" altLang="zh-CN" sz="1050" b="1" dirty="0"/>
                <a:t>Network</a:t>
              </a:r>
              <a:endParaRPr lang="zh-CN" altLang="en-US" sz="1050" b="1" dirty="0"/>
            </a:p>
          </p:txBody>
        </p:sp>
        <p:sp>
          <p:nvSpPr>
            <p:cNvPr id="44" name="云形 43"/>
            <p:cNvSpPr/>
            <p:nvPr/>
          </p:nvSpPr>
          <p:spPr>
            <a:xfrm>
              <a:off x="7201425" y="3689225"/>
              <a:ext cx="1883977" cy="1112179"/>
            </a:xfrm>
            <a:prstGeom prst="cloud">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zh-CN" sz="1050" b="1" dirty="0"/>
                <a:t>Victim</a:t>
              </a:r>
              <a:endParaRPr lang="en-US" altLang="zh-CN" sz="1050" b="1" dirty="0"/>
            </a:p>
            <a:p>
              <a:pPr algn="ctr"/>
              <a:r>
                <a:rPr lang="en-US" altLang="zh-CN" sz="1050" b="1" dirty="0"/>
                <a:t>Network</a:t>
              </a:r>
              <a:endParaRPr lang="zh-CN" altLang="en-US" sz="1050" b="1" dirty="0"/>
            </a:p>
          </p:txBody>
        </p:sp>
        <p:pic>
          <p:nvPicPr>
            <p:cNvPr id="45" name="图形 20" descr="便携式计算机 纯色填充"/>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58837" y="3712910"/>
              <a:ext cx="447534" cy="447534"/>
            </a:xfrm>
            <a:prstGeom prst="rect">
              <a:avLst/>
            </a:prstGeom>
          </p:spPr>
        </p:pic>
        <p:pic>
          <p:nvPicPr>
            <p:cNvPr id="46" name="图形 21" descr="便携式计算机 纯色填充"/>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29909" y="3626249"/>
              <a:ext cx="447534" cy="447534"/>
            </a:xfrm>
            <a:prstGeom prst="rect">
              <a:avLst/>
            </a:prstGeom>
          </p:spPr>
        </p:pic>
        <p:pic>
          <p:nvPicPr>
            <p:cNvPr id="47" name="图形 22" descr="便携式计算机 纯色填充"/>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91869" y="4466152"/>
              <a:ext cx="447534" cy="447534"/>
            </a:xfrm>
            <a:prstGeom prst="rect">
              <a:avLst/>
            </a:prstGeom>
          </p:spPr>
        </p:pic>
        <p:cxnSp>
          <p:nvCxnSpPr>
            <p:cNvPr id="48" name="直接箭头连接符 47"/>
            <p:cNvCxnSpPr>
              <a:stCxn id="43" idx="0"/>
              <a:endCxn id="45" idx="1"/>
            </p:cNvCxnSpPr>
            <p:nvPr/>
          </p:nvCxnSpPr>
          <p:spPr>
            <a:xfrm flipV="1">
              <a:off x="5015743" y="3937938"/>
              <a:ext cx="443842" cy="286362"/>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50" name="直接箭头连接符 49"/>
            <p:cNvCxnSpPr>
              <a:stCxn id="43" idx="0"/>
              <a:endCxn id="47" idx="1"/>
            </p:cNvCxnSpPr>
            <p:nvPr/>
          </p:nvCxnSpPr>
          <p:spPr>
            <a:xfrm>
              <a:off x="5015743" y="4224300"/>
              <a:ext cx="476216" cy="466972"/>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52" name="直接箭头连接符 51"/>
            <p:cNvCxnSpPr>
              <a:stCxn id="45" idx="3"/>
              <a:endCxn id="46" idx="1"/>
            </p:cNvCxnSpPr>
            <p:nvPr/>
          </p:nvCxnSpPr>
          <p:spPr>
            <a:xfrm flipV="1">
              <a:off x="5906371" y="3850016"/>
              <a:ext cx="323538" cy="8666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53" name="直接箭头连接符 52"/>
            <p:cNvCxnSpPr>
              <a:stCxn id="45" idx="2"/>
              <a:endCxn id="47" idx="0"/>
            </p:cNvCxnSpPr>
            <p:nvPr/>
          </p:nvCxnSpPr>
          <p:spPr>
            <a:xfrm>
              <a:off x="5682604" y="4160444"/>
              <a:ext cx="33032" cy="30570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54" name="直接箭头连接符 53"/>
            <p:cNvCxnSpPr>
              <a:stCxn id="47" idx="3"/>
              <a:endCxn id="46" idx="2"/>
            </p:cNvCxnSpPr>
            <p:nvPr/>
          </p:nvCxnSpPr>
          <p:spPr>
            <a:xfrm flipV="1">
              <a:off x="5939403" y="4073783"/>
              <a:ext cx="514273" cy="616136"/>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93" name="直接箭头连接符 92"/>
            <p:cNvCxnSpPr>
              <a:stCxn id="46" idx="3"/>
              <a:endCxn id="44" idx="2"/>
            </p:cNvCxnSpPr>
            <p:nvPr/>
          </p:nvCxnSpPr>
          <p:spPr>
            <a:xfrm>
              <a:off x="6677443" y="3851204"/>
              <a:ext cx="529477" cy="39449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95" name="直接箭头连接符 94"/>
            <p:cNvCxnSpPr>
              <a:stCxn id="47" idx="3"/>
              <a:endCxn id="44" idx="2"/>
            </p:cNvCxnSpPr>
            <p:nvPr/>
          </p:nvCxnSpPr>
          <p:spPr>
            <a:xfrm flipV="1">
              <a:off x="5939403" y="4245523"/>
              <a:ext cx="1267821" cy="445584"/>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grpSp>
      <p:sp>
        <p:nvSpPr>
          <p:cNvPr id="160" name="箭头: 下 29"/>
          <p:cNvSpPr/>
          <p:nvPr/>
        </p:nvSpPr>
        <p:spPr>
          <a:xfrm flipV="1">
            <a:off x="4446761" y="3433061"/>
            <a:ext cx="233823" cy="4302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1" name="图形 30" descr="计算机 纯色填充"/>
          <p:cNvPicPr>
            <a:picLocks noChangeAspect="1"/>
          </p:cNvPicPr>
          <p:nvPr/>
        </p:nvPicPr>
        <p:blipFill>
          <a:blip r:embed="rId3">
            <a:extLst>
              <a:ext uri="{96DAC541-7B7A-43D3-8B79-37D633B846F1}">
                <asvg:svgBlip xmlns:asvg="http://schemas.microsoft.com/office/drawing/2016/SVG/main" r:embed="rId4"/>
              </a:ext>
            </a:extLst>
          </a:blip>
          <a:srcRect r="31397"/>
          <a:stretch>
            <a:fillRect/>
          </a:stretch>
        </p:blipFill>
        <p:spPr>
          <a:xfrm>
            <a:off x="683399" y="4008062"/>
            <a:ext cx="507770" cy="740157"/>
          </a:xfrm>
          <a:prstGeom prst="rect">
            <a:avLst/>
          </a:prstGeom>
        </p:spPr>
      </p:pic>
      <p:pic>
        <p:nvPicPr>
          <p:cNvPr id="162" name="图形 32" descr="计算机 纯色填充"/>
          <p:cNvPicPr>
            <a:picLocks noChangeAspect="1"/>
          </p:cNvPicPr>
          <p:nvPr/>
        </p:nvPicPr>
        <p:blipFill>
          <a:blip r:embed="rId3">
            <a:extLst>
              <a:ext uri="{96DAC541-7B7A-43D3-8B79-37D633B846F1}">
                <asvg:svgBlip xmlns:asvg="http://schemas.microsoft.com/office/drawing/2016/SVG/main" r:embed="rId4"/>
              </a:ext>
            </a:extLst>
          </a:blip>
          <a:srcRect l="64883" t="12530" r="-886" b="15248"/>
          <a:stretch>
            <a:fillRect/>
          </a:stretch>
        </p:blipFill>
        <p:spPr>
          <a:xfrm>
            <a:off x="1726281" y="4717263"/>
            <a:ext cx="329214" cy="660401"/>
          </a:xfrm>
          <a:prstGeom prst="rect">
            <a:avLst/>
          </a:prstGeom>
        </p:spPr>
      </p:pic>
      <p:cxnSp>
        <p:nvCxnSpPr>
          <p:cNvPr id="165" name="直接箭头连接符 164"/>
          <p:cNvCxnSpPr>
            <a:stCxn id="161" idx="3"/>
            <a:endCxn id="162" idx="1"/>
          </p:cNvCxnSpPr>
          <p:nvPr/>
        </p:nvCxnSpPr>
        <p:spPr>
          <a:xfrm>
            <a:off x="1191169" y="4378141"/>
            <a:ext cx="535112" cy="66932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66" name="图形 38" descr="计算机 纯色填充"/>
          <p:cNvPicPr>
            <a:picLocks noChangeAspect="1"/>
          </p:cNvPicPr>
          <p:nvPr/>
        </p:nvPicPr>
        <p:blipFill>
          <a:blip r:embed="rId3">
            <a:extLst>
              <a:ext uri="{96DAC541-7B7A-43D3-8B79-37D633B846F1}">
                <asvg:svgBlip xmlns:asvg="http://schemas.microsoft.com/office/drawing/2016/SVG/main" r:embed="rId4"/>
              </a:ext>
            </a:extLst>
          </a:blip>
          <a:srcRect l="64883" t="12530" r="-886" b="15248"/>
          <a:stretch>
            <a:fillRect/>
          </a:stretch>
        </p:blipFill>
        <p:spPr>
          <a:xfrm>
            <a:off x="1726281" y="4056862"/>
            <a:ext cx="329214" cy="660401"/>
          </a:xfrm>
          <a:prstGeom prst="rect">
            <a:avLst/>
          </a:prstGeom>
        </p:spPr>
      </p:pic>
      <p:pic>
        <p:nvPicPr>
          <p:cNvPr id="167" name="图形 39" descr="计算机 纯色填充"/>
          <p:cNvPicPr>
            <a:picLocks noChangeAspect="1"/>
          </p:cNvPicPr>
          <p:nvPr/>
        </p:nvPicPr>
        <p:blipFill>
          <a:blip r:embed="rId3">
            <a:extLst>
              <a:ext uri="{96DAC541-7B7A-43D3-8B79-37D633B846F1}">
                <asvg:svgBlip xmlns:asvg="http://schemas.microsoft.com/office/drawing/2016/SVG/main" r:embed="rId4"/>
              </a:ext>
            </a:extLst>
          </a:blip>
          <a:srcRect l="64883" t="12530" r="-886" b="15248"/>
          <a:stretch>
            <a:fillRect/>
          </a:stretch>
        </p:blipFill>
        <p:spPr>
          <a:xfrm>
            <a:off x="1726281" y="3386426"/>
            <a:ext cx="329214" cy="660401"/>
          </a:xfrm>
          <a:prstGeom prst="rect">
            <a:avLst/>
          </a:prstGeom>
        </p:spPr>
      </p:pic>
      <p:cxnSp>
        <p:nvCxnSpPr>
          <p:cNvPr id="168" name="直接箭头连接符 167"/>
          <p:cNvCxnSpPr>
            <a:stCxn id="161" idx="3"/>
            <a:endCxn id="166" idx="1"/>
          </p:cNvCxnSpPr>
          <p:nvPr/>
        </p:nvCxnSpPr>
        <p:spPr>
          <a:xfrm>
            <a:off x="1191169" y="4378141"/>
            <a:ext cx="535112" cy="892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9" name="直接箭头连接符 168"/>
          <p:cNvCxnSpPr>
            <a:stCxn id="161" idx="3"/>
            <a:endCxn id="167" idx="1"/>
          </p:cNvCxnSpPr>
          <p:nvPr/>
        </p:nvCxnSpPr>
        <p:spPr>
          <a:xfrm flipV="1">
            <a:off x="1191169" y="3716627"/>
            <a:ext cx="535112" cy="66151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70" name="文本框 169"/>
          <p:cNvSpPr txBox="1"/>
          <p:nvPr/>
        </p:nvSpPr>
        <p:spPr>
          <a:xfrm>
            <a:off x="1032834" y="3684000"/>
            <a:ext cx="553357" cy="369332"/>
          </a:xfrm>
          <a:prstGeom prst="rect">
            <a:avLst/>
          </a:prstGeom>
          <a:noFill/>
        </p:spPr>
        <p:txBody>
          <a:bodyPr wrap="none" rtlCol="0">
            <a:spAutoFit/>
          </a:bodyPr>
          <a:lstStyle/>
          <a:p>
            <a:r>
              <a:rPr lang="en-US" altLang="zh-CN" dirty="0" err="1"/>
              <a:t>ipip</a:t>
            </a:r>
            <a:endParaRPr lang="zh-CN" altLang="en-US" dirty="0"/>
          </a:p>
        </p:txBody>
      </p:sp>
      <p:sp>
        <p:nvSpPr>
          <p:cNvPr id="171" name="文本框 170"/>
          <p:cNvSpPr txBox="1"/>
          <p:nvPr/>
        </p:nvSpPr>
        <p:spPr>
          <a:xfrm>
            <a:off x="1211579" y="4047941"/>
            <a:ext cx="636713" cy="369332"/>
          </a:xfrm>
          <a:prstGeom prst="rect">
            <a:avLst/>
          </a:prstGeom>
          <a:noFill/>
        </p:spPr>
        <p:txBody>
          <a:bodyPr wrap="none" rtlCol="0">
            <a:spAutoFit/>
          </a:bodyPr>
          <a:lstStyle/>
          <a:p>
            <a:r>
              <a:rPr lang="en-US" altLang="zh-CN" dirty="0"/>
              <a:t>gre6</a:t>
            </a:r>
            <a:endParaRPr lang="en-US" altLang="zh-CN" dirty="0"/>
          </a:p>
        </p:txBody>
      </p:sp>
      <p:sp>
        <p:nvSpPr>
          <p:cNvPr id="172" name="文本框 171"/>
          <p:cNvSpPr txBox="1"/>
          <p:nvPr/>
        </p:nvSpPr>
        <p:spPr>
          <a:xfrm>
            <a:off x="1026795" y="4823666"/>
            <a:ext cx="635110" cy="369332"/>
          </a:xfrm>
          <a:prstGeom prst="rect">
            <a:avLst/>
          </a:prstGeom>
          <a:noFill/>
        </p:spPr>
        <p:txBody>
          <a:bodyPr wrap="none" rtlCol="0">
            <a:spAutoFit/>
          </a:bodyPr>
          <a:lstStyle/>
          <a:p>
            <a:r>
              <a:rPr lang="en-US" altLang="zh-CN" dirty="0"/>
              <a:t>6to4</a:t>
            </a:r>
            <a:endParaRPr lang="en-US" altLang="zh-CN" dirty="0"/>
          </a:p>
        </p:txBody>
      </p:sp>
      <p:cxnSp>
        <p:nvCxnSpPr>
          <p:cNvPr id="208" name="直接箭头连接符 207"/>
          <p:cNvCxnSpPr>
            <a:stCxn id="9" idx="3"/>
            <a:endCxn id="11" idx="1"/>
          </p:cNvCxnSpPr>
          <p:nvPr/>
        </p:nvCxnSpPr>
        <p:spPr>
          <a:xfrm flipV="1">
            <a:off x="5549478" y="2938127"/>
            <a:ext cx="810821"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9" name="直接箭头连接符 208"/>
          <p:cNvCxnSpPr>
            <a:stCxn id="11" idx="3"/>
            <a:endCxn id="12" idx="1"/>
          </p:cNvCxnSpPr>
          <p:nvPr/>
        </p:nvCxnSpPr>
        <p:spPr>
          <a:xfrm>
            <a:off x="8387928" y="2938127"/>
            <a:ext cx="8108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237" name="组合 236"/>
          <p:cNvGrpSpPr/>
          <p:nvPr/>
        </p:nvGrpSpPr>
        <p:grpSpPr>
          <a:xfrm>
            <a:off x="6015212" y="3941532"/>
            <a:ext cx="3071438" cy="1700658"/>
            <a:chOff x="53255" y="685459"/>
            <a:chExt cx="5758149" cy="3253746"/>
          </a:xfrm>
        </p:grpSpPr>
        <p:pic>
          <p:nvPicPr>
            <p:cNvPr id="238" name="图形 123" descr="颅骨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255" y="1894283"/>
              <a:ext cx="720000" cy="720000"/>
            </a:xfrm>
            <a:prstGeom prst="rect">
              <a:avLst/>
            </a:prstGeom>
          </p:spPr>
        </p:pic>
        <p:pic>
          <p:nvPicPr>
            <p:cNvPr id="239" name="图形 124" descr="计算机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88165" y="1200962"/>
              <a:ext cx="914400" cy="914400"/>
            </a:xfrm>
            <a:prstGeom prst="rect">
              <a:avLst/>
            </a:prstGeom>
          </p:spPr>
        </p:pic>
        <p:pic>
          <p:nvPicPr>
            <p:cNvPr id="240" name="图形 125" descr="计算机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88165" y="2471999"/>
              <a:ext cx="914400" cy="914400"/>
            </a:xfrm>
            <a:prstGeom prst="rect">
              <a:avLst/>
            </a:prstGeom>
          </p:spPr>
        </p:pic>
        <p:pic>
          <p:nvPicPr>
            <p:cNvPr id="241" name="图形 126" descr="计算机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97004" y="1073518"/>
              <a:ext cx="914400" cy="914400"/>
            </a:xfrm>
            <a:prstGeom prst="rect">
              <a:avLst/>
            </a:prstGeom>
          </p:spPr>
        </p:pic>
        <p:pic>
          <p:nvPicPr>
            <p:cNvPr id="242" name="图形 127" descr="计算机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35090" y="2403613"/>
              <a:ext cx="914400" cy="914400"/>
            </a:xfrm>
            <a:prstGeom prst="rect">
              <a:avLst/>
            </a:prstGeom>
          </p:spPr>
        </p:pic>
        <p:sp>
          <p:nvSpPr>
            <p:cNvPr id="243" name="箭头: 右 128"/>
            <p:cNvSpPr/>
            <p:nvPr/>
          </p:nvSpPr>
          <p:spPr>
            <a:xfrm rot="20268540">
              <a:off x="896084" y="1857249"/>
              <a:ext cx="992171" cy="18847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sz="1100" dirty="0"/>
            </a:p>
          </p:txBody>
        </p:sp>
        <p:sp>
          <p:nvSpPr>
            <p:cNvPr id="244" name="箭头: 右 129"/>
            <p:cNvSpPr/>
            <p:nvPr/>
          </p:nvSpPr>
          <p:spPr>
            <a:xfrm rot="1235507">
              <a:off x="893483" y="2640359"/>
              <a:ext cx="992171" cy="18847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sz="1100"/>
            </a:p>
          </p:txBody>
        </p:sp>
        <p:sp>
          <p:nvSpPr>
            <p:cNvPr id="245" name="箭头: 右 130"/>
            <p:cNvSpPr/>
            <p:nvPr/>
          </p:nvSpPr>
          <p:spPr>
            <a:xfrm>
              <a:off x="3539272" y="1392556"/>
              <a:ext cx="992171" cy="18847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sz="1100"/>
            </a:p>
          </p:txBody>
        </p:sp>
        <p:sp>
          <p:nvSpPr>
            <p:cNvPr id="246" name="箭头: 右 131"/>
            <p:cNvSpPr/>
            <p:nvPr/>
          </p:nvSpPr>
          <p:spPr>
            <a:xfrm>
              <a:off x="3567847" y="2853101"/>
              <a:ext cx="992171" cy="18847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sz="1100"/>
            </a:p>
          </p:txBody>
        </p:sp>
        <p:sp>
          <p:nvSpPr>
            <p:cNvPr id="247" name="箭头: 左右 132"/>
            <p:cNvSpPr/>
            <p:nvPr/>
          </p:nvSpPr>
          <p:spPr>
            <a:xfrm rot="5050151">
              <a:off x="2576634" y="2242515"/>
              <a:ext cx="455075" cy="124386"/>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sz="1100"/>
            </a:p>
          </p:txBody>
        </p:sp>
        <p:sp>
          <p:nvSpPr>
            <p:cNvPr id="248" name="文本框 247"/>
            <p:cNvSpPr txBox="1"/>
            <p:nvPr/>
          </p:nvSpPr>
          <p:spPr>
            <a:xfrm>
              <a:off x="931595" y="2997294"/>
              <a:ext cx="724525" cy="824385"/>
            </a:xfrm>
            <a:prstGeom prst="rect">
              <a:avLst/>
            </a:prstGeom>
            <a:noFill/>
          </p:spPr>
          <p:txBody>
            <a:bodyPr wrap="square" rtlCol="0">
              <a:spAutoFit/>
            </a:bodyPr>
            <a:lstStyle/>
            <a:p>
              <a:r>
                <a:rPr lang="en-US" altLang="zh-CN" sz="1100" dirty="0"/>
                <a:t>10ms</a:t>
              </a:r>
              <a:endParaRPr lang="zh-CN" altLang="en-US" sz="1100" dirty="0"/>
            </a:p>
          </p:txBody>
        </p:sp>
        <p:sp>
          <p:nvSpPr>
            <p:cNvPr id="249" name="文本框 248"/>
            <p:cNvSpPr txBox="1"/>
            <p:nvPr/>
          </p:nvSpPr>
          <p:spPr>
            <a:xfrm>
              <a:off x="892033" y="1469260"/>
              <a:ext cx="724525" cy="824385"/>
            </a:xfrm>
            <a:prstGeom prst="rect">
              <a:avLst/>
            </a:prstGeom>
            <a:noFill/>
          </p:spPr>
          <p:txBody>
            <a:bodyPr wrap="square" rtlCol="0">
              <a:spAutoFit/>
            </a:bodyPr>
            <a:lstStyle/>
            <a:p>
              <a:r>
                <a:rPr lang="en-US" altLang="zh-CN" sz="1100" dirty="0"/>
                <a:t>5ms</a:t>
              </a:r>
              <a:endParaRPr lang="zh-CN" altLang="en-US" sz="1100" dirty="0"/>
            </a:p>
          </p:txBody>
        </p:sp>
        <p:sp>
          <p:nvSpPr>
            <p:cNvPr id="250" name="文本框 249"/>
            <p:cNvSpPr txBox="1"/>
            <p:nvPr/>
          </p:nvSpPr>
          <p:spPr>
            <a:xfrm>
              <a:off x="2962995" y="2102570"/>
              <a:ext cx="878027" cy="500519"/>
            </a:xfrm>
            <a:prstGeom prst="rect">
              <a:avLst/>
            </a:prstGeom>
            <a:noFill/>
          </p:spPr>
          <p:txBody>
            <a:bodyPr wrap="square" rtlCol="0">
              <a:spAutoFit/>
            </a:bodyPr>
            <a:lstStyle/>
            <a:p>
              <a:r>
                <a:rPr lang="en-US" altLang="zh-CN" sz="1100" dirty="0"/>
                <a:t>5ms</a:t>
              </a:r>
              <a:endParaRPr lang="zh-CN" altLang="en-US" sz="1100" dirty="0"/>
            </a:p>
          </p:txBody>
        </p:sp>
        <p:sp>
          <p:nvSpPr>
            <p:cNvPr id="251" name="文本框 250"/>
            <p:cNvSpPr txBox="1"/>
            <p:nvPr/>
          </p:nvSpPr>
          <p:spPr>
            <a:xfrm>
              <a:off x="3627166" y="1026886"/>
              <a:ext cx="828133" cy="500519"/>
            </a:xfrm>
            <a:prstGeom prst="rect">
              <a:avLst/>
            </a:prstGeom>
            <a:noFill/>
          </p:spPr>
          <p:txBody>
            <a:bodyPr wrap="square" rtlCol="0">
              <a:spAutoFit/>
            </a:bodyPr>
            <a:lstStyle/>
            <a:p>
              <a:r>
                <a:rPr lang="en-US" altLang="zh-CN" sz="1100" dirty="0"/>
                <a:t>5ms</a:t>
              </a:r>
              <a:endParaRPr lang="zh-CN" altLang="en-US" sz="1100" dirty="0"/>
            </a:p>
          </p:txBody>
        </p:sp>
        <p:sp>
          <p:nvSpPr>
            <p:cNvPr id="252" name="文本框 251"/>
            <p:cNvSpPr txBox="1"/>
            <p:nvPr/>
          </p:nvSpPr>
          <p:spPr>
            <a:xfrm>
              <a:off x="3730853" y="3114820"/>
              <a:ext cx="724525" cy="824385"/>
            </a:xfrm>
            <a:prstGeom prst="rect">
              <a:avLst/>
            </a:prstGeom>
            <a:noFill/>
          </p:spPr>
          <p:txBody>
            <a:bodyPr wrap="square" rtlCol="0">
              <a:spAutoFit/>
            </a:bodyPr>
            <a:lstStyle/>
            <a:p>
              <a:r>
                <a:rPr lang="en-US" altLang="zh-CN" sz="1100" dirty="0"/>
                <a:t>10ms</a:t>
              </a:r>
              <a:endParaRPr lang="zh-CN" altLang="en-US" sz="1100" dirty="0"/>
            </a:p>
          </p:txBody>
        </p:sp>
        <p:grpSp>
          <p:nvGrpSpPr>
            <p:cNvPr id="253" name="组合 252"/>
            <p:cNvGrpSpPr/>
            <p:nvPr/>
          </p:nvGrpSpPr>
          <p:grpSpPr>
            <a:xfrm>
              <a:off x="893525" y="1526419"/>
              <a:ext cx="3762720" cy="1137600"/>
              <a:chOff x="2154435" y="4399560"/>
              <a:chExt cx="3762720" cy="1137600"/>
            </a:xfrm>
          </p:grpSpPr>
          <mc:AlternateContent xmlns:mc="http://schemas.openxmlformats.org/markup-compatibility/2006" xmlns:p14="http://schemas.microsoft.com/office/powerpoint/2010/main">
            <mc:Choice Requires="p14">
              <p:contentPart r:id="rId9" p14:bwMode="auto">
                <p14:nvContentPartPr>
                  <p14:cNvPr id="254" name="墨迹 253"/>
                  <p14:cNvContentPartPr/>
                  <p14:nvPr/>
                </p14:nvContentPartPr>
                <p14:xfrm>
                  <a:off x="2154435" y="4552920"/>
                  <a:ext cx="3496320" cy="984240"/>
                </p14:xfrm>
              </p:contentPart>
            </mc:Choice>
            <mc:Fallback xmlns="">
              <p:pic>
                <p:nvPicPr>
                  <p:cNvPr id="254" name="墨迹 253"/>
                </p:nvPicPr>
                <p:blipFill>
                  <a:blip r:embed="rId10"/>
                </p:blipFill>
                <p:spPr>
                  <a:xfrm>
                    <a:off x="2154435" y="4552920"/>
                    <a:ext cx="3496320" cy="9842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255" name="墨迹 254"/>
                  <p14:cNvContentPartPr/>
                  <p14:nvPr/>
                </p14:nvContentPartPr>
                <p14:xfrm>
                  <a:off x="5370315" y="4399560"/>
                  <a:ext cx="546840" cy="555840"/>
                </p14:xfrm>
              </p:contentPart>
            </mc:Choice>
            <mc:Fallback xmlns="">
              <p:pic>
                <p:nvPicPr>
                  <p:cNvPr id="255" name="墨迹 254"/>
                </p:nvPicPr>
                <p:blipFill>
                  <a:blip r:embed="rId12"/>
                </p:blipFill>
                <p:spPr>
                  <a:xfrm>
                    <a:off x="5370315" y="4399560"/>
                    <a:ext cx="546840" cy="55584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256" name="墨迹 255"/>
                  <p14:cNvContentPartPr/>
                  <p14:nvPr/>
                </p14:nvContentPartPr>
                <p14:xfrm>
                  <a:off x="5191035" y="4771080"/>
                  <a:ext cx="32040" cy="297360"/>
                </p14:xfrm>
              </p:contentPart>
            </mc:Choice>
            <mc:Fallback xmlns="">
              <p:pic>
                <p:nvPicPr>
                  <p:cNvPr id="256" name="墨迹 255"/>
                </p:nvPicPr>
                <p:blipFill>
                  <a:blip r:embed="rId14"/>
                </p:blipFill>
                <p:spPr>
                  <a:xfrm>
                    <a:off x="5191035" y="4771080"/>
                    <a:ext cx="32040" cy="29736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257" name="墨迹 256"/>
                  <p14:cNvContentPartPr/>
                  <p14:nvPr/>
                </p14:nvContentPartPr>
                <p14:xfrm>
                  <a:off x="5119035" y="4685040"/>
                  <a:ext cx="239040" cy="225360"/>
                </p14:xfrm>
              </p:contentPart>
            </mc:Choice>
            <mc:Fallback xmlns="">
              <p:pic>
                <p:nvPicPr>
                  <p:cNvPr id="257" name="墨迹 256"/>
                </p:nvPicPr>
                <p:blipFill>
                  <a:blip r:embed="rId16"/>
                </p:blipFill>
                <p:spPr>
                  <a:xfrm>
                    <a:off x="5119035" y="4685040"/>
                    <a:ext cx="239040" cy="22536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258" name="墨迹 257"/>
                  <p14:cNvContentPartPr/>
                  <p14:nvPr/>
                </p14:nvContentPartPr>
                <p14:xfrm>
                  <a:off x="5277435" y="4925520"/>
                  <a:ext cx="294840" cy="155880"/>
                </p14:xfrm>
              </p:contentPart>
            </mc:Choice>
            <mc:Fallback xmlns="">
              <p:pic>
                <p:nvPicPr>
                  <p:cNvPr id="258" name="墨迹 257"/>
                </p:nvPicPr>
                <p:blipFill>
                  <a:blip r:embed="rId18"/>
                </p:blipFill>
                <p:spPr>
                  <a:xfrm>
                    <a:off x="5277435" y="4925520"/>
                    <a:ext cx="294840" cy="155880"/>
                  </a:xfrm>
                  <a:prstGeom prst="rect"/>
                </p:spPr>
              </p:pic>
            </mc:Fallback>
          </mc:AlternateContent>
        </p:grpSp>
        <p:grpSp>
          <p:nvGrpSpPr>
            <p:cNvPr id="259" name="组合 258"/>
            <p:cNvGrpSpPr/>
            <p:nvPr/>
          </p:nvGrpSpPr>
          <p:grpSpPr>
            <a:xfrm>
              <a:off x="492485" y="685459"/>
              <a:ext cx="4212360" cy="1959480"/>
              <a:chOff x="1753395" y="3558600"/>
              <a:chExt cx="4212360" cy="1959480"/>
            </a:xfrm>
          </p:grpSpPr>
          <mc:AlternateContent xmlns:mc="http://schemas.openxmlformats.org/markup-compatibility/2006" xmlns:p14="http://schemas.microsoft.com/office/powerpoint/2010/main">
            <mc:Choice Requires="p14">
              <p:contentPart r:id="rId19" p14:bwMode="auto">
                <p14:nvContentPartPr>
                  <p14:cNvPr id="260" name="墨迹 259"/>
                  <p14:cNvContentPartPr/>
                  <p14:nvPr/>
                </p14:nvContentPartPr>
                <p14:xfrm>
                  <a:off x="1963995" y="4063680"/>
                  <a:ext cx="3864600" cy="1368720"/>
                </p14:xfrm>
              </p:contentPart>
            </mc:Choice>
            <mc:Fallback xmlns="">
              <p:pic>
                <p:nvPicPr>
                  <p:cNvPr id="260" name="墨迹 259"/>
                </p:nvPicPr>
                <p:blipFill>
                  <a:blip r:embed="rId20"/>
                </p:blipFill>
                <p:spPr>
                  <a:xfrm>
                    <a:off x="1963995" y="4063680"/>
                    <a:ext cx="3864600" cy="136872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261" name="墨迹 260"/>
                  <p14:cNvContentPartPr/>
                  <p14:nvPr/>
                </p14:nvContentPartPr>
                <p14:xfrm>
                  <a:off x="5692875" y="5251320"/>
                  <a:ext cx="272880" cy="266760"/>
                </p14:xfrm>
              </p:contentPart>
            </mc:Choice>
            <mc:Fallback xmlns="">
              <p:pic>
                <p:nvPicPr>
                  <p:cNvPr id="261" name="墨迹 260"/>
                </p:nvPicPr>
                <p:blipFill>
                  <a:blip r:embed="rId22"/>
                </p:blipFill>
                <p:spPr>
                  <a:xfrm>
                    <a:off x="5692875" y="5251320"/>
                    <a:ext cx="272880" cy="26676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262" name="墨迹 261"/>
                  <p14:cNvContentPartPr/>
                  <p14:nvPr/>
                </p14:nvContentPartPr>
                <p14:xfrm>
                  <a:off x="1870395" y="3618720"/>
                  <a:ext cx="103320" cy="482400"/>
                </p14:xfrm>
              </p:contentPart>
            </mc:Choice>
            <mc:Fallback xmlns="">
              <p:pic>
                <p:nvPicPr>
                  <p:cNvPr id="262" name="墨迹 261"/>
                </p:nvPicPr>
                <p:blipFill>
                  <a:blip r:embed="rId24"/>
                </p:blipFill>
                <p:spPr>
                  <a:xfrm>
                    <a:off x="1870395" y="3618720"/>
                    <a:ext cx="103320" cy="48240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263" name="墨迹 262"/>
                  <p14:cNvContentPartPr/>
                  <p14:nvPr/>
                </p14:nvContentPartPr>
                <p14:xfrm>
                  <a:off x="1753395" y="3558600"/>
                  <a:ext cx="330120" cy="329400"/>
                </p14:xfrm>
              </p:contentPart>
            </mc:Choice>
            <mc:Fallback xmlns="">
              <p:pic>
                <p:nvPicPr>
                  <p:cNvPr id="263" name="墨迹 262"/>
                </p:nvPicPr>
                <p:blipFill>
                  <a:blip r:embed="rId26"/>
                </p:blipFill>
                <p:spPr>
                  <a:xfrm>
                    <a:off x="1753395" y="3558600"/>
                    <a:ext cx="330120" cy="32940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264" name="墨迹 263"/>
                  <p14:cNvContentPartPr/>
                  <p14:nvPr/>
                </p14:nvContentPartPr>
                <p14:xfrm>
                  <a:off x="2010435" y="3854160"/>
                  <a:ext cx="270000" cy="347400"/>
                </p14:xfrm>
              </p:contentPart>
            </mc:Choice>
            <mc:Fallback xmlns="">
              <p:pic>
                <p:nvPicPr>
                  <p:cNvPr id="264" name="墨迹 263"/>
                </p:nvPicPr>
                <p:blipFill>
                  <a:blip r:embed="rId28"/>
                </p:blipFill>
                <p:spPr>
                  <a:xfrm>
                    <a:off x="2010435" y="3854160"/>
                    <a:ext cx="270000" cy="347400"/>
                  </a:xfrm>
                  <a:prstGeom prst="rect"/>
                </p:spPr>
              </p:pic>
            </mc:Fallback>
          </mc:AlternateContent>
        </p:grpSp>
        <p:grpSp>
          <p:nvGrpSpPr>
            <p:cNvPr id="265" name="组合 264"/>
            <p:cNvGrpSpPr/>
            <p:nvPr/>
          </p:nvGrpSpPr>
          <p:grpSpPr>
            <a:xfrm>
              <a:off x="567005" y="736219"/>
              <a:ext cx="4621680" cy="937800"/>
              <a:chOff x="1827915" y="3609360"/>
              <a:chExt cx="4621680" cy="937800"/>
            </a:xfrm>
          </p:grpSpPr>
          <mc:AlternateContent xmlns:mc="http://schemas.openxmlformats.org/markup-compatibility/2006" xmlns:p14="http://schemas.microsoft.com/office/powerpoint/2010/main">
            <mc:Choice Requires="p14">
              <p:contentPart r:id="rId29" p14:bwMode="auto">
                <p14:nvContentPartPr>
                  <p14:cNvPr id="266" name="墨迹 265"/>
                  <p14:cNvContentPartPr/>
                  <p14:nvPr/>
                </p14:nvContentPartPr>
                <p14:xfrm>
                  <a:off x="1827915" y="3845160"/>
                  <a:ext cx="3923280" cy="702000"/>
                </p14:xfrm>
              </p:contentPart>
            </mc:Choice>
            <mc:Fallback xmlns="">
              <p:pic>
                <p:nvPicPr>
                  <p:cNvPr id="266" name="墨迹 265"/>
                </p:nvPicPr>
                <p:blipFill>
                  <a:blip r:embed="rId30"/>
                </p:blipFill>
                <p:spPr>
                  <a:xfrm>
                    <a:off x="1827915" y="3845160"/>
                    <a:ext cx="3923280" cy="70200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67" name="墨迹 266"/>
                  <p14:cNvContentPartPr/>
                  <p14:nvPr/>
                </p14:nvContentPartPr>
                <p14:xfrm>
                  <a:off x="5374275" y="3799800"/>
                  <a:ext cx="627480" cy="406080"/>
                </p14:xfrm>
              </p:contentPart>
            </mc:Choice>
            <mc:Fallback xmlns="">
              <p:pic>
                <p:nvPicPr>
                  <p:cNvPr id="267" name="墨迹 266"/>
                </p:nvPicPr>
                <p:blipFill>
                  <a:blip r:embed="rId32"/>
                </p:blipFill>
                <p:spPr>
                  <a:xfrm>
                    <a:off x="5374275" y="3799800"/>
                    <a:ext cx="627480" cy="40608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68" name="墨迹 267"/>
                  <p14:cNvContentPartPr/>
                  <p14:nvPr/>
                </p14:nvContentPartPr>
                <p14:xfrm>
                  <a:off x="6057555" y="3616560"/>
                  <a:ext cx="60480" cy="408600"/>
                </p14:xfrm>
              </p:contentPart>
            </mc:Choice>
            <mc:Fallback xmlns="">
              <p:pic>
                <p:nvPicPr>
                  <p:cNvPr id="268" name="墨迹 267"/>
                </p:nvPicPr>
                <p:blipFill>
                  <a:blip r:embed="rId34"/>
                </p:blipFill>
                <p:spPr>
                  <a:xfrm>
                    <a:off x="6057555" y="3616560"/>
                    <a:ext cx="60480" cy="40860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69" name="墨迹 268"/>
                  <p14:cNvContentPartPr/>
                  <p14:nvPr/>
                </p14:nvContentPartPr>
                <p14:xfrm>
                  <a:off x="5908155" y="3609360"/>
                  <a:ext cx="346680" cy="251640"/>
                </p14:xfrm>
              </p:contentPart>
            </mc:Choice>
            <mc:Fallback xmlns="">
              <p:pic>
                <p:nvPicPr>
                  <p:cNvPr id="269" name="墨迹 268"/>
                </p:nvPicPr>
                <p:blipFill>
                  <a:blip r:embed="rId36"/>
                </p:blipFill>
                <p:spPr>
                  <a:xfrm>
                    <a:off x="5908155" y="3609360"/>
                    <a:ext cx="346680" cy="25164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70" name="墨迹 269"/>
                  <p14:cNvContentPartPr/>
                  <p14:nvPr/>
                </p14:nvContentPartPr>
                <p14:xfrm>
                  <a:off x="6190395" y="3801960"/>
                  <a:ext cx="259200" cy="160560"/>
                </p14:xfrm>
              </p:contentPart>
            </mc:Choice>
            <mc:Fallback xmlns="">
              <p:pic>
                <p:nvPicPr>
                  <p:cNvPr id="270" name="墨迹 269"/>
                </p:nvPicPr>
                <p:blipFill>
                  <a:blip r:embed="rId38"/>
                </p:blipFill>
                <p:spPr>
                  <a:xfrm>
                    <a:off x="6190395" y="3801960"/>
                    <a:ext cx="259200" cy="16056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71" name="墨迹 270"/>
                  <p14:cNvContentPartPr/>
                  <p14:nvPr/>
                </p14:nvContentPartPr>
                <p14:xfrm>
                  <a:off x="6256635" y="3804480"/>
                  <a:ext cx="82800" cy="222120"/>
                </p14:xfrm>
              </p:contentPart>
            </mc:Choice>
            <mc:Fallback xmlns="">
              <p:pic>
                <p:nvPicPr>
                  <p:cNvPr id="271" name="墨迹 270"/>
                </p:nvPicPr>
                <p:blipFill>
                  <a:blip r:embed="rId40"/>
                </p:blipFill>
                <p:spPr>
                  <a:xfrm>
                    <a:off x="6256635" y="3804480"/>
                    <a:ext cx="82800" cy="222120"/>
                  </a:xfrm>
                  <a:prstGeom prst="rect"/>
                </p:spPr>
              </p:pic>
            </mc:Fallback>
          </mc:AlternateContent>
        </p:grpSp>
      </p:grpSp>
      <p:sp>
        <p:nvSpPr>
          <p:cNvPr id="272" name="箭头: 下 158"/>
          <p:cNvSpPr/>
          <p:nvPr/>
        </p:nvSpPr>
        <p:spPr>
          <a:xfrm flipV="1">
            <a:off x="7317108" y="3375156"/>
            <a:ext cx="233823" cy="4881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3" name="图片 272" descr="图表, 折线图&#10;&#10;AI 生成的内容可能不正确。"/>
          <p:cNvPicPr>
            <a:picLocks noChangeAspect="1"/>
          </p:cNvPicPr>
          <p:nvPr/>
        </p:nvPicPr>
        <p:blipFill>
          <a:blip r:embed="rId41" cstate="print">
            <a:extLst>
              <a:ext uri="{28A0092B-C50C-407E-A947-70E740481C1C}">
                <a14:useLocalDpi xmlns:a14="http://schemas.microsoft.com/office/drawing/2010/main" val="0"/>
              </a:ext>
            </a:extLst>
          </a:blip>
          <a:stretch>
            <a:fillRect/>
          </a:stretch>
        </p:blipFill>
        <p:spPr>
          <a:xfrm>
            <a:off x="9237274" y="3865093"/>
            <a:ext cx="2857571" cy="2041122"/>
          </a:xfrm>
          <a:prstGeom prst="rect">
            <a:avLst/>
          </a:prstGeom>
        </p:spPr>
      </p:pic>
      <p:sp>
        <p:nvSpPr>
          <p:cNvPr id="274" name="箭头: 下 163"/>
          <p:cNvSpPr/>
          <p:nvPr/>
        </p:nvSpPr>
        <p:spPr>
          <a:xfrm flipV="1">
            <a:off x="10187455" y="3375156"/>
            <a:ext cx="233823" cy="4881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a:off x="2366010" y="3919220"/>
            <a:ext cx="3722370" cy="1372870"/>
            <a:chOff x="3390" y="7949"/>
            <a:chExt cx="7566" cy="2559"/>
          </a:xfrm>
        </p:grpSpPr>
        <p:sp>
          <p:nvSpPr>
            <p:cNvPr id="58" name="椭圆 57"/>
            <p:cNvSpPr/>
            <p:nvPr/>
          </p:nvSpPr>
          <p:spPr>
            <a:xfrm>
              <a:off x="5907" y="9103"/>
              <a:ext cx="621" cy="621"/>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3827" y="9153"/>
              <a:ext cx="621" cy="621"/>
            </a:xfrm>
            <a:prstGeom prst="ellips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8148" y="9103"/>
              <a:ext cx="621" cy="621"/>
            </a:xfrm>
            <a:prstGeom prst="ellips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箭头连接符 62"/>
            <p:cNvCxnSpPr>
              <a:stCxn id="59" idx="6"/>
              <a:endCxn id="58" idx="2"/>
            </p:cNvCxnSpPr>
            <p:nvPr/>
          </p:nvCxnSpPr>
          <p:spPr>
            <a:xfrm flipV="1">
              <a:off x="4449" y="9414"/>
              <a:ext cx="1458" cy="5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64" name="直接箭头连接符 63"/>
            <p:cNvCxnSpPr/>
            <p:nvPr/>
          </p:nvCxnSpPr>
          <p:spPr>
            <a:xfrm>
              <a:off x="6528" y="9487"/>
              <a:ext cx="1620"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71" name="文本框 70"/>
            <p:cNvSpPr txBox="1"/>
            <p:nvPr/>
          </p:nvSpPr>
          <p:spPr>
            <a:xfrm>
              <a:off x="4585" y="9500"/>
              <a:ext cx="1322" cy="687"/>
            </a:xfrm>
            <a:prstGeom prst="rect">
              <a:avLst/>
            </a:prstGeom>
            <a:noFill/>
          </p:spPr>
          <p:txBody>
            <a:bodyPr wrap="square" rtlCol="0">
              <a:spAutoFit/>
            </a:bodyPr>
            <a:lstStyle/>
            <a:p>
              <a:r>
                <a:rPr lang="en-US" altLang="zh-CN" dirty="0"/>
                <a:t>2ms</a:t>
              </a:r>
              <a:endParaRPr lang="zh-CN" altLang="en-US" dirty="0"/>
            </a:p>
          </p:txBody>
        </p:sp>
        <p:sp>
          <p:nvSpPr>
            <p:cNvPr id="72" name="文本框 71"/>
            <p:cNvSpPr txBox="1"/>
            <p:nvPr/>
          </p:nvSpPr>
          <p:spPr>
            <a:xfrm>
              <a:off x="6769" y="9634"/>
              <a:ext cx="1207" cy="687"/>
            </a:xfrm>
            <a:prstGeom prst="rect">
              <a:avLst/>
            </a:prstGeom>
            <a:noFill/>
          </p:spPr>
          <p:txBody>
            <a:bodyPr wrap="square" rtlCol="0">
              <a:spAutoFit/>
            </a:bodyPr>
            <a:lstStyle/>
            <a:p>
              <a:r>
                <a:rPr lang="en-US" altLang="zh-CN" dirty="0"/>
                <a:t>4ms</a:t>
              </a:r>
              <a:endParaRPr lang="zh-CN" altLang="en-US" dirty="0"/>
            </a:p>
          </p:txBody>
        </p:sp>
        <p:sp>
          <p:nvSpPr>
            <p:cNvPr id="73" name="矩形 72"/>
            <p:cNvSpPr/>
            <p:nvPr/>
          </p:nvSpPr>
          <p:spPr>
            <a:xfrm>
              <a:off x="3390" y="7949"/>
              <a:ext cx="7566" cy="2559"/>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9800" y="9103"/>
              <a:ext cx="621" cy="621"/>
            </a:xfrm>
            <a:prstGeom prst="ellips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p:cNvCxnSpPr/>
            <p:nvPr/>
          </p:nvCxnSpPr>
          <p:spPr>
            <a:xfrm flipV="1">
              <a:off x="8770" y="9408"/>
              <a:ext cx="1010" cy="56"/>
            </a:xfrm>
            <a:prstGeom prst="straightConnector1">
              <a:avLst/>
            </a:prstGeom>
            <a:ln w="31750">
              <a:solidFill>
                <a:schemeClr val="tx1"/>
              </a:solidFill>
              <a:tailEnd type="triangle" w="med" len="med"/>
            </a:ln>
          </p:spPr>
          <p:style>
            <a:lnRef idx="0">
              <a:srgbClr val="FFFFFF"/>
            </a:lnRef>
            <a:fillRef idx="0">
              <a:srgbClr val="FFFFFF"/>
            </a:fillRef>
            <a:effectRef idx="0">
              <a:srgbClr val="FFFFFF"/>
            </a:effectRef>
            <a:fontRef idx="minor">
              <a:schemeClr val="tx1"/>
            </a:fontRef>
          </p:style>
        </p:cxnSp>
        <p:sp>
          <p:nvSpPr>
            <p:cNvPr id="8" name="椭圆 7"/>
            <p:cNvSpPr/>
            <p:nvPr/>
          </p:nvSpPr>
          <p:spPr>
            <a:xfrm>
              <a:off x="7082" y="8335"/>
              <a:ext cx="621" cy="621"/>
            </a:xfrm>
            <a:prstGeom prst="ellips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739" y="8814"/>
              <a:ext cx="1338" cy="687"/>
            </a:xfrm>
            <a:prstGeom prst="rect">
              <a:avLst/>
            </a:prstGeom>
            <a:noFill/>
          </p:spPr>
          <p:txBody>
            <a:bodyPr wrap="square" rtlCol="0" anchor="t">
              <a:spAutoFit/>
            </a:bodyPr>
            <a:p>
              <a:r>
                <a:rPr lang="en-US" altLang="zh-CN" dirty="0">
                  <a:sym typeface="+mn-ea"/>
                </a:rPr>
                <a:t>3ms</a:t>
              </a:r>
              <a:endParaRPr lang="en-US" altLang="zh-CN" dirty="0">
                <a:sym typeface="+mn-ea"/>
              </a:endParaRPr>
            </a:p>
          </p:txBody>
        </p:sp>
        <p:cxnSp>
          <p:nvCxnSpPr>
            <p:cNvPr id="5" name="直接箭头连接符 4"/>
            <p:cNvCxnSpPr>
              <a:stCxn id="8" idx="5"/>
              <a:endCxn id="61" idx="1"/>
            </p:cNvCxnSpPr>
            <p:nvPr/>
          </p:nvCxnSpPr>
          <p:spPr>
            <a:xfrm>
              <a:off x="7612" y="8865"/>
              <a:ext cx="627" cy="329"/>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10" name="直接箭头连接符 9"/>
            <p:cNvCxnSpPr/>
            <p:nvPr/>
          </p:nvCxnSpPr>
          <p:spPr>
            <a:xfrm flipV="1">
              <a:off x="6454" y="8768"/>
              <a:ext cx="633" cy="370"/>
            </a:xfrm>
            <a:prstGeom prst="straightConnector1">
              <a:avLst/>
            </a:prstGeom>
            <a:ln w="31750">
              <a:solidFill>
                <a:schemeClr val="tx1"/>
              </a:solidFill>
              <a:tailEnd type="triangle" w="med" len="med"/>
            </a:ln>
          </p:spPr>
          <p:style>
            <a:lnRef idx="0">
              <a:srgbClr val="FFFFFF"/>
            </a:lnRef>
            <a:fillRef idx="0">
              <a:srgbClr val="FFFFFF"/>
            </a:fillRef>
            <a:effectRef idx="0">
              <a:srgbClr val="FFFFFF"/>
            </a:effectRef>
            <a:fontRef idx="minor">
              <a:schemeClr val="tx1"/>
            </a:fontRef>
          </p:style>
        </p:cxnSp>
        <p:sp>
          <p:nvSpPr>
            <p:cNvPr id="15" name="文本框 14"/>
            <p:cNvSpPr txBox="1"/>
            <p:nvPr/>
          </p:nvSpPr>
          <p:spPr>
            <a:xfrm>
              <a:off x="7612" y="8417"/>
              <a:ext cx="1156" cy="687"/>
            </a:xfrm>
            <a:prstGeom prst="rect">
              <a:avLst/>
            </a:prstGeom>
            <a:noFill/>
          </p:spPr>
          <p:txBody>
            <a:bodyPr wrap="square" rtlCol="0">
              <a:spAutoFit/>
            </a:bodyPr>
            <a:lstStyle/>
            <a:p>
              <a:r>
                <a:rPr lang="en-US" altLang="zh-CN" dirty="0"/>
                <a:t>2ms</a:t>
              </a:r>
              <a:endParaRPr lang="zh-CN" altLang="en-US" dirty="0"/>
            </a:p>
          </p:txBody>
        </p:sp>
        <p:sp>
          <p:nvSpPr>
            <p:cNvPr id="16" name="文本框 15"/>
            <p:cNvSpPr txBox="1"/>
            <p:nvPr/>
          </p:nvSpPr>
          <p:spPr>
            <a:xfrm>
              <a:off x="5920" y="8367"/>
              <a:ext cx="1167" cy="687"/>
            </a:xfrm>
            <a:prstGeom prst="rect">
              <a:avLst/>
            </a:prstGeom>
            <a:noFill/>
          </p:spPr>
          <p:txBody>
            <a:bodyPr wrap="square" rtlCol="0">
              <a:spAutoFit/>
            </a:bodyPr>
            <a:lstStyle/>
            <a:p>
              <a:r>
                <a:rPr lang="en-US" altLang="zh-CN" dirty="0"/>
                <a:t>2ms</a:t>
              </a:r>
              <a:endParaRPr lang="zh-CN" altLang="en-US"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sz="3600">
                <a:sym typeface="+mn-ea"/>
              </a:rPr>
              <a:t>五、</a:t>
            </a:r>
            <a:r>
              <a:rPr lang="zh-CN" altLang="en-US" sz="3600">
                <a:sym typeface="+mn-ea"/>
              </a:rPr>
              <a:t>组内分工与时间安排</a:t>
            </a:r>
            <a:endParaRPr lang="zh-CN" altLang="en-US" sz="3600">
              <a:sym typeface="+mn-ea"/>
            </a:endParaRPr>
          </a:p>
        </p:txBody>
      </p:sp>
      <p:sp>
        <p:nvSpPr>
          <p:cNvPr id="2" name="文本框 1"/>
          <p:cNvSpPr txBox="1"/>
          <p:nvPr/>
        </p:nvSpPr>
        <p:spPr>
          <a:xfrm>
            <a:off x="887095" y="1591945"/>
            <a:ext cx="10450830" cy="3784600"/>
          </a:xfrm>
          <a:prstGeom prst="rect">
            <a:avLst/>
          </a:prstGeom>
          <a:noFill/>
        </p:spPr>
        <p:txBody>
          <a:bodyPr wrap="square" rtlCol="0">
            <a:spAutoFit/>
          </a:bodyPr>
          <a:p>
            <a:pPr marL="342900" indent="-342900">
              <a:lnSpc>
                <a:spcPct val="150000"/>
              </a:lnSpc>
              <a:buFont typeface="Wingdings" panose="05000000000000000000" charset="0"/>
              <a:buChar char="Ø"/>
            </a:pPr>
            <a:r>
              <a:rPr lang="zh-CN" altLang="en-US" sz="2000" b="1">
                <a:latin typeface="微软雅黑" panose="020B0503020204020204" charset="-122"/>
                <a:ea typeface="微软雅黑" panose="020B0503020204020204" charset="-122"/>
                <a:cs typeface="微软雅黑" panose="020B0503020204020204" charset="-122"/>
                <a:sym typeface="+mn-ea"/>
              </a:rPr>
              <a:t>团体分工</a:t>
            </a:r>
            <a:endParaRPr lang="zh-CN" altLang="en-US" sz="2000" b="1">
              <a:latin typeface="微软雅黑" panose="020B0503020204020204" charset="-122"/>
              <a:ea typeface="微软雅黑" panose="020B0503020204020204" charset="-122"/>
              <a:cs typeface="微软雅黑" panose="020B0503020204020204" charset="-122"/>
              <a:sym typeface="+mn-ea"/>
            </a:endParaRPr>
          </a:p>
          <a:p>
            <a:pPr marL="342900" indent="-342900">
              <a:lnSpc>
                <a:spcPct val="150000"/>
              </a:lnSpc>
              <a:buFont typeface="Arial" panose="020B0604020202020204" pitchFamily="34" charset="0"/>
              <a:buChar char="•"/>
            </a:pPr>
            <a:r>
              <a:rPr lang="zh-CN" altLang="en-US" sz="2000" dirty="0">
                <a:latin typeface="微软雅黑" panose="020B0503020204020204" charset="-122"/>
                <a:ea typeface="微软雅黑" panose="020B0503020204020204" charset="-122"/>
                <a:sym typeface="+mn-ea"/>
              </a:rPr>
              <a:t>盖乐：收集隧道节点、计算隧道节点之间时延。</a:t>
            </a:r>
            <a:endParaRPr lang="zh-CN" altLang="en-US" sz="2000" dirty="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r>
              <a:rPr lang="zh-CN" altLang="en-US" sz="2000" dirty="0">
                <a:solidFill>
                  <a:schemeClr val="tx1"/>
                </a:solidFill>
                <a:latin typeface="微软雅黑" panose="020B0503020204020204" charset="-122"/>
                <a:ea typeface="微软雅黑" panose="020B0503020204020204" charset="-122"/>
              </a:rPr>
              <a:t>贾泽栋：</a:t>
            </a:r>
            <a:r>
              <a:rPr lang="zh-CN" altLang="en-US" sz="2000" dirty="0">
                <a:latin typeface="微软雅黑" panose="020B0503020204020204" charset="-122"/>
                <a:ea typeface="微软雅黑" panose="020B0503020204020204" charset="-122"/>
                <a:sym typeface="+mn-ea"/>
              </a:rPr>
              <a:t>构造攻击路径、评估攻击效果。</a:t>
            </a:r>
            <a:endParaRPr lang="zh-CN" altLang="en-US" sz="2000" b="1">
              <a:latin typeface="微软雅黑" panose="020B0503020204020204" charset="-122"/>
              <a:ea typeface="微软雅黑" panose="020B0503020204020204" charset="-122"/>
              <a:cs typeface="微软雅黑" panose="020B0503020204020204" charset="-122"/>
              <a:sym typeface="+mn-ea"/>
            </a:endParaRPr>
          </a:p>
          <a:p>
            <a:pPr marL="342900" indent="-342900">
              <a:lnSpc>
                <a:spcPct val="150000"/>
              </a:lnSpc>
              <a:buFont typeface="Wingdings" panose="05000000000000000000" charset="0"/>
              <a:buChar char="Ø"/>
            </a:pPr>
            <a:r>
              <a:rPr lang="zh-CN" altLang="en-US" sz="2000" b="1">
                <a:latin typeface="微软雅黑" panose="020B0503020204020204" charset="-122"/>
                <a:ea typeface="微软雅黑" panose="020B0503020204020204" charset="-122"/>
                <a:cs typeface="微软雅黑" panose="020B0503020204020204" charset="-122"/>
                <a:sym typeface="+mn-ea"/>
              </a:rPr>
              <a:t>时间安排</a:t>
            </a:r>
            <a:endParaRPr lang="zh-CN" altLang="en-US" sz="2000" b="1">
              <a:latin typeface="微软雅黑" panose="020B0503020204020204" charset="-122"/>
              <a:ea typeface="微软雅黑" panose="020B0503020204020204" charset="-122"/>
              <a:cs typeface="微软雅黑" panose="020B0503020204020204" charset="-122"/>
              <a:sym typeface="+mn-ea"/>
            </a:endParaRPr>
          </a:p>
          <a:p>
            <a:pPr marL="342900" indent="-342900" algn="l">
              <a:lnSpc>
                <a:spcPct val="150000"/>
              </a:lnSpc>
              <a:buClrTx/>
              <a:buSzTx/>
              <a:buFont typeface="Arial" panose="020B0604020202020204" pitchFamily="34" charset="0"/>
              <a:buChar char="•"/>
            </a:pPr>
            <a:r>
              <a:rPr lang="zh-CN" altLang="en-US" sz="2000" dirty="0">
                <a:latin typeface="微软雅黑" panose="020B0503020204020204" charset="-122"/>
                <a:ea typeface="微软雅黑" panose="020B0503020204020204" charset="-122"/>
              </a:rPr>
              <a:t>第9-10周 前期文献调研及相关工作梳理。</a:t>
            </a:r>
            <a:endParaRPr lang="zh-CN" altLang="en-US" sz="2000" dirty="0">
              <a:latin typeface="微软雅黑" panose="020B0503020204020204" charset="-122"/>
              <a:ea typeface="微软雅黑" panose="020B0503020204020204" charset="-122"/>
            </a:endParaRPr>
          </a:p>
          <a:p>
            <a:pPr marL="342900" indent="-342900" algn="l">
              <a:lnSpc>
                <a:spcPct val="150000"/>
              </a:lnSpc>
              <a:buClrTx/>
              <a:buSzTx/>
              <a:buFont typeface="Arial" panose="020B0604020202020204" pitchFamily="34" charset="0"/>
              <a:buChar char="•"/>
            </a:pPr>
            <a:r>
              <a:rPr lang="zh-CN" altLang="en-US" sz="2000" dirty="0">
                <a:latin typeface="微软雅黑" panose="020B0503020204020204" charset="-122"/>
                <a:ea typeface="微软雅黑" panose="020B0503020204020204" charset="-122"/>
                <a:sym typeface="+mn-ea"/>
              </a:rPr>
              <a:t>第11-13周 关键算法设计实现。</a:t>
            </a:r>
            <a:endParaRPr lang="zh-CN" altLang="en-US" sz="2000" dirty="0">
              <a:latin typeface="微软雅黑" panose="020B0503020204020204" charset="-122"/>
              <a:ea typeface="微软雅黑" panose="020B0503020204020204" charset="-122"/>
              <a:sym typeface="+mn-ea"/>
            </a:endParaRPr>
          </a:p>
          <a:p>
            <a:pPr marL="342900" indent="-342900" algn="l">
              <a:lnSpc>
                <a:spcPct val="150000"/>
              </a:lnSpc>
              <a:buClrTx/>
              <a:buSzTx/>
              <a:buFont typeface="Arial" panose="020B0604020202020204" pitchFamily="34" charset="0"/>
              <a:buChar char="•"/>
            </a:pPr>
            <a:r>
              <a:rPr lang="zh-CN" altLang="en-US" sz="2000" dirty="0">
                <a:latin typeface="微软雅黑" panose="020B0503020204020204" charset="-122"/>
                <a:ea typeface="微软雅黑" panose="020B0503020204020204" charset="-122"/>
                <a:sym typeface="+mn-ea"/>
              </a:rPr>
              <a:t>第14-15周 进行现网测试，验证方案的</a:t>
            </a:r>
            <a:r>
              <a:rPr lang="zh-CN" altLang="en-US" sz="2000" dirty="0">
                <a:latin typeface="微软雅黑" panose="020B0503020204020204" charset="-122"/>
                <a:ea typeface="微软雅黑" panose="020B0503020204020204" charset="-122"/>
                <a:sym typeface="+mn-ea"/>
              </a:rPr>
              <a:t>可行性。</a:t>
            </a:r>
            <a:endParaRPr lang="zh-CN" altLang="en-US" sz="2000" dirty="0">
              <a:latin typeface="微软雅黑" panose="020B0503020204020204" charset="-122"/>
              <a:ea typeface="微软雅黑" panose="020B0503020204020204" charset="-122"/>
              <a:sym typeface="+mn-ea"/>
            </a:endParaRPr>
          </a:p>
          <a:p>
            <a:pPr marL="342900" indent="-342900" algn="l">
              <a:lnSpc>
                <a:spcPct val="150000"/>
              </a:lnSpc>
              <a:buClrTx/>
              <a:buSzTx/>
              <a:buFont typeface="Arial" panose="020B0604020202020204" pitchFamily="34" charset="0"/>
              <a:buChar char="•"/>
            </a:pPr>
            <a:r>
              <a:rPr lang="zh-CN" altLang="en-US" sz="2000" dirty="0">
                <a:latin typeface="微软雅黑" panose="020B0503020204020204" charset="-122"/>
                <a:ea typeface="微软雅黑" panose="020B0503020204020204" charset="-122"/>
                <a:sym typeface="+mn-ea"/>
              </a:rPr>
              <a:t>第1</a:t>
            </a:r>
            <a:r>
              <a:rPr lang="en-US" altLang="zh-CN" sz="2000" dirty="0">
                <a:latin typeface="微软雅黑" panose="020B0503020204020204" charset="-122"/>
                <a:ea typeface="微软雅黑" panose="020B0503020204020204" charset="-122"/>
                <a:sym typeface="+mn-ea"/>
              </a:rPr>
              <a:t>6</a:t>
            </a:r>
            <a:r>
              <a:rPr lang="zh-CN" altLang="en-US" sz="2000" dirty="0">
                <a:latin typeface="微软雅黑" panose="020B0503020204020204" charset="-122"/>
                <a:ea typeface="微软雅黑" panose="020B0503020204020204" charset="-122"/>
                <a:sym typeface="+mn-ea"/>
              </a:rPr>
              <a:t>周 总结整理报告、代码并制作期末</a:t>
            </a:r>
            <a:r>
              <a:rPr lang="zh-CN" altLang="en-US" sz="2000" dirty="0">
                <a:latin typeface="微软雅黑" panose="020B0503020204020204" charset="-122"/>
                <a:ea typeface="微软雅黑" panose="020B0503020204020204" charset="-122"/>
                <a:sym typeface="+mn-ea"/>
              </a:rPr>
              <a:t>答辩PPT。</a:t>
            </a:r>
            <a:endParaRPr lang="zh-CN" altLang="en-US" sz="2000" dirty="0">
              <a:latin typeface="微软雅黑" panose="020B0503020204020204" charset="-122"/>
              <a:ea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3995906" y="2828835"/>
            <a:ext cx="4200188" cy="1200329"/>
          </a:xfrm>
          <a:prstGeom prst="rect">
            <a:avLst/>
          </a:prstGeom>
          <a:noFill/>
        </p:spPr>
        <p:txBody>
          <a:bodyPr wrap="none" rtlCol="0">
            <a:spAutoFit/>
          </a:bodyPr>
          <a:lstStyle/>
          <a:p>
            <a:pPr algn="ctr"/>
            <a:r>
              <a:rPr lang="en-US" altLang="zh-CN" sz="7200" dirty="0">
                <a:solidFill>
                  <a:schemeClr val="accent1"/>
                </a:solidFill>
                <a:effectLst>
                  <a:outerShdw blurRad="38100" dist="25400" dir="5400000" algn="ctr" rotWithShape="0">
                    <a:srgbClr val="6E747A">
                      <a:alpha val="43000"/>
                    </a:srgbClr>
                  </a:outerShdw>
                </a:effectLst>
                <a:latin typeface="Impact" panose="020B0806030902050204" pitchFamily="34" charset="0"/>
                <a:cs typeface="+mn-ea"/>
                <a:sym typeface="+mn-lt"/>
              </a:rPr>
              <a:t>THANK YOU</a:t>
            </a:r>
            <a:endParaRPr lang="en-US" altLang="zh-CN" sz="7200" dirty="0">
              <a:solidFill>
                <a:schemeClr val="accent1"/>
              </a:solidFill>
              <a:effectLst>
                <a:outerShdw blurRad="38100" dist="25400" dir="5400000" algn="ctr" rotWithShape="0">
                  <a:srgbClr val="6E747A">
                    <a:alpha val="43000"/>
                  </a:srgbClr>
                </a:outerShdw>
              </a:effectLst>
              <a:latin typeface="Impact" panose="020B0806030902050204" pitchFamily="34" charset="0"/>
              <a:cs typeface="+mn-ea"/>
              <a:sym typeface="+mn-lt"/>
            </a:endParaRPr>
          </a:p>
        </p:txBody>
      </p:sp>
      <p:grpSp>
        <p:nvGrpSpPr>
          <p:cNvPr id="17" name="组合 16"/>
          <p:cNvGrpSpPr/>
          <p:nvPr/>
        </p:nvGrpSpPr>
        <p:grpSpPr>
          <a:xfrm>
            <a:off x="2858860" y="3428999"/>
            <a:ext cx="6474279" cy="0"/>
            <a:chOff x="4129088" y="2457450"/>
            <a:chExt cx="6474279" cy="0"/>
          </a:xfrm>
        </p:grpSpPr>
        <p:cxnSp>
          <p:nvCxnSpPr>
            <p:cNvPr id="18" name="直接连接符 17"/>
            <p:cNvCxnSpPr/>
            <p:nvPr/>
          </p:nvCxnSpPr>
          <p:spPr>
            <a:xfrm>
              <a:off x="4129088" y="2457450"/>
              <a:ext cx="971550" cy="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cxnSp>
          <p:nvCxnSpPr>
            <p:cNvPr id="19" name="直接连接符 18"/>
            <p:cNvCxnSpPr/>
            <p:nvPr/>
          </p:nvCxnSpPr>
          <p:spPr>
            <a:xfrm>
              <a:off x="9631817" y="2457450"/>
              <a:ext cx="971550" cy="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grpSp>
    </p:spTree>
  </p:cSld>
  <p:clrMapOvr>
    <a:masterClrMapping/>
  </p:clrMapOvr>
</p:sld>
</file>

<file path=ppt/theme/theme1.xml><?xml version="1.0" encoding="utf-8"?>
<a:theme xmlns:a="http://schemas.openxmlformats.org/drawingml/2006/main" name="清华简约主题-顶边-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清华简约主题-顶边-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1884</Words>
  <Application>WPS 演示</Application>
  <PresentationFormat>宽屏</PresentationFormat>
  <Paragraphs>141</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10</vt:i4>
      </vt:variant>
    </vt:vector>
  </HeadingPairs>
  <TitlesOfParts>
    <vt:vector size="23" baseType="lpstr">
      <vt:lpstr>Arial</vt:lpstr>
      <vt:lpstr>宋体</vt:lpstr>
      <vt:lpstr>Wingdings</vt:lpstr>
      <vt:lpstr>Wingdings 2</vt:lpstr>
      <vt:lpstr>微软雅黑</vt:lpstr>
      <vt:lpstr>Wingdings</vt:lpstr>
      <vt:lpstr>Calibri</vt:lpstr>
      <vt:lpstr>Impact</vt:lpstr>
      <vt:lpstr>Gill Sans MT</vt:lpstr>
      <vt:lpstr>华文中宋</vt:lpstr>
      <vt:lpstr>Arial Unicode MS</vt:lpstr>
      <vt:lpstr>清华简约主题-顶边-16:9</vt:lpstr>
      <vt:lpstr>1_清华简约主题-顶边-16:9</vt:lpstr>
      <vt:lpstr>TED：基于隧道节点和IPv6扩展报头的 DDoS攻击</vt:lpstr>
      <vt:lpstr>目录</vt:lpstr>
      <vt:lpstr>一、选题背景</vt:lpstr>
      <vt:lpstr>一、研究背景</vt:lpstr>
      <vt:lpstr>二、问题的意义与价值</vt:lpstr>
      <vt:lpstr>三、挑战与难点</vt:lpstr>
      <vt:lpstr>三、挑战与难点</vt:lpstr>
      <vt:lpstr>四、基本思路</vt:lpstr>
      <vt:lpstr>五、组内分工与时间安排</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gaile</dc:creator>
  <cp:lastModifiedBy>谭柘</cp:lastModifiedBy>
  <cp:revision>161</cp:revision>
  <dcterms:created xsi:type="dcterms:W3CDTF">2023-08-09T12:44:00Z</dcterms:created>
  <dcterms:modified xsi:type="dcterms:W3CDTF">2025-11-11T01:50:57Z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043EC477CA234E81A6F9FBA36A6DCC5B_13</vt:lpwstr>
  </property>
</Properties>
</file>